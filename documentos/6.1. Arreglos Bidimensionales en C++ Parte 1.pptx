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354" r:id="rId3"/>
    <p:sldId id="353" r:id="rId4"/>
    <p:sldId id="355" r:id="rId5"/>
    <p:sldId id="356" r:id="rId6"/>
    <p:sldId id="418" r:id="rId7"/>
    <p:sldId id="419" r:id="rId8"/>
    <p:sldId id="420" r:id="rId9"/>
    <p:sldId id="414" r:id="rId10"/>
    <p:sldId id="361" r:id="rId11"/>
    <p:sldId id="408" r:id="rId12"/>
    <p:sldId id="362" r:id="rId13"/>
    <p:sldId id="407" r:id="rId14"/>
    <p:sldId id="357" r:id="rId15"/>
    <p:sldId id="358" r:id="rId16"/>
    <p:sldId id="359" r:id="rId17"/>
    <p:sldId id="360" r:id="rId18"/>
    <p:sldId id="417" r:id="rId19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AIRO HERNANDO RAMIREZ MARIN" initials="JHRM" lastIdx="1" clrIdx="0">
    <p:extLst>
      <p:ext uri="{19B8F6BF-5375-455C-9EA6-DF929625EA0E}">
        <p15:presenceInfo xmlns:p15="http://schemas.microsoft.com/office/powerpoint/2012/main" userId="S::jairo.ramirez@comunidad.iush.edu.co::683be6fa-ee44-4f01-ad3d-b1c13e4348d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5D92"/>
    <a:srgbClr val="A562AB"/>
    <a:srgbClr val="194581"/>
    <a:srgbClr val="974B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361" autoAdjust="0"/>
    <p:restoredTop sz="90247" autoAdjust="0"/>
  </p:normalViewPr>
  <p:slideViewPr>
    <p:cSldViewPr snapToGrid="0">
      <p:cViewPr varScale="1">
        <p:scale>
          <a:sx n="95" d="100"/>
          <a:sy n="95" d="100"/>
        </p:scale>
        <p:origin x="42" y="186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33B264-95C8-4153-8828-8C36D1236E7F}" type="datetimeFigureOut">
              <a:rPr lang="es-CO" smtClean="0"/>
              <a:t>12/09/2022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BFF732-773A-4839-B774-230B46601DA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81600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b="1" dirty="0"/>
              <a:t>/* CÓDIGO FUENTE */</a:t>
            </a:r>
          </a:p>
          <a:p>
            <a:r>
              <a:rPr lang="en-US" dirty="0"/>
              <a:t>/*</a:t>
            </a:r>
            <a:r>
              <a:rPr lang="en-US" dirty="0" err="1"/>
              <a:t>Crear</a:t>
            </a:r>
            <a:r>
              <a:rPr lang="en-US" dirty="0"/>
              <a:t> una </a:t>
            </a:r>
            <a:r>
              <a:rPr lang="en-US" dirty="0" err="1"/>
              <a:t>matriz</a:t>
            </a:r>
            <a:r>
              <a:rPr lang="en-US" dirty="0"/>
              <a:t> de 5x5 </a:t>
            </a:r>
            <a:r>
              <a:rPr lang="en-US" dirty="0" err="1"/>
              <a:t>inicializando</a:t>
            </a:r>
            <a:r>
              <a:rPr lang="en-US" dirty="0"/>
              <a:t> con los </a:t>
            </a:r>
            <a:r>
              <a:rPr lang="en-US" dirty="0" err="1"/>
              <a:t>valores</a:t>
            </a:r>
            <a:r>
              <a:rPr lang="en-US" dirty="0"/>
              <a:t> </a:t>
            </a:r>
            <a:r>
              <a:rPr lang="en-US" dirty="0" err="1"/>
              <a:t>enteros</a:t>
            </a:r>
            <a:r>
              <a:rPr lang="en-US" dirty="0"/>
              <a:t>.</a:t>
            </a:r>
          </a:p>
          <a:p>
            <a:r>
              <a:rPr lang="en-US" dirty="0"/>
              <a:t>  </a:t>
            </a:r>
            <a:r>
              <a:rPr lang="en-US" dirty="0" err="1"/>
              <a:t>Imprimir</a:t>
            </a:r>
            <a:r>
              <a:rPr lang="en-US" dirty="0"/>
              <a:t> la </a:t>
            </a:r>
            <a:r>
              <a:rPr lang="en-US" dirty="0" err="1"/>
              <a:t>matriz</a:t>
            </a:r>
            <a:r>
              <a:rPr lang="en-US" dirty="0"/>
              <a:t> </a:t>
            </a:r>
            <a:r>
              <a:rPr lang="en-US" dirty="0" err="1"/>
              <a:t>completa</a:t>
            </a:r>
            <a:r>
              <a:rPr lang="en-US" dirty="0"/>
              <a:t>, la diagonal principal, la diagonal</a:t>
            </a:r>
          </a:p>
          <a:p>
            <a:r>
              <a:rPr lang="en-US" dirty="0"/>
              <a:t>  </a:t>
            </a:r>
            <a:r>
              <a:rPr lang="en-US" dirty="0" err="1"/>
              <a:t>secundaria</a:t>
            </a:r>
            <a:r>
              <a:rPr lang="en-US" dirty="0"/>
              <a:t>, la triangular superior y la triangular inferior.*/</a:t>
            </a:r>
          </a:p>
          <a:p>
            <a:r>
              <a:rPr lang="en-US" dirty="0"/>
              <a:t>  </a:t>
            </a:r>
          </a:p>
          <a:p>
            <a:r>
              <a:rPr lang="en-US" dirty="0"/>
              <a:t>#include&lt;iostream&gt;</a:t>
            </a:r>
          </a:p>
          <a:p>
            <a:r>
              <a:rPr lang="en-US" dirty="0"/>
              <a:t>using namespace std;</a:t>
            </a:r>
          </a:p>
          <a:p>
            <a:endParaRPr lang="en-US" dirty="0"/>
          </a:p>
          <a:p>
            <a:r>
              <a:rPr lang="en-US" dirty="0"/>
              <a:t>int main(){  </a:t>
            </a:r>
          </a:p>
          <a:p>
            <a:r>
              <a:rPr lang="en-US" dirty="0"/>
              <a:t>	int mat[5][5] = {{53,25,46,69,43},{26,34,77,36,72}, {51,59,54,25,31},</a:t>
            </a:r>
          </a:p>
          <a:p>
            <a:r>
              <a:rPr lang="en-US" dirty="0"/>
              <a:t>                     {14,76,48,40,28}, {56,91,15,74,33}}; </a:t>
            </a:r>
          </a:p>
          <a:p>
            <a:r>
              <a:rPr lang="en-US" dirty="0"/>
              <a:t>	</a:t>
            </a:r>
            <a:r>
              <a:rPr lang="en-US" dirty="0" err="1"/>
              <a:t>cout</a:t>
            </a:r>
            <a:r>
              <a:rPr lang="en-US" dirty="0"/>
              <a:t>&lt;&lt;"\n--&gt; </a:t>
            </a:r>
            <a:r>
              <a:rPr lang="en-US" dirty="0" err="1"/>
              <a:t>Matriz</a:t>
            </a:r>
            <a:r>
              <a:rPr lang="en-US" dirty="0"/>
              <a:t> </a:t>
            </a:r>
            <a:r>
              <a:rPr lang="en-US" dirty="0" err="1"/>
              <a:t>Completa</a:t>
            </a:r>
            <a:r>
              <a:rPr lang="en-US" dirty="0"/>
              <a:t> &lt;--"&lt;&lt;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    for(int f=0;f&lt;5;f++) {</a:t>
            </a:r>
          </a:p>
          <a:p>
            <a:r>
              <a:rPr lang="en-US" dirty="0"/>
              <a:t>		for(int c=0;c&lt;5;c++) {			</a:t>
            </a:r>
          </a:p>
          <a:p>
            <a:r>
              <a:rPr lang="en-US" dirty="0"/>
              <a:t>			</a:t>
            </a:r>
            <a:r>
              <a:rPr lang="en-US" dirty="0" err="1"/>
              <a:t>cout</a:t>
            </a:r>
            <a:r>
              <a:rPr lang="en-US" dirty="0"/>
              <a:t>&lt;&lt;"  "&lt;&lt;mat[f][c];</a:t>
            </a:r>
          </a:p>
          <a:p>
            <a:r>
              <a:rPr lang="en-US" dirty="0"/>
              <a:t>		}</a:t>
            </a:r>
          </a:p>
          <a:p>
            <a:r>
              <a:rPr lang="en-US" dirty="0"/>
              <a:t>		</a:t>
            </a:r>
            <a:r>
              <a:rPr lang="en-US" dirty="0" err="1"/>
              <a:t>cout</a:t>
            </a:r>
            <a:r>
              <a:rPr lang="en-US" dirty="0"/>
              <a:t>&lt;&lt;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    }	    </a:t>
            </a:r>
          </a:p>
          <a:p>
            <a:endParaRPr lang="en-US" dirty="0"/>
          </a:p>
          <a:p>
            <a:r>
              <a:rPr lang="en-US" dirty="0"/>
              <a:t>	</a:t>
            </a:r>
            <a:r>
              <a:rPr lang="en-US" dirty="0" err="1"/>
              <a:t>cout</a:t>
            </a:r>
            <a:r>
              <a:rPr lang="en-US" dirty="0"/>
              <a:t>&lt;&lt;"\n--&gt; Diagonal Principal &lt;--"&lt;&lt;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    for(int f=0;f&lt;5;f++) {</a:t>
            </a:r>
          </a:p>
          <a:p>
            <a:r>
              <a:rPr lang="en-US" dirty="0"/>
              <a:t>		for(int c=0;c&lt;5;c++) {</a:t>
            </a:r>
          </a:p>
          <a:p>
            <a:r>
              <a:rPr lang="en-US" dirty="0"/>
              <a:t>			if (f == c)</a:t>
            </a:r>
          </a:p>
          <a:p>
            <a:r>
              <a:rPr lang="en-US" dirty="0"/>
              <a:t>				</a:t>
            </a:r>
            <a:r>
              <a:rPr lang="en-US" dirty="0" err="1"/>
              <a:t>cout</a:t>
            </a:r>
            <a:r>
              <a:rPr lang="en-US" dirty="0"/>
              <a:t>&lt;&lt;"  "&lt;&lt;mat[f][c];</a:t>
            </a:r>
          </a:p>
          <a:p>
            <a:r>
              <a:rPr lang="en-US" dirty="0"/>
              <a:t>			else</a:t>
            </a:r>
          </a:p>
          <a:p>
            <a:r>
              <a:rPr lang="en-US" dirty="0"/>
              <a:t>				</a:t>
            </a:r>
            <a:r>
              <a:rPr lang="en-US" dirty="0" err="1"/>
              <a:t>cout</a:t>
            </a:r>
            <a:r>
              <a:rPr lang="en-US" dirty="0"/>
              <a:t>&lt;&lt;"    ";</a:t>
            </a:r>
          </a:p>
          <a:p>
            <a:r>
              <a:rPr lang="en-US" dirty="0"/>
              <a:t>			}</a:t>
            </a:r>
          </a:p>
          <a:p>
            <a:r>
              <a:rPr lang="en-US" dirty="0"/>
              <a:t>		</a:t>
            </a:r>
            <a:r>
              <a:rPr lang="en-US" dirty="0" err="1"/>
              <a:t>cout</a:t>
            </a:r>
            <a:r>
              <a:rPr lang="en-US" dirty="0"/>
              <a:t>&lt;&lt;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&lt;&lt;"\n--&gt; Diagonal </a:t>
            </a:r>
            <a:r>
              <a:rPr lang="en-US" dirty="0" err="1"/>
              <a:t>Secundaria</a:t>
            </a:r>
            <a:r>
              <a:rPr lang="en-US" dirty="0"/>
              <a:t> &lt;--"&lt;&lt;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    for(int f=0;f&lt;5;f++) {</a:t>
            </a:r>
          </a:p>
          <a:p>
            <a:r>
              <a:rPr lang="en-US" dirty="0"/>
              <a:t>		for(int c=0;c&lt;5;c++) {</a:t>
            </a:r>
          </a:p>
          <a:p>
            <a:r>
              <a:rPr lang="en-US" dirty="0"/>
              <a:t>			if ((</a:t>
            </a:r>
            <a:r>
              <a:rPr lang="en-US" dirty="0" err="1"/>
              <a:t>f+c</a:t>
            </a:r>
            <a:r>
              <a:rPr lang="en-US" dirty="0"/>
              <a:t>)==4)</a:t>
            </a:r>
          </a:p>
          <a:p>
            <a:r>
              <a:rPr lang="en-US" dirty="0"/>
              <a:t>				</a:t>
            </a:r>
            <a:r>
              <a:rPr lang="en-US" dirty="0" err="1"/>
              <a:t>cout</a:t>
            </a:r>
            <a:r>
              <a:rPr lang="en-US" dirty="0"/>
              <a:t>&lt;&lt;"  "&lt;&lt;mat[f][c];</a:t>
            </a:r>
          </a:p>
          <a:p>
            <a:r>
              <a:rPr lang="en-US" dirty="0"/>
              <a:t>			else</a:t>
            </a:r>
          </a:p>
          <a:p>
            <a:r>
              <a:rPr lang="en-US" dirty="0"/>
              <a:t>				</a:t>
            </a:r>
            <a:r>
              <a:rPr lang="en-US" dirty="0" err="1"/>
              <a:t>cout</a:t>
            </a:r>
            <a:r>
              <a:rPr lang="en-US" dirty="0"/>
              <a:t>&lt;&lt;"    ";</a:t>
            </a:r>
          </a:p>
          <a:p>
            <a:r>
              <a:rPr lang="en-US" dirty="0"/>
              <a:t>		}</a:t>
            </a:r>
          </a:p>
          <a:p>
            <a:r>
              <a:rPr lang="en-US" dirty="0"/>
              <a:t>		</a:t>
            </a:r>
            <a:r>
              <a:rPr lang="en-US" dirty="0" err="1"/>
              <a:t>cout</a:t>
            </a:r>
            <a:r>
              <a:rPr lang="en-US" dirty="0"/>
              <a:t>&lt;&lt;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&lt;&lt;"\n--&gt; Triangular Superior &lt;--"&lt;&lt;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    for(int f=0;f&lt;5;f++) {</a:t>
            </a:r>
          </a:p>
          <a:p>
            <a:r>
              <a:rPr lang="en-US" dirty="0"/>
              <a:t>		for(int c=0;c&lt;5;c++) {</a:t>
            </a:r>
          </a:p>
          <a:p>
            <a:r>
              <a:rPr lang="en-US" dirty="0"/>
              <a:t>			if (f &lt; c)</a:t>
            </a:r>
          </a:p>
          <a:p>
            <a:r>
              <a:rPr lang="en-US" dirty="0"/>
              <a:t>				</a:t>
            </a:r>
            <a:r>
              <a:rPr lang="en-US" dirty="0" err="1"/>
              <a:t>cout</a:t>
            </a:r>
            <a:r>
              <a:rPr lang="en-US" dirty="0"/>
              <a:t>&lt;&lt;"  "&lt;&lt;mat[f][c];</a:t>
            </a:r>
          </a:p>
          <a:p>
            <a:r>
              <a:rPr lang="en-US" dirty="0"/>
              <a:t>			else</a:t>
            </a:r>
          </a:p>
          <a:p>
            <a:r>
              <a:rPr lang="en-US" dirty="0"/>
              <a:t>				</a:t>
            </a:r>
            <a:r>
              <a:rPr lang="en-US" dirty="0" err="1"/>
              <a:t>cout</a:t>
            </a:r>
            <a:r>
              <a:rPr lang="en-US" dirty="0"/>
              <a:t>&lt;&lt;"    ";</a:t>
            </a:r>
          </a:p>
          <a:p>
            <a:r>
              <a:rPr lang="en-US" dirty="0"/>
              <a:t>		}</a:t>
            </a:r>
          </a:p>
          <a:p>
            <a:r>
              <a:rPr lang="en-US" dirty="0"/>
              <a:t>		</a:t>
            </a:r>
            <a:r>
              <a:rPr lang="en-US" dirty="0" err="1"/>
              <a:t>cout</a:t>
            </a:r>
            <a:r>
              <a:rPr lang="en-US" dirty="0"/>
              <a:t>&lt;&lt;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&lt;&lt;"\n--&gt; Triangular Inferior &lt;--"&lt;&lt;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    for(int f=0;f&lt;5;f++) {</a:t>
            </a:r>
          </a:p>
          <a:p>
            <a:r>
              <a:rPr lang="en-US" dirty="0"/>
              <a:t>		for(int c=0;c&lt;5;c++) {</a:t>
            </a:r>
          </a:p>
          <a:p>
            <a:r>
              <a:rPr lang="en-US" dirty="0"/>
              <a:t>			if (f &gt; c)</a:t>
            </a:r>
          </a:p>
          <a:p>
            <a:r>
              <a:rPr lang="en-US" dirty="0"/>
              <a:t>				</a:t>
            </a:r>
            <a:r>
              <a:rPr lang="en-US" dirty="0" err="1"/>
              <a:t>cout</a:t>
            </a:r>
            <a:r>
              <a:rPr lang="en-US" dirty="0"/>
              <a:t>&lt;&lt;"  "&lt;&lt;mat[f][c];</a:t>
            </a:r>
          </a:p>
          <a:p>
            <a:r>
              <a:rPr lang="en-US" dirty="0"/>
              <a:t>			else</a:t>
            </a:r>
          </a:p>
          <a:p>
            <a:r>
              <a:rPr lang="en-US" dirty="0"/>
              <a:t>				</a:t>
            </a:r>
            <a:r>
              <a:rPr lang="en-US" dirty="0" err="1"/>
              <a:t>cout</a:t>
            </a:r>
            <a:r>
              <a:rPr lang="en-US" dirty="0"/>
              <a:t>&lt;&lt;"    ";</a:t>
            </a:r>
          </a:p>
          <a:p>
            <a:r>
              <a:rPr lang="en-US" dirty="0"/>
              <a:t>			}</a:t>
            </a:r>
          </a:p>
          <a:p>
            <a:r>
              <a:rPr lang="en-US" dirty="0"/>
              <a:t>		</a:t>
            </a:r>
            <a:r>
              <a:rPr lang="en-US" dirty="0" err="1"/>
              <a:t>cout</a:t>
            </a:r>
            <a:r>
              <a:rPr lang="en-US" dirty="0"/>
              <a:t>&lt;&lt;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    }    </a:t>
            </a:r>
          </a:p>
          <a:p>
            <a:r>
              <a:rPr lang="en-US" dirty="0"/>
              <a:t>}</a:t>
            </a:r>
          </a:p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BFF732-773A-4839-B774-230B46601DA8}" type="slidenum">
              <a:rPr lang="es-CO" smtClean="0"/>
              <a:t>10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786335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b="1" dirty="0"/>
              <a:t>/* CÓDIGO FUENTE */</a:t>
            </a:r>
          </a:p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BFF732-773A-4839-B774-230B46601DA8}" type="slidenum">
              <a:rPr lang="es-CO" smtClean="0"/>
              <a:t>11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564690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b="1" dirty="0"/>
              <a:t>/* CÓDIGO FUENTE */</a:t>
            </a:r>
          </a:p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BFF732-773A-4839-B774-230B46601DA8}" type="slidenum">
              <a:rPr lang="es-CO" smtClean="0"/>
              <a:t>12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370722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b="1" dirty="0"/>
              <a:t>/* CÓDIGO FUENTE */</a:t>
            </a:r>
          </a:p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BFF732-773A-4839-B774-230B46601DA8}" type="slidenum">
              <a:rPr lang="es-CO" smtClean="0"/>
              <a:t>13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25836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b="1" dirty="0"/>
              <a:t>/* CÓDIGO FUENTE */</a:t>
            </a:r>
          </a:p>
          <a:p>
            <a:r>
              <a:rPr lang="es-CO" dirty="0"/>
              <a:t>/*Definir e imprimir una matriz de 3x3 </a:t>
            </a:r>
          </a:p>
          <a:p>
            <a:r>
              <a:rPr lang="es-CO" dirty="0"/>
              <a:t>  </a:t>
            </a:r>
            <a:r>
              <a:rPr lang="es-CO" dirty="0" err="1"/>
              <a:t>inicializandola</a:t>
            </a:r>
            <a:r>
              <a:rPr lang="es-CO" dirty="0"/>
              <a:t> con números del 1 al 9*/</a:t>
            </a:r>
          </a:p>
          <a:p>
            <a:endParaRPr lang="es-CO" dirty="0"/>
          </a:p>
          <a:p>
            <a:r>
              <a:rPr lang="es-CO" dirty="0"/>
              <a:t>#</a:t>
            </a:r>
            <a:r>
              <a:rPr lang="es-CO" dirty="0" err="1"/>
              <a:t>include</a:t>
            </a:r>
            <a:r>
              <a:rPr lang="es-CO" dirty="0"/>
              <a:t>&lt;iostream&gt;</a:t>
            </a:r>
          </a:p>
          <a:p>
            <a:r>
              <a:rPr lang="es-CO" dirty="0" err="1"/>
              <a:t>using</a:t>
            </a:r>
            <a:r>
              <a:rPr lang="es-CO" dirty="0"/>
              <a:t> namespace </a:t>
            </a:r>
            <a:r>
              <a:rPr lang="es-CO" dirty="0" err="1"/>
              <a:t>std</a:t>
            </a:r>
            <a:r>
              <a:rPr lang="es-CO" dirty="0"/>
              <a:t>;</a:t>
            </a:r>
          </a:p>
          <a:p>
            <a:r>
              <a:rPr lang="es-CO" dirty="0"/>
              <a:t>int </a:t>
            </a:r>
            <a:r>
              <a:rPr lang="es-CO" dirty="0" err="1"/>
              <a:t>main</a:t>
            </a:r>
            <a:r>
              <a:rPr lang="es-CO" dirty="0"/>
              <a:t>() {</a:t>
            </a:r>
          </a:p>
          <a:p>
            <a:r>
              <a:rPr lang="es-CO" dirty="0"/>
              <a:t>	///Definir e inicializar la matriz</a:t>
            </a:r>
          </a:p>
          <a:p>
            <a:r>
              <a:rPr lang="es-CO" dirty="0"/>
              <a:t>	int </a:t>
            </a:r>
            <a:r>
              <a:rPr lang="es-CO" dirty="0" err="1"/>
              <a:t>mat</a:t>
            </a:r>
            <a:r>
              <a:rPr lang="es-CO" dirty="0"/>
              <a:t>[3][3]={{1,2,3},{4,5,6},{7,8,9}}; </a:t>
            </a:r>
          </a:p>
          <a:p>
            <a:r>
              <a:rPr lang="es-CO" dirty="0"/>
              <a:t>	</a:t>
            </a:r>
            <a:r>
              <a:rPr lang="es-CO" dirty="0" err="1"/>
              <a:t>cout</a:t>
            </a:r>
            <a:r>
              <a:rPr lang="es-CO" dirty="0"/>
              <a:t>&lt;&lt;"\n--&gt; Matriz completa &lt;--"&lt;&lt;</a:t>
            </a:r>
            <a:r>
              <a:rPr lang="es-CO" dirty="0" err="1"/>
              <a:t>endl</a:t>
            </a:r>
            <a:r>
              <a:rPr lang="es-CO" dirty="0"/>
              <a:t>&lt;&lt;</a:t>
            </a:r>
            <a:r>
              <a:rPr lang="es-CO" dirty="0" err="1"/>
              <a:t>endl</a:t>
            </a:r>
            <a:r>
              <a:rPr lang="es-CO" dirty="0"/>
              <a:t>;</a:t>
            </a:r>
          </a:p>
          <a:p>
            <a:r>
              <a:rPr lang="es-CO" dirty="0"/>
              <a:t>    for(int f=0; f&lt;3; f++) {</a:t>
            </a:r>
          </a:p>
          <a:p>
            <a:r>
              <a:rPr lang="es-CO" dirty="0"/>
              <a:t>		for(int c=0; c&lt;3; </a:t>
            </a:r>
            <a:r>
              <a:rPr lang="es-CO" dirty="0" err="1"/>
              <a:t>c++</a:t>
            </a:r>
            <a:r>
              <a:rPr lang="es-CO" dirty="0"/>
              <a:t>) {			</a:t>
            </a:r>
          </a:p>
          <a:p>
            <a:r>
              <a:rPr lang="es-CO" dirty="0"/>
              <a:t>			</a:t>
            </a:r>
            <a:r>
              <a:rPr lang="es-CO" dirty="0" err="1"/>
              <a:t>cout</a:t>
            </a:r>
            <a:r>
              <a:rPr lang="es-CO" dirty="0"/>
              <a:t>&lt;&lt;"\t\t"&lt;&lt;</a:t>
            </a:r>
            <a:r>
              <a:rPr lang="es-CO" dirty="0" err="1"/>
              <a:t>mat</a:t>
            </a:r>
            <a:r>
              <a:rPr lang="es-CO" dirty="0"/>
              <a:t>[f][c];</a:t>
            </a:r>
          </a:p>
          <a:p>
            <a:r>
              <a:rPr lang="es-CO" dirty="0"/>
              <a:t>		}</a:t>
            </a:r>
          </a:p>
          <a:p>
            <a:r>
              <a:rPr lang="es-CO" dirty="0"/>
              <a:t>		</a:t>
            </a:r>
            <a:r>
              <a:rPr lang="es-CO" dirty="0" err="1"/>
              <a:t>cout</a:t>
            </a:r>
            <a:r>
              <a:rPr lang="es-CO" dirty="0"/>
              <a:t>&lt;&lt;</a:t>
            </a:r>
            <a:r>
              <a:rPr lang="es-CO" dirty="0" err="1"/>
              <a:t>endl</a:t>
            </a:r>
            <a:r>
              <a:rPr lang="es-CO" dirty="0"/>
              <a:t>&lt;&lt;</a:t>
            </a:r>
            <a:r>
              <a:rPr lang="es-CO" dirty="0" err="1"/>
              <a:t>endl</a:t>
            </a:r>
            <a:r>
              <a:rPr lang="es-CO" dirty="0"/>
              <a:t>;</a:t>
            </a:r>
          </a:p>
          <a:p>
            <a:r>
              <a:rPr lang="es-CO" dirty="0"/>
              <a:t>    }	    </a:t>
            </a:r>
          </a:p>
          <a:p>
            <a:r>
              <a:rPr lang="es-CO" dirty="0"/>
              <a:t>}</a:t>
            </a:r>
          </a:p>
          <a:p>
            <a:endParaRPr lang="es-CO" dirty="0"/>
          </a:p>
          <a:p>
            <a:endParaRPr lang="es-CO" dirty="0"/>
          </a:p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BFF732-773A-4839-B774-230B46601DA8}" type="slidenum">
              <a:rPr lang="es-CO" smtClean="0"/>
              <a:t>14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882054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b="1" dirty="0"/>
              <a:t>/* CÓDIGO FUENTE */</a:t>
            </a:r>
          </a:p>
          <a:p>
            <a:r>
              <a:rPr lang="es-CO" dirty="0"/>
              <a:t>/*Crear la matriz identidad de orden 5. Matriz IDENTIDAD tiene</a:t>
            </a:r>
          </a:p>
          <a:p>
            <a:r>
              <a:rPr lang="es-CO" dirty="0"/>
              <a:t>  el número 1 en la diagonal principal y 0 en el resto.*/</a:t>
            </a:r>
          </a:p>
          <a:p>
            <a:r>
              <a:rPr lang="es-CO" dirty="0"/>
              <a:t>#</a:t>
            </a:r>
            <a:r>
              <a:rPr lang="es-CO" dirty="0" err="1"/>
              <a:t>include</a:t>
            </a:r>
            <a:r>
              <a:rPr lang="es-CO" dirty="0"/>
              <a:t>&lt;iostream&gt;</a:t>
            </a:r>
          </a:p>
          <a:p>
            <a:r>
              <a:rPr lang="es-CO" dirty="0" err="1"/>
              <a:t>using</a:t>
            </a:r>
            <a:r>
              <a:rPr lang="es-CO" dirty="0"/>
              <a:t> namespace </a:t>
            </a:r>
            <a:r>
              <a:rPr lang="es-CO" dirty="0" err="1"/>
              <a:t>std</a:t>
            </a:r>
            <a:r>
              <a:rPr lang="es-CO" dirty="0"/>
              <a:t>;</a:t>
            </a:r>
          </a:p>
          <a:p>
            <a:endParaRPr lang="es-CO" dirty="0"/>
          </a:p>
          <a:p>
            <a:r>
              <a:rPr lang="es-CO" dirty="0"/>
              <a:t>int </a:t>
            </a:r>
            <a:r>
              <a:rPr lang="es-CO" dirty="0" err="1"/>
              <a:t>main</a:t>
            </a:r>
            <a:r>
              <a:rPr lang="es-CO" dirty="0"/>
              <a:t>() {</a:t>
            </a:r>
          </a:p>
          <a:p>
            <a:r>
              <a:rPr lang="es-CO" dirty="0"/>
              <a:t>	int </a:t>
            </a:r>
            <a:r>
              <a:rPr lang="es-CO" dirty="0" err="1"/>
              <a:t>mat</a:t>
            </a:r>
            <a:r>
              <a:rPr lang="es-CO" dirty="0"/>
              <a:t>[5][5]; ///Definir la matriz</a:t>
            </a:r>
          </a:p>
          <a:p>
            <a:r>
              <a:rPr lang="es-CO" dirty="0"/>
              <a:t>	</a:t>
            </a:r>
            <a:r>
              <a:rPr lang="es-CO" dirty="0" err="1"/>
              <a:t>cout</a:t>
            </a:r>
            <a:r>
              <a:rPr lang="es-CO" dirty="0"/>
              <a:t>&lt;&lt;"\n--&gt; Matriz Identidad &lt;--"&lt;&lt;</a:t>
            </a:r>
            <a:r>
              <a:rPr lang="es-CO" dirty="0" err="1"/>
              <a:t>endl</a:t>
            </a:r>
            <a:r>
              <a:rPr lang="es-CO" dirty="0"/>
              <a:t>&lt;&lt;</a:t>
            </a:r>
            <a:r>
              <a:rPr lang="es-CO" dirty="0" err="1"/>
              <a:t>endl</a:t>
            </a:r>
            <a:r>
              <a:rPr lang="es-CO" dirty="0"/>
              <a:t>;</a:t>
            </a:r>
          </a:p>
          <a:p>
            <a:r>
              <a:rPr lang="es-CO" dirty="0"/>
              <a:t>    for(int f=0;f&lt;5;f++) {</a:t>
            </a:r>
          </a:p>
          <a:p>
            <a:r>
              <a:rPr lang="es-CO" dirty="0"/>
              <a:t>		for(int c=0;c&lt;5;c++) {</a:t>
            </a:r>
          </a:p>
          <a:p>
            <a:r>
              <a:rPr lang="es-CO" dirty="0"/>
              <a:t>			</a:t>
            </a:r>
            <a:r>
              <a:rPr lang="es-CO" dirty="0" err="1"/>
              <a:t>if</a:t>
            </a:r>
            <a:r>
              <a:rPr lang="es-CO" dirty="0"/>
              <a:t> (f==c)</a:t>
            </a:r>
          </a:p>
          <a:p>
            <a:r>
              <a:rPr lang="es-CO" dirty="0"/>
              <a:t>				</a:t>
            </a:r>
            <a:r>
              <a:rPr lang="es-CO" dirty="0" err="1"/>
              <a:t>mat</a:t>
            </a:r>
            <a:r>
              <a:rPr lang="es-CO" dirty="0"/>
              <a:t>[f][c]=1;</a:t>
            </a:r>
          </a:p>
          <a:p>
            <a:r>
              <a:rPr lang="es-CO" dirty="0"/>
              <a:t>			</a:t>
            </a:r>
            <a:r>
              <a:rPr lang="es-CO" dirty="0" err="1"/>
              <a:t>else</a:t>
            </a:r>
            <a:endParaRPr lang="es-CO" dirty="0"/>
          </a:p>
          <a:p>
            <a:r>
              <a:rPr lang="es-CO" dirty="0"/>
              <a:t>				</a:t>
            </a:r>
            <a:r>
              <a:rPr lang="es-CO" dirty="0" err="1"/>
              <a:t>mat</a:t>
            </a:r>
            <a:r>
              <a:rPr lang="es-CO" dirty="0"/>
              <a:t>[f][c]=0;</a:t>
            </a:r>
          </a:p>
          <a:p>
            <a:r>
              <a:rPr lang="es-CO" dirty="0"/>
              <a:t>			</a:t>
            </a:r>
            <a:r>
              <a:rPr lang="es-CO" dirty="0" err="1"/>
              <a:t>cout</a:t>
            </a:r>
            <a:r>
              <a:rPr lang="es-CO" dirty="0"/>
              <a:t>&lt;&lt;"\t"&lt;&lt;</a:t>
            </a:r>
            <a:r>
              <a:rPr lang="es-CO" dirty="0" err="1"/>
              <a:t>mat</a:t>
            </a:r>
            <a:r>
              <a:rPr lang="es-CO" dirty="0"/>
              <a:t>[f][c];</a:t>
            </a:r>
          </a:p>
          <a:p>
            <a:r>
              <a:rPr lang="es-CO" dirty="0"/>
              <a:t>		}</a:t>
            </a:r>
          </a:p>
          <a:p>
            <a:r>
              <a:rPr lang="es-CO" dirty="0"/>
              <a:t>		</a:t>
            </a:r>
            <a:r>
              <a:rPr lang="es-CO" dirty="0" err="1"/>
              <a:t>cout</a:t>
            </a:r>
            <a:r>
              <a:rPr lang="es-CO" dirty="0"/>
              <a:t>&lt;&lt;</a:t>
            </a:r>
            <a:r>
              <a:rPr lang="es-CO" dirty="0" err="1"/>
              <a:t>endl</a:t>
            </a:r>
            <a:r>
              <a:rPr lang="es-CO" dirty="0"/>
              <a:t>;</a:t>
            </a:r>
          </a:p>
          <a:p>
            <a:r>
              <a:rPr lang="es-CO" dirty="0"/>
              <a:t>    }	    </a:t>
            </a:r>
          </a:p>
          <a:p>
            <a:r>
              <a:rPr lang="es-CO" dirty="0"/>
              <a:t>}</a:t>
            </a:r>
          </a:p>
          <a:p>
            <a:endParaRPr lang="es-CO" dirty="0"/>
          </a:p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BFF732-773A-4839-B774-230B46601DA8}" type="slidenum">
              <a:rPr lang="es-CO" smtClean="0"/>
              <a:t>15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894823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b="1" dirty="0"/>
              <a:t>/* CÓDIGO FUENTE */</a:t>
            </a:r>
          </a:p>
          <a:p>
            <a:r>
              <a:rPr lang="es-CO" dirty="0"/>
              <a:t>/*Crear una matriz de orden 5 con 1 en la diagonal principal, </a:t>
            </a:r>
          </a:p>
          <a:p>
            <a:r>
              <a:rPr lang="es-CO" dirty="0"/>
              <a:t>  2 en la triangular superior y 3 en la triangular inferior.*/</a:t>
            </a:r>
          </a:p>
          <a:p>
            <a:r>
              <a:rPr lang="es-CO" dirty="0"/>
              <a:t>#</a:t>
            </a:r>
            <a:r>
              <a:rPr lang="es-CO" dirty="0" err="1"/>
              <a:t>include</a:t>
            </a:r>
            <a:r>
              <a:rPr lang="es-CO" dirty="0"/>
              <a:t>&lt;iostream&gt;</a:t>
            </a:r>
          </a:p>
          <a:p>
            <a:r>
              <a:rPr lang="es-CO" dirty="0" err="1"/>
              <a:t>using</a:t>
            </a:r>
            <a:r>
              <a:rPr lang="es-CO" dirty="0"/>
              <a:t> namespace </a:t>
            </a:r>
            <a:r>
              <a:rPr lang="es-CO" dirty="0" err="1"/>
              <a:t>std</a:t>
            </a:r>
            <a:r>
              <a:rPr lang="es-CO" dirty="0"/>
              <a:t>;</a:t>
            </a:r>
          </a:p>
          <a:p>
            <a:endParaRPr lang="es-CO" dirty="0"/>
          </a:p>
          <a:p>
            <a:r>
              <a:rPr lang="es-CO" dirty="0"/>
              <a:t>int </a:t>
            </a:r>
            <a:r>
              <a:rPr lang="es-CO" dirty="0" err="1"/>
              <a:t>main</a:t>
            </a:r>
            <a:r>
              <a:rPr lang="es-CO" dirty="0"/>
              <a:t>() {</a:t>
            </a:r>
          </a:p>
          <a:p>
            <a:r>
              <a:rPr lang="es-CO" dirty="0"/>
              <a:t>	int </a:t>
            </a:r>
            <a:r>
              <a:rPr lang="es-CO" dirty="0" err="1"/>
              <a:t>mat</a:t>
            </a:r>
            <a:r>
              <a:rPr lang="es-CO" dirty="0"/>
              <a:t>[5][5]; ///Definir matriz	</a:t>
            </a:r>
          </a:p>
          <a:p>
            <a:r>
              <a:rPr lang="es-CO" dirty="0"/>
              <a:t>	</a:t>
            </a:r>
            <a:r>
              <a:rPr lang="es-CO" dirty="0" err="1"/>
              <a:t>cout</a:t>
            </a:r>
            <a:r>
              <a:rPr lang="es-CO" dirty="0"/>
              <a:t>&lt;&lt;"\n--&gt; Matriz completa &lt;--"&lt;&lt;</a:t>
            </a:r>
            <a:r>
              <a:rPr lang="es-CO" dirty="0" err="1"/>
              <a:t>endl</a:t>
            </a:r>
            <a:r>
              <a:rPr lang="es-CO" dirty="0"/>
              <a:t>&lt;&lt;</a:t>
            </a:r>
            <a:r>
              <a:rPr lang="es-CO" dirty="0" err="1"/>
              <a:t>endl</a:t>
            </a:r>
            <a:r>
              <a:rPr lang="es-CO" dirty="0"/>
              <a:t>;</a:t>
            </a:r>
          </a:p>
          <a:p>
            <a:r>
              <a:rPr lang="es-CO" dirty="0"/>
              <a:t>    for(int f=0;f&lt;5;f++) {</a:t>
            </a:r>
          </a:p>
          <a:p>
            <a:r>
              <a:rPr lang="es-CO" dirty="0"/>
              <a:t>		for(int c=0;c&lt;5;c++) {</a:t>
            </a:r>
          </a:p>
          <a:p>
            <a:r>
              <a:rPr lang="es-CO" dirty="0"/>
              <a:t>			</a:t>
            </a:r>
            <a:r>
              <a:rPr lang="es-CO" dirty="0" err="1"/>
              <a:t>if</a:t>
            </a:r>
            <a:r>
              <a:rPr lang="es-CO" dirty="0"/>
              <a:t> (f==c)</a:t>
            </a:r>
          </a:p>
          <a:p>
            <a:r>
              <a:rPr lang="es-CO" dirty="0"/>
              <a:t>				</a:t>
            </a:r>
            <a:r>
              <a:rPr lang="es-CO" dirty="0" err="1"/>
              <a:t>mat</a:t>
            </a:r>
            <a:r>
              <a:rPr lang="es-CO" dirty="0"/>
              <a:t>[f][c] = 1;</a:t>
            </a:r>
          </a:p>
          <a:p>
            <a:r>
              <a:rPr lang="es-CO" dirty="0"/>
              <a:t>			</a:t>
            </a:r>
            <a:r>
              <a:rPr lang="es-CO" dirty="0" err="1"/>
              <a:t>else</a:t>
            </a:r>
            <a:r>
              <a:rPr lang="es-CO" dirty="0"/>
              <a:t> </a:t>
            </a:r>
            <a:r>
              <a:rPr lang="es-CO" dirty="0" err="1"/>
              <a:t>if</a:t>
            </a:r>
            <a:r>
              <a:rPr lang="es-CO" dirty="0"/>
              <a:t> (f&lt; c)</a:t>
            </a:r>
          </a:p>
          <a:p>
            <a:r>
              <a:rPr lang="es-CO" dirty="0"/>
              <a:t>				</a:t>
            </a:r>
            <a:r>
              <a:rPr lang="es-CO" dirty="0" err="1"/>
              <a:t>mat</a:t>
            </a:r>
            <a:r>
              <a:rPr lang="es-CO" dirty="0"/>
              <a:t>[f][c] = 2;</a:t>
            </a:r>
          </a:p>
          <a:p>
            <a:r>
              <a:rPr lang="es-CO" dirty="0"/>
              <a:t>			</a:t>
            </a:r>
            <a:r>
              <a:rPr lang="es-CO" dirty="0" err="1"/>
              <a:t>else</a:t>
            </a:r>
            <a:endParaRPr lang="es-CO" dirty="0"/>
          </a:p>
          <a:p>
            <a:r>
              <a:rPr lang="es-CO" dirty="0"/>
              <a:t>				</a:t>
            </a:r>
            <a:r>
              <a:rPr lang="es-CO" dirty="0" err="1"/>
              <a:t>mat</a:t>
            </a:r>
            <a:r>
              <a:rPr lang="es-CO" dirty="0"/>
              <a:t>[f][c] = 3;</a:t>
            </a:r>
          </a:p>
          <a:p>
            <a:r>
              <a:rPr lang="es-CO" dirty="0"/>
              <a:t>			</a:t>
            </a:r>
            <a:r>
              <a:rPr lang="es-CO" dirty="0" err="1"/>
              <a:t>cout</a:t>
            </a:r>
            <a:r>
              <a:rPr lang="es-CO" dirty="0"/>
              <a:t>&lt;&lt;"\t"&lt;&lt;</a:t>
            </a:r>
            <a:r>
              <a:rPr lang="es-CO" dirty="0" err="1"/>
              <a:t>mat</a:t>
            </a:r>
            <a:r>
              <a:rPr lang="es-CO" dirty="0"/>
              <a:t>[f][c];</a:t>
            </a:r>
          </a:p>
          <a:p>
            <a:r>
              <a:rPr lang="es-CO" dirty="0"/>
              <a:t>		}</a:t>
            </a:r>
          </a:p>
          <a:p>
            <a:r>
              <a:rPr lang="es-CO" dirty="0"/>
              <a:t>		</a:t>
            </a:r>
            <a:r>
              <a:rPr lang="es-CO" dirty="0" err="1"/>
              <a:t>cout</a:t>
            </a:r>
            <a:r>
              <a:rPr lang="es-CO" dirty="0"/>
              <a:t>&lt;&lt;</a:t>
            </a:r>
            <a:r>
              <a:rPr lang="es-CO" dirty="0" err="1"/>
              <a:t>endl</a:t>
            </a:r>
            <a:r>
              <a:rPr lang="es-CO" dirty="0"/>
              <a:t>&lt;&lt;</a:t>
            </a:r>
            <a:r>
              <a:rPr lang="es-CO" dirty="0" err="1"/>
              <a:t>endl</a:t>
            </a:r>
            <a:r>
              <a:rPr lang="es-CO" dirty="0"/>
              <a:t>;</a:t>
            </a:r>
          </a:p>
          <a:p>
            <a:r>
              <a:rPr lang="es-CO" dirty="0"/>
              <a:t>    }	 </a:t>
            </a:r>
          </a:p>
          <a:p>
            <a:r>
              <a:rPr lang="es-CO" dirty="0"/>
              <a:t>}</a:t>
            </a:r>
          </a:p>
          <a:p>
            <a:endParaRPr lang="es-CO" dirty="0"/>
          </a:p>
          <a:p>
            <a:endParaRPr lang="es-CO" dirty="0"/>
          </a:p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BFF732-773A-4839-B774-230B46601DA8}" type="slidenum">
              <a:rPr lang="es-CO" smtClean="0"/>
              <a:t>16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793233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b="1" dirty="0"/>
              <a:t>/* CÓDIGO FUENTE */</a:t>
            </a:r>
          </a:p>
          <a:p>
            <a:r>
              <a:rPr lang="es-CO" dirty="0"/>
              <a:t>/*Crear una matriz de 6 x 6 llenando con número aleatorios </a:t>
            </a:r>
          </a:p>
          <a:p>
            <a:r>
              <a:rPr lang="es-CO" dirty="0"/>
              <a:t>  entre 10 y 20 la diagonal principal los demás elementos </a:t>
            </a:r>
          </a:p>
          <a:p>
            <a:r>
              <a:rPr lang="es-CO" dirty="0"/>
              <a:t>  llenarlos con números aleatorios </a:t>
            </a:r>
            <a:r>
              <a:rPr lang="es-CO" dirty="0" err="1"/>
              <a:t>multiplos</a:t>
            </a:r>
            <a:r>
              <a:rPr lang="es-CO" dirty="0"/>
              <a:t> de 11 entre 11 y 99.*/</a:t>
            </a:r>
          </a:p>
          <a:p>
            <a:r>
              <a:rPr lang="es-CO" dirty="0"/>
              <a:t>  </a:t>
            </a:r>
          </a:p>
          <a:p>
            <a:r>
              <a:rPr lang="es-CO" dirty="0"/>
              <a:t>#</a:t>
            </a:r>
            <a:r>
              <a:rPr lang="es-CO" dirty="0" err="1"/>
              <a:t>include</a:t>
            </a:r>
            <a:r>
              <a:rPr lang="es-CO" dirty="0"/>
              <a:t>&lt;iostream&gt;</a:t>
            </a:r>
          </a:p>
          <a:p>
            <a:r>
              <a:rPr lang="es-CO" dirty="0"/>
              <a:t>#</a:t>
            </a:r>
            <a:r>
              <a:rPr lang="es-CO" dirty="0" err="1"/>
              <a:t>include</a:t>
            </a:r>
            <a:r>
              <a:rPr lang="es-CO" dirty="0"/>
              <a:t>&lt;</a:t>
            </a:r>
            <a:r>
              <a:rPr lang="es-CO" dirty="0" err="1"/>
              <a:t>ctime</a:t>
            </a:r>
            <a:r>
              <a:rPr lang="es-CO" dirty="0"/>
              <a:t>&gt;</a:t>
            </a:r>
          </a:p>
          <a:p>
            <a:r>
              <a:rPr lang="es-CO" dirty="0"/>
              <a:t>#</a:t>
            </a:r>
            <a:r>
              <a:rPr lang="es-CO" dirty="0" err="1"/>
              <a:t>include</a:t>
            </a:r>
            <a:r>
              <a:rPr lang="es-CO" dirty="0"/>
              <a:t>&lt;</a:t>
            </a:r>
            <a:r>
              <a:rPr lang="es-CO" dirty="0" err="1"/>
              <a:t>cstdlib</a:t>
            </a:r>
            <a:r>
              <a:rPr lang="es-CO" dirty="0"/>
              <a:t>&gt;</a:t>
            </a:r>
          </a:p>
          <a:p>
            <a:r>
              <a:rPr lang="es-CO" dirty="0" err="1"/>
              <a:t>using</a:t>
            </a:r>
            <a:r>
              <a:rPr lang="es-CO" dirty="0"/>
              <a:t> namespace </a:t>
            </a:r>
            <a:r>
              <a:rPr lang="es-CO" dirty="0" err="1"/>
              <a:t>std</a:t>
            </a:r>
            <a:r>
              <a:rPr lang="es-CO" dirty="0"/>
              <a:t>;</a:t>
            </a:r>
          </a:p>
          <a:p>
            <a:endParaRPr lang="es-CO" dirty="0"/>
          </a:p>
          <a:p>
            <a:r>
              <a:rPr lang="es-CO" dirty="0"/>
              <a:t>int </a:t>
            </a:r>
            <a:r>
              <a:rPr lang="es-CO" dirty="0" err="1"/>
              <a:t>main</a:t>
            </a:r>
            <a:r>
              <a:rPr lang="es-CO" dirty="0"/>
              <a:t>(){</a:t>
            </a:r>
          </a:p>
          <a:p>
            <a:r>
              <a:rPr lang="es-CO" dirty="0"/>
              <a:t>  </a:t>
            </a:r>
            <a:r>
              <a:rPr lang="es-CO" dirty="0" err="1"/>
              <a:t>srand</a:t>
            </a:r>
            <a:r>
              <a:rPr lang="es-CO" dirty="0"/>
              <a:t>(time(NULL));	</a:t>
            </a:r>
          </a:p>
          <a:p>
            <a:r>
              <a:rPr lang="es-CO" dirty="0"/>
              <a:t>	int </a:t>
            </a:r>
            <a:r>
              <a:rPr lang="es-CO" dirty="0" err="1"/>
              <a:t>mat</a:t>
            </a:r>
            <a:r>
              <a:rPr lang="es-CO" dirty="0"/>
              <a:t>[6][6]; ///Definir matriz	</a:t>
            </a:r>
          </a:p>
          <a:p>
            <a:r>
              <a:rPr lang="es-CO" dirty="0"/>
              <a:t>	</a:t>
            </a:r>
            <a:r>
              <a:rPr lang="es-CO" dirty="0" err="1"/>
              <a:t>cout</a:t>
            </a:r>
            <a:r>
              <a:rPr lang="es-CO" dirty="0"/>
              <a:t>&lt;&lt;"-----&gt; Matriz Completa &lt;----"&lt;&lt;</a:t>
            </a:r>
            <a:r>
              <a:rPr lang="es-CO" dirty="0" err="1"/>
              <a:t>endl</a:t>
            </a:r>
            <a:r>
              <a:rPr lang="es-CO" dirty="0"/>
              <a:t>&lt;&lt;</a:t>
            </a:r>
            <a:r>
              <a:rPr lang="es-CO" dirty="0" err="1"/>
              <a:t>endl</a:t>
            </a:r>
            <a:r>
              <a:rPr lang="es-CO" dirty="0"/>
              <a:t>;</a:t>
            </a:r>
          </a:p>
          <a:p>
            <a:r>
              <a:rPr lang="es-CO" dirty="0"/>
              <a:t>    for(int f=0;f&lt;6;f++) {</a:t>
            </a:r>
          </a:p>
          <a:p>
            <a:r>
              <a:rPr lang="es-CO" dirty="0"/>
              <a:t>		for(int c=0;c&lt;6;c++) {</a:t>
            </a:r>
          </a:p>
          <a:p>
            <a:r>
              <a:rPr lang="es-CO" dirty="0"/>
              <a:t>			</a:t>
            </a:r>
            <a:r>
              <a:rPr lang="es-CO" dirty="0" err="1"/>
              <a:t>if</a:t>
            </a:r>
            <a:r>
              <a:rPr lang="es-CO" dirty="0"/>
              <a:t> (f==c)</a:t>
            </a:r>
          </a:p>
          <a:p>
            <a:r>
              <a:rPr lang="es-CO" dirty="0"/>
              <a:t>				</a:t>
            </a:r>
            <a:r>
              <a:rPr lang="es-CO" dirty="0" err="1"/>
              <a:t>mat</a:t>
            </a:r>
            <a:r>
              <a:rPr lang="es-CO" dirty="0"/>
              <a:t>[f][c] = 10+rand()%11;</a:t>
            </a:r>
          </a:p>
          <a:p>
            <a:r>
              <a:rPr lang="es-CO" dirty="0"/>
              <a:t>			</a:t>
            </a:r>
            <a:r>
              <a:rPr lang="es-CO" dirty="0" err="1"/>
              <a:t>else</a:t>
            </a:r>
            <a:endParaRPr lang="es-CO" dirty="0"/>
          </a:p>
          <a:p>
            <a:r>
              <a:rPr lang="es-CO" dirty="0"/>
              <a:t>				</a:t>
            </a:r>
            <a:r>
              <a:rPr lang="es-CO" dirty="0" err="1"/>
              <a:t>mat</a:t>
            </a:r>
            <a:r>
              <a:rPr lang="es-CO" dirty="0"/>
              <a:t>[f][c] = (1+rand()%9) * 11;</a:t>
            </a:r>
          </a:p>
          <a:p>
            <a:r>
              <a:rPr lang="es-CO" dirty="0"/>
              <a:t>			</a:t>
            </a:r>
            <a:r>
              <a:rPr lang="es-CO" dirty="0" err="1"/>
              <a:t>cout</a:t>
            </a:r>
            <a:r>
              <a:rPr lang="es-CO" dirty="0"/>
              <a:t>&lt;&lt;"\t"&lt;&lt;</a:t>
            </a:r>
            <a:r>
              <a:rPr lang="es-CO" dirty="0" err="1"/>
              <a:t>mat</a:t>
            </a:r>
            <a:r>
              <a:rPr lang="es-CO" dirty="0"/>
              <a:t>[f][c];</a:t>
            </a:r>
          </a:p>
          <a:p>
            <a:r>
              <a:rPr lang="es-CO" dirty="0"/>
              <a:t>		}</a:t>
            </a:r>
          </a:p>
          <a:p>
            <a:r>
              <a:rPr lang="es-CO" dirty="0"/>
              <a:t>		</a:t>
            </a:r>
            <a:r>
              <a:rPr lang="es-CO" dirty="0" err="1"/>
              <a:t>cout</a:t>
            </a:r>
            <a:r>
              <a:rPr lang="es-CO" dirty="0"/>
              <a:t>&lt;&lt;</a:t>
            </a:r>
            <a:r>
              <a:rPr lang="es-CO" dirty="0" err="1"/>
              <a:t>endl</a:t>
            </a:r>
            <a:r>
              <a:rPr lang="es-CO" dirty="0"/>
              <a:t>&lt;&lt;</a:t>
            </a:r>
            <a:r>
              <a:rPr lang="es-CO" dirty="0" err="1"/>
              <a:t>endl</a:t>
            </a:r>
            <a:r>
              <a:rPr lang="es-CO" dirty="0"/>
              <a:t>;</a:t>
            </a:r>
          </a:p>
          <a:p>
            <a:r>
              <a:rPr lang="es-CO" dirty="0"/>
              <a:t>    }	    </a:t>
            </a:r>
          </a:p>
          <a:p>
            <a:r>
              <a:rPr lang="es-CO" dirty="0"/>
              <a:t>}</a:t>
            </a:r>
          </a:p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BFF732-773A-4839-B774-230B46601DA8}" type="slidenum">
              <a:rPr lang="es-CO" smtClean="0"/>
              <a:t>17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310056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CEF71-AC54-4907-87CE-021372FB99F1}" type="datetimeFigureOut">
              <a:rPr lang="es-CO" smtClean="0"/>
              <a:t>12/09/2022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D3DBD-534B-4F0D-A315-13E9D6466E1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669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CEF71-AC54-4907-87CE-021372FB99F1}" type="datetimeFigureOut">
              <a:rPr lang="es-CO" smtClean="0"/>
              <a:t>12/09/2022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D3DBD-534B-4F0D-A315-13E9D6466E1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57654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CEF71-AC54-4907-87CE-021372FB99F1}" type="datetimeFigureOut">
              <a:rPr lang="es-CO" smtClean="0"/>
              <a:t>12/09/2022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D3DBD-534B-4F0D-A315-13E9D6466E1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77288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CEF71-AC54-4907-87CE-021372FB99F1}" type="datetimeFigureOut">
              <a:rPr lang="es-CO" smtClean="0"/>
              <a:t>12/09/2022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D3DBD-534B-4F0D-A315-13E9D6466E1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6261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CEF71-AC54-4907-87CE-021372FB99F1}" type="datetimeFigureOut">
              <a:rPr lang="es-CO" smtClean="0"/>
              <a:t>12/09/2022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D3DBD-534B-4F0D-A315-13E9D6466E1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76422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CEF71-AC54-4907-87CE-021372FB99F1}" type="datetimeFigureOut">
              <a:rPr lang="es-CO" smtClean="0"/>
              <a:t>12/09/2022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D3DBD-534B-4F0D-A315-13E9D6466E1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82487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CEF71-AC54-4907-87CE-021372FB99F1}" type="datetimeFigureOut">
              <a:rPr lang="es-CO" smtClean="0"/>
              <a:t>12/09/2022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D3DBD-534B-4F0D-A315-13E9D6466E1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3341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CEF71-AC54-4907-87CE-021372FB99F1}" type="datetimeFigureOut">
              <a:rPr lang="es-CO" smtClean="0"/>
              <a:t>12/09/2022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D3DBD-534B-4F0D-A315-13E9D6466E1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51531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CEF71-AC54-4907-87CE-021372FB99F1}" type="datetimeFigureOut">
              <a:rPr lang="es-CO" smtClean="0"/>
              <a:t>12/09/2022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D3DBD-534B-4F0D-A315-13E9D6466E1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91727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CEF71-AC54-4907-87CE-021372FB99F1}" type="datetimeFigureOut">
              <a:rPr lang="es-CO" smtClean="0"/>
              <a:t>12/09/2022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D3DBD-534B-4F0D-A315-13E9D6466E1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67383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CEF71-AC54-4907-87CE-021372FB99F1}" type="datetimeFigureOut">
              <a:rPr lang="es-CO" smtClean="0"/>
              <a:t>12/09/2022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D3DBD-534B-4F0D-A315-13E9D6466E1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45347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0CEF71-AC54-4907-87CE-021372FB99F1}" type="datetimeFigureOut">
              <a:rPr lang="es-CO" smtClean="0"/>
              <a:t>12/09/2022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5D3DBD-534B-4F0D-A315-13E9D6466E1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94912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i7cgXSfNhAQ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9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99B393-37E8-4E11-8EB2-C863ACB85223}"/>
              </a:ext>
            </a:extLst>
          </p:cNvPr>
          <p:cNvSpPr txBox="1">
            <a:spLocks/>
          </p:cNvSpPr>
          <p:nvPr/>
        </p:nvSpPr>
        <p:spPr>
          <a:xfrm>
            <a:off x="884689" y="1308683"/>
            <a:ext cx="10943788" cy="119755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b="1" dirty="0">
                <a:latin typeface="Bahnschrift Light SemiCondensed" panose="020B0502040204020203" pitchFamily="34" charset="0"/>
              </a:rPr>
              <a:t>“ARREGLOS BIDIMENSIONALES EN C++”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61F265C-6D74-4338-8944-0FD73F7598E6}"/>
              </a:ext>
            </a:extLst>
          </p:cNvPr>
          <p:cNvSpPr/>
          <p:nvPr/>
        </p:nvSpPr>
        <p:spPr>
          <a:xfrm>
            <a:off x="1798040" y="5362689"/>
            <a:ext cx="8595920" cy="684772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isometricTopUp">
              <a:rot lat="21594000" lon="2159400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lvl="0" algn="ctr">
              <a:defRPr/>
            </a:pPr>
            <a:r>
              <a:rPr lang="es-CO" sz="2000" b="1" dirty="0">
                <a:ln/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CURSO: </a:t>
            </a:r>
            <a:r>
              <a:rPr lang="es-CO" sz="2000" dirty="0">
                <a:solidFill>
                  <a:prstClr val="white"/>
                </a:solidFill>
                <a:latin typeface="Bahnschrift Light SemiCondensed" panose="020B0502040204020203" pitchFamily="34" charset="0"/>
              </a:rPr>
              <a:t>“ALGORITMOS Y </a:t>
            </a:r>
            <a:r>
              <a:rPr lang="es-CO" sz="2000" b="1" dirty="0">
                <a:solidFill>
                  <a:prstClr val="white"/>
                </a:solidFill>
                <a:latin typeface="Bahnschrift Light SemiCondensed" panose="020B0502040204020203" pitchFamily="34" charset="0"/>
              </a:rPr>
              <a:t>PROGRAMACIÓN </a:t>
            </a:r>
            <a:r>
              <a:rPr lang="es-CO" sz="2000" dirty="0">
                <a:solidFill>
                  <a:prstClr val="white"/>
                </a:solidFill>
                <a:latin typeface="Bahnschrift Light SemiCondensed" panose="020B0502040204020203" pitchFamily="34" charset="0"/>
              </a:rPr>
              <a:t>"</a:t>
            </a:r>
          </a:p>
          <a:p>
            <a:pPr lvl="0" algn="ctr">
              <a:defRPr/>
            </a:pPr>
            <a:r>
              <a:rPr lang="es-CO" sz="2000" b="1" dirty="0">
                <a:ln/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DOCENTE: </a:t>
            </a:r>
            <a:r>
              <a:rPr lang="es-CO" sz="2000" b="1" dirty="0">
                <a:solidFill>
                  <a:prstClr val="white"/>
                </a:solidFill>
                <a:latin typeface="Bahnschrift Light SemiCondensed" panose="020B0502040204020203" pitchFamily="34" charset="0"/>
              </a:rPr>
              <a:t>JAIRO HERNANDO RAMÍREZ MARÍN</a:t>
            </a:r>
          </a:p>
        </p:txBody>
      </p:sp>
    </p:spTree>
    <p:extLst>
      <p:ext uri="{BB962C8B-B14F-4D97-AF65-F5344CB8AC3E}">
        <p14:creationId xmlns:p14="http://schemas.microsoft.com/office/powerpoint/2010/main" val="4014841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99B393-37E8-4E11-8EB2-C863ACB85223}"/>
              </a:ext>
            </a:extLst>
          </p:cNvPr>
          <p:cNvSpPr txBox="1">
            <a:spLocks/>
          </p:cNvSpPr>
          <p:nvPr/>
        </p:nvSpPr>
        <p:spPr>
          <a:xfrm>
            <a:off x="624106" y="1082475"/>
            <a:ext cx="10943788" cy="119755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 SemiCondensed" panose="020B0502040204020203" pitchFamily="34" charset="0"/>
                <a:ea typeface="+mj-ea"/>
                <a:cs typeface="+mj-cs"/>
              </a:rPr>
              <a:t>“MATRICES EN C++”</a:t>
            </a:r>
          </a:p>
        </p:txBody>
      </p:sp>
      <p:pic>
        <p:nvPicPr>
          <p:cNvPr id="1026" name="Picture 2" descr="Introducción a la Programación Estructurada: Arreglos de dos dimensiones ( matrices).">
            <a:extLst>
              <a:ext uri="{FF2B5EF4-FFF2-40B4-BE49-F238E27FC236}">
                <a16:creationId xmlns:a16="http://schemas.microsoft.com/office/drawing/2014/main" id="{F29E78BE-2700-4CAF-9B17-B1263DA217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5021" y="2280028"/>
            <a:ext cx="527685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2752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89994" y="0"/>
            <a:ext cx="11369040" cy="914400"/>
          </a:xfrm>
        </p:spPr>
        <p:txBody>
          <a:bodyPr>
            <a:noAutofit/>
          </a:bodyPr>
          <a:lstStyle/>
          <a:p>
            <a:pPr algn="ctr"/>
            <a:r>
              <a:rPr lang="es-CO" sz="3800" b="1" dirty="0">
                <a:latin typeface="Bahnschrift Light SemiCondensed" panose="020B0502040204020203" pitchFamily="34" charset="0"/>
              </a:rPr>
              <a:t>“MANEJO DE MATRICES EN C++”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3245438-2EFA-4DBF-85CF-60E0A78BBF68}"/>
              </a:ext>
            </a:extLst>
          </p:cNvPr>
          <p:cNvSpPr txBox="1"/>
          <p:nvPr/>
        </p:nvSpPr>
        <p:spPr>
          <a:xfrm>
            <a:off x="989994" y="1206230"/>
            <a:ext cx="6811589" cy="491246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scene3d>
            <a:camera prst="orthographicFront"/>
            <a:lightRig rig="fla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spcFirstLastPara="0" vert="horz" wrap="square" lIns="121920" tIns="121920" rIns="121920" bIns="121920" numCol="1" spcCol="1270" anchor="ctr" anchorCtr="0">
            <a:noAutofit/>
          </a:bodyPr>
          <a:lstStyle/>
          <a:p>
            <a:pPr lvl="0" algn="just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CO" sz="2800" dirty="0">
                <a:solidFill>
                  <a:schemeClr val="tx1"/>
                </a:solidFill>
              </a:rPr>
              <a:t>Un arreglo bidimensional (matriz) en C++ es un conjunto de datos que se almacenan en memoria en un arreglo de filas y columnas. </a:t>
            </a:r>
          </a:p>
          <a:p>
            <a:pPr lvl="0" algn="just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CO" sz="2800" dirty="0">
                <a:solidFill>
                  <a:schemeClr val="tx1"/>
                </a:solidFill>
              </a:rPr>
              <a:t>Para diferenciar los elementos de un arreglo se utilizan índices detrás del nombre del arreglo y encerrados por doble corchetes. El elemento de la tercera fila y la segunda columna se representa por los índices [2][1], ya que, al igual que con los vectores, los índices de las matrices comienzan en 0.</a:t>
            </a:r>
            <a:endParaRPr lang="es-MX" sz="2800" b="1" dirty="0">
              <a:solidFill>
                <a:prstClr val="black"/>
              </a:solidFill>
              <a:latin typeface="Arial Narrow" pitchFamily="34" charset="0"/>
            </a:endParaRPr>
          </a:p>
        </p:txBody>
      </p:sp>
      <p:pic>
        <p:nvPicPr>
          <p:cNvPr id="4" name="Picture 2" descr="Introducción a la Programación Estructurada: Arreglos de dos dimensiones ( matrices).">
            <a:extLst>
              <a:ext uri="{FF2B5EF4-FFF2-40B4-BE49-F238E27FC236}">
                <a16:creationId xmlns:a16="http://schemas.microsoft.com/office/drawing/2014/main" id="{77D1381B-36E5-4AB1-B4BB-F5F44C52D9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4860" y="2068235"/>
            <a:ext cx="3808107" cy="2474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lipse 2">
            <a:extLst>
              <a:ext uri="{FF2B5EF4-FFF2-40B4-BE49-F238E27FC236}">
                <a16:creationId xmlns:a16="http://schemas.microsoft.com/office/drawing/2014/main" id="{16756740-CFA4-4572-AE67-35F21AA9775A}"/>
              </a:ext>
            </a:extLst>
          </p:cNvPr>
          <p:cNvSpPr/>
          <p:nvPr/>
        </p:nvSpPr>
        <p:spPr>
          <a:xfrm>
            <a:off x="9696449" y="3486150"/>
            <a:ext cx="390525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21674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89994" y="0"/>
            <a:ext cx="11369040" cy="914400"/>
          </a:xfrm>
        </p:spPr>
        <p:txBody>
          <a:bodyPr>
            <a:noAutofit/>
          </a:bodyPr>
          <a:lstStyle/>
          <a:p>
            <a:pPr algn="ctr"/>
            <a:r>
              <a:rPr lang="es-CO" sz="3800" b="1" dirty="0">
                <a:latin typeface="Bahnschrift Light SemiCondensed" panose="020B0502040204020203" pitchFamily="34" charset="0"/>
              </a:rPr>
              <a:t>“MANEJO DE MATRICES EN C++”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3245438-2EFA-4DBF-85CF-60E0A78BBF68}"/>
              </a:ext>
            </a:extLst>
          </p:cNvPr>
          <p:cNvSpPr txBox="1"/>
          <p:nvPr/>
        </p:nvSpPr>
        <p:spPr>
          <a:xfrm>
            <a:off x="688436" y="763675"/>
            <a:ext cx="11081560" cy="153739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scene3d>
            <a:camera prst="orthographicFront"/>
            <a:lightRig rig="fla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spcFirstLastPara="0" vert="horz" wrap="square" lIns="121920" tIns="121920" rIns="121920" bIns="121920" numCol="1" spcCol="1270" anchor="ctr" anchorCtr="0">
            <a:noAutofit/>
          </a:bodyPr>
          <a:lstStyle/>
          <a:p>
            <a:pPr lvl="0" algn="just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CO" sz="2800" dirty="0">
                <a:solidFill>
                  <a:schemeClr val="tx1"/>
                </a:solidFill>
              </a:rPr>
              <a:t>Para declarar una matriz:  </a:t>
            </a:r>
            <a:r>
              <a:rPr lang="es-CO" sz="2800" b="1" dirty="0" err="1">
                <a:solidFill>
                  <a:schemeClr val="tx1"/>
                </a:solidFill>
              </a:rPr>
              <a:t>tipo_dato</a:t>
            </a:r>
            <a:r>
              <a:rPr lang="es-CO" sz="2800" b="1" dirty="0">
                <a:solidFill>
                  <a:schemeClr val="tx1"/>
                </a:solidFill>
              </a:rPr>
              <a:t> </a:t>
            </a:r>
            <a:r>
              <a:rPr lang="es-CO" sz="2800" b="1" dirty="0" err="1">
                <a:solidFill>
                  <a:schemeClr val="tx1"/>
                </a:solidFill>
              </a:rPr>
              <a:t>nombre_matriz</a:t>
            </a:r>
            <a:r>
              <a:rPr lang="es-CO" sz="2800" b="1" dirty="0">
                <a:solidFill>
                  <a:schemeClr val="tx1"/>
                </a:solidFill>
              </a:rPr>
              <a:t>[#Filas] [#Columnas]:  </a:t>
            </a:r>
          </a:p>
          <a:p>
            <a:pPr lvl="0" algn="just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CO" sz="2800" b="1" dirty="0">
                <a:solidFill>
                  <a:schemeClr val="tx1"/>
                </a:solidFill>
              </a:rPr>
              <a:t>int matriz[5][5];  </a:t>
            </a:r>
            <a:r>
              <a:rPr lang="es-CO" sz="2800" dirty="0">
                <a:solidFill>
                  <a:schemeClr val="tx1"/>
                </a:solidFill>
              </a:rPr>
              <a:t>//Declaración de una matriz de 5 filas y 5 columnas. </a:t>
            </a:r>
            <a:endParaRPr lang="es-MX" sz="2800" b="1" dirty="0">
              <a:solidFill>
                <a:prstClr val="black"/>
              </a:solidFill>
              <a:latin typeface="Arial Narrow" pitchFamily="34" charset="0"/>
            </a:endParaRP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6F0DE2BE-9E4A-44BC-B129-90A6FC5C49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8685916"/>
              </p:ext>
            </p:extLst>
          </p:nvPr>
        </p:nvGraphicFramePr>
        <p:xfrm>
          <a:off x="3467438" y="2839511"/>
          <a:ext cx="5523556" cy="3933078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9489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89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89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89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89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90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55513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[0, </a:t>
                      </a:r>
                      <a:r>
                        <a:rPr lang="es-CO" sz="2400" u="none" strike="noStrike" dirty="0">
                          <a:solidFill>
                            <a:schemeClr val="accent5"/>
                          </a:solidFill>
                          <a:effectLst/>
                        </a:rPr>
                        <a:t>0</a:t>
                      </a:r>
                      <a:r>
                        <a:rPr lang="es-CO" sz="2400" u="none" strike="noStrike" dirty="0">
                          <a:effectLst/>
                        </a:rPr>
                        <a:t>]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u="none" strike="noStrike" dirty="0">
                          <a:effectLst/>
                        </a:rPr>
                        <a:t>[0, </a:t>
                      </a:r>
                      <a:r>
                        <a:rPr lang="es-CO" sz="2400" u="none" strike="noStrike" dirty="0">
                          <a:solidFill>
                            <a:schemeClr val="accent5"/>
                          </a:solidFill>
                          <a:effectLst/>
                        </a:rPr>
                        <a:t>1</a:t>
                      </a:r>
                      <a:r>
                        <a:rPr lang="es-CO" sz="2400" u="none" strike="noStrike" dirty="0">
                          <a:effectLst/>
                        </a:rPr>
                        <a:t>]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u="none" strike="noStrike" dirty="0">
                          <a:effectLst/>
                        </a:rPr>
                        <a:t>[0, </a:t>
                      </a:r>
                      <a:r>
                        <a:rPr lang="es-CO" sz="2400" u="none" strike="noStrike" dirty="0">
                          <a:solidFill>
                            <a:schemeClr val="accent5"/>
                          </a:solidFill>
                          <a:effectLst/>
                        </a:rPr>
                        <a:t>2</a:t>
                      </a:r>
                      <a:r>
                        <a:rPr lang="es-CO" sz="2400" u="none" strike="noStrike" dirty="0">
                          <a:effectLst/>
                        </a:rPr>
                        <a:t>]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[0, </a:t>
                      </a:r>
                      <a:r>
                        <a:rPr lang="es-CO" sz="2400" u="none" strike="noStrike" dirty="0">
                          <a:solidFill>
                            <a:schemeClr val="accent5"/>
                          </a:solidFill>
                          <a:effectLst/>
                        </a:rPr>
                        <a:t>3</a:t>
                      </a:r>
                      <a:r>
                        <a:rPr lang="es-CO" sz="2400" u="none" strike="noStrike" dirty="0">
                          <a:effectLst/>
                        </a:rPr>
                        <a:t>]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[0, </a:t>
                      </a:r>
                      <a:r>
                        <a:rPr lang="es-CO" sz="2400" u="none" strike="noStrike" dirty="0">
                          <a:solidFill>
                            <a:schemeClr val="accent5"/>
                          </a:solidFill>
                          <a:effectLst/>
                        </a:rPr>
                        <a:t>4</a:t>
                      </a:r>
                      <a:r>
                        <a:rPr lang="es-CO" sz="2400" u="none" strike="noStrike" dirty="0">
                          <a:effectLst/>
                        </a:rPr>
                        <a:t>]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\0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513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[1, </a:t>
                      </a:r>
                      <a:r>
                        <a:rPr lang="es-CO" sz="2400" u="none" strike="noStrike" dirty="0">
                          <a:solidFill>
                            <a:schemeClr val="accent5"/>
                          </a:solidFill>
                          <a:effectLst/>
                        </a:rPr>
                        <a:t>0</a:t>
                      </a:r>
                      <a:r>
                        <a:rPr lang="es-CO" sz="2400" u="none" strike="noStrike" dirty="0">
                          <a:effectLst/>
                        </a:rPr>
                        <a:t>]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[1, </a:t>
                      </a:r>
                      <a:r>
                        <a:rPr lang="es-CO" sz="2400" u="none" strike="noStrike" dirty="0">
                          <a:solidFill>
                            <a:schemeClr val="accent5"/>
                          </a:solidFill>
                          <a:effectLst/>
                        </a:rPr>
                        <a:t>1</a:t>
                      </a:r>
                      <a:r>
                        <a:rPr lang="es-CO" sz="2400" u="none" strike="noStrike" dirty="0">
                          <a:effectLst/>
                        </a:rPr>
                        <a:t>]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[1, </a:t>
                      </a:r>
                      <a:r>
                        <a:rPr lang="es-CO" sz="2400" u="none" strike="noStrike" dirty="0">
                          <a:solidFill>
                            <a:schemeClr val="accent5"/>
                          </a:solidFill>
                          <a:effectLst/>
                        </a:rPr>
                        <a:t>2</a:t>
                      </a:r>
                      <a:r>
                        <a:rPr lang="es-CO" sz="2400" u="none" strike="noStrike" dirty="0">
                          <a:effectLst/>
                        </a:rPr>
                        <a:t>]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[1, 3]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[1, </a:t>
                      </a:r>
                      <a:r>
                        <a:rPr lang="es-CO" sz="2400" u="none" strike="noStrike" dirty="0">
                          <a:solidFill>
                            <a:schemeClr val="accent5"/>
                          </a:solidFill>
                          <a:effectLst/>
                        </a:rPr>
                        <a:t>4</a:t>
                      </a:r>
                      <a:r>
                        <a:rPr lang="es-CO" sz="2400" u="none" strike="noStrike" dirty="0">
                          <a:effectLst/>
                        </a:rPr>
                        <a:t>]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\0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513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[2, </a:t>
                      </a:r>
                      <a:r>
                        <a:rPr lang="es-CO" sz="2400" u="none" strike="noStrike" dirty="0">
                          <a:solidFill>
                            <a:schemeClr val="accent5"/>
                          </a:solidFill>
                          <a:effectLst/>
                        </a:rPr>
                        <a:t>0</a:t>
                      </a:r>
                      <a:r>
                        <a:rPr lang="es-CO" sz="2400" u="none" strike="noStrike" dirty="0">
                          <a:effectLst/>
                        </a:rPr>
                        <a:t>]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[2, </a:t>
                      </a:r>
                      <a:r>
                        <a:rPr lang="es-CO" sz="2400" u="none" strike="noStrike" dirty="0">
                          <a:solidFill>
                            <a:schemeClr val="accent5"/>
                          </a:solidFill>
                          <a:effectLst/>
                        </a:rPr>
                        <a:t>1</a:t>
                      </a:r>
                      <a:r>
                        <a:rPr lang="es-CO" sz="2400" u="none" strike="noStrike" dirty="0">
                          <a:effectLst/>
                        </a:rPr>
                        <a:t>]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[2, </a:t>
                      </a:r>
                      <a:r>
                        <a:rPr lang="es-CO" sz="2400" u="none" strike="noStrike" dirty="0">
                          <a:solidFill>
                            <a:schemeClr val="accent5"/>
                          </a:solidFill>
                          <a:effectLst/>
                        </a:rPr>
                        <a:t>2</a:t>
                      </a:r>
                      <a:r>
                        <a:rPr lang="es-CO" sz="2400" u="none" strike="noStrike" dirty="0">
                          <a:effectLst/>
                        </a:rPr>
                        <a:t>]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[2, </a:t>
                      </a:r>
                      <a:r>
                        <a:rPr lang="es-CO" sz="2400" u="none" strike="noStrike" dirty="0">
                          <a:solidFill>
                            <a:schemeClr val="accent5"/>
                          </a:solidFill>
                          <a:effectLst/>
                        </a:rPr>
                        <a:t>3</a:t>
                      </a:r>
                      <a:r>
                        <a:rPr lang="es-CO" sz="2400" u="none" strike="noStrike" dirty="0">
                          <a:effectLst/>
                        </a:rPr>
                        <a:t>]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[2, </a:t>
                      </a:r>
                      <a:r>
                        <a:rPr lang="es-CO" sz="2400" u="none" strike="noStrike" dirty="0">
                          <a:solidFill>
                            <a:schemeClr val="accent5"/>
                          </a:solidFill>
                          <a:effectLst/>
                        </a:rPr>
                        <a:t>4</a:t>
                      </a:r>
                      <a:r>
                        <a:rPr lang="es-CO" sz="2400" u="none" strike="noStrike" dirty="0">
                          <a:effectLst/>
                        </a:rPr>
                        <a:t>]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\0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513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u="none" strike="noStrike" dirty="0">
                          <a:effectLst/>
                        </a:rPr>
                        <a:t>[3, </a:t>
                      </a:r>
                      <a:r>
                        <a:rPr lang="es-CO" sz="2400" u="none" strike="noStrike" dirty="0">
                          <a:solidFill>
                            <a:schemeClr val="accent5"/>
                          </a:solidFill>
                          <a:effectLst/>
                        </a:rPr>
                        <a:t>0</a:t>
                      </a:r>
                      <a:r>
                        <a:rPr lang="es-CO" sz="2400" u="none" strike="noStrike" dirty="0">
                          <a:effectLst/>
                        </a:rPr>
                        <a:t>]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[3, </a:t>
                      </a:r>
                      <a:r>
                        <a:rPr lang="es-CO" sz="2400" u="none" strike="noStrike" dirty="0">
                          <a:solidFill>
                            <a:schemeClr val="accent5"/>
                          </a:solidFill>
                          <a:effectLst/>
                        </a:rPr>
                        <a:t>1</a:t>
                      </a:r>
                      <a:r>
                        <a:rPr lang="es-CO" sz="2400" u="none" strike="noStrike" dirty="0">
                          <a:effectLst/>
                        </a:rPr>
                        <a:t>]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[3, </a:t>
                      </a:r>
                      <a:r>
                        <a:rPr lang="es-CO" sz="2400" u="none" strike="noStrike" dirty="0">
                          <a:solidFill>
                            <a:schemeClr val="accent5"/>
                          </a:solidFill>
                          <a:effectLst/>
                        </a:rPr>
                        <a:t>2</a:t>
                      </a:r>
                      <a:r>
                        <a:rPr lang="es-CO" sz="2400" u="none" strike="noStrike" dirty="0">
                          <a:effectLst/>
                        </a:rPr>
                        <a:t>]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[3, </a:t>
                      </a:r>
                      <a:r>
                        <a:rPr lang="es-CO" sz="2400" u="none" strike="noStrike" dirty="0">
                          <a:solidFill>
                            <a:schemeClr val="accent5"/>
                          </a:solidFill>
                          <a:effectLst/>
                        </a:rPr>
                        <a:t>3</a:t>
                      </a:r>
                      <a:r>
                        <a:rPr lang="es-CO" sz="2400" u="none" strike="noStrike" dirty="0">
                          <a:effectLst/>
                        </a:rPr>
                        <a:t>]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[3, </a:t>
                      </a:r>
                      <a:r>
                        <a:rPr lang="es-CO" sz="2400" u="none" strike="noStrike" dirty="0">
                          <a:solidFill>
                            <a:schemeClr val="accent5"/>
                          </a:solidFill>
                          <a:effectLst/>
                        </a:rPr>
                        <a:t>4</a:t>
                      </a:r>
                      <a:r>
                        <a:rPr lang="es-CO" sz="2400" u="none" strike="noStrike" dirty="0">
                          <a:effectLst/>
                        </a:rPr>
                        <a:t>]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\0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5513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[4, </a:t>
                      </a:r>
                      <a:r>
                        <a:rPr lang="es-CO" sz="2400" u="none" strike="noStrike" dirty="0">
                          <a:solidFill>
                            <a:schemeClr val="accent5"/>
                          </a:solidFill>
                          <a:effectLst/>
                        </a:rPr>
                        <a:t>0</a:t>
                      </a:r>
                      <a:r>
                        <a:rPr lang="es-CO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]</a:t>
                      </a:r>
                      <a:endParaRPr lang="es-CO" sz="24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[4, </a:t>
                      </a:r>
                      <a:r>
                        <a:rPr lang="es-CO" sz="2400" u="none" strike="noStrike" dirty="0">
                          <a:solidFill>
                            <a:schemeClr val="accent5"/>
                          </a:solidFill>
                          <a:effectLst/>
                        </a:rPr>
                        <a:t>1</a:t>
                      </a:r>
                      <a:r>
                        <a:rPr lang="es-CO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]</a:t>
                      </a:r>
                      <a:endParaRPr lang="es-CO" sz="2400" b="1" i="0" u="none" strike="noStrike" dirty="0">
                        <a:solidFill>
                          <a:schemeClr val="accent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[4, </a:t>
                      </a:r>
                      <a:r>
                        <a:rPr lang="es-CO" sz="2400" u="none" strike="noStrike" dirty="0">
                          <a:solidFill>
                            <a:schemeClr val="accent5"/>
                          </a:solidFill>
                          <a:effectLst/>
                        </a:rPr>
                        <a:t>2</a:t>
                      </a:r>
                      <a:r>
                        <a:rPr lang="es-CO" sz="2400" u="none" strike="noStrike" dirty="0">
                          <a:effectLst/>
                        </a:rPr>
                        <a:t>]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[4, </a:t>
                      </a:r>
                      <a:r>
                        <a:rPr lang="es-CO" sz="2400" u="none" strike="noStrike" dirty="0">
                          <a:solidFill>
                            <a:schemeClr val="accent5"/>
                          </a:solidFill>
                          <a:effectLst/>
                        </a:rPr>
                        <a:t>3</a:t>
                      </a:r>
                      <a:r>
                        <a:rPr lang="es-CO" sz="2400" u="none" strike="noStrike" dirty="0">
                          <a:effectLst/>
                        </a:rPr>
                        <a:t>]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[4, </a:t>
                      </a:r>
                      <a:r>
                        <a:rPr lang="es-CO" sz="2400" u="none" strike="noStrike" dirty="0">
                          <a:solidFill>
                            <a:schemeClr val="accent5"/>
                          </a:solidFill>
                          <a:effectLst/>
                        </a:rPr>
                        <a:t>4</a:t>
                      </a:r>
                      <a:r>
                        <a:rPr lang="es-CO" sz="2400" u="none" strike="noStrike" dirty="0">
                          <a:effectLst/>
                        </a:rPr>
                        <a:t>]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\0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5513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\0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\0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\0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\0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\0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\0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B2DC0105-4DA5-4D71-BBD6-1D4B108E41E8}"/>
              </a:ext>
            </a:extLst>
          </p:cNvPr>
          <p:cNvSpPr txBox="1"/>
          <p:nvPr/>
        </p:nvSpPr>
        <p:spPr>
          <a:xfrm>
            <a:off x="3016963" y="3014507"/>
            <a:ext cx="360040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/>
              <a:t>0</a:t>
            </a:r>
          </a:p>
          <a:p>
            <a:endParaRPr lang="es-CO" sz="2400" b="1" dirty="0"/>
          </a:p>
          <a:p>
            <a:r>
              <a:rPr lang="es-CO" sz="2000" b="1" dirty="0"/>
              <a:t>1</a:t>
            </a:r>
          </a:p>
          <a:p>
            <a:endParaRPr lang="es-CO" sz="2000" b="1" dirty="0"/>
          </a:p>
          <a:p>
            <a:r>
              <a:rPr lang="es-CO" sz="2000" b="1" dirty="0"/>
              <a:t>2</a:t>
            </a:r>
          </a:p>
          <a:p>
            <a:endParaRPr lang="es-CO" sz="2000" b="1" dirty="0"/>
          </a:p>
          <a:p>
            <a:r>
              <a:rPr lang="es-CO" sz="2000" b="1" dirty="0"/>
              <a:t>3</a:t>
            </a:r>
          </a:p>
          <a:p>
            <a:endParaRPr lang="es-CO" sz="2800" b="1" dirty="0"/>
          </a:p>
          <a:p>
            <a:r>
              <a:rPr lang="es-CO" sz="2000" b="1" dirty="0"/>
              <a:t>4</a:t>
            </a:r>
          </a:p>
          <a:p>
            <a:endParaRPr lang="es-CO" sz="2000" b="1" dirty="0"/>
          </a:p>
          <a:p>
            <a:r>
              <a:rPr lang="es-CO" sz="2000" b="1" dirty="0"/>
              <a:t>5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42EB788-327E-453C-87B6-D7A75E85F750}"/>
              </a:ext>
            </a:extLst>
          </p:cNvPr>
          <p:cNvSpPr txBox="1"/>
          <p:nvPr/>
        </p:nvSpPr>
        <p:spPr>
          <a:xfrm>
            <a:off x="3694688" y="2377008"/>
            <a:ext cx="55235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>
                <a:solidFill>
                  <a:schemeClr val="accent5"/>
                </a:solidFill>
              </a:rPr>
              <a:t>   0              1              2             3              4              5</a:t>
            </a:r>
          </a:p>
        </p:txBody>
      </p:sp>
    </p:spTree>
    <p:extLst>
      <p:ext uri="{BB962C8B-B14F-4D97-AF65-F5344CB8AC3E}">
        <p14:creationId xmlns:p14="http://schemas.microsoft.com/office/powerpoint/2010/main" val="1656391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89994" y="0"/>
            <a:ext cx="11369040" cy="914400"/>
          </a:xfrm>
        </p:spPr>
        <p:txBody>
          <a:bodyPr>
            <a:noAutofit/>
          </a:bodyPr>
          <a:lstStyle/>
          <a:p>
            <a:pPr algn="ctr"/>
            <a:r>
              <a:rPr lang="es-CO" sz="3800" b="1" dirty="0">
                <a:latin typeface="Bahnschrift Light SemiCondensed" panose="020B0502040204020203" pitchFamily="34" charset="0"/>
              </a:rPr>
              <a:t>“MANEJO DE MATRICES EN C++”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3245438-2EFA-4DBF-85CF-60E0A78BBF68}"/>
              </a:ext>
            </a:extLst>
          </p:cNvPr>
          <p:cNvSpPr txBox="1"/>
          <p:nvPr/>
        </p:nvSpPr>
        <p:spPr>
          <a:xfrm>
            <a:off x="715262" y="914400"/>
            <a:ext cx="11081560" cy="16637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scene3d>
            <a:camera prst="orthographicFront"/>
            <a:lightRig rig="fla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spcFirstLastPara="0" vert="horz" wrap="square" lIns="121920" tIns="121920" rIns="121920" bIns="121920" numCol="1" spcCol="1270" anchor="ctr" anchorCtr="0">
            <a:noAutofit/>
          </a:bodyPr>
          <a:lstStyle/>
          <a:p>
            <a:pPr lvl="0" algn="just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CO" sz="2800" b="1" dirty="0">
                <a:solidFill>
                  <a:schemeClr val="tx1"/>
                </a:solidFill>
              </a:rPr>
              <a:t>int matriz[5][7];  </a:t>
            </a:r>
            <a:r>
              <a:rPr lang="es-CO" sz="2800" dirty="0">
                <a:solidFill>
                  <a:schemeClr val="tx1"/>
                </a:solidFill>
              </a:rPr>
              <a:t>//Especifica una matriz de tipo int, organizada conceptualmente en una matriz bidimensional de cinco filas y siete columnas, como se muestra en la ilustración siguiente (mirar las posiciones):</a:t>
            </a:r>
            <a:endParaRPr lang="es-MX" sz="2800" b="1" dirty="0">
              <a:solidFill>
                <a:prstClr val="black"/>
              </a:solidFill>
              <a:latin typeface="Arial Narrow" pitchFamily="34" charset="0"/>
            </a:endParaRPr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215314A3-A86F-4A31-B9E6-E3EF0A71C8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5639032"/>
              </p:ext>
            </p:extLst>
          </p:nvPr>
        </p:nvGraphicFramePr>
        <p:xfrm>
          <a:off x="2795729" y="3152662"/>
          <a:ext cx="6192688" cy="3504003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7740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40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40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40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40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40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408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7408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98878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[0, </a:t>
                      </a:r>
                      <a:r>
                        <a:rPr lang="es-CO" sz="2400" u="none" strike="noStrike" dirty="0">
                          <a:solidFill>
                            <a:srgbClr val="265D92"/>
                          </a:solidFill>
                          <a:effectLst/>
                        </a:rPr>
                        <a:t>0</a:t>
                      </a:r>
                      <a:r>
                        <a:rPr lang="es-CO" sz="2400" u="none" strike="noStrike" dirty="0">
                          <a:effectLst/>
                        </a:rPr>
                        <a:t>]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u="none" strike="noStrike" dirty="0">
                          <a:effectLst/>
                        </a:rPr>
                        <a:t>[0, </a:t>
                      </a:r>
                      <a:r>
                        <a:rPr lang="es-CO" sz="2400" u="none" strike="noStrike" dirty="0">
                          <a:solidFill>
                            <a:srgbClr val="265D92"/>
                          </a:solidFill>
                          <a:effectLst/>
                        </a:rPr>
                        <a:t>1</a:t>
                      </a:r>
                      <a:r>
                        <a:rPr lang="es-CO" sz="2400" u="none" strike="noStrike" dirty="0">
                          <a:effectLst/>
                        </a:rPr>
                        <a:t>]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u="none" strike="noStrike" dirty="0">
                          <a:effectLst/>
                        </a:rPr>
                        <a:t>[0, </a:t>
                      </a:r>
                      <a:r>
                        <a:rPr lang="es-CO" sz="2400" u="none" strike="noStrike" dirty="0">
                          <a:solidFill>
                            <a:srgbClr val="265D92"/>
                          </a:solidFill>
                          <a:effectLst/>
                        </a:rPr>
                        <a:t>2</a:t>
                      </a:r>
                      <a:r>
                        <a:rPr lang="es-CO" sz="2400" u="none" strike="noStrike" dirty="0">
                          <a:effectLst/>
                        </a:rPr>
                        <a:t>]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[0, </a:t>
                      </a:r>
                      <a:r>
                        <a:rPr lang="es-CO" sz="2400" u="none" strike="noStrike" dirty="0">
                          <a:solidFill>
                            <a:srgbClr val="265D92"/>
                          </a:solidFill>
                          <a:effectLst/>
                        </a:rPr>
                        <a:t>3</a:t>
                      </a:r>
                      <a:r>
                        <a:rPr lang="es-CO" sz="2400" u="none" strike="noStrike" dirty="0">
                          <a:effectLst/>
                        </a:rPr>
                        <a:t>]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[0, </a:t>
                      </a:r>
                      <a:r>
                        <a:rPr lang="es-CO" sz="2400" u="none" strike="noStrike" dirty="0">
                          <a:solidFill>
                            <a:srgbClr val="265D92"/>
                          </a:solidFill>
                          <a:effectLst/>
                        </a:rPr>
                        <a:t>4</a:t>
                      </a:r>
                      <a:r>
                        <a:rPr lang="es-CO" sz="2400" u="none" strike="noStrike" dirty="0">
                          <a:effectLst/>
                        </a:rPr>
                        <a:t>]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[0, </a:t>
                      </a:r>
                      <a:r>
                        <a:rPr lang="es-CO" sz="2400" u="none" strike="noStrike" dirty="0">
                          <a:solidFill>
                            <a:srgbClr val="265D92"/>
                          </a:solidFill>
                          <a:effectLst/>
                        </a:rPr>
                        <a:t>5</a:t>
                      </a:r>
                      <a:r>
                        <a:rPr lang="es-CO" sz="2400" u="none" strike="noStrike" dirty="0">
                          <a:effectLst/>
                        </a:rPr>
                        <a:t>]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[0, </a:t>
                      </a:r>
                      <a:r>
                        <a:rPr lang="es-CO" sz="2400" u="none" strike="noStrike" dirty="0">
                          <a:solidFill>
                            <a:srgbClr val="265D92"/>
                          </a:solidFill>
                          <a:effectLst/>
                        </a:rPr>
                        <a:t>6</a:t>
                      </a:r>
                      <a:r>
                        <a:rPr lang="es-CO" sz="2400" u="none" strike="noStrike" dirty="0">
                          <a:effectLst/>
                        </a:rPr>
                        <a:t>]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\0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[1, </a:t>
                      </a:r>
                      <a:r>
                        <a:rPr lang="es-CO" sz="2400" u="none" strike="noStrike" dirty="0">
                          <a:solidFill>
                            <a:srgbClr val="265D92"/>
                          </a:solidFill>
                          <a:effectLst/>
                        </a:rPr>
                        <a:t>0</a:t>
                      </a:r>
                      <a:r>
                        <a:rPr lang="es-CO" sz="2400" u="none" strike="noStrike" dirty="0">
                          <a:effectLst/>
                        </a:rPr>
                        <a:t>]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[1, </a:t>
                      </a:r>
                      <a:r>
                        <a:rPr lang="es-CO" sz="2400" u="none" strike="noStrike" dirty="0">
                          <a:solidFill>
                            <a:srgbClr val="265D92"/>
                          </a:solidFill>
                          <a:effectLst/>
                        </a:rPr>
                        <a:t>1</a:t>
                      </a:r>
                      <a:r>
                        <a:rPr lang="es-CO" sz="2400" u="none" strike="noStrike" dirty="0">
                          <a:effectLst/>
                        </a:rPr>
                        <a:t>]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[1, </a:t>
                      </a:r>
                      <a:r>
                        <a:rPr lang="es-CO" sz="2400" u="none" strike="noStrike" dirty="0">
                          <a:solidFill>
                            <a:srgbClr val="265D92"/>
                          </a:solidFill>
                          <a:effectLst/>
                        </a:rPr>
                        <a:t>2</a:t>
                      </a:r>
                      <a:r>
                        <a:rPr lang="es-CO" sz="2400" u="none" strike="noStrike" dirty="0">
                          <a:effectLst/>
                        </a:rPr>
                        <a:t>]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[1, </a:t>
                      </a:r>
                      <a:r>
                        <a:rPr lang="es-CO" sz="2400" u="none" strike="noStrike" dirty="0">
                          <a:solidFill>
                            <a:srgbClr val="265D92"/>
                          </a:solidFill>
                          <a:effectLst/>
                        </a:rPr>
                        <a:t>3</a:t>
                      </a:r>
                      <a:r>
                        <a:rPr lang="es-CO" sz="2400" u="none" strike="noStrike" dirty="0">
                          <a:effectLst/>
                        </a:rPr>
                        <a:t>]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[1, </a:t>
                      </a:r>
                      <a:r>
                        <a:rPr lang="es-CO" sz="2400" u="none" strike="noStrike" dirty="0">
                          <a:solidFill>
                            <a:srgbClr val="265D92"/>
                          </a:solidFill>
                          <a:effectLst/>
                        </a:rPr>
                        <a:t>4</a:t>
                      </a:r>
                      <a:r>
                        <a:rPr lang="es-CO" sz="2400" u="none" strike="noStrike" dirty="0">
                          <a:effectLst/>
                        </a:rPr>
                        <a:t>]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[1, </a:t>
                      </a:r>
                      <a:r>
                        <a:rPr lang="es-CO" sz="2400" u="none" strike="noStrike" dirty="0">
                          <a:solidFill>
                            <a:srgbClr val="265D92"/>
                          </a:solidFill>
                          <a:effectLst/>
                        </a:rPr>
                        <a:t>5</a:t>
                      </a:r>
                      <a:r>
                        <a:rPr lang="es-CO" sz="2400" u="none" strike="noStrike" dirty="0">
                          <a:effectLst/>
                        </a:rPr>
                        <a:t>]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[1, </a:t>
                      </a:r>
                      <a:r>
                        <a:rPr lang="es-CO" sz="2400" u="none" strike="noStrike" dirty="0">
                          <a:solidFill>
                            <a:srgbClr val="265D92"/>
                          </a:solidFill>
                          <a:effectLst/>
                        </a:rPr>
                        <a:t>6</a:t>
                      </a:r>
                      <a:r>
                        <a:rPr lang="es-CO" sz="2400" u="none" strike="noStrike" dirty="0">
                          <a:effectLst/>
                        </a:rPr>
                        <a:t>]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\0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[2, </a:t>
                      </a:r>
                      <a:r>
                        <a:rPr lang="es-CO" sz="2400" u="none" strike="noStrike" dirty="0">
                          <a:solidFill>
                            <a:srgbClr val="265D92"/>
                          </a:solidFill>
                          <a:effectLst/>
                        </a:rPr>
                        <a:t>0</a:t>
                      </a:r>
                      <a:r>
                        <a:rPr lang="es-CO" sz="2400" u="none" strike="noStrike" dirty="0">
                          <a:effectLst/>
                        </a:rPr>
                        <a:t>]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[2, </a:t>
                      </a:r>
                      <a:r>
                        <a:rPr lang="es-CO" sz="2400" u="none" strike="noStrike" dirty="0">
                          <a:solidFill>
                            <a:srgbClr val="265D92"/>
                          </a:solidFill>
                          <a:effectLst/>
                        </a:rPr>
                        <a:t>1</a:t>
                      </a:r>
                      <a:r>
                        <a:rPr lang="es-CO" sz="2400" u="none" strike="noStrike" dirty="0">
                          <a:effectLst/>
                        </a:rPr>
                        <a:t>]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[2, </a:t>
                      </a:r>
                      <a:r>
                        <a:rPr lang="es-CO" sz="2400" u="none" strike="noStrike" dirty="0">
                          <a:solidFill>
                            <a:srgbClr val="265D92"/>
                          </a:solidFill>
                          <a:effectLst/>
                        </a:rPr>
                        <a:t>2</a:t>
                      </a:r>
                      <a:r>
                        <a:rPr lang="es-CO" sz="2400" u="none" strike="noStrike" dirty="0">
                          <a:effectLst/>
                        </a:rPr>
                        <a:t>]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[2, </a:t>
                      </a:r>
                      <a:r>
                        <a:rPr lang="es-CO" sz="2400" u="none" strike="noStrike" dirty="0">
                          <a:solidFill>
                            <a:srgbClr val="265D92"/>
                          </a:solidFill>
                          <a:effectLst/>
                        </a:rPr>
                        <a:t>3</a:t>
                      </a:r>
                      <a:r>
                        <a:rPr lang="es-CO" sz="2400" u="none" strike="noStrike" dirty="0">
                          <a:effectLst/>
                        </a:rPr>
                        <a:t>]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[2, </a:t>
                      </a:r>
                      <a:r>
                        <a:rPr lang="es-CO" sz="2400" u="none" strike="noStrike" dirty="0">
                          <a:solidFill>
                            <a:srgbClr val="265D92"/>
                          </a:solidFill>
                          <a:effectLst/>
                        </a:rPr>
                        <a:t>4</a:t>
                      </a:r>
                      <a:r>
                        <a:rPr lang="es-CO" sz="2400" u="none" strike="noStrike" dirty="0">
                          <a:effectLst/>
                        </a:rPr>
                        <a:t>]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[2, </a:t>
                      </a:r>
                      <a:r>
                        <a:rPr lang="es-CO" sz="2400" u="none" strike="noStrike" dirty="0">
                          <a:solidFill>
                            <a:srgbClr val="265D92"/>
                          </a:solidFill>
                          <a:effectLst/>
                        </a:rPr>
                        <a:t>5</a:t>
                      </a:r>
                      <a:r>
                        <a:rPr lang="es-CO" sz="2400" u="none" strike="noStrike" dirty="0">
                          <a:effectLst/>
                        </a:rPr>
                        <a:t>]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[2, </a:t>
                      </a:r>
                      <a:r>
                        <a:rPr lang="es-CO" sz="2400" u="none" strike="noStrike" dirty="0">
                          <a:solidFill>
                            <a:srgbClr val="265D92"/>
                          </a:solidFill>
                          <a:effectLst/>
                        </a:rPr>
                        <a:t>6</a:t>
                      </a:r>
                      <a:r>
                        <a:rPr lang="es-CO" sz="2400" u="none" strike="noStrike" dirty="0">
                          <a:effectLst/>
                        </a:rPr>
                        <a:t>]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\0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u="none" strike="noStrike" dirty="0">
                          <a:effectLst/>
                        </a:rPr>
                        <a:t>[3, </a:t>
                      </a:r>
                      <a:r>
                        <a:rPr lang="es-CO" sz="2400" u="none" strike="noStrike" dirty="0">
                          <a:solidFill>
                            <a:srgbClr val="265D92"/>
                          </a:solidFill>
                          <a:effectLst/>
                        </a:rPr>
                        <a:t>0</a:t>
                      </a:r>
                      <a:r>
                        <a:rPr lang="es-CO" sz="2400" u="none" strike="noStrike" dirty="0">
                          <a:effectLst/>
                        </a:rPr>
                        <a:t>]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[3, </a:t>
                      </a:r>
                      <a:r>
                        <a:rPr lang="es-CO" sz="2400" u="none" strike="noStrike" dirty="0">
                          <a:solidFill>
                            <a:srgbClr val="265D92"/>
                          </a:solidFill>
                          <a:effectLst/>
                        </a:rPr>
                        <a:t>1</a:t>
                      </a:r>
                      <a:r>
                        <a:rPr lang="es-CO" sz="2400" u="none" strike="noStrike" dirty="0">
                          <a:effectLst/>
                        </a:rPr>
                        <a:t>]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[3, </a:t>
                      </a:r>
                      <a:r>
                        <a:rPr lang="es-CO" sz="2400" u="none" strike="noStrike" dirty="0">
                          <a:solidFill>
                            <a:srgbClr val="265D92"/>
                          </a:solidFill>
                          <a:effectLst/>
                        </a:rPr>
                        <a:t>2</a:t>
                      </a:r>
                      <a:r>
                        <a:rPr lang="es-CO" sz="2400" u="none" strike="noStrike" dirty="0">
                          <a:effectLst/>
                        </a:rPr>
                        <a:t>]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[3, </a:t>
                      </a:r>
                      <a:r>
                        <a:rPr lang="es-CO" sz="2400" u="none" strike="noStrike" dirty="0">
                          <a:solidFill>
                            <a:srgbClr val="265D92"/>
                          </a:solidFill>
                          <a:effectLst/>
                        </a:rPr>
                        <a:t>3</a:t>
                      </a:r>
                      <a:r>
                        <a:rPr lang="es-CO" sz="2400" u="none" strike="noStrike" dirty="0">
                          <a:effectLst/>
                        </a:rPr>
                        <a:t>]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[3, </a:t>
                      </a:r>
                      <a:r>
                        <a:rPr lang="es-CO" sz="2400" u="none" strike="noStrike" dirty="0">
                          <a:solidFill>
                            <a:srgbClr val="265D92"/>
                          </a:solidFill>
                          <a:effectLst/>
                        </a:rPr>
                        <a:t>4</a:t>
                      </a:r>
                      <a:r>
                        <a:rPr lang="es-CO" sz="2400" u="none" strike="noStrike" dirty="0">
                          <a:effectLst/>
                        </a:rPr>
                        <a:t>]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[3, </a:t>
                      </a:r>
                      <a:r>
                        <a:rPr lang="es-CO" sz="2400" u="none" strike="noStrike" dirty="0">
                          <a:solidFill>
                            <a:srgbClr val="265D92"/>
                          </a:solidFill>
                          <a:effectLst/>
                        </a:rPr>
                        <a:t>5</a:t>
                      </a:r>
                      <a:r>
                        <a:rPr lang="es-CO" sz="2400" u="none" strike="noStrike" dirty="0">
                          <a:effectLst/>
                        </a:rPr>
                        <a:t>]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[3, </a:t>
                      </a:r>
                      <a:r>
                        <a:rPr lang="es-CO" sz="2400" u="none" strike="noStrike" dirty="0">
                          <a:solidFill>
                            <a:srgbClr val="265D92"/>
                          </a:solidFill>
                          <a:effectLst/>
                        </a:rPr>
                        <a:t>6</a:t>
                      </a:r>
                      <a:r>
                        <a:rPr lang="es-CO" sz="2400" u="none" strike="noStrike" dirty="0">
                          <a:effectLst/>
                        </a:rPr>
                        <a:t>]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u="none" strike="noStrike" dirty="0">
                          <a:effectLst/>
                        </a:rPr>
                        <a:t>\0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[4, </a:t>
                      </a:r>
                      <a:r>
                        <a:rPr lang="es-CO" sz="2400" u="none" strike="noStrike" dirty="0">
                          <a:solidFill>
                            <a:srgbClr val="265D92"/>
                          </a:solidFill>
                          <a:effectLst/>
                        </a:rPr>
                        <a:t>0</a:t>
                      </a:r>
                      <a:r>
                        <a:rPr lang="es-CO" sz="2400" u="none" strike="noStrike" dirty="0">
                          <a:effectLst/>
                        </a:rPr>
                        <a:t>]</a:t>
                      </a:r>
                      <a:endParaRPr lang="es-CO" sz="2400" b="1" i="0" u="none" strike="noStrike" dirty="0">
                        <a:solidFill>
                          <a:srgbClr val="265D9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[4, </a:t>
                      </a:r>
                      <a:r>
                        <a:rPr lang="es-CO" sz="2400" u="none" strike="noStrike" dirty="0">
                          <a:solidFill>
                            <a:srgbClr val="265D92"/>
                          </a:solidFill>
                          <a:effectLst/>
                        </a:rPr>
                        <a:t>1</a:t>
                      </a:r>
                      <a:r>
                        <a:rPr lang="es-CO" sz="2400" u="none" strike="noStrike" dirty="0">
                          <a:effectLst/>
                        </a:rPr>
                        <a:t>]</a:t>
                      </a:r>
                      <a:endParaRPr lang="es-CO" sz="2400" b="1" i="0" u="none" strike="noStrike" dirty="0">
                        <a:solidFill>
                          <a:srgbClr val="265D9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[4, </a:t>
                      </a:r>
                      <a:r>
                        <a:rPr lang="es-CO" sz="2400" u="none" strike="noStrike" dirty="0">
                          <a:solidFill>
                            <a:srgbClr val="265D92"/>
                          </a:solidFill>
                          <a:effectLst/>
                        </a:rPr>
                        <a:t>2</a:t>
                      </a:r>
                      <a:r>
                        <a:rPr lang="es-CO" sz="2400" u="none" strike="noStrike" dirty="0">
                          <a:effectLst/>
                        </a:rPr>
                        <a:t>]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[4, </a:t>
                      </a:r>
                      <a:r>
                        <a:rPr lang="es-CO" sz="2400" u="none" strike="noStrike" dirty="0">
                          <a:solidFill>
                            <a:srgbClr val="265D92"/>
                          </a:solidFill>
                          <a:effectLst/>
                        </a:rPr>
                        <a:t>3</a:t>
                      </a:r>
                      <a:r>
                        <a:rPr lang="es-CO" sz="2400" u="none" strike="noStrike" dirty="0">
                          <a:effectLst/>
                        </a:rPr>
                        <a:t>]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[4, </a:t>
                      </a:r>
                      <a:r>
                        <a:rPr lang="es-CO" sz="2400" u="none" strike="noStrike" dirty="0">
                          <a:solidFill>
                            <a:srgbClr val="265D92"/>
                          </a:solidFill>
                          <a:effectLst/>
                        </a:rPr>
                        <a:t>4</a:t>
                      </a:r>
                      <a:r>
                        <a:rPr lang="es-CO" sz="2400" u="none" strike="noStrike" dirty="0">
                          <a:effectLst/>
                        </a:rPr>
                        <a:t>]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[4, </a:t>
                      </a:r>
                      <a:r>
                        <a:rPr lang="es-CO" sz="2400" u="none" strike="noStrike" dirty="0">
                          <a:solidFill>
                            <a:srgbClr val="265D92"/>
                          </a:solidFill>
                          <a:effectLst/>
                        </a:rPr>
                        <a:t>5</a:t>
                      </a:r>
                      <a:r>
                        <a:rPr lang="es-CO" sz="2400" u="none" strike="noStrike" dirty="0">
                          <a:effectLst/>
                        </a:rPr>
                        <a:t>]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[4, </a:t>
                      </a:r>
                      <a:r>
                        <a:rPr lang="es-CO" sz="2400" u="none" strike="noStrike" dirty="0">
                          <a:solidFill>
                            <a:srgbClr val="265D92"/>
                          </a:solidFill>
                          <a:effectLst/>
                        </a:rPr>
                        <a:t>6</a:t>
                      </a:r>
                      <a:r>
                        <a:rPr lang="es-CO" sz="2400" u="none" strike="noStrike" dirty="0">
                          <a:effectLst/>
                        </a:rPr>
                        <a:t>]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\0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\0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\0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\0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\0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\0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\0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\0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\0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3CCBF672-79EF-422E-BF82-5CE721A14060}"/>
              </a:ext>
            </a:extLst>
          </p:cNvPr>
          <p:cNvSpPr txBox="1"/>
          <p:nvPr/>
        </p:nvSpPr>
        <p:spPr>
          <a:xfrm>
            <a:off x="2380058" y="3263210"/>
            <a:ext cx="36004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/>
              <a:t>0</a:t>
            </a:r>
          </a:p>
          <a:p>
            <a:endParaRPr lang="es-CO" sz="2000" b="1" dirty="0"/>
          </a:p>
          <a:p>
            <a:r>
              <a:rPr lang="es-CO" sz="2000" b="1" dirty="0"/>
              <a:t>1</a:t>
            </a:r>
          </a:p>
          <a:p>
            <a:endParaRPr lang="es-CO" sz="2000" b="1" dirty="0"/>
          </a:p>
          <a:p>
            <a:r>
              <a:rPr lang="es-CO" sz="2000" b="1" dirty="0"/>
              <a:t>2</a:t>
            </a:r>
          </a:p>
          <a:p>
            <a:endParaRPr lang="es-CO" sz="2000" b="1" dirty="0"/>
          </a:p>
          <a:p>
            <a:r>
              <a:rPr lang="es-CO" sz="2000" b="1" dirty="0"/>
              <a:t>3</a:t>
            </a:r>
          </a:p>
          <a:p>
            <a:endParaRPr lang="es-CO" sz="1600" b="1" dirty="0"/>
          </a:p>
          <a:p>
            <a:r>
              <a:rPr lang="es-CO" sz="2000" b="1" dirty="0"/>
              <a:t>4</a:t>
            </a:r>
          </a:p>
          <a:p>
            <a:endParaRPr lang="es-CO" sz="1200" b="1" dirty="0"/>
          </a:p>
          <a:p>
            <a:r>
              <a:rPr lang="es-CO" sz="2000" b="1" dirty="0"/>
              <a:t>5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6126B07-4089-4655-9D3A-50A83EF061F6}"/>
              </a:ext>
            </a:extLst>
          </p:cNvPr>
          <p:cNvSpPr txBox="1"/>
          <p:nvPr/>
        </p:nvSpPr>
        <p:spPr>
          <a:xfrm>
            <a:off x="2910917" y="2720610"/>
            <a:ext cx="6192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>
                <a:solidFill>
                  <a:schemeClr val="accent5"/>
                </a:solidFill>
              </a:rPr>
              <a:t>   0           1          2           3            4           5            6           7</a:t>
            </a:r>
          </a:p>
        </p:txBody>
      </p:sp>
    </p:spTree>
    <p:extLst>
      <p:ext uri="{BB962C8B-B14F-4D97-AF65-F5344CB8AC3E}">
        <p14:creationId xmlns:p14="http://schemas.microsoft.com/office/powerpoint/2010/main" val="3436995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89994" y="0"/>
            <a:ext cx="11369040" cy="914400"/>
          </a:xfrm>
        </p:spPr>
        <p:txBody>
          <a:bodyPr>
            <a:noAutofit/>
          </a:bodyPr>
          <a:lstStyle/>
          <a:p>
            <a:pPr algn="ctr"/>
            <a:r>
              <a:rPr lang="es-CO" sz="3800" b="1" dirty="0">
                <a:latin typeface="Bahnschrift Light SemiCondensed" panose="020B0502040204020203" pitchFamily="34" charset="0"/>
              </a:rPr>
              <a:t>“MANEJO DE MATRICES EN C++”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3245438-2EFA-4DBF-85CF-60E0A78BBF68}"/>
              </a:ext>
            </a:extLst>
          </p:cNvPr>
          <p:cNvSpPr txBox="1"/>
          <p:nvPr/>
        </p:nvSpPr>
        <p:spPr>
          <a:xfrm>
            <a:off x="728629" y="831502"/>
            <a:ext cx="11081560" cy="496639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scene3d>
            <a:camera prst="orthographicFront"/>
            <a:lightRig rig="fla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spcFirstLastPara="0" vert="horz" wrap="square" lIns="121920" tIns="121920" rIns="121920" bIns="121920" numCol="1" spcCol="1270" anchor="ctr" anchorCtr="0">
            <a:noAutofit/>
          </a:bodyPr>
          <a:lstStyle/>
          <a:p>
            <a:pPr lvl="0" algn="just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CO" sz="2800" dirty="0">
                <a:solidFill>
                  <a:schemeClr val="tx1"/>
                </a:solidFill>
              </a:rPr>
              <a:t>Para declarar una matriz dinámica se deben utilizar varias instrucciones y consideraciones:</a:t>
            </a:r>
          </a:p>
          <a:p>
            <a:pPr lvl="0" algn="just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CO" sz="2800" dirty="0">
                <a:solidFill>
                  <a:schemeClr val="tx1"/>
                </a:solidFill>
              </a:rPr>
              <a:t>  </a:t>
            </a:r>
            <a:r>
              <a:rPr lang="es-CO" sz="2800" b="1" dirty="0">
                <a:solidFill>
                  <a:schemeClr val="tx1"/>
                </a:solidFill>
              </a:rPr>
              <a:t>1-</a:t>
            </a:r>
            <a:r>
              <a:rPr lang="es-CO" sz="2800" dirty="0">
                <a:solidFill>
                  <a:schemeClr val="tx1"/>
                </a:solidFill>
              </a:rPr>
              <a:t>Dimensionar y leer la cantidad de filas y columnas:</a:t>
            </a:r>
          </a:p>
          <a:p>
            <a:pPr lvl="0" algn="just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MX" sz="2800" b="1" dirty="0">
                <a:solidFill>
                  <a:schemeClr val="tx1"/>
                </a:solidFill>
              </a:rPr>
              <a:t>	Int N, M; cin&gt;&gt;N&gt;&gt;M;</a:t>
            </a:r>
            <a:endParaRPr lang="es-CO" sz="2800" b="1" dirty="0">
              <a:solidFill>
                <a:schemeClr val="tx1"/>
              </a:solidFill>
            </a:endParaRPr>
          </a:p>
          <a:p>
            <a:pPr lvl="0" algn="just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CO" sz="2800" b="1" dirty="0">
                <a:solidFill>
                  <a:schemeClr val="tx1"/>
                </a:solidFill>
              </a:rPr>
              <a:t>2-</a:t>
            </a:r>
            <a:r>
              <a:rPr lang="es-CO" sz="2800" dirty="0">
                <a:solidFill>
                  <a:schemeClr val="tx1"/>
                </a:solidFill>
              </a:rPr>
              <a:t>Escribir </a:t>
            </a:r>
            <a:r>
              <a:rPr lang="es-CO" sz="2800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tipoDato</a:t>
            </a:r>
            <a:r>
              <a:rPr lang="es-CO" sz="28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**</a:t>
            </a:r>
            <a:r>
              <a:rPr lang="es-CO" sz="2800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nombreMatriz</a:t>
            </a:r>
            <a:r>
              <a:rPr lang="es-CO" sz="28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new </a:t>
            </a:r>
            <a:r>
              <a:rPr lang="es-CO" sz="2800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tipoDato</a:t>
            </a:r>
            <a:r>
              <a:rPr lang="es-CO" sz="28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*[#Filas];</a:t>
            </a:r>
            <a:r>
              <a:rPr lang="es-CO" sz="2800" i="1" dirty="0">
                <a:solidFill>
                  <a:schemeClr val="tx1"/>
                </a:solidFill>
              </a:rPr>
              <a:t>  </a:t>
            </a:r>
          </a:p>
          <a:p>
            <a:r>
              <a:rPr lang="es-CO" sz="2800" b="1" dirty="0">
                <a:solidFill>
                  <a:schemeClr val="tx1"/>
                </a:solidFill>
              </a:rPr>
              <a:t>	int</a:t>
            </a:r>
            <a:r>
              <a:rPr lang="es-CO" dirty="0"/>
              <a:t> </a:t>
            </a:r>
            <a:r>
              <a:rPr lang="es-CO" sz="2800" b="1" dirty="0">
                <a:solidFill>
                  <a:schemeClr val="tx1"/>
                </a:solidFill>
              </a:rPr>
              <a:t>** matriz = new int*[N];</a:t>
            </a:r>
          </a:p>
          <a:p>
            <a:r>
              <a:rPr lang="es-CO" sz="2800" dirty="0">
                <a:solidFill>
                  <a:schemeClr val="tx1"/>
                </a:solidFill>
              </a:rPr>
              <a:t>3-Hacer un ciclo para el #de Filas y poner la instrucción:  </a:t>
            </a:r>
            <a:r>
              <a:rPr lang="es-CO" sz="2800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nombreMatriz</a:t>
            </a:r>
            <a:r>
              <a:rPr lang="es-CO" sz="28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[i] = new </a:t>
            </a:r>
            <a:r>
              <a:rPr lang="es-CO" sz="2800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tipoDato</a:t>
            </a:r>
            <a:r>
              <a:rPr lang="es-CO" sz="28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[#Columnas];</a:t>
            </a:r>
          </a:p>
          <a:p>
            <a:r>
              <a:rPr lang="nn-NO" sz="2800" b="1" dirty="0">
                <a:solidFill>
                  <a:schemeClr val="tx1"/>
                </a:solidFill>
              </a:rPr>
              <a:t>	for (int i = 0; i &lt; N; i++)</a:t>
            </a:r>
          </a:p>
          <a:p>
            <a:r>
              <a:rPr lang="nn-NO" sz="2800" b="1" dirty="0">
                <a:solidFill>
                  <a:schemeClr val="tx1"/>
                </a:solidFill>
              </a:rPr>
              <a:t> </a:t>
            </a:r>
            <a:r>
              <a:rPr lang="en-US" sz="2800" b="1" dirty="0">
                <a:solidFill>
                  <a:schemeClr val="tx1"/>
                </a:solidFill>
              </a:rPr>
              <a:t>		</a:t>
            </a:r>
            <a:r>
              <a:rPr lang="en-US" sz="2800" b="1" dirty="0" err="1">
                <a:solidFill>
                  <a:schemeClr val="tx1"/>
                </a:solidFill>
              </a:rPr>
              <a:t>matriz</a:t>
            </a:r>
            <a:r>
              <a:rPr lang="en-US" sz="2800" b="1" dirty="0">
                <a:solidFill>
                  <a:schemeClr val="tx1"/>
                </a:solidFill>
              </a:rPr>
              <a:t>[</a:t>
            </a:r>
            <a:r>
              <a:rPr lang="en-US" sz="2800" b="1" dirty="0" err="1">
                <a:solidFill>
                  <a:schemeClr val="tx1"/>
                </a:solidFill>
              </a:rPr>
              <a:t>i</a:t>
            </a:r>
            <a:r>
              <a:rPr lang="en-US" sz="2800" b="1" dirty="0">
                <a:solidFill>
                  <a:schemeClr val="tx1"/>
                </a:solidFill>
              </a:rPr>
              <a:t>] = new int[M];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8184F88-540A-409D-B80E-5BC137E5EE52}"/>
              </a:ext>
            </a:extLst>
          </p:cNvPr>
          <p:cNvSpPr/>
          <p:nvPr/>
        </p:nvSpPr>
        <p:spPr>
          <a:xfrm>
            <a:off x="1249801" y="6187274"/>
            <a:ext cx="85640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dirty="0"/>
              <a:t>Ingresar al enlace para ver explicación: </a:t>
            </a:r>
            <a:r>
              <a:rPr lang="es-CO" dirty="0">
                <a:hlinkClick r:id="rId2"/>
              </a:rPr>
              <a:t>https://www.youtube.com/watch?v=i7cgXSfNhAQ</a:t>
            </a:r>
            <a:r>
              <a:rPr lang="es-CO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96111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89994" y="0"/>
            <a:ext cx="11369040" cy="914400"/>
          </a:xfrm>
        </p:spPr>
        <p:txBody>
          <a:bodyPr>
            <a:noAutofit/>
          </a:bodyPr>
          <a:lstStyle/>
          <a:p>
            <a:pPr algn="ctr"/>
            <a:r>
              <a:rPr lang="es-CO" sz="3800" b="1" dirty="0">
                <a:latin typeface="Bahnschrift Light SemiCondensed" panose="020B0502040204020203" pitchFamily="34" charset="0"/>
              </a:rPr>
              <a:t>“MANEJO DE MATRICES EN C++”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6F0DE2BE-9E4A-44BC-B129-90A6FC5C49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395339"/>
              </p:ext>
            </p:extLst>
          </p:nvPr>
        </p:nvGraphicFramePr>
        <p:xfrm>
          <a:off x="3025307" y="2618442"/>
          <a:ext cx="5616272" cy="3933078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5616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55513">
                <a:tc>
                  <a:txBody>
                    <a:bodyPr/>
                    <a:lstStyle/>
                    <a:p>
                      <a:pPr algn="ctr" fontAlgn="ctr"/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513">
                <a:tc>
                  <a:txBody>
                    <a:bodyPr/>
                    <a:lstStyle/>
                    <a:p>
                      <a:pPr algn="ctr" fontAlgn="ctr"/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513">
                <a:tc>
                  <a:txBody>
                    <a:bodyPr/>
                    <a:lstStyle/>
                    <a:p>
                      <a:pPr algn="ctr" fontAlgn="ctr"/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513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5513">
                <a:tc>
                  <a:txBody>
                    <a:bodyPr/>
                    <a:lstStyle/>
                    <a:p>
                      <a:pPr algn="ctr" fontAlgn="ctr"/>
                      <a:endParaRPr lang="es-CO" sz="24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5513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\0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B2DC0105-4DA5-4D71-BBD6-1D4B108E41E8}"/>
              </a:ext>
            </a:extLst>
          </p:cNvPr>
          <p:cNvSpPr txBox="1"/>
          <p:nvPr/>
        </p:nvSpPr>
        <p:spPr>
          <a:xfrm>
            <a:off x="2574832" y="2793438"/>
            <a:ext cx="360040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/>
              <a:t>0</a:t>
            </a:r>
          </a:p>
          <a:p>
            <a:endParaRPr lang="es-CO" sz="2400" b="1" dirty="0"/>
          </a:p>
          <a:p>
            <a:r>
              <a:rPr lang="es-CO" sz="2000" b="1" dirty="0"/>
              <a:t>1</a:t>
            </a:r>
          </a:p>
          <a:p>
            <a:endParaRPr lang="es-CO" sz="2000" b="1" dirty="0"/>
          </a:p>
          <a:p>
            <a:r>
              <a:rPr lang="es-CO" sz="2000" b="1" dirty="0"/>
              <a:t>2</a:t>
            </a:r>
          </a:p>
          <a:p>
            <a:endParaRPr lang="es-CO" sz="2000" b="1" dirty="0"/>
          </a:p>
          <a:p>
            <a:r>
              <a:rPr lang="es-CO" sz="2000" b="1" dirty="0"/>
              <a:t>3</a:t>
            </a:r>
          </a:p>
          <a:p>
            <a:endParaRPr lang="es-CO" sz="2800" b="1" dirty="0"/>
          </a:p>
          <a:p>
            <a:r>
              <a:rPr lang="es-CO" sz="2000" b="1" dirty="0"/>
              <a:t>4</a:t>
            </a:r>
          </a:p>
          <a:p>
            <a:endParaRPr lang="es-CO" sz="2000" b="1" dirty="0"/>
          </a:p>
          <a:p>
            <a:r>
              <a:rPr lang="es-CO" sz="2000" b="1" dirty="0"/>
              <a:t>5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42EB788-327E-453C-87B6-D7A75E85F750}"/>
              </a:ext>
            </a:extLst>
          </p:cNvPr>
          <p:cNvSpPr txBox="1"/>
          <p:nvPr/>
        </p:nvSpPr>
        <p:spPr>
          <a:xfrm>
            <a:off x="3025307" y="2249651"/>
            <a:ext cx="55235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b="1" dirty="0">
                <a:solidFill>
                  <a:schemeClr val="accent5"/>
                </a:solidFill>
              </a:rPr>
              <a:t>0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F558AAB-0880-4ADF-B660-535C0A1581D1}"/>
              </a:ext>
            </a:extLst>
          </p:cNvPr>
          <p:cNvSpPr txBox="1"/>
          <p:nvPr/>
        </p:nvSpPr>
        <p:spPr>
          <a:xfrm>
            <a:off x="738677" y="914400"/>
            <a:ext cx="11081560" cy="9847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scene3d>
            <a:camera prst="orthographicFront"/>
            <a:lightRig rig="fla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spcFirstLastPara="0" vert="horz" wrap="square" lIns="121920" tIns="121920" rIns="121920" bIns="121920" numCol="1" spcCol="1270" anchor="ctr" anchorCtr="0">
            <a:noAutofit/>
          </a:bodyPr>
          <a:lstStyle/>
          <a:p>
            <a:r>
              <a:rPr lang="es-CO" sz="2800" b="1" dirty="0">
                <a:solidFill>
                  <a:schemeClr val="tx1"/>
                </a:solidFill>
              </a:rPr>
              <a:t>La instrucción int</a:t>
            </a:r>
            <a:r>
              <a:rPr lang="es-CO" dirty="0"/>
              <a:t> </a:t>
            </a:r>
            <a:r>
              <a:rPr lang="es-CO" sz="2800" b="1" dirty="0">
                <a:solidFill>
                  <a:schemeClr val="tx1"/>
                </a:solidFill>
              </a:rPr>
              <a:t>** matriz = new int*[N]; lo que hace es reservar las filas (5) que va a tener la matriz (con una sola columna).</a:t>
            </a:r>
          </a:p>
        </p:txBody>
      </p:sp>
    </p:spTree>
    <p:extLst>
      <p:ext uri="{BB962C8B-B14F-4D97-AF65-F5344CB8AC3E}">
        <p14:creationId xmlns:p14="http://schemas.microsoft.com/office/powerpoint/2010/main" val="4048560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89994" y="0"/>
            <a:ext cx="11369040" cy="914400"/>
          </a:xfrm>
        </p:spPr>
        <p:txBody>
          <a:bodyPr>
            <a:noAutofit/>
          </a:bodyPr>
          <a:lstStyle/>
          <a:p>
            <a:pPr algn="ctr"/>
            <a:r>
              <a:rPr lang="es-CO" sz="3800" b="1" dirty="0">
                <a:latin typeface="Bahnschrift Light SemiCondensed" panose="020B0502040204020203" pitchFamily="34" charset="0"/>
              </a:rPr>
              <a:t>“MANEJO DE MATRICES EN C++”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3245438-2EFA-4DBF-85CF-60E0A78BBF68}"/>
              </a:ext>
            </a:extLst>
          </p:cNvPr>
          <p:cNvSpPr txBox="1"/>
          <p:nvPr/>
        </p:nvSpPr>
        <p:spPr>
          <a:xfrm>
            <a:off x="688436" y="1105319"/>
            <a:ext cx="11081560" cy="11957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scene3d>
            <a:camera prst="orthographicFront"/>
            <a:lightRig rig="fla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spcFirstLastPara="0" vert="horz" wrap="square" lIns="121920" tIns="121920" rIns="121920" bIns="121920" numCol="1" spcCol="1270" anchor="ctr" anchorCtr="0">
            <a:noAutofit/>
          </a:bodyPr>
          <a:lstStyle/>
          <a:p>
            <a:pPr lvl="0" algn="just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CO" sz="2800" dirty="0">
                <a:solidFill>
                  <a:schemeClr val="tx1"/>
                </a:solidFill>
              </a:rPr>
              <a:t>El ciclo lo que hace es recorrer cada fila (5) y dividirla en el número de columnas indicadas (7). Este ejemplo en caso que se hubiese leído 5 y 7.</a:t>
            </a:r>
            <a:endParaRPr lang="es-MX" sz="2800" b="1" dirty="0">
              <a:solidFill>
                <a:prstClr val="black"/>
              </a:solidFill>
              <a:latin typeface="Arial Narrow" pitchFamily="34" charset="0"/>
            </a:endParaRPr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47A01C61-7915-4881-96DE-50E34B69E8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906391"/>
              </p:ext>
            </p:extLst>
          </p:nvPr>
        </p:nvGraphicFramePr>
        <p:xfrm>
          <a:off x="2795729" y="3152662"/>
          <a:ext cx="6192688" cy="3504003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7740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40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40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40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40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40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408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7408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98878">
                <a:tc>
                  <a:txBody>
                    <a:bodyPr/>
                    <a:lstStyle/>
                    <a:p>
                      <a:pPr algn="ctr" fontAlgn="ctr"/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\0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algn="ctr" fontAlgn="ctr"/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\0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algn="ctr" fontAlgn="ctr"/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\0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u="none" strike="noStrike" dirty="0">
                          <a:effectLst/>
                        </a:rPr>
                        <a:t>\0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algn="ctr" fontAlgn="ctr"/>
                      <a:endParaRPr lang="es-CO" sz="2400" b="1" i="0" u="none" strike="noStrike" dirty="0">
                        <a:solidFill>
                          <a:srgbClr val="265D9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2400" b="1" i="0" u="none" strike="noStrike" dirty="0">
                        <a:solidFill>
                          <a:srgbClr val="265D9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\0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\0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\0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\0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\0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\0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\0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\0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 dirty="0">
                          <a:effectLst/>
                        </a:rPr>
                        <a:t>\0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CuadroTexto 9">
            <a:extLst>
              <a:ext uri="{FF2B5EF4-FFF2-40B4-BE49-F238E27FC236}">
                <a16:creationId xmlns:a16="http://schemas.microsoft.com/office/drawing/2014/main" id="{3ADCA8C2-E4F6-4527-B76F-872E0C7C3C26}"/>
              </a:ext>
            </a:extLst>
          </p:cNvPr>
          <p:cNvSpPr txBox="1"/>
          <p:nvPr/>
        </p:nvSpPr>
        <p:spPr>
          <a:xfrm>
            <a:off x="2380058" y="3263210"/>
            <a:ext cx="36004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/>
              <a:t>0</a:t>
            </a:r>
          </a:p>
          <a:p>
            <a:endParaRPr lang="es-CO" sz="2000" b="1" dirty="0"/>
          </a:p>
          <a:p>
            <a:r>
              <a:rPr lang="es-CO" sz="2000" b="1" dirty="0"/>
              <a:t>1</a:t>
            </a:r>
          </a:p>
          <a:p>
            <a:endParaRPr lang="es-CO" sz="2000" b="1" dirty="0"/>
          </a:p>
          <a:p>
            <a:r>
              <a:rPr lang="es-CO" sz="2000" b="1" dirty="0"/>
              <a:t>2</a:t>
            </a:r>
          </a:p>
          <a:p>
            <a:endParaRPr lang="es-CO" sz="2000" b="1" dirty="0"/>
          </a:p>
          <a:p>
            <a:r>
              <a:rPr lang="es-CO" sz="2000" b="1" dirty="0"/>
              <a:t>3</a:t>
            </a:r>
          </a:p>
          <a:p>
            <a:endParaRPr lang="es-CO" sz="1600" b="1" dirty="0"/>
          </a:p>
          <a:p>
            <a:r>
              <a:rPr lang="es-CO" sz="2000" b="1" dirty="0"/>
              <a:t>4</a:t>
            </a:r>
          </a:p>
          <a:p>
            <a:endParaRPr lang="es-CO" sz="1200" b="1" dirty="0"/>
          </a:p>
          <a:p>
            <a:r>
              <a:rPr lang="es-CO" sz="2000" b="1" dirty="0"/>
              <a:t>5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B2F150A-CE4A-4009-9634-AC2F929640BA}"/>
              </a:ext>
            </a:extLst>
          </p:cNvPr>
          <p:cNvSpPr txBox="1"/>
          <p:nvPr/>
        </p:nvSpPr>
        <p:spPr>
          <a:xfrm>
            <a:off x="2910917" y="2720610"/>
            <a:ext cx="6192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>
                <a:solidFill>
                  <a:schemeClr val="accent5"/>
                </a:solidFill>
              </a:rPr>
              <a:t>   0           1          2           3            4           5            6           7</a:t>
            </a:r>
          </a:p>
        </p:txBody>
      </p:sp>
    </p:spTree>
    <p:extLst>
      <p:ext uri="{BB962C8B-B14F-4D97-AF65-F5344CB8AC3E}">
        <p14:creationId xmlns:p14="http://schemas.microsoft.com/office/powerpoint/2010/main" val="2151038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89994" y="0"/>
            <a:ext cx="11369040" cy="914400"/>
          </a:xfrm>
        </p:spPr>
        <p:txBody>
          <a:bodyPr>
            <a:noAutofit/>
          </a:bodyPr>
          <a:lstStyle/>
          <a:p>
            <a:pPr algn="ctr"/>
            <a:r>
              <a:rPr lang="es-CO" sz="3800" b="1" dirty="0">
                <a:latin typeface="Bahnschrift Light SemiCondensed" panose="020B0502040204020203" pitchFamily="34" charset="0"/>
              </a:rPr>
              <a:t>“MANEJO DE MATRICES EN C++”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3245438-2EFA-4DBF-85CF-60E0A78BBF68}"/>
              </a:ext>
            </a:extLst>
          </p:cNvPr>
          <p:cNvSpPr txBox="1"/>
          <p:nvPr/>
        </p:nvSpPr>
        <p:spPr>
          <a:xfrm>
            <a:off x="1259290" y="1469381"/>
            <a:ext cx="3356790" cy="53831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scene3d>
            <a:camera prst="orthographicFront"/>
            <a:lightRig rig="fla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spcFirstLastPara="0" vert="horz" wrap="square" lIns="121920" tIns="121920" rIns="121920" bIns="121920" numCol="1" spcCol="1270" anchor="ctr" anchorCtr="0">
            <a:noAutofit/>
          </a:bodyPr>
          <a:lstStyle/>
          <a:p>
            <a:pPr lvl="0" algn="just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CO" sz="2800" b="1" dirty="0">
                <a:solidFill>
                  <a:schemeClr val="tx1"/>
                </a:solidFill>
              </a:rPr>
              <a:t>MATRIZ[0][0] = 5;</a:t>
            </a:r>
            <a:endParaRPr lang="es-MX" sz="2800" b="1" dirty="0">
              <a:solidFill>
                <a:prstClr val="black"/>
              </a:solidFill>
              <a:latin typeface="Arial Narrow" pitchFamily="34" charset="0"/>
            </a:endParaRP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6F0DE2BE-9E4A-44BC-B129-90A6FC5C49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5495978"/>
              </p:ext>
            </p:extLst>
          </p:nvPr>
        </p:nvGraphicFramePr>
        <p:xfrm>
          <a:off x="5922800" y="1389873"/>
          <a:ext cx="4646838" cy="4157856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7744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44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44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44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44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44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92976">
                <a:tc>
                  <a:txBody>
                    <a:bodyPr/>
                    <a:lstStyle/>
                    <a:p>
                      <a:pPr algn="ctr" fontAlgn="ctr"/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2976">
                <a:tc>
                  <a:txBody>
                    <a:bodyPr/>
                    <a:lstStyle/>
                    <a:p>
                      <a:pPr algn="ctr" fontAlgn="ctr"/>
                      <a:endParaRPr lang="es-CO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2976">
                <a:tc>
                  <a:txBody>
                    <a:bodyPr/>
                    <a:lstStyle/>
                    <a:p>
                      <a:pPr algn="ctr" fontAlgn="ctr"/>
                      <a:endParaRPr lang="es-CO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2976">
                <a:tc>
                  <a:txBody>
                    <a:bodyPr/>
                    <a:lstStyle/>
                    <a:p>
                      <a:pPr algn="ctr" fontAlgn="ctr"/>
                      <a:endParaRPr lang="es-CO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2976">
                <a:tc>
                  <a:txBody>
                    <a:bodyPr/>
                    <a:lstStyle/>
                    <a:p>
                      <a:pPr algn="ctr" fontAlgn="ctr"/>
                      <a:endParaRPr lang="es-CO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2976">
                <a:tc>
                  <a:txBody>
                    <a:bodyPr/>
                    <a:lstStyle/>
                    <a:p>
                      <a:pPr algn="ctr" fontAlgn="ctr"/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B2DC0105-4DA5-4D71-BBD6-1D4B108E41E8}"/>
              </a:ext>
            </a:extLst>
          </p:cNvPr>
          <p:cNvSpPr txBox="1"/>
          <p:nvPr/>
        </p:nvSpPr>
        <p:spPr>
          <a:xfrm>
            <a:off x="5440124" y="1514420"/>
            <a:ext cx="360040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b="1" dirty="0"/>
              <a:t>0</a:t>
            </a:r>
          </a:p>
          <a:p>
            <a:endParaRPr lang="es-CO" sz="2400" b="1" dirty="0"/>
          </a:p>
          <a:p>
            <a:r>
              <a:rPr lang="es-CO" sz="2400" b="1" dirty="0"/>
              <a:t>1</a:t>
            </a:r>
          </a:p>
          <a:p>
            <a:endParaRPr lang="es-CO" sz="2400" b="1" dirty="0"/>
          </a:p>
          <a:p>
            <a:r>
              <a:rPr lang="es-CO" sz="2400" b="1" dirty="0"/>
              <a:t>2</a:t>
            </a:r>
          </a:p>
          <a:p>
            <a:endParaRPr lang="es-CO" sz="2400" b="1" dirty="0"/>
          </a:p>
          <a:p>
            <a:r>
              <a:rPr lang="es-CO" sz="2400" b="1" dirty="0"/>
              <a:t>3</a:t>
            </a:r>
          </a:p>
          <a:p>
            <a:endParaRPr lang="es-CO" b="1" dirty="0"/>
          </a:p>
          <a:p>
            <a:r>
              <a:rPr lang="es-CO" sz="2400" b="1" dirty="0"/>
              <a:t>4</a:t>
            </a:r>
          </a:p>
          <a:p>
            <a:endParaRPr lang="es-CO" sz="1400" b="1" dirty="0"/>
          </a:p>
          <a:p>
            <a:r>
              <a:rPr lang="es-CO" sz="2400" b="1" dirty="0"/>
              <a:t>5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C6E3D65-0D2E-42A7-997A-C2AA5F415584}"/>
              </a:ext>
            </a:extLst>
          </p:cNvPr>
          <p:cNvSpPr txBox="1"/>
          <p:nvPr/>
        </p:nvSpPr>
        <p:spPr>
          <a:xfrm rot="16200000">
            <a:off x="8149003" y="-1402507"/>
            <a:ext cx="677108" cy="5129513"/>
          </a:xfrm>
          <a:prstGeom prst="rect">
            <a:avLst/>
          </a:prstGeom>
          <a:noFill/>
        </p:spPr>
        <p:txBody>
          <a:bodyPr vert="vert" wrap="square" rtlCol="0">
            <a:spAutoFit/>
          </a:bodyPr>
          <a:lstStyle/>
          <a:p>
            <a:r>
              <a:rPr lang="es-CO" sz="3200" b="1" dirty="0"/>
              <a:t>  0       1     2      3       4      5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489F307-D85D-4718-A697-3DBFB6AAEA43}"/>
              </a:ext>
            </a:extLst>
          </p:cNvPr>
          <p:cNvSpPr txBox="1"/>
          <p:nvPr/>
        </p:nvSpPr>
        <p:spPr>
          <a:xfrm>
            <a:off x="5962556" y="1419690"/>
            <a:ext cx="701408" cy="657582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0" vert="horz" wrap="square" lIns="121920" tIns="121920" rIns="121920" bIns="121920" numCol="1" spcCol="1270" anchor="ctr" anchorCtr="0">
            <a:noAutofit/>
          </a:bodyPr>
          <a:lstStyle/>
          <a:p>
            <a:pPr lvl="0"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CO" sz="2800" b="1" dirty="0">
                <a:solidFill>
                  <a:schemeClr val="tx1"/>
                </a:solidFill>
              </a:rPr>
              <a:t>5</a:t>
            </a:r>
            <a:endParaRPr lang="es-MX" sz="2800" b="1" dirty="0">
              <a:solidFill>
                <a:prstClr val="black"/>
              </a:solidFill>
              <a:latin typeface="Arial Narrow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0A1B934-362A-49A4-AEDB-7E4957DC1B8B}"/>
              </a:ext>
            </a:extLst>
          </p:cNvPr>
          <p:cNvSpPr txBox="1"/>
          <p:nvPr/>
        </p:nvSpPr>
        <p:spPr>
          <a:xfrm>
            <a:off x="1252664" y="2031156"/>
            <a:ext cx="3356790" cy="53831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scene3d>
            <a:camera prst="orthographicFront"/>
            <a:lightRig rig="fla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spcFirstLastPara="0" vert="horz" wrap="square" lIns="121920" tIns="121920" rIns="121920" bIns="121920" numCol="1" spcCol="1270" anchor="ctr" anchorCtr="0">
            <a:noAutofit/>
          </a:bodyPr>
          <a:lstStyle/>
          <a:p>
            <a:pPr lvl="0" algn="just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CO" sz="2800" b="1" dirty="0">
                <a:solidFill>
                  <a:schemeClr val="tx1"/>
                </a:solidFill>
              </a:rPr>
              <a:t>MATRIZ[1][4] = 8;</a:t>
            </a:r>
            <a:endParaRPr lang="es-MX" sz="2800" b="1" dirty="0">
              <a:solidFill>
                <a:prstClr val="black"/>
              </a:solidFill>
              <a:latin typeface="Arial Narrow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DB22A5D-4C71-41AE-BB05-722F9D9A3DA1}"/>
              </a:ext>
            </a:extLst>
          </p:cNvPr>
          <p:cNvSpPr txBox="1"/>
          <p:nvPr/>
        </p:nvSpPr>
        <p:spPr>
          <a:xfrm>
            <a:off x="9056938" y="2107089"/>
            <a:ext cx="701408" cy="657582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0" vert="horz" wrap="square" lIns="121920" tIns="121920" rIns="121920" bIns="121920" numCol="1" spcCol="1270" anchor="ctr" anchorCtr="0">
            <a:noAutofit/>
          </a:bodyPr>
          <a:lstStyle/>
          <a:p>
            <a:pPr lvl="0"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CO" sz="2800" b="1" dirty="0">
                <a:solidFill>
                  <a:schemeClr val="tx1"/>
                </a:solidFill>
              </a:rPr>
              <a:t>8</a:t>
            </a:r>
            <a:endParaRPr lang="es-MX" sz="2800" b="1" dirty="0">
              <a:solidFill>
                <a:prstClr val="black"/>
              </a:solidFill>
              <a:latin typeface="Arial Narrow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19D0D6B-2E0B-461C-8F49-DCD239255BF4}"/>
              </a:ext>
            </a:extLst>
          </p:cNvPr>
          <p:cNvSpPr txBox="1"/>
          <p:nvPr/>
        </p:nvSpPr>
        <p:spPr>
          <a:xfrm>
            <a:off x="1252664" y="2619165"/>
            <a:ext cx="3356790" cy="53831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scene3d>
            <a:camera prst="orthographicFront"/>
            <a:lightRig rig="fla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spcFirstLastPara="0" vert="horz" wrap="square" lIns="121920" tIns="121920" rIns="121920" bIns="121920" numCol="1" spcCol="1270" anchor="ctr" anchorCtr="0">
            <a:noAutofit/>
          </a:bodyPr>
          <a:lstStyle/>
          <a:p>
            <a:pPr lvl="0" algn="just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CO" sz="2800" b="1" dirty="0">
                <a:solidFill>
                  <a:schemeClr val="tx1"/>
                </a:solidFill>
              </a:rPr>
              <a:t>MATRIZ[2][2] = 1;</a:t>
            </a:r>
            <a:endParaRPr lang="es-MX" sz="2800" b="1" dirty="0">
              <a:solidFill>
                <a:prstClr val="black"/>
              </a:solidFill>
              <a:latin typeface="Arial Narrow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9376774-072B-417C-9F7C-E1E76E502F32}"/>
              </a:ext>
            </a:extLst>
          </p:cNvPr>
          <p:cNvSpPr txBox="1"/>
          <p:nvPr/>
        </p:nvSpPr>
        <p:spPr>
          <a:xfrm>
            <a:off x="7503140" y="2786575"/>
            <a:ext cx="701408" cy="657582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0" vert="horz" wrap="square" lIns="121920" tIns="121920" rIns="121920" bIns="121920" numCol="1" spcCol="1270" anchor="ctr" anchorCtr="0">
            <a:noAutofit/>
          </a:bodyPr>
          <a:lstStyle/>
          <a:p>
            <a:pPr lvl="0"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CO" sz="2800" b="1" dirty="0">
                <a:solidFill>
                  <a:schemeClr val="tx1"/>
                </a:solidFill>
              </a:rPr>
              <a:t>1</a:t>
            </a:r>
            <a:endParaRPr lang="es-MX" sz="2800" b="1" dirty="0">
              <a:solidFill>
                <a:prstClr val="black"/>
              </a:solidFill>
              <a:latin typeface="Arial Narrow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AD4A6F8-8C13-4C2C-9927-2BF1FF61377B}"/>
              </a:ext>
            </a:extLst>
          </p:cNvPr>
          <p:cNvSpPr txBox="1"/>
          <p:nvPr/>
        </p:nvSpPr>
        <p:spPr>
          <a:xfrm>
            <a:off x="1252664" y="3191492"/>
            <a:ext cx="3356790" cy="53831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scene3d>
            <a:camera prst="orthographicFront"/>
            <a:lightRig rig="fla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spcFirstLastPara="0" vert="horz" wrap="square" lIns="121920" tIns="121920" rIns="121920" bIns="121920" numCol="1" spcCol="1270" anchor="ctr" anchorCtr="0">
            <a:noAutofit/>
          </a:bodyPr>
          <a:lstStyle/>
          <a:p>
            <a:pPr lvl="0" algn="just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CO" sz="2800" b="1" dirty="0">
                <a:solidFill>
                  <a:schemeClr val="tx1"/>
                </a:solidFill>
              </a:rPr>
              <a:t>MATRIZ[0][3] = 9;</a:t>
            </a:r>
            <a:endParaRPr lang="es-MX" sz="2800" b="1" dirty="0">
              <a:solidFill>
                <a:prstClr val="black"/>
              </a:solidFill>
              <a:latin typeface="Arial Narrow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50FC902-1F6B-4F68-AF9D-3EF4C1CDD939}"/>
              </a:ext>
            </a:extLst>
          </p:cNvPr>
          <p:cNvSpPr txBox="1"/>
          <p:nvPr/>
        </p:nvSpPr>
        <p:spPr>
          <a:xfrm>
            <a:off x="8274121" y="1399812"/>
            <a:ext cx="701408" cy="657582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0" vert="horz" wrap="square" lIns="121920" tIns="121920" rIns="121920" bIns="121920" numCol="1" spcCol="1270" anchor="ctr" anchorCtr="0">
            <a:noAutofit/>
          </a:bodyPr>
          <a:lstStyle/>
          <a:p>
            <a:pPr lvl="0"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CO" sz="2800" b="1" dirty="0">
                <a:solidFill>
                  <a:schemeClr val="tx1"/>
                </a:solidFill>
              </a:rPr>
              <a:t>9</a:t>
            </a:r>
            <a:endParaRPr lang="es-MX" sz="2800" b="1" dirty="0">
              <a:solidFill>
                <a:prstClr val="black"/>
              </a:solidFill>
              <a:latin typeface="Arial Narrow" pitchFamily="34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E034E85-2AE6-494E-B9BB-CBC780F5258E}"/>
              </a:ext>
            </a:extLst>
          </p:cNvPr>
          <p:cNvSpPr txBox="1"/>
          <p:nvPr/>
        </p:nvSpPr>
        <p:spPr>
          <a:xfrm>
            <a:off x="1259290" y="3773754"/>
            <a:ext cx="3356790" cy="53831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scene3d>
            <a:camera prst="orthographicFront"/>
            <a:lightRig rig="fla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spcFirstLastPara="0" vert="horz" wrap="square" lIns="121920" tIns="121920" rIns="121920" bIns="121920" numCol="1" spcCol="1270" anchor="ctr" anchorCtr="0">
            <a:noAutofit/>
          </a:bodyPr>
          <a:lstStyle/>
          <a:p>
            <a:pPr lvl="0" algn="just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CO" sz="2800" b="1" dirty="0">
                <a:solidFill>
                  <a:schemeClr val="tx1"/>
                </a:solidFill>
              </a:rPr>
              <a:t>MATRIZ[4][1] = 3;</a:t>
            </a:r>
            <a:endParaRPr lang="es-MX" sz="2800" b="1" dirty="0">
              <a:solidFill>
                <a:prstClr val="black"/>
              </a:solidFill>
              <a:latin typeface="Arial Narrow" pitchFamily="34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A4694D48-5A17-4B1D-A725-BDB0C4186CC4}"/>
              </a:ext>
            </a:extLst>
          </p:cNvPr>
          <p:cNvSpPr txBox="1"/>
          <p:nvPr/>
        </p:nvSpPr>
        <p:spPr>
          <a:xfrm>
            <a:off x="6728345" y="4178625"/>
            <a:ext cx="701408" cy="657582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0" vert="horz" wrap="square" lIns="121920" tIns="121920" rIns="121920" bIns="121920" numCol="1" spcCol="1270" anchor="ctr" anchorCtr="0">
            <a:noAutofit/>
          </a:bodyPr>
          <a:lstStyle/>
          <a:p>
            <a:pPr lvl="0"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CO" sz="2800" b="1" dirty="0">
                <a:solidFill>
                  <a:schemeClr val="tx1"/>
                </a:solidFill>
              </a:rPr>
              <a:t>3</a:t>
            </a:r>
            <a:endParaRPr lang="es-MX" sz="2800" b="1" dirty="0">
              <a:solidFill>
                <a:prstClr val="black"/>
              </a:solidFill>
              <a:latin typeface="Arial Narrow" pitchFamily="34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3CAD2234-43D1-4126-9413-72F0EAB5615B}"/>
              </a:ext>
            </a:extLst>
          </p:cNvPr>
          <p:cNvSpPr txBox="1"/>
          <p:nvPr/>
        </p:nvSpPr>
        <p:spPr>
          <a:xfrm>
            <a:off x="1259290" y="4349704"/>
            <a:ext cx="3356790" cy="53831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scene3d>
            <a:camera prst="orthographicFront"/>
            <a:lightRig rig="fla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spcFirstLastPara="0" vert="horz" wrap="square" lIns="121920" tIns="121920" rIns="121920" bIns="121920" numCol="1" spcCol="1270" anchor="ctr" anchorCtr="0">
            <a:noAutofit/>
          </a:bodyPr>
          <a:lstStyle/>
          <a:p>
            <a:pPr lvl="0" algn="just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CO" sz="2800" b="1" dirty="0">
                <a:solidFill>
                  <a:schemeClr val="tx1"/>
                </a:solidFill>
              </a:rPr>
              <a:t>MATRIZ[3][4] = 7;</a:t>
            </a:r>
            <a:endParaRPr lang="es-MX" sz="2800" b="1" dirty="0">
              <a:solidFill>
                <a:prstClr val="black"/>
              </a:solidFill>
              <a:latin typeface="Arial Narrow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733989B5-28EB-4D44-9B9A-8EABBBDBF815}"/>
              </a:ext>
            </a:extLst>
          </p:cNvPr>
          <p:cNvSpPr txBox="1"/>
          <p:nvPr/>
        </p:nvSpPr>
        <p:spPr>
          <a:xfrm>
            <a:off x="9068876" y="3500407"/>
            <a:ext cx="701408" cy="657582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0" vert="horz" wrap="square" lIns="121920" tIns="121920" rIns="121920" bIns="121920" numCol="1" spcCol="1270" anchor="ctr" anchorCtr="0">
            <a:noAutofit/>
          </a:bodyPr>
          <a:lstStyle/>
          <a:p>
            <a:pPr lvl="0"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CO" sz="2800" b="1" dirty="0">
                <a:solidFill>
                  <a:schemeClr val="tx1"/>
                </a:solidFill>
              </a:rPr>
              <a:t>7</a:t>
            </a:r>
            <a:endParaRPr lang="es-MX" sz="2800" b="1" dirty="0">
              <a:solidFill>
                <a:prstClr val="black"/>
              </a:solidFill>
              <a:latin typeface="Arial Narrow" pitchFamily="34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065FE96C-5C9B-4152-AB09-834ECA1E4A13}"/>
              </a:ext>
            </a:extLst>
          </p:cNvPr>
          <p:cNvSpPr txBox="1"/>
          <p:nvPr/>
        </p:nvSpPr>
        <p:spPr>
          <a:xfrm>
            <a:off x="1259290" y="4925654"/>
            <a:ext cx="3356790" cy="53831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scene3d>
            <a:camera prst="orthographicFront"/>
            <a:lightRig rig="fla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spcFirstLastPara="0" vert="horz" wrap="square" lIns="121920" tIns="121920" rIns="121920" bIns="121920" numCol="1" spcCol="1270" anchor="ctr" anchorCtr="0">
            <a:noAutofit/>
          </a:bodyPr>
          <a:lstStyle/>
          <a:p>
            <a:pPr lvl="0" algn="just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CO" sz="2800" b="1" dirty="0">
                <a:solidFill>
                  <a:schemeClr val="tx1"/>
                </a:solidFill>
              </a:rPr>
              <a:t>MATRIZ[4][4] = 0;</a:t>
            </a:r>
            <a:endParaRPr lang="es-MX" sz="2800" b="1" dirty="0">
              <a:solidFill>
                <a:prstClr val="black"/>
              </a:solidFill>
              <a:latin typeface="Arial Narrow" pitchFamily="34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095DA726-058D-49BB-AFCC-EE34E21FFFE4}"/>
              </a:ext>
            </a:extLst>
          </p:cNvPr>
          <p:cNvSpPr txBox="1"/>
          <p:nvPr/>
        </p:nvSpPr>
        <p:spPr>
          <a:xfrm>
            <a:off x="9056938" y="4190254"/>
            <a:ext cx="701408" cy="657582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0" vert="horz" wrap="square" lIns="121920" tIns="121920" rIns="121920" bIns="121920" numCol="1" spcCol="1270" anchor="ctr" anchorCtr="0">
            <a:noAutofit/>
          </a:bodyPr>
          <a:lstStyle/>
          <a:p>
            <a:pPr lvl="0"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CO" sz="2800" b="1" dirty="0">
                <a:solidFill>
                  <a:schemeClr val="tx1"/>
                </a:solidFill>
              </a:rPr>
              <a:t>0</a:t>
            </a:r>
            <a:endParaRPr lang="es-MX" sz="2800" b="1" dirty="0">
              <a:solidFill>
                <a:prstClr val="black"/>
              </a:solidFill>
              <a:latin typeface="Arial Narrow" pitchFamily="34" charset="0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2A63AA73-C9F1-4F56-9349-C1A6AF7A66FA}"/>
              </a:ext>
            </a:extLst>
          </p:cNvPr>
          <p:cNvSpPr txBox="1"/>
          <p:nvPr/>
        </p:nvSpPr>
        <p:spPr>
          <a:xfrm>
            <a:off x="1252664" y="5513663"/>
            <a:ext cx="3356790" cy="53831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scene3d>
            <a:camera prst="orthographicFront"/>
            <a:lightRig rig="fla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spcFirstLastPara="0" vert="horz" wrap="square" lIns="121920" tIns="121920" rIns="121920" bIns="121920" numCol="1" spcCol="1270" anchor="ctr" anchorCtr="0">
            <a:noAutofit/>
          </a:bodyPr>
          <a:lstStyle/>
          <a:p>
            <a:pPr lvl="0" algn="just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CO" sz="2800" b="1" dirty="0">
                <a:solidFill>
                  <a:schemeClr val="tx1"/>
                </a:solidFill>
              </a:rPr>
              <a:t>MATRIZ[2][0] = 2;</a:t>
            </a:r>
            <a:endParaRPr lang="es-MX" sz="2800" b="1" dirty="0">
              <a:solidFill>
                <a:prstClr val="black"/>
              </a:solidFill>
              <a:latin typeface="Arial Narrow" pitchFamily="34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E0A5A7A2-5380-46B6-9C5C-92CEBBEA7803}"/>
              </a:ext>
            </a:extLst>
          </p:cNvPr>
          <p:cNvSpPr txBox="1"/>
          <p:nvPr/>
        </p:nvSpPr>
        <p:spPr>
          <a:xfrm>
            <a:off x="5973106" y="2771418"/>
            <a:ext cx="701408" cy="657582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0" vert="horz" wrap="square" lIns="121920" tIns="121920" rIns="121920" bIns="121920" numCol="1" spcCol="1270" anchor="ctr" anchorCtr="0">
            <a:noAutofit/>
          </a:bodyPr>
          <a:lstStyle/>
          <a:p>
            <a:pPr lvl="0"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CO" sz="2800" b="1" dirty="0">
                <a:solidFill>
                  <a:schemeClr val="tx1"/>
                </a:solidFill>
              </a:rPr>
              <a:t>2</a:t>
            </a:r>
            <a:endParaRPr lang="es-MX" sz="2800" b="1" dirty="0">
              <a:solidFill>
                <a:prstClr val="black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3978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3" presetClass="entr" presetSubtype="16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3" presetClass="entr" presetSubtype="16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3" presetClass="entr" presetSubtype="16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3" presetClass="entr" presetSubtype="16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3" presetClass="entr" presetSubtype="16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3" presetClass="entr" presetSubtype="16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3" presetClass="entr" presetSubtype="16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1"/>
            <a:ext cx="11353800" cy="914400"/>
          </a:xfrm>
        </p:spPr>
        <p:txBody>
          <a:bodyPr>
            <a:normAutofit/>
          </a:bodyPr>
          <a:lstStyle/>
          <a:p>
            <a:pPr algn="ctr"/>
            <a:r>
              <a:rPr lang="es-CO" b="1" dirty="0">
                <a:latin typeface="Bahnschrift Light SemiCondensed" panose="020B0502040204020203" pitchFamily="34" charset="0"/>
              </a:rPr>
              <a:t>“PARTES DE UNA MATRIZ EN C++”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687D40A-7185-460D-AF43-71DED5BFB23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925"/>
          <a:stretch/>
        </p:blipFill>
        <p:spPr>
          <a:xfrm>
            <a:off x="1100661" y="669022"/>
            <a:ext cx="2325755" cy="2197451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FEEAD95B-3055-4782-A970-A2EA4905F556}"/>
              </a:ext>
            </a:extLst>
          </p:cNvPr>
          <p:cNvSpPr/>
          <p:nvPr/>
        </p:nvSpPr>
        <p:spPr>
          <a:xfrm>
            <a:off x="3771798" y="769691"/>
            <a:ext cx="8074820" cy="199611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scene3d>
            <a:camera prst="orthographicFront"/>
            <a:lightRig rig="fla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spcFirstLastPara="0" vert="horz" wrap="square" lIns="121920" tIns="121920" rIns="121920" bIns="121920" numCol="1" spcCol="1270" anchor="ctr" anchorCtr="0">
            <a:no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lang="es-CO" sz="2800" b="1" dirty="0"/>
              <a:t>DIAGONAL PRINCIPAL: </a:t>
            </a:r>
            <a:r>
              <a:rPr lang="es-CO" sz="2800" dirty="0"/>
              <a:t>Elementos que parten la matriz en dos partes y que están ubicados en las posiciones donde la </a:t>
            </a:r>
            <a:r>
              <a:rPr lang="es-CO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fila es igual a la columna</a:t>
            </a:r>
            <a:r>
              <a:rPr lang="es-CO" sz="2800" dirty="0"/>
              <a:t>. </a:t>
            </a:r>
          </a:p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lang="es-CO" sz="2800" b="1" dirty="0"/>
              <a:t>Posiciones: [0,0]  [1,1]  [2,2]  [3,3]  [4,4]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A40B15B-200F-4906-806D-76D196081B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808" y="2146853"/>
            <a:ext cx="11488810" cy="5108712"/>
          </a:xfrm>
          <a:prstGeom prst="rect">
            <a:avLst/>
          </a:prstGeom>
          <a:solidFill>
            <a:srgbClr val="FFFFFF">
              <a:shade val="85000"/>
            </a:srgbClr>
          </a:solidFill>
          <a:ln w="101600" cap="sq">
            <a:solidFill>
              <a:srgbClr val="FDFDFD"/>
            </a:solidFill>
            <a:miter lim="800000"/>
          </a:ln>
          <a:effectLst>
            <a:outerShdw blurRad="57150" dist="37500" dir="7560000" sy="98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 fov="600000">
              <a:rot lat="1896000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</p:pic>
      <p:grpSp>
        <p:nvGrpSpPr>
          <p:cNvPr id="9" name="Grupo 8">
            <a:extLst>
              <a:ext uri="{FF2B5EF4-FFF2-40B4-BE49-F238E27FC236}">
                <a16:creationId xmlns:a16="http://schemas.microsoft.com/office/drawing/2014/main" id="{150ACE0F-E452-4D87-9407-0923D44C6BBF}"/>
              </a:ext>
            </a:extLst>
          </p:cNvPr>
          <p:cNvGrpSpPr/>
          <p:nvPr/>
        </p:nvGrpSpPr>
        <p:grpSpPr>
          <a:xfrm>
            <a:off x="3388744" y="3991528"/>
            <a:ext cx="8343900" cy="2122423"/>
            <a:chOff x="3388744" y="3991528"/>
            <a:chExt cx="8343900" cy="2122423"/>
          </a:xfrm>
        </p:grpSpPr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17E8DB69-431F-4CC7-92D3-545246F0B10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b="49587"/>
            <a:stretch/>
          </p:blipFill>
          <p:spPr>
            <a:xfrm>
              <a:off x="3388744" y="3991528"/>
              <a:ext cx="4171950" cy="2122423"/>
            </a:xfrm>
            <a:prstGeom prst="rect">
              <a:avLst/>
            </a:prstGeom>
          </p:spPr>
        </p:pic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0EF8703E-A492-440B-9306-98E711D6DA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52587"/>
            <a:stretch/>
          </p:blipFill>
          <p:spPr>
            <a:xfrm>
              <a:off x="7560694" y="3991528"/>
              <a:ext cx="4171950" cy="212242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54901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1"/>
            <a:ext cx="11353800" cy="914400"/>
          </a:xfrm>
        </p:spPr>
        <p:txBody>
          <a:bodyPr>
            <a:normAutofit/>
          </a:bodyPr>
          <a:lstStyle/>
          <a:p>
            <a:pPr algn="ctr"/>
            <a:r>
              <a:rPr lang="es-CO" b="1" dirty="0">
                <a:latin typeface="Bahnschrift Light SemiCondensed" panose="020B0502040204020203" pitchFamily="34" charset="0"/>
              </a:rPr>
              <a:t>“PARTES DE UNA MATRIZ EN C++”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EEAD95B-3055-4782-A970-A2EA4905F556}"/>
              </a:ext>
            </a:extLst>
          </p:cNvPr>
          <p:cNvSpPr/>
          <p:nvPr/>
        </p:nvSpPr>
        <p:spPr>
          <a:xfrm>
            <a:off x="3771798" y="769691"/>
            <a:ext cx="8074820" cy="300717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scene3d>
            <a:camera prst="orthographicFront"/>
            <a:lightRig rig="fla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spcFirstLastPara="0" vert="horz" wrap="square" lIns="121920" tIns="121920" rIns="121920" bIns="121920" numCol="1" spcCol="1270" anchor="ctr" anchorCtr="0">
            <a:no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lang="es-CO" sz="2400" b="1" dirty="0">
                <a:solidFill>
                  <a:prstClr val="black"/>
                </a:solidFill>
                <a:latin typeface="Arial Narrow" pitchFamily="34" charset="0"/>
              </a:rPr>
              <a:t>TRIANGULAR SUPERIOR:</a:t>
            </a:r>
            <a:r>
              <a:rPr lang="es-CO" sz="2400" dirty="0">
                <a:solidFill>
                  <a:prstClr val="black"/>
                </a:solidFill>
                <a:latin typeface="Arial Narrow" pitchFamily="34" charset="0"/>
              </a:rPr>
              <a:t> Elementos que están por encima de la diagonal principal y que están ubicados en las posiciones donde la </a:t>
            </a:r>
            <a:r>
              <a:rPr lang="es-CO" sz="2400" b="1" dirty="0">
                <a:solidFill>
                  <a:prstClr val="black"/>
                </a:solidFill>
                <a:latin typeface="Arial Narrow" pitchFamily="34" charset="0"/>
              </a:rPr>
              <a:t>fila es menor a la columna.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s-CO" sz="2800" dirty="0">
                <a:solidFill>
                  <a:prstClr val="black"/>
                </a:solidFill>
                <a:latin typeface="Arial Narrow" pitchFamily="34" charset="0"/>
              </a:rPr>
              <a:t>			Posiciones: [0,1]  [0,2]  [0,3]  [0,4]</a:t>
            </a:r>
            <a:br>
              <a:rPr lang="es-CO" sz="2800" dirty="0">
                <a:solidFill>
                  <a:prstClr val="black"/>
                </a:solidFill>
                <a:latin typeface="Arial Narrow" pitchFamily="34" charset="0"/>
              </a:rPr>
            </a:br>
            <a:r>
              <a:rPr lang="es-CO" sz="2800" dirty="0">
                <a:solidFill>
                  <a:prstClr val="black"/>
                </a:solidFill>
                <a:latin typeface="Arial Narrow" pitchFamily="34" charset="0"/>
              </a:rPr>
              <a:t>           				        [1,2]   [1,3]  [1,4]</a:t>
            </a:r>
            <a:br>
              <a:rPr lang="es-CO" sz="2800" dirty="0">
                <a:solidFill>
                  <a:prstClr val="black"/>
                </a:solidFill>
                <a:latin typeface="Arial Narrow" pitchFamily="34" charset="0"/>
              </a:rPr>
            </a:br>
            <a:r>
              <a:rPr lang="es-CO" sz="2800" dirty="0">
                <a:solidFill>
                  <a:prstClr val="black"/>
                </a:solidFill>
                <a:latin typeface="Arial Narrow" pitchFamily="34" charset="0"/>
              </a:rPr>
              <a:t>                       	           	        [2, 3]  [2,4]</a:t>
            </a:r>
            <a:br>
              <a:rPr lang="es-CO" sz="2800" dirty="0">
                <a:solidFill>
                  <a:prstClr val="black"/>
                </a:solidFill>
                <a:latin typeface="Arial Narrow" pitchFamily="34" charset="0"/>
              </a:rPr>
            </a:br>
            <a:r>
              <a:rPr lang="es-CO" sz="2800" dirty="0">
                <a:solidFill>
                  <a:prstClr val="black"/>
                </a:solidFill>
                <a:latin typeface="Arial Narrow" pitchFamily="34" charset="0"/>
              </a:rPr>
              <a:t>	                                          [3,4] 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32B095E-7A4B-4BC7-87C8-B0EEFBE77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741" y="713776"/>
            <a:ext cx="2242405" cy="20453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DB59BE7-0E79-4459-9D6F-A4DA5A8940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295" y="1976045"/>
            <a:ext cx="7899853" cy="5448485"/>
          </a:xfrm>
          <a:prstGeom prst="rect">
            <a:avLst/>
          </a:prstGeom>
          <a:solidFill>
            <a:srgbClr val="FFFFFF">
              <a:shade val="85000"/>
            </a:srgbClr>
          </a:solidFill>
          <a:ln w="101600" cap="sq">
            <a:solidFill>
              <a:srgbClr val="FDFDFD"/>
            </a:solidFill>
            <a:miter lim="800000"/>
          </a:ln>
          <a:effectLst>
            <a:outerShdw blurRad="57150" dist="37500" dir="7560000" sy="98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 fov="600000">
              <a:rot lat="1896000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</p:pic>
      <p:grpSp>
        <p:nvGrpSpPr>
          <p:cNvPr id="13" name="Grupo 12">
            <a:extLst>
              <a:ext uri="{FF2B5EF4-FFF2-40B4-BE49-F238E27FC236}">
                <a16:creationId xmlns:a16="http://schemas.microsoft.com/office/drawing/2014/main" id="{C57E74EB-57E4-4D8A-8B27-12F1B89D2A53}"/>
              </a:ext>
            </a:extLst>
          </p:cNvPr>
          <p:cNvGrpSpPr/>
          <p:nvPr/>
        </p:nvGrpSpPr>
        <p:grpSpPr>
          <a:xfrm>
            <a:off x="1711807" y="3904599"/>
            <a:ext cx="7997272" cy="2124075"/>
            <a:chOff x="1711807" y="3904599"/>
            <a:chExt cx="7997272" cy="2124075"/>
          </a:xfrm>
        </p:grpSpPr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D0E181FA-F21A-45C4-A0B9-D06954FED5E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11807" y="3904599"/>
              <a:ext cx="3838575" cy="2124075"/>
            </a:xfrm>
            <a:prstGeom prst="rect">
              <a:avLst/>
            </a:prstGeom>
          </p:spPr>
        </p:pic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4140BD49-BFB4-4FEB-ACD9-454C3CFE19E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550382" y="3904599"/>
              <a:ext cx="4158697" cy="21240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54608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1"/>
            <a:ext cx="11353800" cy="914400"/>
          </a:xfrm>
        </p:spPr>
        <p:txBody>
          <a:bodyPr>
            <a:normAutofit/>
          </a:bodyPr>
          <a:lstStyle/>
          <a:p>
            <a:pPr algn="ctr"/>
            <a:r>
              <a:rPr lang="es-CO" b="1" dirty="0">
                <a:latin typeface="Bahnschrift Light SemiCondensed" panose="020B0502040204020203" pitchFamily="34" charset="0"/>
              </a:rPr>
              <a:t>“PARTES DE UNA MATRIZ EN C++”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2740874-BB98-4977-ADC7-6E56D4A02A33}"/>
              </a:ext>
            </a:extLst>
          </p:cNvPr>
          <p:cNvSpPr/>
          <p:nvPr/>
        </p:nvSpPr>
        <p:spPr>
          <a:xfrm>
            <a:off x="3849855" y="837676"/>
            <a:ext cx="8074820" cy="305857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scene3d>
            <a:camera prst="orthographicFront"/>
            <a:lightRig rig="fla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spcFirstLastPara="0" vert="horz" wrap="square" lIns="121920" tIns="121920" rIns="121920" bIns="121920" numCol="1" spcCol="1270" anchor="ctr" anchorCtr="0">
            <a:no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lang="es-CO" sz="2400" b="1" dirty="0">
                <a:solidFill>
                  <a:prstClr val="black"/>
                </a:solidFill>
                <a:latin typeface="Arial Narrow" pitchFamily="34" charset="0"/>
              </a:rPr>
              <a:t>TRIANGULAR INFERIOR:</a:t>
            </a:r>
            <a:r>
              <a:rPr lang="es-CO" sz="2400" dirty="0">
                <a:solidFill>
                  <a:prstClr val="black"/>
                </a:solidFill>
                <a:latin typeface="Arial Narrow" pitchFamily="34" charset="0"/>
              </a:rPr>
              <a:t> Elementos que están por debajo de la diagonal principal y que están ubicados en las posiciones donde la </a:t>
            </a:r>
            <a:r>
              <a:rPr lang="es-CO" sz="2400" b="1" dirty="0">
                <a:solidFill>
                  <a:prstClr val="black"/>
                </a:solidFill>
                <a:latin typeface="Arial Narrow" pitchFamily="34" charset="0"/>
              </a:rPr>
              <a:t>fila es mayor a la columna.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s-CO" sz="2800" dirty="0">
                <a:solidFill>
                  <a:prstClr val="black"/>
                </a:solidFill>
                <a:latin typeface="Arial Narrow" pitchFamily="34" charset="0"/>
              </a:rPr>
              <a:t>			    Posiciones: [1,0]</a:t>
            </a:r>
            <a:br>
              <a:rPr lang="es-CO" sz="2800" dirty="0">
                <a:solidFill>
                  <a:prstClr val="black"/>
                </a:solidFill>
                <a:latin typeface="Arial Narrow" pitchFamily="34" charset="0"/>
              </a:rPr>
            </a:br>
            <a:r>
              <a:rPr lang="es-CO" sz="2800" dirty="0">
                <a:solidFill>
                  <a:prstClr val="black"/>
                </a:solidFill>
                <a:latin typeface="Arial Narrow" pitchFamily="34" charset="0"/>
              </a:rPr>
              <a:t>					 [2,0]  [2,1]</a:t>
            </a:r>
            <a:br>
              <a:rPr lang="es-CO" sz="2800" dirty="0">
                <a:solidFill>
                  <a:prstClr val="black"/>
                </a:solidFill>
                <a:latin typeface="Arial Narrow" pitchFamily="34" charset="0"/>
              </a:rPr>
            </a:br>
            <a:r>
              <a:rPr lang="es-CO" sz="2800" dirty="0">
                <a:solidFill>
                  <a:prstClr val="black"/>
                </a:solidFill>
                <a:latin typeface="Arial Narrow" pitchFamily="34" charset="0"/>
              </a:rPr>
              <a:t>					 [3,0]  [3,1]  [3,2]</a:t>
            </a:r>
            <a:br>
              <a:rPr lang="es-CO" sz="2800" dirty="0">
                <a:solidFill>
                  <a:prstClr val="black"/>
                </a:solidFill>
                <a:latin typeface="Arial Narrow" pitchFamily="34" charset="0"/>
              </a:rPr>
            </a:br>
            <a:r>
              <a:rPr lang="es-CO" sz="2800" dirty="0">
                <a:solidFill>
                  <a:prstClr val="black"/>
                </a:solidFill>
                <a:latin typeface="Arial Narrow" pitchFamily="34" charset="0"/>
              </a:rPr>
              <a:t>			                        [4,0]  [4,1]  [4,2]  [4,3]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F283F8C-564B-4868-9CE1-2A2383BCDA4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325"/>
          <a:stretch/>
        </p:blipFill>
        <p:spPr>
          <a:xfrm>
            <a:off x="1178909" y="760523"/>
            <a:ext cx="2403621" cy="215739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90E67B7-4C52-4565-9106-79F2B604DB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311" y="2232368"/>
            <a:ext cx="8074820" cy="5003110"/>
          </a:xfrm>
          <a:prstGeom prst="rect">
            <a:avLst/>
          </a:prstGeom>
          <a:solidFill>
            <a:srgbClr val="FFFFFF">
              <a:shade val="85000"/>
            </a:srgbClr>
          </a:solidFill>
          <a:ln w="101600" cap="sq">
            <a:solidFill>
              <a:srgbClr val="FDFDFD"/>
            </a:solidFill>
            <a:miter lim="800000"/>
          </a:ln>
          <a:effectLst>
            <a:outerShdw blurRad="57150" dist="37500" dir="7560000" sy="98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 fov="600000">
              <a:rot lat="1896000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</p:pic>
      <p:grpSp>
        <p:nvGrpSpPr>
          <p:cNvPr id="11" name="Grupo 10">
            <a:extLst>
              <a:ext uri="{FF2B5EF4-FFF2-40B4-BE49-F238E27FC236}">
                <a16:creationId xmlns:a16="http://schemas.microsoft.com/office/drawing/2014/main" id="{DA46BE91-3660-46F8-8D36-ED17C5228B33}"/>
              </a:ext>
            </a:extLst>
          </p:cNvPr>
          <p:cNvGrpSpPr/>
          <p:nvPr/>
        </p:nvGrpSpPr>
        <p:grpSpPr>
          <a:xfrm>
            <a:off x="1761503" y="3896249"/>
            <a:ext cx="8315325" cy="2514492"/>
            <a:chOff x="1761503" y="3896248"/>
            <a:chExt cx="8315325" cy="2124076"/>
          </a:xfrm>
        </p:grpSpPr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D8971D63-49D5-452D-8D56-751661DCF9F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61503" y="3896248"/>
              <a:ext cx="3838575" cy="2124075"/>
            </a:xfrm>
            <a:prstGeom prst="rect">
              <a:avLst/>
            </a:prstGeom>
          </p:spPr>
        </p:pic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6404AD6F-F713-43DC-9442-8B171886436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600078" y="3907192"/>
              <a:ext cx="4476750" cy="21131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74007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C1859F56-427B-4713-9E65-A610D3D212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639" y="2208944"/>
            <a:ext cx="11461979" cy="5021153"/>
          </a:xfrm>
          <a:prstGeom prst="rect">
            <a:avLst/>
          </a:prstGeom>
          <a:solidFill>
            <a:srgbClr val="FFFFFF">
              <a:shade val="85000"/>
            </a:srgbClr>
          </a:solidFill>
          <a:ln w="101600" cap="sq">
            <a:solidFill>
              <a:srgbClr val="FDFDFD"/>
            </a:solidFill>
            <a:miter lim="800000"/>
          </a:ln>
          <a:effectLst>
            <a:outerShdw blurRad="57150" dist="37500" dir="7560000" sy="98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 fov="600000">
              <a:rot lat="1896000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1"/>
            <a:ext cx="11353800" cy="914400"/>
          </a:xfrm>
        </p:spPr>
        <p:txBody>
          <a:bodyPr>
            <a:normAutofit/>
          </a:bodyPr>
          <a:lstStyle/>
          <a:p>
            <a:pPr algn="ctr"/>
            <a:r>
              <a:rPr lang="es-CO" b="1" dirty="0">
                <a:latin typeface="Bahnschrift Light SemiCondensed" panose="020B0502040204020203" pitchFamily="34" charset="0"/>
              </a:rPr>
              <a:t>“PARTES DE UNA MATRIZ EN C++”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EEAD95B-3055-4782-A970-A2EA4905F556}"/>
              </a:ext>
            </a:extLst>
          </p:cNvPr>
          <p:cNvSpPr/>
          <p:nvPr/>
        </p:nvSpPr>
        <p:spPr>
          <a:xfrm>
            <a:off x="3771798" y="769691"/>
            <a:ext cx="8074820" cy="208022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scene3d>
            <a:camera prst="orthographicFront"/>
            <a:lightRig rig="fla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spcFirstLastPara="0" vert="horz" wrap="square" lIns="121920" tIns="121920" rIns="121920" bIns="121920" numCol="1" spcCol="1270" anchor="ctr" anchorCtr="0">
            <a:no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lang="es-CO" sz="2400" b="1" dirty="0">
                <a:solidFill>
                  <a:prstClr val="black"/>
                </a:solidFill>
                <a:latin typeface="Arial Narrow" pitchFamily="34" charset="0"/>
              </a:rPr>
              <a:t>DIAGONAL SECUNDARIA:</a:t>
            </a:r>
            <a:r>
              <a:rPr lang="es-CO" sz="2400" dirty="0">
                <a:solidFill>
                  <a:prstClr val="black"/>
                </a:solidFill>
                <a:latin typeface="Arial Narrow" pitchFamily="34" charset="0"/>
              </a:rPr>
              <a:t> Elementos que están en posiciones opuestas a la diagonal principal. Tiene como característica que mientras la fila incrementa la columna decrementa o viceversa o la suma de la fila y columna es igual al orden de la matriz + 1</a:t>
            </a:r>
            <a:r>
              <a:rPr lang="es-CO" sz="2400" b="1" dirty="0">
                <a:solidFill>
                  <a:prstClr val="black"/>
                </a:solidFill>
                <a:latin typeface="Arial Narrow" pitchFamily="34" charset="0"/>
              </a:rPr>
              <a:t>. </a:t>
            </a:r>
          </a:p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lang="es-CO" sz="2400" b="1" dirty="0">
                <a:solidFill>
                  <a:prstClr val="black"/>
                </a:solidFill>
                <a:latin typeface="Arial Narrow" pitchFamily="34" charset="0"/>
              </a:rPr>
              <a:t>Posiciones: [4,0]  [3,1]  [2,2]  [1,3]  [0,4]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424C49F2-32B2-407B-A5E2-BCDB02CDFD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747" y="662643"/>
            <a:ext cx="2534505" cy="2210210"/>
          </a:xfrm>
          <a:prstGeom prst="rect">
            <a:avLst/>
          </a:prstGeom>
        </p:spPr>
      </p:pic>
      <p:grpSp>
        <p:nvGrpSpPr>
          <p:cNvPr id="15" name="Grupo 14">
            <a:extLst>
              <a:ext uri="{FF2B5EF4-FFF2-40B4-BE49-F238E27FC236}">
                <a16:creationId xmlns:a16="http://schemas.microsoft.com/office/drawing/2014/main" id="{CD8A8BFE-29B6-45CA-B384-93E48BD8D98A}"/>
              </a:ext>
            </a:extLst>
          </p:cNvPr>
          <p:cNvGrpSpPr/>
          <p:nvPr/>
        </p:nvGrpSpPr>
        <p:grpSpPr>
          <a:xfrm>
            <a:off x="1653165" y="3845670"/>
            <a:ext cx="8467725" cy="2499769"/>
            <a:chOff x="1881765" y="3873424"/>
            <a:chExt cx="8467725" cy="2499769"/>
          </a:xfrm>
        </p:grpSpPr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F3895F27-DE69-4EC0-BF5A-865CF59BC41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881765" y="3873427"/>
              <a:ext cx="3838575" cy="2499766"/>
            </a:xfrm>
            <a:prstGeom prst="rect">
              <a:avLst/>
            </a:prstGeom>
          </p:spPr>
        </p:pic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25F05C91-447D-4AB3-B4AD-CAC417BFA14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t="9218"/>
            <a:stretch/>
          </p:blipFill>
          <p:spPr>
            <a:xfrm>
              <a:off x="5720340" y="3873424"/>
              <a:ext cx="4629150" cy="24997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80617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D6BB3E5A-49B4-4FD2-9364-EBDD2988A2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434" y="-285750"/>
            <a:ext cx="9491662" cy="7792245"/>
          </a:xfrm>
          <a:prstGeom prst="rect">
            <a:avLst/>
          </a:prstGeom>
          <a:solidFill>
            <a:srgbClr val="FFFFFF">
              <a:shade val="85000"/>
            </a:srgbClr>
          </a:solidFill>
          <a:ln w="101600" cap="sq">
            <a:solidFill>
              <a:srgbClr val="FDFDFD"/>
            </a:solidFill>
            <a:miter lim="800000"/>
          </a:ln>
          <a:effectLst>
            <a:outerShdw blurRad="57150" dist="37500" dir="7560000" sy="98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 fov="600000">
              <a:rot lat="1896000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1"/>
            <a:ext cx="11353800" cy="914400"/>
          </a:xfrm>
        </p:spPr>
        <p:txBody>
          <a:bodyPr>
            <a:normAutofit/>
          </a:bodyPr>
          <a:lstStyle/>
          <a:p>
            <a:pPr algn="ctr"/>
            <a:r>
              <a:rPr lang="es-CO" b="1" dirty="0">
                <a:latin typeface="Bahnschrift Light SemiCondensed" panose="020B0502040204020203" pitchFamily="34" charset="0"/>
              </a:rPr>
              <a:t>“EJEMPLO #9 - MATRICES EN C++”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ABAFAD3-1500-46FD-B71F-73F66CBB76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9640" y="1259878"/>
            <a:ext cx="3585189" cy="2350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375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1"/>
            <a:ext cx="11353800" cy="914400"/>
          </a:xfrm>
        </p:spPr>
        <p:txBody>
          <a:bodyPr>
            <a:normAutofit/>
          </a:bodyPr>
          <a:lstStyle/>
          <a:p>
            <a:pPr algn="ctr"/>
            <a:r>
              <a:rPr lang="es-CO" b="1" dirty="0">
                <a:latin typeface="Bahnschrift Light SemiCondensed" panose="020B0502040204020203" pitchFamily="34" charset="0"/>
              </a:rPr>
              <a:t>“EJEMPLO #10 - MATRICES EN C++”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69F6CA6-7365-439E-B6EC-D5AE0A198C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834" y="-131518"/>
            <a:ext cx="9238017" cy="7604979"/>
          </a:xfrm>
          <a:prstGeom prst="rect">
            <a:avLst/>
          </a:prstGeom>
          <a:solidFill>
            <a:srgbClr val="FFFFFF">
              <a:shade val="85000"/>
            </a:srgbClr>
          </a:solidFill>
          <a:ln w="101600" cap="sq">
            <a:solidFill>
              <a:srgbClr val="FDFDFD"/>
            </a:solidFill>
            <a:miter lim="800000"/>
          </a:ln>
          <a:effectLst>
            <a:outerShdw blurRad="57150" dist="37500" dir="7560000" sy="98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 fov="600000">
              <a:rot lat="1896000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85494524-F479-4C83-9193-AA7F39A0B1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9579" y="3572839"/>
            <a:ext cx="4625646" cy="2673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299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3D9691C-3F78-4BAA-9063-DEDBD4C61D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324" y="-238539"/>
            <a:ext cx="8501713" cy="7851914"/>
          </a:xfrm>
          <a:prstGeom prst="rect">
            <a:avLst/>
          </a:prstGeom>
          <a:solidFill>
            <a:srgbClr val="FFFFFF">
              <a:shade val="85000"/>
            </a:srgbClr>
          </a:solidFill>
          <a:ln w="101600" cap="sq">
            <a:solidFill>
              <a:srgbClr val="FDFDFD"/>
            </a:solidFill>
            <a:miter lim="800000"/>
          </a:ln>
          <a:effectLst>
            <a:outerShdw blurRad="57150" dist="37500" dir="7560000" sy="98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 fov="600000">
              <a:rot lat="1896000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1"/>
            <a:ext cx="11353800" cy="914400"/>
          </a:xfrm>
        </p:spPr>
        <p:txBody>
          <a:bodyPr>
            <a:normAutofit/>
          </a:bodyPr>
          <a:lstStyle/>
          <a:p>
            <a:pPr algn="ctr"/>
            <a:r>
              <a:rPr lang="es-CO" b="1" dirty="0">
                <a:latin typeface="Bahnschrift Light SemiCondensed" panose="020B0502040204020203" pitchFamily="34" charset="0"/>
              </a:rPr>
              <a:t>“EJEMPLO #11 - MATRICES EN C++”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D7DE4EA-A446-4965-9CF4-3BDE4F2373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6489" y="3083822"/>
            <a:ext cx="3905250" cy="3552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0114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609E5263-4ACC-4288-A435-AAD7818ED1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668" y="-275287"/>
            <a:ext cx="8044376" cy="7689878"/>
          </a:xfrm>
          <a:prstGeom prst="rect">
            <a:avLst/>
          </a:prstGeom>
          <a:solidFill>
            <a:srgbClr val="FFFFFF">
              <a:shade val="85000"/>
            </a:srgbClr>
          </a:solidFill>
          <a:ln w="101600" cap="sq">
            <a:solidFill>
              <a:srgbClr val="FDFDFD"/>
            </a:solidFill>
            <a:miter lim="800000"/>
          </a:ln>
          <a:effectLst>
            <a:outerShdw blurRad="57150" dist="37500" dir="7560000" sy="98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 fov="600000">
              <a:rot lat="1896000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1"/>
            <a:ext cx="11353800" cy="914400"/>
          </a:xfrm>
        </p:spPr>
        <p:txBody>
          <a:bodyPr>
            <a:normAutofit/>
          </a:bodyPr>
          <a:lstStyle/>
          <a:p>
            <a:pPr algn="ctr"/>
            <a:r>
              <a:rPr lang="es-CO" b="1" dirty="0">
                <a:latin typeface="Bahnschrift Light SemiCondensed" panose="020B0502040204020203" pitchFamily="34" charset="0"/>
              </a:rPr>
              <a:t>“EJEMPLO #12 - MATRICES EN C++”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D88ADA6-116B-459C-97B9-E7CF7FE4A7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8996" y="3766931"/>
            <a:ext cx="3348096" cy="2998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053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99B393-37E8-4E11-8EB2-C863ACB85223}"/>
              </a:ext>
            </a:extLst>
          </p:cNvPr>
          <p:cNvSpPr txBox="1">
            <a:spLocks/>
          </p:cNvSpPr>
          <p:nvPr/>
        </p:nvSpPr>
        <p:spPr>
          <a:xfrm>
            <a:off x="884689" y="1308683"/>
            <a:ext cx="10943788" cy="119755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 SemiCondensed" panose="020B0502040204020203" pitchFamily="34" charset="0"/>
                <a:ea typeface="+mj-ea"/>
                <a:cs typeface="+mj-cs"/>
              </a:rPr>
              <a:t>“ARREGLOS BIDIMENSIONALES EN C++”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61F265C-6D74-4338-8944-0FD73F7598E6}"/>
              </a:ext>
            </a:extLst>
          </p:cNvPr>
          <p:cNvSpPr/>
          <p:nvPr/>
        </p:nvSpPr>
        <p:spPr>
          <a:xfrm>
            <a:off x="1798040" y="5362689"/>
            <a:ext cx="8595920" cy="684772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isometricTopUp">
              <a:rot lat="21594000" lon="2159400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000" b="1" i="0" u="none" strike="noStrike" kern="1200" cap="none" spc="0" normalizeH="0" baseline="0" noProof="0" dirty="0">
                <a:ln/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CURSO: </a:t>
            </a:r>
            <a:r>
              <a:rPr kumimoji="0" lang="es-CO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Light SemiCondensed" panose="020B0502040204020203" pitchFamily="34" charset="0"/>
                <a:ea typeface="+mn-ea"/>
                <a:cs typeface="+mn-cs"/>
              </a:rPr>
              <a:t>“ALGORITMOS Y </a:t>
            </a:r>
            <a:r>
              <a:rPr kumimoji="0" lang="es-CO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Light SemiCondensed" panose="020B0502040204020203" pitchFamily="34" charset="0"/>
                <a:ea typeface="+mn-ea"/>
                <a:cs typeface="+mn-cs"/>
              </a:rPr>
              <a:t>PROGRAMACIÓN </a:t>
            </a:r>
            <a:r>
              <a:rPr kumimoji="0" lang="es-CO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Light SemiCondensed" panose="020B0502040204020203" pitchFamily="34" charset="0"/>
                <a:ea typeface="+mn-ea"/>
                <a:cs typeface="+mn-cs"/>
              </a:rPr>
              <a:t>"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000" b="1" i="0" u="none" strike="noStrike" kern="1200" cap="none" spc="0" normalizeH="0" baseline="0" noProof="0" dirty="0">
                <a:ln/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DOCENTE: </a:t>
            </a:r>
            <a:r>
              <a:rPr kumimoji="0" lang="es-CO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Light SemiCondensed" panose="020B0502040204020203" pitchFamily="34" charset="0"/>
                <a:ea typeface="+mn-ea"/>
                <a:cs typeface="+mn-cs"/>
              </a:rPr>
              <a:t>JAIRO HERNANDO RAMÍREZ MARÍN</a:t>
            </a:r>
          </a:p>
        </p:txBody>
      </p:sp>
    </p:spTree>
    <p:extLst>
      <p:ext uri="{BB962C8B-B14F-4D97-AF65-F5344CB8AC3E}">
        <p14:creationId xmlns:p14="http://schemas.microsoft.com/office/powerpoint/2010/main" val="1085514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1759</TotalTime>
  <Words>2504</Words>
  <Application>Microsoft Office PowerPoint</Application>
  <PresentationFormat>Panorámica</PresentationFormat>
  <Paragraphs>380</Paragraphs>
  <Slides>18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4" baseType="lpstr">
      <vt:lpstr>Arial</vt:lpstr>
      <vt:lpstr>Arial Narrow</vt:lpstr>
      <vt:lpstr>Bahnschrift Light SemiCondensed</vt:lpstr>
      <vt:lpstr>Calibri</vt:lpstr>
      <vt:lpstr>Calibri Light</vt:lpstr>
      <vt:lpstr>Tema de Office</vt:lpstr>
      <vt:lpstr>Presentación de PowerPoint</vt:lpstr>
      <vt:lpstr>Presentación de PowerPoint</vt:lpstr>
      <vt:lpstr>“MANEJO DE MATRICES EN C++”</vt:lpstr>
      <vt:lpstr>“MANEJO DE MATRICES EN C++”</vt:lpstr>
      <vt:lpstr>“MANEJO DE MATRICES EN C++”</vt:lpstr>
      <vt:lpstr>“MANEJO DE MATRICES EN C++”</vt:lpstr>
      <vt:lpstr>“MANEJO DE MATRICES EN C++”</vt:lpstr>
      <vt:lpstr>“MANEJO DE MATRICES EN C++”</vt:lpstr>
      <vt:lpstr>“MANEJO DE MATRICES EN C++”</vt:lpstr>
      <vt:lpstr>“PARTES DE UNA MATRIZ EN C++”</vt:lpstr>
      <vt:lpstr>“PARTES DE UNA MATRIZ EN C++”</vt:lpstr>
      <vt:lpstr>“PARTES DE UNA MATRIZ EN C++”</vt:lpstr>
      <vt:lpstr>“PARTES DE UNA MATRIZ EN C++”</vt:lpstr>
      <vt:lpstr>“EJEMPLO #9 - MATRICES EN C++”</vt:lpstr>
      <vt:lpstr>“EJEMPLO #10 - MATRICES EN C++”</vt:lpstr>
      <vt:lpstr>“EJEMPLO #11 - MATRICES EN C++”</vt:lpstr>
      <vt:lpstr>“EJEMPLO #12 - MATRICES EN C++”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JAIRO HERNANDO RAMIREZ MARIN</dc:creator>
  <cp:lastModifiedBy>Jairo Ramirez (Docente de Tiempo Completo)</cp:lastModifiedBy>
  <cp:revision>177</cp:revision>
  <dcterms:created xsi:type="dcterms:W3CDTF">2020-08-20T10:34:44Z</dcterms:created>
  <dcterms:modified xsi:type="dcterms:W3CDTF">2022-09-12T14:56:05Z</dcterms:modified>
</cp:coreProperties>
</file>