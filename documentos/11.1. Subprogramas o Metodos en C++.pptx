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53" r:id="rId3"/>
    <p:sldId id="549" r:id="rId4"/>
    <p:sldId id="550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59" r:id="rId14"/>
    <p:sldId id="560" r:id="rId15"/>
    <p:sldId id="561" r:id="rId16"/>
    <p:sldId id="568" r:id="rId17"/>
    <p:sldId id="562" r:id="rId18"/>
    <p:sldId id="563" r:id="rId19"/>
    <p:sldId id="564" r:id="rId20"/>
    <p:sldId id="565" r:id="rId21"/>
    <p:sldId id="566" r:id="rId22"/>
    <p:sldId id="567" r:id="rId23"/>
    <p:sldId id="569" r:id="rId24"/>
    <p:sldId id="570" r:id="rId25"/>
    <p:sldId id="535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IRO HERNANDO RAMIREZ MARIN" initials="JHRM" lastIdx="1" clrIdx="0">
    <p:extLst>
      <p:ext uri="{19B8F6BF-5375-455C-9EA6-DF929625EA0E}">
        <p15:presenceInfo xmlns:p15="http://schemas.microsoft.com/office/powerpoint/2012/main" userId="S::jairo.ramirez@comunidad.iush.edu.co::683be6fa-ee44-4f01-ad3d-b1c13e4348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974BA0"/>
    <a:srgbClr val="A562AB"/>
    <a:srgbClr val="265D92"/>
    <a:srgbClr val="194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61" autoAdjust="0"/>
    <p:restoredTop sz="87074" autoAdjust="0"/>
  </p:normalViewPr>
  <p:slideViewPr>
    <p:cSldViewPr snapToGrid="0">
      <p:cViewPr varScale="1">
        <p:scale>
          <a:sx n="57" d="100"/>
          <a:sy n="57" d="100"/>
        </p:scale>
        <p:origin x="684" y="78"/>
      </p:cViewPr>
      <p:guideLst/>
    </p:cSldViewPr>
  </p:slideViewPr>
  <p:notesTextViewPr>
    <p:cViewPr>
      <p:scale>
        <a:sx n="125" d="100"/>
        <a:sy n="125" d="100"/>
      </p:scale>
      <p:origin x="0" y="-30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FEF207-6A5B-4CD9-BCA0-7CFF1CA60B29}" type="doc">
      <dgm:prSet loTypeId="urn:microsoft.com/office/officeart/2005/8/layout/funnel1" loCatId="process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s-CO"/>
        </a:p>
      </dgm:t>
    </dgm:pt>
    <dgm:pt modelId="{A2CE1FF6-6E62-41A2-A1B1-EE817292A061}">
      <dgm:prSet phldrT="[Texto]"/>
      <dgm:spPr/>
      <dgm:t>
        <a:bodyPr/>
        <a:lstStyle/>
        <a:p>
          <a:r>
            <a:rPr lang="es-CO" dirty="0"/>
            <a:t>Argumento1</a:t>
          </a:r>
        </a:p>
      </dgm:t>
    </dgm:pt>
    <dgm:pt modelId="{6839BF27-2980-41D1-B7E4-B0B6FEB89A1A}" type="parTrans" cxnId="{DABCE307-DC50-4F62-8171-FB1B38CA3CF4}">
      <dgm:prSet/>
      <dgm:spPr/>
      <dgm:t>
        <a:bodyPr/>
        <a:lstStyle/>
        <a:p>
          <a:endParaRPr lang="es-CO"/>
        </a:p>
      </dgm:t>
    </dgm:pt>
    <dgm:pt modelId="{6AE29DA1-73F1-463C-A737-D1F2C0913DE0}" type="sibTrans" cxnId="{DABCE307-DC50-4F62-8171-FB1B38CA3CF4}">
      <dgm:prSet/>
      <dgm:spPr/>
      <dgm:t>
        <a:bodyPr/>
        <a:lstStyle/>
        <a:p>
          <a:endParaRPr lang="es-CO"/>
        </a:p>
      </dgm:t>
    </dgm:pt>
    <dgm:pt modelId="{B0774BA6-AE6E-4A34-8EF8-163BF1A0EB3F}">
      <dgm:prSet phldrT="[Texto]"/>
      <dgm:spPr/>
      <dgm:t>
        <a:bodyPr/>
        <a:lstStyle/>
        <a:p>
          <a:r>
            <a:rPr lang="es-CO" dirty="0"/>
            <a:t>Argumento2</a:t>
          </a:r>
        </a:p>
      </dgm:t>
    </dgm:pt>
    <dgm:pt modelId="{E5E32D8D-BC30-4BA4-BEA8-2B6269B610CD}" type="parTrans" cxnId="{4C82E805-8480-4C54-9D3D-80214FF308FE}">
      <dgm:prSet/>
      <dgm:spPr/>
      <dgm:t>
        <a:bodyPr/>
        <a:lstStyle/>
        <a:p>
          <a:endParaRPr lang="es-CO"/>
        </a:p>
      </dgm:t>
    </dgm:pt>
    <dgm:pt modelId="{1070D777-A3BB-4A28-8CB7-5ED3D7196F74}" type="sibTrans" cxnId="{4C82E805-8480-4C54-9D3D-80214FF308FE}">
      <dgm:prSet/>
      <dgm:spPr/>
      <dgm:t>
        <a:bodyPr/>
        <a:lstStyle/>
        <a:p>
          <a:endParaRPr lang="es-CO"/>
        </a:p>
      </dgm:t>
    </dgm:pt>
    <dgm:pt modelId="{35AE683D-87EB-4E9D-ACEB-BEEABB4364DC}">
      <dgm:prSet phldrT="[Texto]"/>
      <dgm:spPr/>
      <dgm:t>
        <a:bodyPr/>
        <a:lstStyle/>
        <a:p>
          <a:r>
            <a:rPr lang="es-CO" dirty="0"/>
            <a:t>Argumento3</a:t>
          </a:r>
        </a:p>
      </dgm:t>
    </dgm:pt>
    <dgm:pt modelId="{92196AEC-3C91-41F1-B6EF-281EB4660CE4}" type="parTrans" cxnId="{590A664E-906A-4272-8A98-2FD03F1C4047}">
      <dgm:prSet/>
      <dgm:spPr/>
      <dgm:t>
        <a:bodyPr/>
        <a:lstStyle/>
        <a:p>
          <a:endParaRPr lang="es-CO"/>
        </a:p>
      </dgm:t>
    </dgm:pt>
    <dgm:pt modelId="{2247E7C5-525C-4F5A-85B1-C3F5C604F655}" type="sibTrans" cxnId="{590A664E-906A-4272-8A98-2FD03F1C4047}">
      <dgm:prSet/>
      <dgm:spPr/>
      <dgm:t>
        <a:bodyPr/>
        <a:lstStyle/>
        <a:p>
          <a:endParaRPr lang="es-CO"/>
        </a:p>
      </dgm:t>
    </dgm:pt>
    <dgm:pt modelId="{5454985F-8A1B-4B46-8231-5B6CEB90205C}">
      <dgm:prSet phldrT="[Tex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dgm:style>
      </dgm:prSet>
      <dgm:spPr/>
      <dgm:t>
        <a:bodyPr spcFirstLastPara="0" vert="horz" wrap="square" lIns="106680" tIns="106680" rIns="106680" bIns="106680" numCol="1" spcCol="1270" anchor="ctr" anchorCtr="0"/>
        <a:lstStyle/>
        <a:p>
          <a:endParaRPr lang="es-CO" sz="28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  <a:ea typeface="+mn-ea"/>
            <a:cs typeface="+mn-cs"/>
          </a:endParaRPr>
        </a:p>
      </dgm:t>
    </dgm:pt>
    <dgm:pt modelId="{7A6591EC-992C-48B4-97FF-A16E755CA11E}" type="sibTrans" cxnId="{712A6C30-CA20-4647-B181-9B9E7E21411E}">
      <dgm:prSet/>
      <dgm:spPr/>
      <dgm:t>
        <a:bodyPr/>
        <a:lstStyle/>
        <a:p>
          <a:endParaRPr lang="es-CO"/>
        </a:p>
      </dgm:t>
    </dgm:pt>
    <dgm:pt modelId="{0A164E97-E5FC-4B97-90CB-05DA220BA29A}" type="parTrans" cxnId="{712A6C30-CA20-4647-B181-9B9E7E21411E}">
      <dgm:prSet/>
      <dgm:spPr/>
      <dgm:t>
        <a:bodyPr/>
        <a:lstStyle/>
        <a:p>
          <a:endParaRPr lang="es-CO"/>
        </a:p>
      </dgm:t>
    </dgm:pt>
    <dgm:pt modelId="{316C7D70-D6B6-477D-9714-FDC7BE2056E8}" type="pres">
      <dgm:prSet presAssocID="{BDFEF207-6A5B-4CD9-BCA0-7CFF1CA60B29}" presName="Name0" presStyleCnt="0">
        <dgm:presLayoutVars>
          <dgm:chMax val="4"/>
          <dgm:resizeHandles val="exact"/>
        </dgm:presLayoutVars>
      </dgm:prSet>
      <dgm:spPr/>
    </dgm:pt>
    <dgm:pt modelId="{FB6EAEA0-2A43-488B-91B5-AF424EDF11CF}" type="pres">
      <dgm:prSet presAssocID="{BDFEF207-6A5B-4CD9-BCA0-7CFF1CA60B29}" presName="ellipse" presStyleLbl="trBgShp" presStyleIdx="0" presStyleCnt="1"/>
      <dgm:spPr/>
    </dgm:pt>
    <dgm:pt modelId="{295294A6-BD53-41E4-96C5-7067DEDCCA28}" type="pres">
      <dgm:prSet presAssocID="{BDFEF207-6A5B-4CD9-BCA0-7CFF1CA60B29}" presName="arrow1" presStyleLbl="fgShp" presStyleIdx="0" presStyleCnt="1"/>
      <dgm:spPr/>
    </dgm:pt>
    <dgm:pt modelId="{701A3B47-4332-4344-92BD-D81EFC4D5D83}" type="pres">
      <dgm:prSet presAssocID="{BDFEF207-6A5B-4CD9-BCA0-7CFF1CA60B29}" presName="rectangle" presStyleLbl="revTx" presStyleIdx="0" presStyleCnt="1">
        <dgm:presLayoutVars>
          <dgm:bulletEnabled val="1"/>
        </dgm:presLayoutVars>
      </dgm:prSet>
      <dgm:spPr>
        <a:xfrm>
          <a:off x="1219200" y="4085808"/>
          <a:ext cx="3657600" cy="914400"/>
        </a:xfrm>
        <a:prstGeom prst="rect">
          <a:avLst/>
        </a:prstGeom>
      </dgm:spPr>
    </dgm:pt>
    <dgm:pt modelId="{65FF1244-DCF4-4713-9C18-5B1E856F7691}" type="pres">
      <dgm:prSet presAssocID="{B0774BA6-AE6E-4A34-8EF8-163BF1A0EB3F}" presName="item1" presStyleLbl="node1" presStyleIdx="0" presStyleCnt="3">
        <dgm:presLayoutVars>
          <dgm:bulletEnabled val="1"/>
        </dgm:presLayoutVars>
      </dgm:prSet>
      <dgm:spPr/>
    </dgm:pt>
    <dgm:pt modelId="{8F4E7215-AC4C-43E5-BA55-2B25EAE7CEBB}" type="pres">
      <dgm:prSet presAssocID="{35AE683D-87EB-4E9D-ACEB-BEEABB4364DC}" presName="item2" presStyleLbl="node1" presStyleIdx="1" presStyleCnt="3">
        <dgm:presLayoutVars>
          <dgm:bulletEnabled val="1"/>
        </dgm:presLayoutVars>
      </dgm:prSet>
      <dgm:spPr/>
    </dgm:pt>
    <dgm:pt modelId="{8D1DA9BE-D921-49C9-A176-697D50912DC4}" type="pres">
      <dgm:prSet presAssocID="{5454985F-8A1B-4B46-8231-5B6CEB90205C}" presName="item3" presStyleLbl="node1" presStyleIdx="2" presStyleCnt="3">
        <dgm:presLayoutVars>
          <dgm:bulletEnabled val="1"/>
        </dgm:presLayoutVars>
      </dgm:prSet>
      <dgm:spPr/>
    </dgm:pt>
    <dgm:pt modelId="{9EBB3E88-60D0-471F-8E58-1DCBCA65DA03}" type="pres">
      <dgm:prSet presAssocID="{BDFEF207-6A5B-4CD9-BCA0-7CFF1CA60B29}" presName="funnel" presStyleLbl="trAlignAcc1" presStyleIdx="0" presStyleCnt="1"/>
      <dgm:spPr>
        <a:solidFill>
          <a:schemeClr val="accent1">
            <a:alpha val="40000"/>
          </a:schemeClr>
        </a:solidFill>
      </dgm:spPr>
    </dgm:pt>
  </dgm:ptLst>
  <dgm:cxnLst>
    <dgm:cxn modelId="{4C82E805-8480-4C54-9D3D-80214FF308FE}" srcId="{BDFEF207-6A5B-4CD9-BCA0-7CFF1CA60B29}" destId="{B0774BA6-AE6E-4A34-8EF8-163BF1A0EB3F}" srcOrd="1" destOrd="0" parTransId="{E5E32D8D-BC30-4BA4-BEA8-2B6269B610CD}" sibTransId="{1070D777-A3BB-4A28-8CB7-5ED3D7196F74}"/>
    <dgm:cxn modelId="{DABCE307-DC50-4F62-8171-FB1B38CA3CF4}" srcId="{BDFEF207-6A5B-4CD9-BCA0-7CFF1CA60B29}" destId="{A2CE1FF6-6E62-41A2-A1B1-EE817292A061}" srcOrd="0" destOrd="0" parTransId="{6839BF27-2980-41D1-B7E4-B0B6FEB89A1A}" sibTransId="{6AE29DA1-73F1-463C-A737-D1F2C0913DE0}"/>
    <dgm:cxn modelId="{94F0FB17-1FA0-4833-A59A-684561F8B172}" type="presOf" srcId="{BDFEF207-6A5B-4CD9-BCA0-7CFF1CA60B29}" destId="{316C7D70-D6B6-477D-9714-FDC7BE2056E8}" srcOrd="0" destOrd="0" presId="urn:microsoft.com/office/officeart/2005/8/layout/funnel1"/>
    <dgm:cxn modelId="{712A6C30-CA20-4647-B181-9B9E7E21411E}" srcId="{BDFEF207-6A5B-4CD9-BCA0-7CFF1CA60B29}" destId="{5454985F-8A1B-4B46-8231-5B6CEB90205C}" srcOrd="3" destOrd="0" parTransId="{0A164E97-E5FC-4B97-90CB-05DA220BA29A}" sibTransId="{7A6591EC-992C-48B4-97FF-A16E755CA11E}"/>
    <dgm:cxn modelId="{590A664E-906A-4272-8A98-2FD03F1C4047}" srcId="{BDFEF207-6A5B-4CD9-BCA0-7CFF1CA60B29}" destId="{35AE683D-87EB-4E9D-ACEB-BEEABB4364DC}" srcOrd="2" destOrd="0" parTransId="{92196AEC-3C91-41F1-B6EF-281EB4660CE4}" sibTransId="{2247E7C5-525C-4F5A-85B1-C3F5C604F655}"/>
    <dgm:cxn modelId="{9C185E4F-7525-41DD-8DF6-352D0F3AE523}" type="presOf" srcId="{B0774BA6-AE6E-4A34-8EF8-163BF1A0EB3F}" destId="{8F4E7215-AC4C-43E5-BA55-2B25EAE7CEBB}" srcOrd="0" destOrd="0" presId="urn:microsoft.com/office/officeart/2005/8/layout/funnel1"/>
    <dgm:cxn modelId="{714AC085-7AA9-43CD-9054-820E0BB03EDC}" type="presOf" srcId="{35AE683D-87EB-4E9D-ACEB-BEEABB4364DC}" destId="{65FF1244-DCF4-4713-9C18-5B1E856F7691}" srcOrd="0" destOrd="0" presId="urn:microsoft.com/office/officeart/2005/8/layout/funnel1"/>
    <dgm:cxn modelId="{918E1CB5-A050-4247-B4BA-551F2509F193}" type="presOf" srcId="{5454985F-8A1B-4B46-8231-5B6CEB90205C}" destId="{701A3B47-4332-4344-92BD-D81EFC4D5D83}" srcOrd="0" destOrd="0" presId="urn:microsoft.com/office/officeart/2005/8/layout/funnel1"/>
    <dgm:cxn modelId="{7DD72DEF-77AB-4A79-AE8A-BC19F5F481A4}" type="presOf" srcId="{A2CE1FF6-6E62-41A2-A1B1-EE817292A061}" destId="{8D1DA9BE-D921-49C9-A176-697D50912DC4}" srcOrd="0" destOrd="0" presId="urn:microsoft.com/office/officeart/2005/8/layout/funnel1"/>
    <dgm:cxn modelId="{A6453BB4-A4C5-45DE-A325-04142E60AF15}" type="presParOf" srcId="{316C7D70-D6B6-477D-9714-FDC7BE2056E8}" destId="{FB6EAEA0-2A43-488B-91B5-AF424EDF11CF}" srcOrd="0" destOrd="0" presId="urn:microsoft.com/office/officeart/2005/8/layout/funnel1"/>
    <dgm:cxn modelId="{753A72E4-9F47-4704-A99C-4D291B4EF48D}" type="presParOf" srcId="{316C7D70-D6B6-477D-9714-FDC7BE2056E8}" destId="{295294A6-BD53-41E4-96C5-7067DEDCCA28}" srcOrd="1" destOrd="0" presId="urn:microsoft.com/office/officeart/2005/8/layout/funnel1"/>
    <dgm:cxn modelId="{62A0B379-F61A-4267-B29D-138ECC211AFD}" type="presParOf" srcId="{316C7D70-D6B6-477D-9714-FDC7BE2056E8}" destId="{701A3B47-4332-4344-92BD-D81EFC4D5D83}" srcOrd="2" destOrd="0" presId="urn:microsoft.com/office/officeart/2005/8/layout/funnel1"/>
    <dgm:cxn modelId="{5D6FF5A1-25BF-49AB-9F1C-57A1FB29DA8F}" type="presParOf" srcId="{316C7D70-D6B6-477D-9714-FDC7BE2056E8}" destId="{65FF1244-DCF4-4713-9C18-5B1E856F7691}" srcOrd="3" destOrd="0" presId="urn:microsoft.com/office/officeart/2005/8/layout/funnel1"/>
    <dgm:cxn modelId="{8DA79DEF-6713-4F7C-87D4-3A5F37ED18C2}" type="presParOf" srcId="{316C7D70-D6B6-477D-9714-FDC7BE2056E8}" destId="{8F4E7215-AC4C-43E5-BA55-2B25EAE7CEBB}" srcOrd="4" destOrd="0" presId="urn:microsoft.com/office/officeart/2005/8/layout/funnel1"/>
    <dgm:cxn modelId="{3C7639A2-5880-4131-A059-3E2793948673}" type="presParOf" srcId="{316C7D70-D6B6-477D-9714-FDC7BE2056E8}" destId="{8D1DA9BE-D921-49C9-A176-697D50912DC4}" srcOrd="5" destOrd="0" presId="urn:microsoft.com/office/officeart/2005/8/layout/funnel1"/>
    <dgm:cxn modelId="{FEAB0D6D-A63A-43D9-8194-D3E1CC02AB14}" type="presParOf" srcId="{316C7D70-D6B6-477D-9714-FDC7BE2056E8}" destId="{9EBB3E88-60D0-471F-8E58-1DCBCA65DA03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FEF207-6A5B-4CD9-BCA0-7CFF1CA60B29}" type="doc">
      <dgm:prSet loTypeId="urn:microsoft.com/office/officeart/2005/8/layout/funnel1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A2CE1FF6-6E62-41A2-A1B1-EE817292A061}">
      <dgm:prSet phldrT="[Texto]"/>
      <dgm:spPr/>
      <dgm:t>
        <a:bodyPr/>
        <a:lstStyle/>
        <a:p>
          <a:r>
            <a:rPr lang="es-CO" dirty="0"/>
            <a:t>Argumento1</a:t>
          </a:r>
        </a:p>
      </dgm:t>
    </dgm:pt>
    <dgm:pt modelId="{6839BF27-2980-41D1-B7E4-B0B6FEB89A1A}" type="parTrans" cxnId="{DABCE307-DC50-4F62-8171-FB1B38CA3CF4}">
      <dgm:prSet/>
      <dgm:spPr/>
      <dgm:t>
        <a:bodyPr/>
        <a:lstStyle/>
        <a:p>
          <a:endParaRPr lang="es-CO"/>
        </a:p>
      </dgm:t>
    </dgm:pt>
    <dgm:pt modelId="{6AE29DA1-73F1-463C-A737-D1F2C0913DE0}" type="sibTrans" cxnId="{DABCE307-DC50-4F62-8171-FB1B38CA3CF4}">
      <dgm:prSet/>
      <dgm:spPr/>
      <dgm:t>
        <a:bodyPr/>
        <a:lstStyle/>
        <a:p>
          <a:endParaRPr lang="es-CO"/>
        </a:p>
      </dgm:t>
    </dgm:pt>
    <dgm:pt modelId="{B0774BA6-AE6E-4A34-8EF8-163BF1A0EB3F}">
      <dgm:prSet phldrT="[Texto]"/>
      <dgm:spPr/>
      <dgm:t>
        <a:bodyPr/>
        <a:lstStyle/>
        <a:p>
          <a:r>
            <a:rPr lang="es-CO" dirty="0"/>
            <a:t>Argumento2</a:t>
          </a:r>
        </a:p>
      </dgm:t>
    </dgm:pt>
    <dgm:pt modelId="{E5E32D8D-BC30-4BA4-BEA8-2B6269B610CD}" type="parTrans" cxnId="{4C82E805-8480-4C54-9D3D-80214FF308FE}">
      <dgm:prSet/>
      <dgm:spPr/>
      <dgm:t>
        <a:bodyPr/>
        <a:lstStyle/>
        <a:p>
          <a:endParaRPr lang="es-CO"/>
        </a:p>
      </dgm:t>
    </dgm:pt>
    <dgm:pt modelId="{1070D777-A3BB-4A28-8CB7-5ED3D7196F74}" type="sibTrans" cxnId="{4C82E805-8480-4C54-9D3D-80214FF308FE}">
      <dgm:prSet/>
      <dgm:spPr/>
      <dgm:t>
        <a:bodyPr/>
        <a:lstStyle/>
        <a:p>
          <a:endParaRPr lang="es-CO"/>
        </a:p>
      </dgm:t>
    </dgm:pt>
    <dgm:pt modelId="{35AE683D-87EB-4E9D-ACEB-BEEABB4364DC}">
      <dgm:prSet phldrT="[Texto]"/>
      <dgm:spPr/>
      <dgm:t>
        <a:bodyPr/>
        <a:lstStyle/>
        <a:p>
          <a:r>
            <a:rPr lang="es-CO" dirty="0"/>
            <a:t>Argumento3</a:t>
          </a:r>
        </a:p>
      </dgm:t>
    </dgm:pt>
    <dgm:pt modelId="{92196AEC-3C91-41F1-B6EF-281EB4660CE4}" type="parTrans" cxnId="{590A664E-906A-4272-8A98-2FD03F1C4047}">
      <dgm:prSet/>
      <dgm:spPr/>
      <dgm:t>
        <a:bodyPr/>
        <a:lstStyle/>
        <a:p>
          <a:endParaRPr lang="es-CO"/>
        </a:p>
      </dgm:t>
    </dgm:pt>
    <dgm:pt modelId="{2247E7C5-525C-4F5A-85B1-C3F5C604F655}" type="sibTrans" cxnId="{590A664E-906A-4272-8A98-2FD03F1C4047}">
      <dgm:prSet/>
      <dgm:spPr/>
      <dgm:t>
        <a:bodyPr/>
        <a:lstStyle/>
        <a:p>
          <a:endParaRPr lang="es-CO"/>
        </a:p>
      </dgm:t>
    </dgm:pt>
    <dgm:pt modelId="{5454985F-8A1B-4B46-8231-5B6CEB90205C}">
      <dgm:prSet phldrT="[Texto]"/>
      <dgm:spPr/>
      <dgm:t>
        <a:bodyPr/>
        <a:lstStyle/>
        <a:p>
          <a:r>
            <a:rPr lang="es-CO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7A6591EC-992C-48B4-97FF-A16E755CA11E}" type="sibTrans" cxnId="{712A6C30-CA20-4647-B181-9B9E7E21411E}">
      <dgm:prSet/>
      <dgm:spPr/>
      <dgm:t>
        <a:bodyPr/>
        <a:lstStyle/>
        <a:p>
          <a:endParaRPr lang="es-CO"/>
        </a:p>
      </dgm:t>
    </dgm:pt>
    <dgm:pt modelId="{0A164E97-E5FC-4B97-90CB-05DA220BA29A}" type="parTrans" cxnId="{712A6C30-CA20-4647-B181-9B9E7E21411E}">
      <dgm:prSet/>
      <dgm:spPr/>
      <dgm:t>
        <a:bodyPr/>
        <a:lstStyle/>
        <a:p>
          <a:endParaRPr lang="es-CO"/>
        </a:p>
      </dgm:t>
    </dgm:pt>
    <dgm:pt modelId="{316C7D70-D6B6-477D-9714-FDC7BE2056E8}" type="pres">
      <dgm:prSet presAssocID="{BDFEF207-6A5B-4CD9-BCA0-7CFF1CA60B29}" presName="Name0" presStyleCnt="0">
        <dgm:presLayoutVars>
          <dgm:chMax val="4"/>
          <dgm:resizeHandles val="exact"/>
        </dgm:presLayoutVars>
      </dgm:prSet>
      <dgm:spPr/>
    </dgm:pt>
    <dgm:pt modelId="{FB6EAEA0-2A43-488B-91B5-AF424EDF11CF}" type="pres">
      <dgm:prSet presAssocID="{BDFEF207-6A5B-4CD9-BCA0-7CFF1CA60B29}" presName="ellipse" presStyleLbl="trBgShp" presStyleIdx="0" presStyleCnt="1"/>
      <dgm:spPr/>
    </dgm:pt>
    <dgm:pt modelId="{295294A6-BD53-41E4-96C5-7067DEDCCA28}" type="pres">
      <dgm:prSet presAssocID="{BDFEF207-6A5B-4CD9-BCA0-7CFF1CA60B29}" presName="arrow1" presStyleLbl="fgShp" presStyleIdx="0" presStyleCnt="1"/>
      <dgm:spPr/>
    </dgm:pt>
    <dgm:pt modelId="{701A3B47-4332-4344-92BD-D81EFC4D5D83}" type="pres">
      <dgm:prSet presAssocID="{BDFEF207-6A5B-4CD9-BCA0-7CFF1CA60B29}" presName="rectangle" presStyleLbl="revTx" presStyleIdx="0" presStyleCnt="1">
        <dgm:presLayoutVars>
          <dgm:bulletEnabled val="1"/>
        </dgm:presLayoutVars>
      </dgm:prSet>
      <dgm:spPr/>
    </dgm:pt>
    <dgm:pt modelId="{65FF1244-DCF4-4713-9C18-5B1E856F7691}" type="pres">
      <dgm:prSet presAssocID="{B0774BA6-AE6E-4A34-8EF8-163BF1A0EB3F}" presName="item1" presStyleLbl="node1" presStyleIdx="0" presStyleCnt="3">
        <dgm:presLayoutVars>
          <dgm:bulletEnabled val="1"/>
        </dgm:presLayoutVars>
      </dgm:prSet>
      <dgm:spPr/>
    </dgm:pt>
    <dgm:pt modelId="{8F4E7215-AC4C-43E5-BA55-2B25EAE7CEBB}" type="pres">
      <dgm:prSet presAssocID="{35AE683D-87EB-4E9D-ACEB-BEEABB4364DC}" presName="item2" presStyleLbl="node1" presStyleIdx="1" presStyleCnt="3">
        <dgm:presLayoutVars>
          <dgm:bulletEnabled val="1"/>
        </dgm:presLayoutVars>
      </dgm:prSet>
      <dgm:spPr/>
    </dgm:pt>
    <dgm:pt modelId="{8D1DA9BE-D921-49C9-A176-697D50912DC4}" type="pres">
      <dgm:prSet presAssocID="{5454985F-8A1B-4B46-8231-5B6CEB90205C}" presName="item3" presStyleLbl="node1" presStyleIdx="2" presStyleCnt="3">
        <dgm:presLayoutVars>
          <dgm:bulletEnabled val="1"/>
        </dgm:presLayoutVars>
      </dgm:prSet>
      <dgm:spPr/>
    </dgm:pt>
    <dgm:pt modelId="{9EBB3E88-60D0-471F-8E58-1DCBCA65DA03}" type="pres">
      <dgm:prSet presAssocID="{BDFEF207-6A5B-4CD9-BCA0-7CFF1CA60B29}" presName="funnel" presStyleLbl="trAlignAcc1" presStyleIdx="0" presStyleCnt="1"/>
      <dgm:spPr/>
    </dgm:pt>
  </dgm:ptLst>
  <dgm:cxnLst>
    <dgm:cxn modelId="{4C82E805-8480-4C54-9D3D-80214FF308FE}" srcId="{BDFEF207-6A5B-4CD9-BCA0-7CFF1CA60B29}" destId="{B0774BA6-AE6E-4A34-8EF8-163BF1A0EB3F}" srcOrd="1" destOrd="0" parTransId="{E5E32D8D-BC30-4BA4-BEA8-2B6269B610CD}" sibTransId="{1070D777-A3BB-4A28-8CB7-5ED3D7196F74}"/>
    <dgm:cxn modelId="{DABCE307-DC50-4F62-8171-FB1B38CA3CF4}" srcId="{BDFEF207-6A5B-4CD9-BCA0-7CFF1CA60B29}" destId="{A2CE1FF6-6E62-41A2-A1B1-EE817292A061}" srcOrd="0" destOrd="0" parTransId="{6839BF27-2980-41D1-B7E4-B0B6FEB89A1A}" sibTransId="{6AE29DA1-73F1-463C-A737-D1F2C0913DE0}"/>
    <dgm:cxn modelId="{0350F913-AC5D-4A67-911C-0283C6CB5BFF}" type="presOf" srcId="{5454985F-8A1B-4B46-8231-5B6CEB90205C}" destId="{701A3B47-4332-4344-92BD-D81EFC4D5D83}" srcOrd="0" destOrd="0" presId="urn:microsoft.com/office/officeart/2005/8/layout/funnel1"/>
    <dgm:cxn modelId="{712A6C30-CA20-4647-B181-9B9E7E21411E}" srcId="{BDFEF207-6A5B-4CD9-BCA0-7CFF1CA60B29}" destId="{5454985F-8A1B-4B46-8231-5B6CEB90205C}" srcOrd="3" destOrd="0" parTransId="{0A164E97-E5FC-4B97-90CB-05DA220BA29A}" sibTransId="{7A6591EC-992C-48B4-97FF-A16E755CA11E}"/>
    <dgm:cxn modelId="{2D9F7539-B674-4A63-9EFB-C71A4BDE13E4}" type="presOf" srcId="{A2CE1FF6-6E62-41A2-A1B1-EE817292A061}" destId="{8D1DA9BE-D921-49C9-A176-697D50912DC4}" srcOrd="0" destOrd="0" presId="urn:microsoft.com/office/officeart/2005/8/layout/funnel1"/>
    <dgm:cxn modelId="{3280993C-C667-4806-B7C1-3FC192140397}" type="presOf" srcId="{35AE683D-87EB-4E9D-ACEB-BEEABB4364DC}" destId="{65FF1244-DCF4-4713-9C18-5B1E856F7691}" srcOrd="0" destOrd="0" presId="urn:microsoft.com/office/officeart/2005/8/layout/funnel1"/>
    <dgm:cxn modelId="{590A664E-906A-4272-8A98-2FD03F1C4047}" srcId="{BDFEF207-6A5B-4CD9-BCA0-7CFF1CA60B29}" destId="{35AE683D-87EB-4E9D-ACEB-BEEABB4364DC}" srcOrd="2" destOrd="0" parTransId="{92196AEC-3C91-41F1-B6EF-281EB4660CE4}" sibTransId="{2247E7C5-525C-4F5A-85B1-C3F5C604F655}"/>
    <dgm:cxn modelId="{05D541B7-39A5-4DBA-A1F6-6114C2FCB625}" type="presOf" srcId="{BDFEF207-6A5B-4CD9-BCA0-7CFF1CA60B29}" destId="{316C7D70-D6B6-477D-9714-FDC7BE2056E8}" srcOrd="0" destOrd="0" presId="urn:microsoft.com/office/officeart/2005/8/layout/funnel1"/>
    <dgm:cxn modelId="{6F5B4AE3-CA74-4D70-A677-B41066F87830}" type="presOf" srcId="{B0774BA6-AE6E-4A34-8EF8-163BF1A0EB3F}" destId="{8F4E7215-AC4C-43E5-BA55-2B25EAE7CEBB}" srcOrd="0" destOrd="0" presId="urn:microsoft.com/office/officeart/2005/8/layout/funnel1"/>
    <dgm:cxn modelId="{3572C128-1F90-4430-AD42-63B2D39F87CA}" type="presParOf" srcId="{316C7D70-D6B6-477D-9714-FDC7BE2056E8}" destId="{FB6EAEA0-2A43-488B-91B5-AF424EDF11CF}" srcOrd="0" destOrd="0" presId="urn:microsoft.com/office/officeart/2005/8/layout/funnel1"/>
    <dgm:cxn modelId="{97300719-B0AE-42C3-A074-25A61C9FF2B7}" type="presParOf" srcId="{316C7D70-D6B6-477D-9714-FDC7BE2056E8}" destId="{295294A6-BD53-41E4-96C5-7067DEDCCA28}" srcOrd="1" destOrd="0" presId="urn:microsoft.com/office/officeart/2005/8/layout/funnel1"/>
    <dgm:cxn modelId="{6EDB616F-B4F9-430E-8B12-B42068557BF2}" type="presParOf" srcId="{316C7D70-D6B6-477D-9714-FDC7BE2056E8}" destId="{701A3B47-4332-4344-92BD-D81EFC4D5D83}" srcOrd="2" destOrd="0" presId="urn:microsoft.com/office/officeart/2005/8/layout/funnel1"/>
    <dgm:cxn modelId="{F104A377-57FB-4C94-AA33-2E065667F256}" type="presParOf" srcId="{316C7D70-D6B6-477D-9714-FDC7BE2056E8}" destId="{65FF1244-DCF4-4713-9C18-5B1E856F7691}" srcOrd="3" destOrd="0" presId="urn:microsoft.com/office/officeart/2005/8/layout/funnel1"/>
    <dgm:cxn modelId="{93CA459F-51B2-412D-AF43-4170F4ADA6CA}" type="presParOf" srcId="{316C7D70-D6B6-477D-9714-FDC7BE2056E8}" destId="{8F4E7215-AC4C-43E5-BA55-2B25EAE7CEBB}" srcOrd="4" destOrd="0" presId="urn:microsoft.com/office/officeart/2005/8/layout/funnel1"/>
    <dgm:cxn modelId="{D6B2C03A-95AF-4BB1-BB3A-EC323869EA3E}" type="presParOf" srcId="{316C7D70-D6B6-477D-9714-FDC7BE2056E8}" destId="{8D1DA9BE-D921-49C9-A176-697D50912DC4}" srcOrd="5" destOrd="0" presId="urn:microsoft.com/office/officeart/2005/8/layout/funnel1"/>
    <dgm:cxn modelId="{44306553-B185-433C-BB74-71D51BCAE95C}" type="presParOf" srcId="{316C7D70-D6B6-477D-9714-FDC7BE2056E8}" destId="{9EBB3E88-60D0-471F-8E58-1DCBCA65DA03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FEF207-6A5B-4CD9-BCA0-7CFF1CA60B29}" type="doc">
      <dgm:prSet loTypeId="urn:microsoft.com/office/officeart/2005/8/layout/funnel1" loCatId="process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s-CO"/>
        </a:p>
      </dgm:t>
    </dgm:pt>
    <dgm:pt modelId="{A2CE1FF6-6E62-41A2-A1B1-EE817292A061}">
      <dgm:prSet phldrT="[Texto]"/>
      <dgm:spPr/>
      <dgm:t>
        <a:bodyPr/>
        <a:lstStyle/>
        <a:p>
          <a:r>
            <a:rPr lang="es-CO" dirty="0"/>
            <a:t>Argumento1</a:t>
          </a:r>
        </a:p>
      </dgm:t>
    </dgm:pt>
    <dgm:pt modelId="{6839BF27-2980-41D1-B7E4-B0B6FEB89A1A}" type="parTrans" cxnId="{DABCE307-DC50-4F62-8171-FB1B38CA3CF4}">
      <dgm:prSet/>
      <dgm:spPr/>
      <dgm:t>
        <a:bodyPr/>
        <a:lstStyle/>
        <a:p>
          <a:endParaRPr lang="es-CO"/>
        </a:p>
      </dgm:t>
    </dgm:pt>
    <dgm:pt modelId="{6AE29DA1-73F1-463C-A737-D1F2C0913DE0}" type="sibTrans" cxnId="{DABCE307-DC50-4F62-8171-FB1B38CA3CF4}">
      <dgm:prSet/>
      <dgm:spPr/>
      <dgm:t>
        <a:bodyPr/>
        <a:lstStyle/>
        <a:p>
          <a:endParaRPr lang="es-CO"/>
        </a:p>
      </dgm:t>
    </dgm:pt>
    <dgm:pt modelId="{B0774BA6-AE6E-4A34-8EF8-163BF1A0EB3F}">
      <dgm:prSet phldrT="[Texto]"/>
      <dgm:spPr/>
      <dgm:t>
        <a:bodyPr/>
        <a:lstStyle/>
        <a:p>
          <a:r>
            <a:rPr lang="es-CO" dirty="0"/>
            <a:t>Argumento2</a:t>
          </a:r>
        </a:p>
      </dgm:t>
    </dgm:pt>
    <dgm:pt modelId="{E5E32D8D-BC30-4BA4-BEA8-2B6269B610CD}" type="parTrans" cxnId="{4C82E805-8480-4C54-9D3D-80214FF308FE}">
      <dgm:prSet/>
      <dgm:spPr/>
      <dgm:t>
        <a:bodyPr/>
        <a:lstStyle/>
        <a:p>
          <a:endParaRPr lang="es-CO"/>
        </a:p>
      </dgm:t>
    </dgm:pt>
    <dgm:pt modelId="{1070D777-A3BB-4A28-8CB7-5ED3D7196F74}" type="sibTrans" cxnId="{4C82E805-8480-4C54-9D3D-80214FF308FE}">
      <dgm:prSet/>
      <dgm:spPr/>
      <dgm:t>
        <a:bodyPr/>
        <a:lstStyle/>
        <a:p>
          <a:endParaRPr lang="es-CO"/>
        </a:p>
      </dgm:t>
    </dgm:pt>
    <dgm:pt modelId="{35AE683D-87EB-4E9D-ACEB-BEEABB4364DC}">
      <dgm:prSet phldrT="[Texto]"/>
      <dgm:spPr/>
      <dgm:t>
        <a:bodyPr/>
        <a:lstStyle/>
        <a:p>
          <a:r>
            <a:rPr lang="es-CO" dirty="0"/>
            <a:t>Argumento3</a:t>
          </a:r>
        </a:p>
      </dgm:t>
    </dgm:pt>
    <dgm:pt modelId="{92196AEC-3C91-41F1-B6EF-281EB4660CE4}" type="parTrans" cxnId="{590A664E-906A-4272-8A98-2FD03F1C4047}">
      <dgm:prSet/>
      <dgm:spPr/>
      <dgm:t>
        <a:bodyPr/>
        <a:lstStyle/>
        <a:p>
          <a:endParaRPr lang="es-CO"/>
        </a:p>
      </dgm:t>
    </dgm:pt>
    <dgm:pt modelId="{2247E7C5-525C-4F5A-85B1-C3F5C604F655}" type="sibTrans" cxnId="{590A664E-906A-4272-8A98-2FD03F1C4047}">
      <dgm:prSet/>
      <dgm:spPr/>
      <dgm:t>
        <a:bodyPr/>
        <a:lstStyle/>
        <a:p>
          <a:endParaRPr lang="es-CO"/>
        </a:p>
      </dgm:t>
    </dgm:pt>
    <dgm:pt modelId="{5454985F-8A1B-4B46-8231-5B6CEB90205C}">
      <dgm:prSet phldrT="[Texto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dgm:style>
      </dgm:prSet>
      <dgm:spPr/>
      <dgm:t>
        <a:bodyPr spcFirstLastPara="0" vert="horz" wrap="square" lIns="106680" tIns="106680" rIns="106680" bIns="106680" numCol="1" spcCol="1270" anchor="ctr" anchorCtr="0"/>
        <a:lstStyle/>
        <a:p>
          <a:endParaRPr lang="es-CO" sz="28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  <a:ea typeface="+mn-ea"/>
            <a:cs typeface="+mn-cs"/>
          </a:endParaRPr>
        </a:p>
      </dgm:t>
    </dgm:pt>
    <dgm:pt modelId="{7A6591EC-992C-48B4-97FF-A16E755CA11E}" type="sibTrans" cxnId="{712A6C30-CA20-4647-B181-9B9E7E21411E}">
      <dgm:prSet/>
      <dgm:spPr/>
      <dgm:t>
        <a:bodyPr/>
        <a:lstStyle/>
        <a:p>
          <a:endParaRPr lang="es-CO"/>
        </a:p>
      </dgm:t>
    </dgm:pt>
    <dgm:pt modelId="{0A164E97-E5FC-4B97-90CB-05DA220BA29A}" type="parTrans" cxnId="{712A6C30-CA20-4647-B181-9B9E7E21411E}">
      <dgm:prSet/>
      <dgm:spPr/>
      <dgm:t>
        <a:bodyPr/>
        <a:lstStyle/>
        <a:p>
          <a:endParaRPr lang="es-CO"/>
        </a:p>
      </dgm:t>
    </dgm:pt>
    <dgm:pt modelId="{316C7D70-D6B6-477D-9714-FDC7BE2056E8}" type="pres">
      <dgm:prSet presAssocID="{BDFEF207-6A5B-4CD9-BCA0-7CFF1CA60B29}" presName="Name0" presStyleCnt="0">
        <dgm:presLayoutVars>
          <dgm:chMax val="4"/>
          <dgm:resizeHandles val="exact"/>
        </dgm:presLayoutVars>
      </dgm:prSet>
      <dgm:spPr/>
    </dgm:pt>
    <dgm:pt modelId="{FB6EAEA0-2A43-488B-91B5-AF424EDF11CF}" type="pres">
      <dgm:prSet presAssocID="{BDFEF207-6A5B-4CD9-BCA0-7CFF1CA60B29}" presName="ellipse" presStyleLbl="trBgShp" presStyleIdx="0" presStyleCnt="1"/>
      <dgm:spPr/>
    </dgm:pt>
    <dgm:pt modelId="{295294A6-BD53-41E4-96C5-7067DEDCCA28}" type="pres">
      <dgm:prSet presAssocID="{BDFEF207-6A5B-4CD9-BCA0-7CFF1CA60B29}" presName="arrow1" presStyleLbl="fgShp" presStyleIdx="0" presStyleCnt="1"/>
      <dgm:spPr>
        <a:solidFill>
          <a:schemeClr val="accent6">
            <a:lumMod val="60000"/>
            <a:lumOff val="40000"/>
          </a:schemeClr>
        </a:solidFill>
      </dgm:spPr>
    </dgm:pt>
    <dgm:pt modelId="{701A3B47-4332-4344-92BD-D81EFC4D5D83}" type="pres">
      <dgm:prSet presAssocID="{BDFEF207-6A5B-4CD9-BCA0-7CFF1CA60B29}" presName="rectangle" presStyleLbl="revTx" presStyleIdx="0" presStyleCnt="1">
        <dgm:presLayoutVars>
          <dgm:bulletEnabled val="1"/>
        </dgm:presLayoutVars>
      </dgm:prSet>
      <dgm:spPr>
        <a:xfrm>
          <a:off x="1219200" y="4085808"/>
          <a:ext cx="3657600" cy="914400"/>
        </a:xfrm>
        <a:prstGeom prst="rect">
          <a:avLst/>
        </a:prstGeom>
      </dgm:spPr>
    </dgm:pt>
    <dgm:pt modelId="{65FF1244-DCF4-4713-9C18-5B1E856F7691}" type="pres">
      <dgm:prSet presAssocID="{B0774BA6-AE6E-4A34-8EF8-163BF1A0EB3F}" presName="item1" presStyleLbl="node1" presStyleIdx="0" presStyleCnt="3">
        <dgm:presLayoutVars>
          <dgm:bulletEnabled val="1"/>
        </dgm:presLayoutVars>
      </dgm:prSet>
      <dgm:spPr/>
    </dgm:pt>
    <dgm:pt modelId="{8F4E7215-AC4C-43E5-BA55-2B25EAE7CEBB}" type="pres">
      <dgm:prSet presAssocID="{35AE683D-87EB-4E9D-ACEB-BEEABB4364DC}" presName="item2" presStyleLbl="node1" presStyleIdx="1" presStyleCnt="3">
        <dgm:presLayoutVars>
          <dgm:bulletEnabled val="1"/>
        </dgm:presLayoutVars>
      </dgm:prSet>
      <dgm:spPr/>
    </dgm:pt>
    <dgm:pt modelId="{8D1DA9BE-D921-49C9-A176-697D50912DC4}" type="pres">
      <dgm:prSet presAssocID="{5454985F-8A1B-4B46-8231-5B6CEB90205C}" presName="item3" presStyleLbl="node1" presStyleIdx="2" presStyleCnt="3">
        <dgm:presLayoutVars>
          <dgm:bulletEnabled val="1"/>
        </dgm:presLayoutVars>
      </dgm:prSet>
      <dgm:spPr/>
    </dgm:pt>
    <dgm:pt modelId="{9EBB3E88-60D0-471F-8E58-1DCBCA65DA03}" type="pres">
      <dgm:prSet presAssocID="{BDFEF207-6A5B-4CD9-BCA0-7CFF1CA60B29}" presName="funnel" presStyleLbl="trAlignAcc1" presStyleIdx="0" presStyleCnt="1"/>
      <dgm:spPr>
        <a:solidFill>
          <a:schemeClr val="accent1">
            <a:alpha val="40000"/>
          </a:schemeClr>
        </a:solidFill>
      </dgm:spPr>
    </dgm:pt>
  </dgm:ptLst>
  <dgm:cxnLst>
    <dgm:cxn modelId="{4C82E805-8480-4C54-9D3D-80214FF308FE}" srcId="{BDFEF207-6A5B-4CD9-BCA0-7CFF1CA60B29}" destId="{B0774BA6-AE6E-4A34-8EF8-163BF1A0EB3F}" srcOrd="1" destOrd="0" parTransId="{E5E32D8D-BC30-4BA4-BEA8-2B6269B610CD}" sibTransId="{1070D777-A3BB-4A28-8CB7-5ED3D7196F74}"/>
    <dgm:cxn modelId="{DABCE307-DC50-4F62-8171-FB1B38CA3CF4}" srcId="{BDFEF207-6A5B-4CD9-BCA0-7CFF1CA60B29}" destId="{A2CE1FF6-6E62-41A2-A1B1-EE817292A061}" srcOrd="0" destOrd="0" parTransId="{6839BF27-2980-41D1-B7E4-B0B6FEB89A1A}" sibTransId="{6AE29DA1-73F1-463C-A737-D1F2C0913DE0}"/>
    <dgm:cxn modelId="{F04C9818-4B76-44A0-B38F-BDC7BF18CB8A}" type="presOf" srcId="{B0774BA6-AE6E-4A34-8EF8-163BF1A0EB3F}" destId="{8F4E7215-AC4C-43E5-BA55-2B25EAE7CEBB}" srcOrd="0" destOrd="0" presId="urn:microsoft.com/office/officeart/2005/8/layout/funnel1"/>
    <dgm:cxn modelId="{53621C22-6D8E-438B-84E1-5FA2D48D2AA1}" type="presOf" srcId="{35AE683D-87EB-4E9D-ACEB-BEEABB4364DC}" destId="{65FF1244-DCF4-4713-9C18-5B1E856F7691}" srcOrd="0" destOrd="0" presId="urn:microsoft.com/office/officeart/2005/8/layout/funnel1"/>
    <dgm:cxn modelId="{712A6C30-CA20-4647-B181-9B9E7E21411E}" srcId="{BDFEF207-6A5B-4CD9-BCA0-7CFF1CA60B29}" destId="{5454985F-8A1B-4B46-8231-5B6CEB90205C}" srcOrd="3" destOrd="0" parTransId="{0A164E97-E5FC-4B97-90CB-05DA220BA29A}" sibTransId="{7A6591EC-992C-48B4-97FF-A16E755CA11E}"/>
    <dgm:cxn modelId="{590A664E-906A-4272-8A98-2FD03F1C4047}" srcId="{BDFEF207-6A5B-4CD9-BCA0-7CFF1CA60B29}" destId="{35AE683D-87EB-4E9D-ACEB-BEEABB4364DC}" srcOrd="2" destOrd="0" parTransId="{92196AEC-3C91-41F1-B6EF-281EB4660CE4}" sibTransId="{2247E7C5-525C-4F5A-85B1-C3F5C604F655}"/>
    <dgm:cxn modelId="{920DD6AE-2280-47BC-B753-F356366CA601}" type="presOf" srcId="{5454985F-8A1B-4B46-8231-5B6CEB90205C}" destId="{701A3B47-4332-4344-92BD-D81EFC4D5D83}" srcOrd="0" destOrd="0" presId="urn:microsoft.com/office/officeart/2005/8/layout/funnel1"/>
    <dgm:cxn modelId="{8485DCD8-58A9-49BD-93D9-5FBC33DC0CA7}" type="presOf" srcId="{A2CE1FF6-6E62-41A2-A1B1-EE817292A061}" destId="{8D1DA9BE-D921-49C9-A176-697D50912DC4}" srcOrd="0" destOrd="0" presId="urn:microsoft.com/office/officeart/2005/8/layout/funnel1"/>
    <dgm:cxn modelId="{59741BDA-4E77-4414-BFA0-0A2ACF7BE179}" type="presOf" srcId="{BDFEF207-6A5B-4CD9-BCA0-7CFF1CA60B29}" destId="{316C7D70-D6B6-477D-9714-FDC7BE2056E8}" srcOrd="0" destOrd="0" presId="urn:microsoft.com/office/officeart/2005/8/layout/funnel1"/>
    <dgm:cxn modelId="{86CB6510-9B1D-4A3E-8811-3DCA3E5A7044}" type="presParOf" srcId="{316C7D70-D6B6-477D-9714-FDC7BE2056E8}" destId="{FB6EAEA0-2A43-488B-91B5-AF424EDF11CF}" srcOrd="0" destOrd="0" presId="urn:microsoft.com/office/officeart/2005/8/layout/funnel1"/>
    <dgm:cxn modelId="{625F6380-0DE9-436F-95BE-0C976706D519}" type="presParOf" srcId="{316C7D70-D6B6-477D-9714-FDC7BE2056E8}" destId="{295294A6-BD53-41E4-96C5-7067DEDCCA28}" srcOrd="1" destOrd="0" presId="urn:microsoft.com/office/officeart/2005/8/layout/funnel1"/>
    <dgm:cxn modelId="{48D4809F-2378-4ADF-A9F0-64D693685454}" type="presParOf" srcId="{316C7D70-D6B6-477D-9714-FDC7BE2056E8}" destId="{701A3B47-4332-4344-92BD-D81EFC4D5D83}" srcOrd="2" destOrd="0" presId="urn:microsoft.com/office/officeart/2005/8/layout/funnel1"/>
    <dgm:cxn modelId="{84197A2F-4C25-462B-B051-FC72733A5FCB}" type="presParOf" srcId="{316C7D70-D6B6-477D-9714-FDC7BE2056E8}" destId="{65FF1244-DCF4-4713-9C18-5B1E856F7691}" srcOrd="3" destOrd="0" presId="urn:microsoft.com/office/officeart/2005/8/layout/funnel1"/>
    <dgm:cxn modelId="{25732A01-601B-4293-9447-0F2B38071484}" type="presParOf" srcId="{316C7D70-D6B6-477D-9714-FDC7BE2056E8}" destId="{8F4E7215-AC4C-43E5-BA55-2B25EAE7CEBB}" srcOrd="4" destOrd="0" presId="urn:microsoft.com/office/officeart/2005/8/layout/funnel1"/>
    <dgm:cxn modelId="{A1F4F780-9CD3-4922-B244-8DC01751933A}" type="presParOf" srcId="{316C7D70-D6B6-477D-9714-FDC7BE2056E8}" destId="{8D1DA9BE-D921-49C9-A176-697D50912DC4}" srcOrd="5" destOrd="0" presId="urn:microsoft.com/office/officeart/2005/8/layout/funnel1"/>
    <dgm:cxn modelId="{08FCF611-E051-4568-B354-6A37B08B7E3A}" type="presParOf" srcId="{316C7D70-D6B6-477D-9714-FDC7BE2056E8}" destId="{9EBB3E88-60D0-471F-8E58-1DCBCA65DA03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FEF207-6A5B-4CD9-BCA0-7CFF1CA60B29}" type="doc">
      <dgm:prSet loTypeId="urn:microsoft.com/office/officeart/2005/8/layout/funnel1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A2CE1FF6-6E62-41A2-A1B1-EE817292A061}">
      <dgm:prSet phldrT="[Texto]"/>
      <dgm:spPr/>
      <dgm:t>
        <a:bodyPr/>
        <a:lstStyle/>
        <a:p>
          <a:r>
            <a:rPr lang="es-CO" dirty="0"/>
            <a:t>Argumento1</a:t>
          </a:r>
        </a:p>
      </dgm:t>
    </dgm:pt>
    <dgm:pt modelId="{6839BF27-2980-41D1-B7E4-B0B6FEB89A1A}" type="parTrans" cxnId="{DABCE307-DC50-4F62-8171-FB1B38CA3CF4}">
      <dgm:prSet/>
      <dgm:spPr/>
      <dgm:t>
        <a:bodyPr/>
        <a:lstStyle/>
        <a:p>
          <a:endParaRPr lang="es-CO"/>
        </a:p>
      </dgm:t>
    </dgm:pt>
    <dgm:pt modelId="{6AE29DA1-73F1-463C-A737-D1F2C0913DE0}" type="sibTrans" cxnId="{DABCE307-DC50-4F62-8171-FB1B38CA3CF4}">
      <dgm:prSet/>
      <dgm:spPr/>
      <dgm:t>
        <a:bodyPr/>
        <a:lstStyle/>
        <a:p>
          <a:endParaRPr lang="es-CO"/>
        </a:p>
      </dgm:t>
    </dgm:pt>
    <dgm:pt modelId="{B0774BA6-AE6E-4A34-8EF8-163BF1A0EB3F}">
      <dgm:prSet phldrT="[Texto]"/>
      <dgm:spPr/>
      <dgm:t>
        <a:bodyPr/>
        <a:lstStyle/>
        <a:p>
          <a:r>
            <a:rPr lang="es-CO" dirty="0"/>
            <a:t>Argumento2</a:t>
          </a:r>
        </a:p>
      </dgm:t>
    </dgm:pt>
    <dgm:pt modelId="{E5E32D8D-BC30-4BA4-BEA8-2B6269B610CD}" type="parTrans" cxnId="{4C82E805-8480-4C54-9D3D-80214FF308FE}">
      <dgm:prSet/>
      <dgm:spPr/>
      <dgm:t>
        <a:bodyPr/>
        <a:lstStyle/>
        <a:p>
          <a:endParaRPr lang="es-CO"/>
        </a:p>
      </dgm:t>
    </dgm:pt>
    <dgm:pt modelId="{1070D777-A3BB-4A28-8CB7-5ED3D7196F74}" type="sibTrans" cxnId="{4C82E805-8480-4C54-9D3D-80214FF308FE}">
      <dgm:prSet/>
      <dgm:spPr/>
      <dgm:t>
        <a:bodyPr/>
        <a:lstStyle/>
        <a:p>
          <a:endParaRPr lang="es-CO"/>
        </a:p>
      </dgm:t>
    </dgm:pt>
    <dgm:pt modelId="{35AE683D-87EB-4E9D-ACEB-BEEABB4364DC}">
      <dgm:prSet phldrT="[Texto]"/>
      <dgm:spPr/>
      <dgm:t>
        <a:bodyPr/>
        <a:lstStyle/>
        <a:p>
          <a:r>
            <a:rPr lang="es-CO" dirty="0"/>
            <a:t>Argumento3</a:t>
          </a:r>
        </a:p>
      </dgm:t>
    </dgm:pt>
    <dgm:pt modelId="{92196AEC-3C91-41F1-B6EF-281EB4660CE4}" type="parTrans" cxnId="{590A664E-906A-4272-8A98-2FD03F1C4047}">
      <dgm:prSet/>
      <dgm:spPr/>
      <dgm:t>
        <a:bodyPr/>
        <a:lstStyle/>
        <a:p>
          <a:endParaRPr lang="es-CO"/>
        </a:p>
      </dgm:t>
    </dgm:pt>
    <dgm:pt modelId="{2247E7C5-525C-4F5A-85B1-C3F5C604F655}" type="sibTrans" cxnId="{590A664E-906A-4272-8A98-2FD03F1C4047}">
      <dgm:prSet/>
      <dgm:spPr/>
      <dgm:t>
        <a:bodyPr/>
        <a:lstStyle/>
        <a:p>
          <a:endParaRPr lang="es-CO"/>
        </a:p>
      </dgm:t>
    </dgm:pt>
    <dgm:pt modelId="{5454985F-8A1B-4B46-8231-5B6CEB90205C}">
      <dgm:prSet phldrT="[Texto]"/>
      <dgm:spPr/>
      <dgm:t>
        <a:bodyPr/>
        <a:lstStyle/>
        <a:p>
          <a:r>
            <a:rPr lang="es-CO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7A6591EC-992C-48B4-97FF-A16E755CA11E}" type="sibTrans" cxnId="{712A6C30-CA20-4647-B181-9B9E7E21411E}">
      <dgm:prSet/>
      <dgm:spPr/>
      <dgm:t>
        <a:bodyPr/>
        <a:lstStyle/>
        <a:p>
          <a:endParaRPr lang="es-CO"/>
        </a:p>
      </dgm:t>
    </dgm:pt>
    <dgm:pt modelId="{0A164E97-E5FC-4B97-90CB-05DA220BA29A}" type="parTrans" cxnId="{712A6C30-CA20-4647-B181-9B9E7E21411E}">
      <dgm:prSet/>
      <dgm:spPr/>
      <dgm:t>
        <a:bodyPr/>
        <a:lstStyle/>
        <a:p>
          <a:endParaRPr lang="es-CO"/>
        </a:p>
      </dgm:t>
    </dgm:pt>
    <dgm:pt modelId="{316C7D70-D6B6-477D-9714-FDC7BE2056E8}" type="pres">
      <dgm:prSet presAssocID="{BDFEF207-6A5B-4CD9-BCA0-7CFF1CA60B29}" presName="Name0" presStyleCnt="0">
        <dgm:presLayoutVars>
          <dgm:chMax val="4"/>
          <dgm:resizeHandles val="exact"/>
        </dgm:presLayoutVars>
      </dgm:prSet>
      <dgm:spPr/>
    </dgm:pt>
    <dgm:pt modelId="{FB6EAEA0-2A43-488B-91B5-AF424EDF11CF}" type="pres">
      <dgm:prSet presAssocID="{BDFEF207-6A5B-4CD9-BCA0-7CFF1CA60B29}" presName="ellipse" presStyleLbl="trBgShp" presStyleIdx="0" presStyleCnt="1"/>
      <dgm:spPr/>
    </dgm:pt>
    <dgm:pt modelId="{295294A6-BD53-41E4-96C5-7067DEDCCA28}" type="pres">
      <dgm:prSet presAssocID="{BDFEF207-6A5B-4CD9-BCA0-7CFF1CA60B29}" presName="arrow1" presStyleLbl="fgShp" presStyleIdx="0" presStyleCnt="1"/>
      <dgm:spPr/>
    </dgm:pt>
    <dgm:pt modelId="{701A3B47-4332-4344-92BD-D81EFC4D5D83}" type="pres">
      <dgm:prSet presAssocID="{BDFEF207-6A5B-4CD9-BCA0-7CFF1CA60B29}" presName="rectangle" presStyleLbl="revTx" presStyleIdx="0" presStyleCnt="1">
        <dgm:presLayoutVars>
          <dgm:bulletEnabled val="1"/>
        </dgm:presLayoutVars>
      </dgm:prSet>
      <dgm:spPr/>
    </dgm:pt>
    <dgm:pt modelId="{65FF1244-DCF4-4713-9C18-5B1E856F7691}" type="pres">
      <dgm:prSet presAssocID="{B0774BA6-AE6E-4A34-8EF8-163BF1A0EB3F}" presName="item1" presStyleLbl="node1" presStyleIdx="0" presStyleCnt="3">
        <dgm:presLayoutVars>
          <dgm:bulletEnabled val="1"/>
        </dgm:presLayoutVars>
      </dgm:prSet>
      <dgm:spPr/>
    </dgm:pt>
    <dgm:pt modelId="{8F4E7215-AC4C-43E5-BA55-2B25EAE7CEBB}" type="pres">
      <dgm:prSet presAssocID="{35AE683D-87EB-4E9D-ACEB-BEEABB4364DC}" presName="item2" presStyleLbl="node1" presStyleIdx="1" presStyleCnt="3">
        <dgm:presLayoutVars>
          <dgm:bulletEnabled val="1"/>
        </dgm:presLayoutVars>
      </dgm:prSet>
      <dgm:spPr/>
    </dgm:pt>
    <dgm:pt modelId="{8D1DA9BE-D921-49C9-A176-697D50912DC4}" type="pres">
      <dgm:prSet presAssocID="{5454985F-8A1B-4B46-8231-5B6CEB90205C}" presName="item3" presStyleLbl="node1" presStyleIdx="2" presStyleCnt="3">
        <dgm:presLayoutVars>
          <dgm:bulletEnabled val="1"/>
        </dgm:presLayoutVars>
      </dgm:prSet>
      <dgm:spPr/>
    </dgm:pt>
    <dgm:pt modelId="{9EBB3E88-60D0-471F-8E58-1DCBCA65DA03}" type="pres">
      <dgm:prSet presAssocID="{BDFEF207-6A5B-4CD9-BCA0-7CFF1CA60B29}" presName="funnel" presStyleLbl="trAlignAcc1" presStyleIdx="0" presStyleCnt="1"/>
      <dgm:spPr/>
    </dgm:pt>
  </dgm:ptLst>
  <dgm:cxnLst>
    <dgm:cxn modelId="{4C82E805-8480-4C54-9D3D-80214FF308FE}" srcId="{BDFEF207-6A5B-4CD9-BCA0-7CFF1CA60B29}" destId="{B0774BA6-AE6E-4A34-8EF8-163BF1A0EB3F}" srcOrd="1" destOrd="0" parTransId="{E5E32D8D-BC30-4BA4-BEA8-2B6269B610CD}" sibTransId="{1070D777-A3BB-4A28-8CB7-5ED3D7196F74}"/>
    <dgm:cxn modelId="{DABCE307-DC50-4F62-8171-FB1B38CA3CF4}" srcId="{BDFEF207-6A5B-4CD9-BCA0-7CFF1CA60B29}" destId="{A2CE1FF6-6E62-41A2-A1B1-EE817292A061}" srcOrd="0" destOrd="0" parTransId="{6839BF27-2980-41D1-B7E4-B0B6FEB89A1A}" sibTransId="{6AE29DA1-73F1-463C-A737-D1F2C0913DE0}"/>
    <dgm:cxn modelId="{712A6C30-CA20-4647-B181-9B9E7E21411E}" srcId="{BDFEF207-6A5B-4CD9-BCA0-7CFF1CA60B29}" destId="{5454985F-8A1B-4B46-8231-5B6CEB90205C}" srcOrd="3" destOrd="0" parTransId="{0A164E97-E5FC-4B97-90CB-05DA220BA29A}" sibTransId="{7A6591EC-992C-48B4-97FF-A16E755CA11E}"/>
    <dgm:cxn modelId="{590A664E-906A-4272-8A98-2FD03F1C4047}" srcId="{BDFEF207-6A5B-4CD9-BCA0-7CFF1CA60B29}" destId="{35AE683D-87EB-4E9D-ACEB-BEEABB4364DC}" srcOrd="2" destOrd="0" parTransId="{92196AEC-3C91-41F1-B6EF-281EB4660CE4}" sibTransId="{2247E7C5-525C-4F5A-85B1-C3F5C604F655}"/>
    <dgm:cxn modelId="{75548DDE-8E0D-4C74-A551-24B415565F7A}" type="presOf" srcId="{BDFEF207-6A5B-4CD9-BCA0-7CFF1CA60B29}" destId="{316C7D70-D6B6-477D-9714-FDC7BE2056E8}" srcOrd="0" destOrd="0" presId="urn:microsoft.com/office/officeart/2005/8/layout/funnel1"/>
    <dgm:cxn modelId="{BE0C78F0-7416-492C-B857-CD07489C5252}" type="presOf" srcId="{A2CE1FF6-6E62-41A2-A1B1-EE817292A061}" destId="{8D1DA9BE-D921-49C9-A176-697D50912DC4}" srcOrd="0" destOrd="0" presId="urn:microsoft.com/office/officeart/2005/8/layout/funnel1"/>
    <dgm:cxn modelId="{2B8188F6-E51F-4A2E-BA83-F53400DE6F0C}" type="presOf" srcId="{B0774BA6-AE6E-4A34-8EF8-163BF1A0EB3F}" destId="{8F4E7215-AC4C-43E5-BA55-2B25EAE7CEBB}" srcOrd="0" destOrd="0" presId="urn:microsoft.com/office/officeart/2005/8/layout/funnel1"/>
    <dgm:cxn modelId="{04509EF6-3869-4EE1-BACC-F8B0A456366F}" type="presOf" srcId="{35AE683D-87EB-4E9D-ACEB-BEEABB4364DC}" destId="{65FF1244-DCF4-4713-9C18-5B1E856F7691}" srcOrd="0" destOrd="0" presId="urn:microsoft.com/office/officeart/2005/8/layout/funnel1"/>
    <dgm:cxn modelId="{3A0F44FF-9640-499A-B8B3-5BE0643F7B19}" type="presOf" srcId="{5454985F-8A1B-4B46-8231-5B6CEB90205C}" destId="{701A3B47-4332-4344-92BD-D81EFC4D5D83}" srcOrd="0" destOrd="0" presId="urn:microsoft.com/office/officeart/2005/8/layout/funnel1"/>
    <dgm:cxn modelId="{C68B1FCA-30B0-4498-820A-0B91055A5417}" type="presParOf" srcId="{316C7D70-D6B6-477D-9714-FDC7BE2056E8}" destId="{FB6EAEA0-2A43-488B-91B5-AF424EDF11CF}" srcOrd="0" destOrd="0" presId="urn:microsoft.com/office/officeart/2005/8/layout/funnel1"/>
    <dgm:cxn modelId="{DE9FFAF2-D6E9-4AFA-8DAD-942B4C79C411}" type="presParOf" srcId="{316C7D70-D6B6-477D-9714-FDC7BE2056E8}" destId="{295294A6-BD53-41E4-96C5-7067DEDCCA28}" srcOrd="1" destOrd="0" presId="urn:microsoft.com/office/officeart/2005/8/layout/funnel1"/>
    <dgm:cxn modelId="{25A4839B-530A-4F3A-A6A7-A36AA1766650}" type="presParOf" srcId="{316C7D70-D6B6-477D-9714-FDC7BE2056E8}" destId="{701A3B47-4332-4344-92BD-D81EFC4D5D83}" srcOrd="2" destOrd="0" presId="urn:microsoft.com/office/officeart/2005/8/layout/funnel1"/>
    <dgm:cxn modelId="{35127CAD-5633-46EB-A3AF-EDB35306AFBA}" type="presParOf" srcId="{316C7D70-D6B6-477D-9714-FDC7BE2056E8}" destId="{65FF1244-DCF4-4713-9C18-5B1E856F7691}" srcOrd="3" destOrd="0" presId="urn:microsoft.com/office/officeart/2005/8/layout/funnel1"/>
    <dgm:cxn modelId="{D3C713FD-266A-4E25-8A7B-7CBDEFA8B49C}" type="presParOf" srcId="{316C7D70-D6B6-477D-9714-FDC7BE2056E8}" destId="{8F4E7215-AC4C-43E5-BA55-2B25EAE7CEBB}" srcOrd="4" destOrd="0" presId="urn:microsoft.com/office/officeart/2005/8/layout/funnel1"/>
    <dgm:cxn modelId="{DD232532-D886-48B3-AB1F-41584AA63E3F}" type="presParOf" srcId="{316C7D70-D6B6-477D-9714-FDC7BE2056E8}" destId="{8D1DA9BE-D921-49C9-A176-697D50912DC4}" srcOrd="5" destOrd="0" presId="urn:microsoft.com/office/officeart/2005/8/layout/funnel1"/>
    <dgm:cxn modelId="{73C41E85-E2AC-454C-A885-C4C6C0F723AE}" type="presParOf" srcId="{316C7D70-D6B6-477D-9714-FDC7BE2056E8}" destId="{9EBB3E88-60D0-471F-8E58-1DCBCA65DA03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EAEA0-2A43-488B-91B5-AF424EDF11CF}">
      <dsp:nvSpPr>
        <dsp:cNvPr id="0" name=""/>
        <dsp:cNvSpPr/>
      </dsp:nvSpPr>
      <dsp:spPr>
        <a:xfrm>
          <a:off x="1075944" y="352007"/>
          <a:ext cx="3931920" cy="1365504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94A6-BD53-41E4-96C5-7067DEDCCA28}">
      <dsp:nvSpPr>
        <dsp:cNvPr id="0" name=""/>
        <dsp:cNvSpPr/>
      </dsp:nvSpPr>
      <dsp:spPr>
        <a:xfrm>
          <a:off x="2667000" y="3695664"/>
          <a:ext cx="762000" cy="487680"/>
        </a:xfrm>
        <a:prstGeom prst="downArrow">
          <a:avLst/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701A3B47-4332-4344-92BD-D81EFC4D5D83}">
      <dsp:nvSpPr>
        <dsp:cNvPr id="0" name=""/>
        <dsp:cNvSpPr/>
      </dsp:nvSpPr>
      <dsp:spPr>
        <a:xfrm>
          <a:off x="1219200" y="4085808"/>
          <a:ext cx="3657600" cy="914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>
            <a:hueOff val="0"/>
            <a:satOff val="0"/>
            <a:lumOff val="0"/>
            <a:alphaOff val="0"/>
          </a:schemeClr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8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  <a:ea typeface="+mn-ea"/>
            <a:cs typeface="+mn-cs"/>
          </a:endParaRPr>
        </a:p>
      </dsp:txBody>
      <dsp:txXfrm>
        <a:off x="1219200" y="4085808"/>
        <a:ext cx="3657600" cy="914400"/>
      </dsp:txXfrm>
    </dsp:sp>
    <dsp:sp modelId="{65FF1244-DCF4-4713-9C18-5B1E856F7691}">
      <dsp:nvSpPr>
        <dsp:cNvPr id="0" name=""/>
        <dsp:cNvSpPr/>
      </dsp:nvSpPr>
      <dsp:spPr>
        <a:xfrm>
          <a:off x="2505456" y="1822972"/>
          <a:ext cx="1371600" cy="137160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/>
            <a:t>Argumento3</a:t>
          </a:r>
        </a:p>
      </dsp:txBody>
      <dsp:txXfrm>
        <a:off x="2706322" y="2023838"/>
        <a:ext cx="969868" cy="969868"/>
      </dsp:txXfrm>
    </dsp:sp>
    <dsp:sp modelId="{8F4E7215-AC4C-43E5-BA55-2B25EAE7CEBB}">
      <dsp:nvSpPr>
        <dsp:cNvPr id="0" name=""/>
        <dsp:cNvSpPr/>
      </dsp:nvSpPr>
      <dsp:spPr>
        <a:xfrm>
          <a:off x="1523999" y="793967"/>
          <a:ext cx="1371600" cy="137160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/>
            <a:t>Argumento2</a:t>
          </a:r>
        </a:p>
      </dsp:txBody>
      <dsp:txXfrm>
        <a:off x="1724865" y="994833"/>
        <a:ext cx="969868" cy="969868"/>
      </dsp:txXfrm>
    </dsp:sp>
    <dsp:sp modelId="{8D1DA9BE-D921-49C9-A176-697D50912DC4}">
      <dsp:nvSpPr>
        <dsp:cNvPr id="0" name=""/>
        <dsp:cNvSpPr/>
      </dsp:nvSpPr>
      <dsp:spPr>
        <a:xfrm>
          <a:off x="2926080" y="462345"/>
          <a:ext cx="1371600" cy="137160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/>
            <a:t>Argumento1</a:t>
          </a:r>
        </a:p>
      </dsp:txBody>
      <dsp:txXfrm>
        <a:off x="3126946" y="663211"/>
        <a:ext cx="969868" cy="969868"/>
      </dsp:txXfrm>
    </dsp:sp>
    <dsp:sp modelId="{9EBB3E88-60D0-471F-8E58-1DCBCA65DA03}">
      <dsp:nvSpPr>
        <dsp:cNvPr id="0" name=""/>
        <dsp:cNvSpPr/>
      </dsp:nvSpPr>
      <dsp:spPr>
        <a:xfrm>
          <a:off x="914400" y="184367"/>
          <a:ext cx="4267200" cy="3413760"/>
        </a:xfrm>
        <a:prstGeom prst="funnel">
          <a:avLst/>
        </a:prstGeom>
        <a:solidFill>
          <a:schemeClr val="accent1">
            <a:alpha val="4000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EAEA0-2A43-488B-91B5-AF424EDF11CF}">
      <dsp:nvSpPr>
        <dsp:cNvPr id="0" name=""/>
        <dsp:cNvSpPr/>
      </dsp:nvSpPr>
      <dsp:spPr>
        <a:xfrm>
          <a:off x="622126" y="335345"/>
          <a:ext cx="2273493" cy="789554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94A6-BD53-41E4-96C5-7067DEDCCA28}">
      <dsp:nvSpPr>
        <dsp:cNvPr id="0" name=""/>
        <dsp:cNvSpPr/>
      </dsp:nvSpPr>
      <dsp:spPr>
        <a:xfrm>
          <a:off x="1542098" y="2268696"/>
          <a:ext cx="440599" cy="281983"/>
        </a:xfrm>
        <a:prstGeom prst="downArrow">
          <a:avLst/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701A3B47-4332-4344-92BD-D81EFC4D5D83}">
      <dsp:nvSpPr>
        <dsp:cNvPr id="0" name=""/>
        <dsp:cNvSpPr/>
      </dsp:nvSpPr>
      <dsp:spPr>
        <a:xfrm>
          <a:off x="704959" y="2494283"/>
          <a:ext cx="2114877" cy="528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704959" y="2494283"/>
        <a:ext cx="2114877" cy="528719"/>
      </dsp:txXfrm>
    </dsp:sp>
    <dsp:sp modelId="{65FF1244-DCF4-4713-9C18-5B1E856F7691}">
      <dsp:nvSpPr>
        <dsp:cNvPr id="0" name=""/>
        <dsp:cNvSpPr/>
      </dsp:nvSpPr>
      <dsp:spPr>
        <a:xfrm>
          <a:off x="1448691" y="1185878"/>
          <a:ext cx="793079" cy="79307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Argumento3</a:t>
          </a:r>
        </a:p>
      </dsp:txBody>
      <dsp:txXfrm>
        <a:off x="1564835" y="1302022"/>
        <a:ext cx="560791" cy="560791"/>
      </dsp:txXfrm>
    </dsp:sp>
    <dsp:sp modelId="{8F4E7215-AC4C-43E5-BA55-2B25EAE7CEBB}">
      <dsp:nvSpPr>
        <dsp:cNvPr id="0" name=""/>
        <dsp:cNvSpPr/>
      </dsp:nvSpPr>
      <dsp:spPr>
        <a:xfrm>
          <a:off x="881199" y="590893"/>
          <a:ext cx="793079" cy="793079"/>
        </a:xfrm>
        <a:prstGeom prst="ellipse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Argumento2</a:t>
          </a:r>
        </a:p>
      </dsp:txBody>
      <dsp:txXfrm>
        <a:off x="997343" y="707037"/>
        <a:ext cx="560791" cy="560791"/>
      </dsp:txXfrm>
    </dsp:sp>
    <dsp:sp modelId="{8D1DA9BE-D921-49C9-A176-697D50912DC4}">
      <dsp:nvSpPr>
        <dsp:cNvPr id="0" name=""/>
        <dsp:cNvSpPr/>
      </dsp:nvSpPr>
      <dsp:spPr>
        <a:xfrm>
          <a:off x="1691902" y="399144"/>
          <a:ext cx="793079" cy="793079"/>
        </a:xfrm>
        <a:prstGeom prst="ellipse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Argumento1</a:t>
          </a:r>
        </a:p>
      </dsp:txBody>
      <dsp:txXfrm>
        <a:off x="1808046" y="515288"/>
        <a:ext cx="560791" cy="560791"/>
      </dsp:txXfrm>
    </dsp:sp>
    <dsp:sp modelId="{9EBB3E88-60D0-471F-8E58-1DCBCA65DA03}">
      <dsp:nvSpPr>
        <dsp:cNvPr id="0" name=""/>
        <dsp:cNvSpPr/>
      </dsp:nvSpPr>
      <dsp:spPr>
        <a:xfrm>
          <a:off x="528719" y="238413"/>
          <a:ext cx="2467357" cy="1973885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EAEA0-2A43-488B-91B5-AF424EDF11CF}">
      <dsp:nvSpPr>
        <dsp:cNvPr id="0" name=""/>
        <dsp:cNvSpPr/>
      </dsp:nvSpPr>
      <dsp:spPr>
        <a:xfrm>
          <a:off x="1075944" y="352007"/>
          <a:ext cx="3931920" cy="1365504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94A6-BD53-41E4-96C5-7067DEDCCA28}">
      <dsp:nvSpPr>
        <dsp:cNvPr id="0" name=""/>
        <dsp:cNvSpPr/>
      </dsp:nvSpPr>
      <dsp:spPr>
        <a:xfrm>
          <a:off x="2667000" y="3695664"/>
          <a:ext cx="762000" cy="487680"/>
        </a:xfrm>
        <a:prstGeom prst="downArrow">
          <a:avLst/>
        </a:prstGeom>
        <a:solidFill>
          <a:schemeClr val="accent6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701A3B47-4332-4344-92BD-D81EFC4D5D83}">
      <dsp:nvSpPr>
        <dsp:cNvPr id="0" name=""/>
        <dsp:cNvSpPr/>
      </dsp:nvSpPr>
      <dsp:spPr>
        <a:xfrm>
          <a:off x="1219200" y="4085808"/>
          <a:ext cx="3657600" cy="914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>
            <a:hueOff val="0"/>
            <a:satOff val="0"/>
            <a:lumOff val="0"/>
            <a:alphaOff val="0"/>
          </a:schemeClr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2800" b="1" kern="1200" dirty="0">
            <a:solidFill>
              <a:schemeClr val="tx1">
                <a:hueOff val="0"/>
                <a:satOff val="0"/>
                <a:lumOff val="0"/>
                <a:alphaOff val="0"/>
              </a:schemeClr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  <a:ea typeface="+mn-ea"/>
            <a:cs typeface="+mn-cs"/>
          </a:endParaRPr>
        </a:p>
      </dsp:txBody>
      <dsp:txXfrm>
        <a:off x="1219200" y="4085808"/>
        <a:ext cx="3657600" cy="914400"/>
      </dsp:txXfrm>
    </dsp:sp>
    <dsp:sp modelId="{65FF1244-DCF4-4713-9C18-5B1E856F7691}">
      <dsp:nvSpPr>
        <dsp:cNvPr id="0" name=""/>
        <dsp:cNvSpPr/>
      </dsp:nvSpPr>
      <dsp:spPr>
        <a:xfrm>
          <a:off x="2505456" y="1822972"/>
          <a:ext cx="1371600" cy="137160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/>
            <a:t>Argumento3</a:t>
          </a:r>
        </a:p>
      </dsp:txBody>
      <dsp:txXfrm>
        <a:off x="2706322" y="2023838"/>
        <a:ext cx="969868" cy="969868"/>
      </dsp:txXfrm>
    </dsp:sp>
    <dsp:sp modelId="{8F4E7215-AC4C-43E5-BA55-2B25EAE7CEBB}">
      <dsp:nvSpPr>
        <dsp:cNvPr id="0" name=""/>
        <dsp:cNvSpPr/>
      </dsp:nvSpPr>
      <dsp:spPr>
        <a:xfrm>
          <a:off x="1523999" y="793967"/>
          <a:ext cx="1371600" cy="137160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/>
            <a:t>Argumento2</a:t>
          </a:r>
        </a:p>
      </dsp:txBody>
      <dsp:txXfrm>
        <a:off x="1724865" y="994833"/>
        <a:ext cx="969868" cy="969868"/>
      </dsp:txXfrm>
    </dsp:sp>
    <dsp:sp modelId="{8D1DA9BE-D921-49C9-A176-697D50912DC4}">
      <dsp:nvSpPr>
        <dsp:cNvPr id="0" name=""/>
        <dsp:cNvSpPr/>
      </dsp:nvSpPr>
      <dsp:spPr>
        <a:xfrm>
          <a:off x="2926080" y="462345"/>
          <a:ext cx="1371600" cy="137160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/>
            <a:t>Argumento1</a:t>
          </a:r>
        </a:p>
      </dsp:txBody>
      <dsp:txXfrm>
        <a:off x="3126946" y="663211"/>
        <a:ext cx="969868" cy="969868"/>
      </dsp:txXfrm>
    </dsp:sp>
    <dsp:sp modelId="{9EBB3E88-60D0-471F-8E58-1DCBCA65DA03}">
      <dsp:nvSpPr>
        <dsp:cNvPr id="0" name=""/>
        <dsp:cNvSpPr/>
      </dsp:nvSpPr>
      <dsp:spPr>
        <a:xfrm>
          <a:off x="914400" y="184367"/>
          <a:ext cx="4267200" cy="3413760"/>
        </a:xfrm>
        <a:prstGeom prst="funnel">
          <a:avLst/>
        </a:prstGeom>
        <a:solidFill>
          <a:schemeClr val="accent1">
            <a:alpha val="4000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EAEA0-2A43-488B-91B5-AF424EDF11CF}">
      <dsp:nvSpPr>
        <dsp:cNvPr id="0" name=""/>
        <dsp:cNvSpPr/>
      </dsp:nvSpPr>
      <dsp:spPr>
        <a:xfrm>
          <a:off x="622126" y="335345"/>
          <a:ext cx="2273493" cy="789554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94A6-BD53-41E4-96C5-7067DEDCCA28}">
      <dsp:nvSpPr>
        <dsp:cNvPr id="0" name=""/>
        <dsp:cNvSpPr/>
      </dsp:nvSpPr>
      <dsp:spPr>
        <a:xfrm>
          <a:off x="1542098" y="2268696"/>
          <a:ext cx="440599" cy="281983"/>
        </a:xfrm>
        <a:prstGeom prst="downArrow">
          <a:avLst/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701A3B47-4332-4344-92BD-D81EFC4D5D83}">
      <dsp:nvSpPr>
        <dsp:cNvPr id="0" name=""/>
        <dsp:cNvSpPr/>
      </dsp:nvSpPr>
      <dsp:spPr>
        <a:xfrm>
          <a:off x="704959" y="2494283"/>
          <a:ext cx="2114877" cy="528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704959" y="2494283"/>
        <a:ext cx="2114877" cy="528719"/>
      </dsp:txXfrm>
    </dsp:sp>
    <dsp:sp modelId="{65FF1244-DCF4-4713-9C18-5B1E856F7691}">
      <dsp:nvSpPr>
        <dsp:cNvPr id="0" name=""/>
        <dsp:cNvSpPr/>
      </dsp:nvSpPr>
      <dsp:spPr>
        <a:xfrm>
          <a:off x="1448691" y="1185878"/>
          <a:ext cx="793079" cy="79307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Argumento3</a:t>
          </a:r>
        </a:p>
      </dsp:txBody>
      <dsp:txXfrm>
        <a:off x="1564835" y="1302022"/>
        <a:ext cx="560791" cy="560791"/>
      </dsp:txXfrm>
    </dsp:sp>
    <dsp:sp modelId="{8F4E7215-AC4C-43E5-BA55-2B25EAE7CEBB}">
      <dsp:nvSpPr>
        <dsp:cNvPr id="0" name=""/>
        <dsp:cNvSpPr/>
      </dsp:nvSpPr>
      <dsp:spPr>
        <a:xfrm>
          <a:off x="881199" y="590893"/>
          <a:ext cx="793079" cy="793079"/>
        </a:xfrm>
        <a:prstGeom prst="ellipse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Argumento2</a:t>
          </a:r>
        </a:p>
      </dsp:txBody>
      <dsp:txXfrm>
        <a:off x="997343" y="707037"/>
        <a:ext cx="560791" cy="560791"/>
      </dsp:txXfrm>
    </dsp:sp>
    <dsp:sp modelId="{8D1DA9BE-D921-49C9-A176-697D50912DC4}">
      <dsp:nvSpPr>
        <dsp:cNvPr id="0" name=""/>
        <dsp:cNvSpPr/>
      </dsp:nvSpPr>
      <dsp:spPr>
        <a:xfrm>
          <a:off x="1691902" y="399144"/>
          <a:ext cx="793079" cy="793079"/>
        </a:xfrm>
        <a:prstGeom prst="ellipse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800" kern="1200" dirty="0"/>
            <a:t>Argumento1</a:t>
          </a:r>
        </a:p>
      </dsp:txBody>
      <dsp:txXfrm>
        <a:off x="1808046" y="515288"/>
        <a:ext cx="560791" cy="560791"/>
      </dsp:txXfrm>
    </dsp:sp>
    <dsp:sp modelId="{9EBB3E88-60D0-471F-8E58-1DCBCA65DA03}">
      <dsp:nvSpPr>
        <dsp:cNvPr id="0" name=""/>
        <dsp:cNvSpPr/>
      </dsp:nvSpPr>
      <dsp:spPr>
        <a:xfrm>
          <a:off x="528719" y="238413"/>
          <a:ext cx="2467357" cy="1973885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3B264-95C8-4153-8828-8C36D1236E7F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FF732-773A-4839-B774-230B46601DA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600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CODIGO FUENTE</a:t>
            </a:r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 &lt;</a:t>
            </a:r>
            <a:r>
              <a:rPr lang="es-CO" dirty="0" err="1"/>
              <a:t>iostream</a:t>
            </a:r>
            <a:r>
              <a:rPr lang="es-CO" dirty="0"/>
              <a:t>&gt;</a:t>
            </a:r>
          </a:p>
          <a:p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namespace</a:t>
            </a:r>
            <a:r>
              <a:rPr lang="es-CO" dirty="0"/>
              <a:t> </a:t>
            </a:r>
            <a:r>
              <a:rPr lang="es-CO" dirty="0" err="1"/>
              <a:t>std</a:t>
            </a:r>
            <a:r>
              <a:rPr lang="es-CO" dirty="0"/>
              <a:t>;</a:t>
            </a:r>
          </a:p>
          <a:p>
            <a:endParaRPr lang="es-CO" dirty="0"/>
          </a:p>
          <a:p>
            <a:r>
              <a:rPr lang="es-CO" dirty="0" err="1"/>
              <a:t>int</a:t>
            </a:r>
            <a:r>
              <a:rPr lang="es-CO" dirty="0"/>
              <a:t> </a:t>
            </a:r>
            <a:r>
              <a:rPr lang="es-CO" dirty="0" err="1"/>
              <a:t>sumaNumeros</a:t>
            </a:r>
            <a:r>
              <a:rPr lang="es-CO" dirty="0"/>
              <a:t>(</a:t>
            </a:r>
            <a:r>
              <a:rPr lang="es-CO" dirty="0" err="1"/>
              <a:t>int</a:t>
            </a:r>
            <a:r>
              <a:rPr lang="es-CO" dirty="0"/>
              <a:t> n1, </a:t>
            </a:r>
            <a:r>
              <a:rPr lang="es-CO" dirty="0" err="1"/>
              <a:t>int</a:t>
            </a:r>
            <a:r>
              <a:rPr lang="es-CO" dirty="0"/>
              <a:t> n2) {</a:t>
            </a:r>
          </a:p>
          <a:p>
            <a:r>
              <a:rPr lang="es-CO" dirty="0"/>
              <a:t>	</a:t>
            </a:r>
            <a:r>
              <a:rPr lang="es-CO" dirty="0" err="1"/>
              <a:t>return</a:t>
            </a:r>
            <a:r>
              <a:rPr lang="es-CO" dirty="0"/>
              <a:t> n1+n2;</a:t>
            </a:r>
          </a:p>
          <a:p>
            <a:r>
              <a:rPr lang="es-CO" dirty="0"/>
              <a:t>}</a:t>
            </a:r>
          </a:p>
          <a:p>
            <a:endParaRPr lang="es-CO" dirty="0"/>
          </a:p>
          <a:p>
            <a:r>
              <a:rPr lang="es-CO" dirty="0" err="1"/>
              <a:t>int</a:t>
            </a:r>
            <a:r>
              <a:rPr lang="es-CO" dirty="0"/>
              <a:t> </a:t>
            </a:r>
            <a:r>
              <a:rPr lang="es-CO" dirty="0" err="1"/>
              <a:t>main</a:t>
            </a:r>
            <a:r>
              <a:rPr lang="es-CO" dirty="0"/>
              <a:t>()</a:t>
            </a:r>
          </a:p>
          <a:p>
            <a:r>
              <a:rPr lang="es-CO" dirty="0"/>
              <a:t>{</a:t>
            </a:r>
          </a:p>
          <a:p>
            <a:r>
              <a:rPr lang="es-CO" dirty="0"/>
              <a:t>	</a:t>
            </a:r>
            <a:r>
              <a:rPr lang="es-CO" dirty="0" err="1"/>
              <a:t>int</a:t>
            </a:r>
            <a:r>
              <a:rPr lang="es-CO" dirty="0"/>
              <a:t> num1, num2;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"Ingrese número 1: ";</a:t>
            </a:r>
          </a:p>
          <a:p>
            <a:r>
              <a:rPr lang="es-CO" dirty="0"/>
              <a:t>	</a:t>
            </a:r>
            <a:r>
              <a:rPr lang="es-CO" dirty="0" err="1"/>
              <a:t>cin</a:t>
            </a:r>
            <a:r>
              <a:rPr lang="es-CO" dirty="0"/>
              <a:t> &gt;&gt; num1;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"Ingrese número 2: ";</a:t>
            </a:r>
          </a:p>
          <a:p>
            <a:r>
              <a:rPr lang="es-CO" dirty="0"/>
              <a:t>	</a:t>
            </a:r>
            <a:r>
              <a:rPr lang="es-CO" dirty="0" err="1"/>
              <a:t>cin</a:t>
            </a:r>
            <a:r>
              <a:rPr lang="es-CO" dirty="0"/>
              <a:t> &gt;&gt; num2;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"La suma es: " &lt;&lt; </a:t>
            </a:r>
            <a:r>
              <a:rPr lang="es-CO" dirty="0" err="1"/>
              <a:t>sumaNumeros</a:t>
            </a:r>
            <a:r>
              <a:rPr lang="es-CO" dirty="0"/>
              <a:t>(num1, num2);	</a:t>
            </a:r>
          </a:p>
          <a:p>
            <a:r>
              <a:rPr lang="es-CO" dirty="0"/>
              <a:t>	</a:t>
            </a:r>
            <a:r>
              <a:rPr lang="es-CO" dirty="0" err="1"/>
              <a:t>return</a:t>
            </a:r>
            <a:r>
              <a:rPr lang="es-CO" dirty="0"/>
              <a:t> 0;</a:t>
            </a:r>
          </a:p>
          <a:p>
            <a:r>
              <a:rPr lang="es-CO" dirty="0"/>
              <a:t>}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5887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CODIGO FUENTE</a:t>
            </a:r>
          </a:p>
          <a:p>
            <a:r>
              <a:rPr lang="es-CO" dirty="0"/>
              <a:t>#</a:t>
            </a:r>
            <a:r>
              <a:rPr lang="es-CO" dirty="0" err="1"/>
              <a:t>include</a:t>
            </a:r>
            <a:r>
              <a:rPr lang="es-CO" dirty="0"/>
              <a:t> &lt;</a:t>
            </a:r>
            <a:r>
              <a:rPr lang="es-CO" dirty="0" err="1"/>
              <a:t>iostream</a:t>
            </a:r>
            <a:r>
              <a:rPr lang="es-CO" dirty="0"/>
              <a:t>&gt;</a:t>
            </a:r>
          </a:p>
          <a:p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namespace</a:t>
            </a:r>
            <a:r>
              <a:rPr lang="es-CO" dirty="0"/>
              <a:t> </a:t>
            </a:r>
            <a:r>
              <a:rPr lang="es-CO" dirty="0" err="1"/>
              <a:t>std</a:t>
            </a:r>
            <a:r>
              <a:rPr lang="es-CO" dirty="0"/>
              <a:t>;</a:t>
            </a:r>
          </a:p>
          <a:p>
            <a:endParaRPr lang="es-CO" dirty="0"/>
          </a:p>
          <a:p>
            <a:r>
              <a:rPr lang="es-CO" dirty="0" err="1"/>
              <a:t>double</a:t>
            </a:r>
            <a:r>
              <a:rPr lang="es-CO" dirty="0"/>
              <a:t> </a:t>
            </a:r>
            <a:r>
              <a:rPr lang="es-CO" dirty="0" err="1"/>
              <a:t>dividirNumeros</a:t>
            </a:r>
            <a:r>
              <a:rPr lang="es-CO" dirty="0"/>
              <a:t>(</a:t>
            </a:r>
            <a:r>
              <a:rPr lang="es-CO" dirty="0" err="1"/>
              <a:t>int</a:t>
            </a:r>
            <a:r>
              <a:rPr lang="es-CO" dirty="0"/>
              <a:t> n1, </a:t>
            </a:r>
            <a:r>
              <a:rPr lang="es-CO" dirty="0" err="1"/>
              <a:t>int</a:t>
            </a:r>
            <a:r>
              <a:rPr lang="es-CO" dirty="0"/>
              <a:t> n2) {</a:t>
            </a:r>
          </a:p>
          <a:p>
            <a:r>
              <a:rPr lang="es-CO" dirty="0"/>
              <a:t>	if (n2 !=0)</a:t>
            </a:r>
          </a:p>
          <a:p>
            <a:r>
              <a:rPr lang="es-CO" dirty="0"/>
              <a:t>		</a:t>
            </a:r>
            <a:r>
              <a:rPr lang="es-CO" dirty="0" err="1"/>
              <a:t>return</a:t>
            </a:r>
            <a:r>
              <a:rPr lang="es-CO" dirty="0"/>
              <a:t> (</a:t>
            </a:r>
            <a:r>
              <a:rPr lang="es-CO" dirty="0" err="1"/>
              <a:t>double</a:t>
            </a:r>
            <a:r>
              <a:rPr lang="es-CO" dirty="0"/>
              <a:t>)n1/n2;</a:t>
            </a:r>
          </a:p>
          <a:p>
            <a:r>
              <a:rPr lang="es-CO" dirty="0"/>
              <a:t>	</a:t>
            </a:r>
            <a:r>
              <a:rPr lang="es-CO" dirty="0" err="1"/>
              <a:t>return</a:t>
            </a:r>
            <a:r>
              <a:rPr lang="es-CO" dirty="0"/>
              <a:t> 0;</a:t>
            </a:r>
          </a:p>
          <a:p>
            <a:r>
              <a:rPr lang="es-CO" dirty="0"/>
              <a:t>}</a:t>
            </a:r>
          </a:p>
          <a:p>
            <a:endParaRPr lang="es-CO" dirty="0"/>
          </a:p>
          <a:p>
            <a:r>
              <a:rPr lang="es-CO" dirty="0" err="1"/>
              <a:t>int</a:t>
            </a:r>
            <a:r>
              <a:rPr lang="es-CO" dirty="0"/>
              <a:t> </a:t>
            </a:r>
            <a:r>
              <a:rPr lang="es-CO" dirty="0" err="1"/>
              <a:t>main</a:t>
            </a:r>
            <a:r>
              <a:rPr lang="es-CO" dirty="0"/>
              <a:t>()</a:t>
            </a:r>
          </a:p>
          <a:p>
            <a:r>
              <a:rPr lang="es-CO" dirty="0"/>
              <a:t>{</a:t>
            </a:r>
          </a:p>
          <a:p>
            <a:r>
              <a:rPr lang="es-CO" dirty="0"/>
              <a:t>	</a:t>
            </a:r>
            <a:r>
              <a:rPr lang="es-CO" dirty="0" err="1"/>
              <a:t>int</a:t>
            </a:r>
            <a:r>
              <a:rPr lang="es-CO" dirty="0"/>
              <a:t> num1, num2;</a:t>
            </a:r>
          </a:p>
          <a:p>
            <a:r>
              <a:rPr lang="es-CO" dirty="0"/>
              <a:t>	</a:t>
            </a:r>
            <a:r>
              <a:rPr lang="es-CO" dirty="0" err="1"/>
              <a:t>double</a:t>
            </a:r>
            <a:r>
              <a:rPr lang="es-CO" dirty="0"/>
              <a:t> resultado;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"Ingrese dos números: ";</a:t>
            </a:r>
          </a:p>
          <a:p>
            <a:r>
              <a:rPr lang="es-CO" dirty="0"/>
              <a:t>	</a:t>
            </a:r>
            <a:r>
              <a:rPr lang="es-CO" dirty="0" err="1"/>
              <a:t>cin</a:t>
            </a:r>
            <a:r>
              <a:rPr lang="es-CO" dirty="0"/>
              <a:t> &gt;&gt; num1 &gt;&gt; num2;</a:t>
            </a:r>
          </a:p>
          <a:p>
            <a:r>
              <a:rPr lang="es-CO" dirty="0"/>
              <a:t>	resultado = </a:t>
            </a:r>
            <a:r>
              <a:rPr lang="es-CO" dirty="0" err="1"/>
              <a:t>dividirNumeros</a:t>
            </a:r>
            <a:r>
              <a:rPr lang="es-CO" dirty="0"/>
              <a:t>(num1, num2);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"La división es: " &lt;&lt; resultado &lt;&lt; </a:t>
            </a:r>
            <a:r>
              <a:rPr lang="es-CO" dirty="0" err="1"/>
              <a:t>endl</a:t>
            </a:r>
            <a:r>
              <a:rPr lang="es-CO" dirty="0"/>
              <a:t>;	</a:t>
            </a:r>
          </a:p>
          <a:p>
            <a:r>
              <a:rPr lang="es-CO" dirty="0"/>
              <a:t>	</a:t>
            </a:r>
            <a:r>
              <a:rPr lang="es-CO" dirty="0" err="1"/>
              <a:t>return</a:t>
            </a:r>
            <a:r>
              <a:rPr lang="es-CO" dirty="0"/>
              <a:t> 0;</a:t>
            </a:r>
          </a:p>
          <a:p>
            <a:r>
              <a:rPr lang="es-CO" dirty="0"/>
              <a:t>}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7320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CODIGO FUENTE</a:t>
            </a:r>
          </a:p>
          <a:p>
            <a:endParaRPr lang="es-MX" b="1" dirty="0"/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&lt;iostream&gt;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n1, n2, n3;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numero 1: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n1;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numero 2: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n2;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numero 3: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n3;</a:t>
            </a:r>
          </a:p>
          <a:p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(n1 &gt; n2 &amp;&amp; n1 &gt; n3)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número: " &lt;&lt; n1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(n2 &gt; n1 &amp;&amp; n2 &gt; n3)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número: " &lt;&lt; n2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número: " &lt;&lt; n3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e1, e2, e3;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edad 1: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e1;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edad 2: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e2;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edad 3: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e3;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(e1 &gt; e2 &amp;&amp; e1 &gt; e3)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edad: " &lt;&lt; e1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(e2 &gt; e1 &amp;&amp; e2 &gt; e3)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edad: " &lt;&lt; e2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edad: " &lt;&lt; e3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s1, s2, s3;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Salario 1: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s1;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Salario 2: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s2;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Salario 3: ";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s3;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(s1 &gt; s2 &amp;&amp; s1 &gt; s3)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salario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 &lt;&lt; s1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   if (s2 &gt; s1 &amp;&amp; s2 &gt; s3)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salario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 &lt;&lt; s2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</a:t>
            </a:r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"Mayor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salario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 &lt;&lt; s3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0;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es-CO" b="1" dirty="0"/>
          </a:p>
          <a:p>
            <a:r>
              <a:rPr lang="es-CO" dirty="0"/>
              <a:t>#include&lt;iostream&gt;</a:t>
            </a:r>
          </a:p>
          <a:p>
            <a:r>
              <a:rPr lang="es-CO" dirty="0" err="1"/>
              <a:t>using</a:t>
            </a:r>
            <a:r>
              <a:rPr lang="es-CO" dirty="0"/>
              <a:t> </a:t>
            </a:r>
            <a:r>
              <a:rPr lang="es-CO" dirty="0" err="1"/>
              <a:t>namespace</a:t>
            </a:r>
            <a:r>
              <a:rPr lang="es-CO" dirty="0"/>
              <a:t> </a:t>
            </a:r>
            <a:r>
              <a:rPr lang="es-CO" dirty="0" err="1"/>
              <a:t>std</a:t>
            </a:r>
            <a:r>
              <a:rPr lang="es-CO" dirty="0"/>
              <a:t>;</a:t>
            </a:r>
          </a:p>
          <a:p>
            <a:endParaRPr lang="es-CO" dirty="0"/>
          </a:p>
          <a:p>
            <a:r>
              <a:rPr lang="es-CO" dirty="0"/>
              <a:t>int </a:t>
            </a:r>
            <a:r>
              <a:rPr lang="es-CO" dirty="0" err="1"/>
              <a:t>mayorValor</a:t>
            </a:r>
            <a:r>
              <a:rPr lang="es-CO" dirty="0"/>
              <a:t>(string mensaje) {</a:t>
            </a:r>
          </a:p>
          <a:p>
            <a:r>
              <a:rPr lang="es-CO" dirty="0"/>
              <a:t>	int v1, v2, v3;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"Ingrese " &lt;&lt; mensaje &lt;&lt; " #1: ";</a:t>
            </a:r>
          </a:p>
          <a:p>
            <a:r>
              <a:rPr lang="es-CO" dirty="0"/>
              <a:t>	</a:t>
            </a:r>
            <a:r>
              <a:rPr lang="es-CO" dirty="0" err="1"/>
              <a:t>cin</a:t>
            </a:r>
            <a:r>
              <a:rPr lang="es-CO" dirty="0"/>
              <a:t> &gt;&gt; v1;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"Ingrese " &lt;&lt; mensaje &lt;&lt; " #2: ";</a:t>
            </a:r>
          </a:p>
          <a:p>
            <a:r>
              <a:rPr lang="es-CO" dirty="0"/>
              <a:t>	</a:t>
            </a:r>
            <a:r>
              <a:rPr lang="es-CO" dirty="0" err="1"/>
              <a:t>cin</a:t>
            </a:r>
            <a:r>
              <a:rPr lang="es-CO" dirty="0"/>
              <a:t> &gt;&gt; v2;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"Ingrese " &lt;&lt; mensaje &lt;&lt; " #3: ";</a:t>
            </a:r>
          </a:p>
          <a:p>
            <a:r>
              <a:rPr lang="es-CO" dirty="0"/>
              <a:t>	</a:t>
            </a:r>
            <a:r>
              <a:rPr lang="es-CO" dirty="0" err="1"/>
              <a:t>cin</a:t>
            </a:r>
            <a:r>
              <a:rPr lang="es-CO" dirty="0"/>
              <a:t> &gt;&gt; v3;</a:t>
            </a:r>
          </a:p>
          <a:p>
            <a:r>
              <a:rPr lang="es-CO" dirty="0"/>
              <a:t>	if (v1 &gt; v2 &amp;&amp; v1 &gt; v3)</a:t>
            </a:r>
          </a:p>
          <a:p>
            <a:r>
              <a:rPr lang="es-CO" dirty="0"/>
              <a:t>		return v1;</a:t>
            </a:r>
          </a:p>
          <a:p>
            <a:r>
              <a:rPr lang="es-CO" dirty="0"/>
              <a:t>	else if (v2 &gt; v1 &amp;&amp; v2 &gt; v3)</a:t>
            </a:r>
          </a:p>
          <a:p>
            <a:r>
              <a:rPr lang="es-CO" dirty="0"/>
              <a:t>		return v2;</a:t>
            </a:r>
          </a:p>
          <a:p>
            <a:r>
              <a:rPr lang="es-CO" dirty="0"/>
              <a:t>	return v3;</a:t>
            </a:r>
          </a:p>
          <a:p>
            <a:r>
              <a:rPr lang="es-CO" dirty="0"/>
              <a:t>}</a:t>
            </a:r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int </a:t>
            </a:r>
            <a:r>
              <a:rPr lang="es-CO" dirty="0" err="1"/>
              <a:t>main</a:t>
            </a:r>
            <a:r>
              <a:rPr lang="es-CO" dirty="0"/>
              <a:t>() {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"Numero mayor " &lt;&lt; </a:t>
            </a:r>
            <a:r>
              <a:rPr lang="es-CO" dirty="0" err="1"/>
              <a:t>mayorValor</a:t>
            </a:r>
            <a:r>
              <a:rPr lang="es-CO" dirty="0"/>
              <a:t>("Numero ") &lt;&lt; 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"Edad mayor " &lt;&lt; </a:t>
            </a:r>
            <a:r>
              <a:rPr lang="es-CO" dirty="0" err="1"/>
              <a:t>mayorValor</a:t>
            </a:r>
            <a:r>
              <a:rPr lang="es-CO" dirty="0"/>
              <a:t>("Edad") &lt;&lt; 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	</a:t>
            </a:r>
            <a:r>
              <a:rPr lang="es-CO" dirty="0" err="1"/>
              <a:t>cout</a:t>
            </a:r>
            <a:r>
              <a:rPr lang="es-CO" dirty="0"/>
              <a:t> &lt;&lt; "Salario mayor " &lt;&lt; </a:t>
            </a:r>
            <a:r>
              <a:rPr lang="es-CO" dirty="0" err="1"/>
              <a:t>mayorValor</a:t>
            </a:r>
            <a:r>
              <a:rPr lang="es-CO" dirty="0"/>
              <a:t>("Salario") &lt;&lt; </a:t>
            </a:r>
            <a:r>
              <a:rPr lang="es-CO" dirty="0" err="1"/>
              <a:t>endl</a:t>
            </a:r>
            <a:r>
              <a:rPr lang="es-CO" dirty="0"/>
              <a:t>;</a:t>
            </a:r>
          </a:p>
          <a:p>
            <a:r>
              <a:rPr lang="es-CO" dirty="0"/>
              <a:t>	return 0;</a:t>
            </a:r>
          </a:p>
          <a:p>
            <a:r>
              <a:rPr lang="es-CO" dirty="0"/>
              <a:t>}</a:t>
            </a:r>
          </a:p>
          <a:p>
            <a:endParaRPr lang="es-CO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6477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8545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CODIGO FUENTE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operaciones(int n1, int n2) {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"Suma = " &lt;&lt; n1 + n2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"Resta = " &lt;&lt; n1 - n2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"Producto = " &lt;&lt; n1 * n2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if (n2 != 0)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"División = " &lt;&lt; (double)n1 / n2 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else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"División = 0"&lt;&lt;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int num1, num2;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número 1: ";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num1;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"Ingrese número 2: ";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es-CO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&gt;&gt; num2;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operaciones(num1, num2);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return 0;</a:t>
            </a:r>
          </a:p>
          <a:p>
            <a:r>
              <a:rPr lang="es-C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s-CO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8678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CÓDIGO FUENTE</a:t>
            </a:r>
          </a:p>
          <a:p>
            <a:r>
              <a:rPr lang="es-CO" b="0" dirty="0"/>
              <a:t>#include &lt;iostream&gt;</a:t>
            </a:r>
          </a:p>
          <a:p>
            <a:r>
              <a:rPr lang="es-CO" b="0" dirty="0" err="1"/>
              <a:t>using</a:t>
            </a:r>
            <a:r>
              <a:rPr lang="es-CO" b="0" dirty="0"/>
              <a:t> </a:t>
            </a:r>
            <a:r>
              <a:rPr lang="es-CO" b="0" dirty="0" err="1"/>
              <a:t>namespace</a:t>
            </a:r>
            <a:r>
              <a:rPr lang="es-CO" b="0" dirty="0"/>
              <a:t> </a:t>
            </a:r>
            <a:r>
              <a:rPr lang="es-CO" b="0" dirty="0" err="1"/>
              <a:t>std</a:t>
            </a:r>
            <a:r>
              <a:rPr lang="es-CO" b="0" dirty="0"/>
              <a:t>;</a:t>
            </a:r>
          </a:p>
          <a:p>
            <a:endParaRPr lang="es-CO" b="0" dirty="0"/>
          </a:p>
          <a:p>
            <a:r>
              <a:rPr lang="es-CO" b="0" dirty="0" err="1"/>
              <a:t>void</a:t>
            </a:r>
            <a:r>
              <a:rPr lang="es-CO" b="0" dirty="0"/>
              <a:t> potencias(int n1, int n2) {</a:t>
            </a:r>
          </a:p>
          <a:p>
            <a:r>
              <a:rPr lang="es-CO" b="0" dirty="0"/>
              <a:t>	</a:t>
            </a:r>
            <a:r>
              <a:rPr lang="es-CO" b="0" dirty="0" err="1"/>
              <a:t>cout</a:t>
            </a:r>
            <a:r>
              <a:rPr lang="es-CO" b="0" dirty="0"/>
              <a:t> &lt;&lt; "El cuadrado de " &lt;&lt; n1 &lt;&lt; " es " &lt;&lt; pow(n1,2) &lt;&lt; </a:t>
            </a:r>
            <a:r>
              <a:rPr lang="es-CO" b="0" dirty="0" err="1"/>
              <a:t>endl</a:t>
            </a:r>
            <a:r>
              <a:rPr lang="es-CO" b="0" dirty="0"/>
              <a:t>;</a:t>
            </a:r>
          </a:p>
          <a:p>
            <a:r>
              <a:rPr lang="es-CO" b="0" dirty="0"/>
              <a:t>	</a:t>
            </a:r>
            <a:r>
              <a:rPr lang="es-CO" b="0" dirty="0" err="1"/>
              <a:t>cout</a:t>
            </a:r>
            <a:r>
              <a:rPr lang="es-CO" b="0" dirty="0"/>
              <a:t> &lt;&lt; "El cubo de " &lt;&lt; n2 &lt;&lt; " es " &lt;&lt; pow(n2, 3) &lt;&lt; </a:t>
            </a:r>
            <a:r>
              <a:rPr lang="es-CO" b="0" dirty="0" err="1"/>
              <a:t>endl</a:t>
            </a:r>
            <a:r>
              <a:rPr lang="es-CO" b="0" dirty="0"/>
              <a:t>;</a:t>
            </a:r>
          </a:p>
          <a:p>
            <a:r>
              <a:rPr lang="es-CO" b="0" dirty="0"/>
              <a:t>}</a:t>
            </a:r>
          </a:p>
          <a:p>
            <a:endParaRPr lang="es-CO" b="0" dirty="0"/>
          </a:p>
          <a:p>
            <a:r>
              <a:rPr lang="es-CO" b="0" dirty="0"/>
              <a:t>int </a:t>
            </a:r>
            <a:r>
              <a:rPr lang="es-CO" b="0" dirty="0" err="1"/>
              <a:t>main</a:t>
            </a:r>
            <a:r>
              <a:rPr lang="es-CO" b="0" dirty="0"/>
              <a:t>()</a:t>
            </a:r>
          </a:p>
          <a:p>
            <a:r>
              <a:rPr lang="es-CO" b="0" dirty="0"/>
              <a:t>{</a:t>
            </a:r>
          </a:p>
          <a:p>
            <a:r>
              <a:rPr lang="es-CO" b="0" dirty="0"/>
              <a:t>	int num1, num2;</a:t>
            </a:r>
          </a:p>
          <a:p>
            <a:r>
              <a:rPr lang="es-CO" b="0" dirty="0"/>
              <a:t>	</a:t>
            </a:r>
            <a:r>
              <a:rPr lang="es-CO" b="0" dirty="0" err="1"/>
              <a:t>cout</a:t>
            </a:r>
            <a:r>
              <a:rPr lang="es-CO" b="0" dirty="0"/>
              <a:t> &lt;&lt; "Ingrese número 1: ";</a:t>
            </a:r>
          </a:p>
          <a:p>
            <a:r>
              <a:rPr lang="es-CO" b="0" dirty="0"/>
              <a:t>	</a:t>
            </a:r>
            <a:r>
              <a:rPr lang="es-CO" b="0" dirty="0" err="1"/>
              <a:t>cin</a:t>
            </a:r>
            <a:r>
              <a:rPr lang="es-CO" b="0" dirty="0"/>
              <a:t> &gt;&gt; num1;</a:t>
            </a:r>
          </a:p>
          <a:p>
            <a:r>
              <a:rPr lang="es-CO" b="0" dirty="0"/>
              <a:t>	</a:t>
            </a:r>
            <a:r>
              <a:rPr lang="es-CO" b="0" dirty="0" err="1"/>
              <a:t>cout</a:t>
            </a:r>
            <a:r>
              <a:rPr lang="es-CO" b="0" dirty="0"/>
              <a:t> &lt;&lt; "Ingrese número 2: ";</a:t>
            </a:r>
          </a:p>
          <a:p>
            <a:r>
              <a:rPr lang="es-CO" b="0" dirty="0"/>
              <a:t>	</a:t>
            </a:r>
            <a:r>
              <a:rPr lang="es-CO" b="0" dirty="0" err="1"/>
              <a:t>cin</a:t>
            </a:r>
            <a:r>
              <a:rPr lang="es-CO" b="0" dirty="0"/>
              <a:t> &gt;&gt; num2;</a:t>
            </a:r>
          </a:p>
          <a:p>
            <a:r>
              <a:rPr lang="es-CO" b="0" dirty="0"/>
              <a:t>	potencias(num1, num2);</a:t>
            </a:r>
          </a:p>
          <a:p>
            <a:r>
              <a:rPr lang="es-CO" b="0" dirty="0"/>
              <a:t>	return 0;</a:t>
            </a:r>
          </a:p>
          <a:p>
            <a:r>
              <a:rPr lang="es-CO" b="0" dirty="0"/>
              <a:t>}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3740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="1" dirty="0"/>
              <a:t>CÓDIGO FUENTE</a:t>
            </a:r>
          </a:p>
          <a:p>
            <a:r>
              <a:rPr lang="es-CO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&lt;iostream&gt;</a:t>
            </a:r>
            <a:endParaRPr lang="es-CO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s-CO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es-CO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clocale</a:t>
            </a:r>
            <a:r>
              <a:rPr lang="es-CO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es-CO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s-CO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s-CO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s-CO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VerificarNumero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n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s-CO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n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0)</a:t>
            </a:r>
          </a:p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"El número es par."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s-CO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"El número no es par."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s-CO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n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0)</a:t>
            </a:r>
          </a:p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"El número es positivo."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s-CO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"El número no es positivo."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E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s-E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s-CO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main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setlocale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s-CO" sz="1800" dirty="0">
                <a:solidFill>
                  <a:srgbClr val="6F008A"/>
                </a:solidFill>
                <a:latin typeface="Cascadia Mono" panose="020B0609020000020004" pitchFamily="49" charset="0"/>
              </a:rPr>
              <a:t>LC_CTYPE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s-CO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s-CO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spanish</a:t>
            </a:r>
            <a:r>
              <a:rPr lang="es-CO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"Ingrese número: "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cin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VerificarNumero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s-CO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s-C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r>
              <a:rPr lang="es-C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FF732-773A-4839-B774-230B46601DA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7234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66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765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728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26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42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248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3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153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172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738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534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CEF71-AC54-4907-87CE-021372FB99F1}" type="datetimeFigureOut">
              <a:rPr lang="es-CO" smtClean="0"/>
              <a:t>27/10/2022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D3DBD-534B-4F0D-A315-13E9D6466E1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491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9B393-37E8-4E11-8EB2-C863ACB85223}"/>
              </a:ext>
            </a:extLst>
          </p:cNvPr>
          <p:cNvSpPr txBox="1">
            <a:spLocks/>
          </p:cNvSpPr>
          <p:nvPr/>
        </p:nvSpPr>
        <p:spPr>
          <a:xfrm>
            <a:off x="884689" y="1308683"/>
            <a:ext cx="10943788" cy="1197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latin typeface="Bahnschrift Light SemiCondensed" panose="020B0502040204020203" pitchFamily="34" charset="0"/>
              </a:rPr>
              <a:t>“SUBPROGRAMAS O MÉTODOS EN C++”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1F265C-6D74-4338-8944-0FD73F7598E6}"/>
              </a:ext>
            </a:extLst>
          </p:cNvPr>
          <p:cNvSpPr/>
          <p:nvPr/>
        </p:nvSpPr>
        <p:spPr>
          <a:xfrm>
            <a:off x="1798040" y="5362689"/>
            <a:ext cx="8595920" cy="68477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isometricTopUp">
              <a:rot lat="21594000" lon="2159400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defRPr/>
            </a:pPr>
            <a:r>
              <a:rPr lang="es-CO" sz="2000" b="1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CURSO: </a:t>
            </a:r>
            <a:r>
              <a:rPr lang="es-CO" sz="2000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“ALGORITMOS Y </a:t>
            </a:r>
            <a:r>
              <a:rPr lang="es-CO" sz="2000" b="1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PROGRAMACIÓN </a:t>
            </a:r>
            <a:r>
              <a:rPr lang="es-CO" sz="2000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"</a:t>
            </a:r>
          </a:p>
          <a:p>
            <a:pPr lvl="0" algn="ctr">
              <a:defRPr/>
            </a:pPr>
            <a:r>
              <a:rPr lang="es-CO" sz="2000" b="1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DOCENTE: </a:t>
            </a:r>
            <a:r>
              <a:rPr lang="es-CO" sz="2000" b="1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JAIRO HERNANDO RAMÍREZ MARÍN</a:t>
            </a:r>
          </a:p>
        </p:txBody>
      </p:sp>
    </p:spTree>
    <p:extLst>
      <p:ext uri="{BB962C8B-B14F-4D97-AF65-F5344CB8AC3E}">
        <p14:creationId xmlns:p14="http://schemas.microsoft.com/office/powerpoint/2010/main" val="401484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994474"/>
            <a:ext cx="10983834" cy="46555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Los </a:t>
            </a: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subprogramas</a:t>
            </a:r>
            <a:r>
              <a:rPr lang="es-ES" sz="3200" dirty="0">
                <a:solidFill>
                  <a:schemeClr val="tx1"/>
                </a:solidFill>
              </a:rPr>
              <a:t> o </a:t>
            </a: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métodos</a:t>
            </a:r>
            <a:r>
              <a:rPr lang="es-ES" sz="3200" dirty="0">
                <a:solidFill>
                  <a:schemeClr val="tx1"/>
                </a:solidFill>
              </a:rPr>
              <a:t> son fragmentos de un programa que se desarrollan por separado y se utilizan invocándolos mediante unos nombres simbólicos. También son conocidos como funciones o procedimientos.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Se emplea en programas muy complejos (programas que por su extensión resulta muy difícil su entendimiento o seguimiento, porque se pierde la visión de su estructura global entre la cantidad de operaciones que la conforman); por ejemplo, identificar el cierre de una condición o ciclo.</a:t>
            </a:r>
            <a:endParaRPr lang="es-MX" sz="32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</a:t>
            </a:r>
            <a:r>
              <a:rPr lang="pt-BR" sz="3800" b="1" dirty="0">
                <a:latin typeface="Bahnschrift Light SemiCondensed" panose="020B0502040204020203" pitchFamily="34" charset="0"/>
              </a:rPr>
              <a:t>SUBPROGRAMAS O MÉTODOS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167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994474"/>
            <a:ext cx="10983834" cy="46555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También se usan en programas donde se repiten varias veces las mismas instrucciones o muy similares (definiendo esa operación como un método independiente donde su código se escribirá solo una vez y se podrá invocar las veces que sea necesario sólo con una instrucción). 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La técnica de refinamientos sucesivos sugiere descomponer las operaciones complejas de un programa en otras más simples. Esto ayuda a dar mayor orden y aumentando el rendimiento.</a:t>
            </a:r>
            <a:endParaRPr lang="es-MX" sz="3200" b="1" dirty="0">
              <a:solidFill>
                <a:prstClr val="black"/>
              </a:solidFill>
              <a:latin typeface="Arial Narrow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</a:t>
            </a:r>
            <a:r>
              <a:rPr lang="pt-BR" sz="3800" b="1" dirty="0">
                <a:latin typeface="Bahnschrift Light SemiCondensed" panose="020B0502040204020203" pitchFamily="34" charset="0"/>
              </a:rPr>
              <a:t>SUBPROGRAMAS O MÉTODOS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006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994474"/>
            <a:ext cx="10983834" cy="46555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Valores Formales</a:t>
            </a:r>
            <a:r>
              <a:rPr lang="es-ES" sz="3200" dirty="0">
                <a:solidFill>
                  <a:schemeClr val="tx1"/>
                </a:solidFill>
              </a:rPr>
              <a:t>: variables propias del método que sólo son visibles dentro de éste y no puede ser accedido desde otro método o por el programa principal. Son una especie de copia que se requiere para poder entregar un resultado. 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Valores Reales</a:t>
            </a:r>
            <a:r>
              <a:rPr lang="es-ES" sz="3200" dirty="0">
                <a:solidFill>
                  <a:schemeClr val="tx1"/>
                </a:solidFill>
              </a:rPr>
              <a:t>: variables propias del programa principal. Son los valores ingresados por el usuario. Estos son las variables que son enviadas al método al momento de hacer su invocación.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“VALORES DENTRO DE </a:t>
            </a:r>
            <a:r>
              <a:rPr lang="pt-BR" sz="3800" b="1" dirty="0">
                <a:latin typeface="Bahnschrift Light SemiCondensed" panose="020B0502040204020203" pitchFamily="34" charset="0"/>
              </a:rPr>
              <a:t>MÉTODOS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58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71474"/>
            <a:ext cx="10983834" cy="43186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Globales</a:t>
            </a:r>
            <a:r>
              <a:rPr lang="es-ES" sz="3200" dirty="0">
                <a:solidFill>
                  <a:schemeClr val="tx1"/>
                </a:solidFill>
              </a:rPr>
              <a:t>: variables que se declaran antes de cualquier método y se pueden usar a lo largo del programa dentro del programa principal o desde cualquier método.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Locales</a:t>
            </a:r>
            <a:r>
              <a:rPr lang="es-ES" sz="3200" dirty="0">
                <a:solidFill>
                  <a:schemeClr val="tx1"/>
                </a:solidFill>
              </a:rPr>
              <a:t>: variables que se declaran dentro de cada subalgoritmo (no son accesibles desde el exterior), sólo pueden ser usadas dentro de la función o el procedimiento. Se pueden llevar valores de variables a otro bloques a través del envío de parámetros.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“VARIABLES EN </a:t>
            </a:r>
            <a:r>
              <a:rPr lang="pt-BR" sz="3800" b="1" dirty="0">
                <a:latin typeface="Bahnschrift Light SemiCondensed" panose="020B0502040204020203" pitchFamily="34" charset="0"/>
              </a:rPr>
              <a:t>MÉTODOS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275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04099"/>
            <a:ext cx="10983834" cy="4645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La manera fundamental para comunicarse los métodos y el programa principal es mediante el envío de parámetros o argumentos. Existen dos formas de hacer ese envío: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Paso de argumentos por valor</a:t>
            </a:r>
            <a:r>
              <a:rPr lang="es-ES" sz="3200" dirty="0">
                <a:solidFill>
                  <a:schemeClr val="tx1"/>
                </a:solidFill>
              </a:rPr>
              <a:t>: en este paso de argumentos las variables formales reciben una copia de las variables reales, se usan dentro del método y si este valor es modificado o actualizado a través de alguna instrucción, el argumento real no se altera. Algo contrario a lo que pasa con el paso de argumentos por referencia.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“PASO DE ARGUMENTOS EN </a:t>
            </a:r>
            <a:r>
              <a:rPr lang="pt-BR" sz="3800" b="1" dirty="0">
                <a:latin typeface="Bahnschrift Light SemiCondensed" panose="020B0502040204020203" pitchFamily="34" charset="0"/>
              </a:rPr>
              <a:t>MÉTODOS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727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71474"/>
            <a:ext cx="10983834" cy="31251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b="1" dirty="0">
                <a:solidFill>
                  <a:schemeClr val="tx1"/>
                </a:solidFill>
              </a:rPr>
              <a:t>Paso de argumentos por referencia</a:t>
            </a:r>
            <a:r>
              <a:rPr lang="es-ES" sz="3200" dirty="0">
                <a:solidFill>
                  <a:schemeClr val="tx1"/>
                </a:solidFill>
              </a:rPr>
              <a:t>: en este paso de argumentos las variables formales reciben una copia de las variables reales, se usan dentro del método y si este valor es modificado o actualizado a través de alguna instrucción, el argumento real también se altera y actualiza. El cambio en la variable formal se refleja en las variables reales. Ver siguiente ejemplo: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“PASO DE ARGUMENTOS EN </a:t>
            </a:r>
            <a:r>
              <a:rPr lang="pt-BR" sz="3800" b="1" dirty="0">
                <a:latin typeface="Bahnschrift Light SemiCondensed" panose="020B0502040204020203" pitchFamily="34" charset="0"/>
              </a:rPr>
              <a:t>MÉTODOS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49FC3111-3BBF-402C-9F90-D627538D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337" y="4453923"/>
            <a:ext cx="4052925" cy="218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916236" y="1247936"/>
            <a:ext cx="8001733" cy="45233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Dentro de la programación de usando dos tipos de métodos:</a:t>
            </a:r>
          </a:p>
          <a:p>
            <a:pPr marL="457200" lvl="0" indent="-457200" algn="just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s-ES" sz="3200" b="1" dirty="0">
                <a:solidFill>
                  <a:schemeClr val="tx1"/>
                </a:solidFill>
              </a:rPr>
              <a:t>Métodos que retornan un resultado</a:t>
            </a:r>
            <a:r>
              <a:rPr lang="es-ES" sz="3200" dirty="0">
                <a:solidFill>
                  <a:schemeClr val="tx1"/>
                </a:solidFill>
              </a:rPr>
              <a:t> (comúnmente llamados FUNCIONES).</a:t>
            </a:r>
          </a:p>
          <a:p>
            <a:pPr marL="457200" lvl="0" indent="-457200" algn="just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s-ES" sz="3200" b="1" dirty="0">
                <a:solidFill>
                  <a:schemeClr val="tx1"/>
                </a:solidFill>
              </a:rPr>
              <a:t>Métodos que no retornan ningún resultado </a:t>
            </a:r>
            <a:r>
              <a:rPr lang="es-ES" sz="3200" dirty="0">
                <a:solidFill>
                  <a:schemeClr val="tx1"/>
                </a:solidFill>
              </a:rPr>
              <a:t>(comúnmente llamados PROCEDIMIENTOS).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“TIPOS DE </a:t>
            </a:r>
            <a:r>
              <a:rPr lang="pt-BR" sz="3800" b="1" dirty="0">
                <a:latin typeface="Bahnschrift Light SemiCondensed" panose="020B0502040204020203" pitchFamily="34" charset="0"/>
              </a:rPr>
              <a:t>MÉTODOS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pic>
        <p:nvPicPr>
          <p:cNvPr id="1026" name="Picture 2" descr="Paradigmas de Programación III: Programación Modular - El Javatar">
            <a:extLst>
              <a:ext uri="{FF2B5EF4-FFF2-40B4-BE49-F238E27FC236}">
                <a16:creationId xmlns:a16="http://schemas.microsoft.com/office/drawing/2014/main" id="{0177DB1E-4EF4-4114-9FD2-1CBAFDD31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8683" y="1247936"/>
            <a:ext cx="2891124" cy="193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51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04099"/>
            <a:ext cx="11094254" cy="24249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Son métodos que reciben argumentos o parámetros (3), realizan instrucciones (4) y retornan (5) un </a:t>
            </a: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único resultado</a:t>
            </a:r>
            <a:r>
              <a:rPr lang="es-ES" sz="3200" dirty="0">
                <a:solidFill>
                  <a:schemeClr val="tx1"/>
                </a:solidFill>
              </a:rPr>
              <a:t>. Pueden invocarse desde cualquier parte del programa principal o desde otro método. Los métodos tienen un tipo de retorno (1) y un nombre de función (2). Se define de la siguiente manera: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“MÉTODOS QUE RETORNAN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60EA20-D5C4-4EF9-92C7-7AEDCA41EC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012" r="-1012"/>
          <a:stretch/>
        </p:blipFill>
        <p:spPr>
          <a:xfrm>
            <a:off x="864865" y="4019073"/>
            <a:ext cx="11059978" cy="15892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rot="5400000">
            <a:off x="1756881" y="3688301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1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9" name="Flecha derecha 17">
            <a:extLst>
              <a:ext uri="{FF2B5EF4-FFF2-40B4-BE49-F238E27FC236}">
                <a16:creationId xmlns:a16="http://schemas.microsoft.com/office/drawing/2014/main" id="{499DE330-2211-4F1A-B76D-835D05DCEE5B}"/>
              </a:ext>
            </a:extLst>
          </p:cNvPr>
          <p:cNvSpPr/>
          <p:nvPr/>
        </p:nvSpPr>
        <p:spPr>
          <a:xfrm rot="5400000">
            <a:off x="3657601" y="3688302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2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10" name="Flecha derecha 17">
            <a:extLst>
              <a:ext uri="{FF2B5EF4-FFF2-40B4-BE49-F238E27FC236}">
                <a16:creationId xmlns:a16="http://schemas.microsoft.com/office/drawing/2014/main" id="{55676810-0EF0-4219-A3DD-A12D7C00F184}"/>
              </a:ext>
            </a:extLst>
          </p:cNvPr>
          <p:cNvSpPr/>
          <p:nvPr/>
        </p:nvSpPr>
        <p:spPr>
          <a:xfrm rot="5400000">
            <a:off x="6738013" y="3658488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3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11" name="Flecha derecha 17">
            <a:extLst>
              <a:ext uri="{FF2B5EF4-FFF2-40B4-BE49-F238E27FC236}">
                <a16:creationId xmlns:a16="http://schemas.microsoft.com/office/drawing/2014/main" id="{474B4E41-0C80-4ABF-927F-189A64652566}"/>
              </a:ext>
            </a:extLst>
          </p:cNvPr>
          <p:cNvSpPr/>
          <p:nvPr/>
        </p:nvSpPr>
        <p:spPr>
          <a:xfrm rot="5400000">
            <a:off x="10145356" y="3658489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3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12" name="Flecha derecha 17">
            <a:extLst>
              <a:ext uri="{FF2B5EF4-FFF2-40B4-BE49-F238E27FC236}">
                <a16:creationId xmlns:a16="http://schemas.microsoft.com/office/drawing/2014/main" id="{E22FF58E-E427-4C1E-8B48-18AAC586783B}"/>
              </a:ext>
            </a:extLst>
          </p:cNvPr>
          <p:cNvSpPr/>
          <p:nvPr/>
        </p:nvSpPr>
        <p:spPr>
          <a:xfrm>
            <a:off x="1267578" y="4489689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4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13" name="Flecha derecha 17">
            <a:extLst>
              <a:ext uri="{FF2B5EF4-FFF2-40B4-BE49-F238E27FC236}">
                <a16:creationId xmlns:a16="http://schemas.microsoft.com/office/drawing/2014/main" id="{97CCABE6-ADEA-4AA2-B45C-387E0A08BAA7}"/>
              </a:ext>
            </a:extLst>
          </p:cNvPr>
          <p:cNvSpPr/>
          <p:nvPr/>
        </p:nvSpPr>
        <p:spPr>
          <a:xfrm rot="16200000">
            <a:off x="1847493" y="5350771"/>
            <a:ext cx="855062" cy="493595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5</a:t>
            </a:r>
            <a:endParaRPr lang="es-CO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68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753248" y="769652"/>
            <a:ext cx="7134329" cy="57878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“MÉTODOS QUE RETORNAN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7E14A5E7-3FEF-4797-9ED0-26D8504206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220959"/>
              </p:ext>
            </p:extLst>
          </p:nvPr>
        </p:nvGraphicFramePr>
        <p:xfrm>
          <a:off x="3513220" y="1632735"/>
          <a:ext cx="6096000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ectángulo 14">
            <a:extLst>
              <a:ext uri="{FF2B5EF4-FFF2-40B4-BE49-F238E27FC236}">
                <a16:creationId xmlns:a16="http://schemas.microsoft.com/office/drawing/2014/main" id="{C5F8CC1F-5496-429B-8F08-26AF5B6E8DFE}"/>
              </a:ext>
            </a:extLst>
          </p:cNvPr>
          <p:cNvSpPr/>
          <p:nvPr/>
        </p:nvSpPr>
        <p:spPr>
          <a:xfrm>
            <a:off x="2840352" y="3663578"/>
            <a:ext cx="2258894" cy="58740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CO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CUERPO DE LA FUNCIÓN</a:t>
            </a:r>
          </a:p>
        </p:txBody>
      </p:sp>
      <p:sp>
        <p:nvSpPr>
          <p:cNvPr id="16" name="Flecha abajo 8">
            <a:extLst>
              <a:ext uri="{FF2B5EF4-FFF2-40B4-BE49-F238E27FC236}">
                <a16:creationId xmlns:a16="http://schemas.microsoft.com/office/drawing/2014/main" id="{AC8D47DA-D6F2-44A0-86D3-F107668DAC67}"/>
              </a:ext>
            </a:extLst>
          </p:cNvPr>
          <p:cNvSpPr/>
          <p:nvPr/>
        </p:nvSpPr>
        <p:spPr>
          <a:xfrm>
            <a:off x="6180220" y="1272695"/>
            <a:ext cx="762000" cy="487680"/>
          </a:xfrm>
          <a:prstGeom prst="downArrow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5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B195E6-E677-480D-9B6E-94B12CEE5E46}"/>
              </a:ext>
            </a:extLst>
          </p:cNvPr>
          <p:cNvSpPr/>
          <p:nvPr/>
        </p:nvSpPr>
        <p:spPr>
          <a:xfrm>
            <a:off x="5087807" y="972150"/>
            <a:ext cx="2968536" cy="30054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CO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1FEE5C1-C25D-488A-9B08-1B417EDEDC06}"/>
              </a:ext>
            </a:extLst>
          </p:cNvPr>
          <p:cNvSpPr/>
          <p:nvPr/>
        </p:nvSpPr>
        <p:spPr>
          <a:xfrm>
            <a:off x="5516175" y="5885850"/>
            <a:ext cx="2258894" cy="58740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CO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325878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15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2351313" y="769652"/>
            <a:ext cx="7980122" cy="57878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“MÉTODOS QUE RETORNAN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67FD5AA5-D6CD-4D54-AC55-6D9793F7B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974167"/>
              </p:ext>
            </p:extLst>
          </p:nvPr>
        </p:nvGraphicFramePr>
        <p:xfrm>
          <a:off x="5417872" y="2286529"/>
          <a:ext cx="3524796" cy="3261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Bisel 1">
            <a:extLst>
              <a:ext uri="{FF2B5EF4-FFF2-40B4-BE49-F238E27FC236}">
                <a16:creationId xmlns:a16="http://schemas.microsoft.com/office/drawing/2014/main" id="{CAC60EF1-9E9B-455C-ACE7-B93052D29BE7}"/>
              </a:ext>
            </a:extLst>
          </p:cNvPr>
          <p:cNvSpPr/>
          <p:nvPr/>
        </p:nvSpPr>
        <p:spPr>
          <a:xfrm>
            <a:off x="2832173" y="1903201"/>
            <a:ext cx="2232248" cy="3761965"/>
          </a:xfrm>
          <a:prstGeom prst="bevel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Programa</a:t>
            </a:r>
          </a:p>
          <a:p>
            <a:pPr algn="ctr"/>
            <a:r>
              <a:rPr lang="es-CO" sz="2400" b="1" dirty="0"/>
              <a:t>Principal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6BDD1D2-C22E-4023-A73B-3E113300D13D}"/>
              </a:ext>
            </a:extLst>
          </p:cNvPr>
          <p:cNvGrpSpPr/>
          <p:nvPr/>
        </p:nvGrpSpPr>
        <p:grpSpPr>
          <a:xfrm>
            <a:off x="6157036" y="2397357"/>
            <a:ext cx="2258894" cy="66564"/>
            <a:chOff x="591184" y="1984341"/>
            <a:chExt cx="1773555" cy="44338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16A0F79-EADC-4D6A-A79C-6C335B1975A9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694C4C76-FC3C-470E-B751-1038C161102D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CUERPO DE LA FUNCIÓN</a:t>
              </a:r>
            </a:p>
          </p:txBody>
        </p:sp>
      </p:grpSp>
      <p:sp>
        <p:nvSpPr>
          <p:cNvPr id="13" name="Flecha curvada hacia abajo 3">
            <a:extLst>
              <a:ext uri="{FF2B5EF4-FFF2-40B4-BE49-F238E27FC236}">
                <a16:creationId xmlns:a16="http://schemas.microsoft.com/office/drawing/2014/main" id="{D0BFCE6C-AAEE-4B46-8121-C6F9D756749E}"/>
              </a:ext>
            </a:extLst>
          </p:cNvPr>
          <p:cNvSpPr/>
          <p:nvPr/>
        </p:nvSpPr>
        <p:spPr>
          <a:xfrm>
            <a:off x="3974115" y="1357788"/>
            <a:ext cx="3312368" cy="932597"/>
          </a:xfrm>
          <a:prstGeom prst="curvedDownArrow">
            <a:avLst>
              <a:gd name="adj1" fmla="val 16749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9" name="Flecha curvada hacia abajo 10">
            <a:extLst>
              <a:ext uri="{FF2B5EF4-FFF2-40B4-BE49-F238E27FC236}">
                <a16:creationId xmlns:a16="http://schemas.microsoft.com/office/drawing/2014/main" id="{E545C432-9615-4A6B-9ED4-3A2A841D4276}"/>
              </a:ext>
            </a:extLst>
          </p:cNvPr>
          <p:cNvSpPr/>
          <p:nvPr/>
        </p:nvSpPr>
        <p:spPr>
          <a:xfrm rot="10800000">
            <a:off x="3974115" y="5160169"/>
            <a:ext cx="3312368" cy="1022154"/>
          </a:xfrm>
          <a:prstGeom prst="curvedDownArrow">
            <a:avLst>
              <a:gd name="adj1" fmla="val 16749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0FFA8407-6CC5-428F-B8BE-E2ACC040328A}"/>
              </a:ext>
            </a:extLst>
          </p:cNvPr>
          <p:cNvGrpSpPr/>
          <p:nvPr/>
        </p:nvGrpSpPr>
        <p:grpSpPr>
          <a:xfrm>
            <a:off x="4046415" y="914400"/>
            <a:ext cx="3240068" cy="443388"/>
            <a:chOff x="591184" y="1984341"/>
            <a:chExt cx="1773555" cy="443388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B3D9240-36FF-4B0D-9B87-22A936D3E4CB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83E004BF-41F5-4493-A063-8E491D6550E3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1-EL PROGRAMA PRINCIPAL ENVÍA ARGUMENTOS DE ENTRADA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B31AD58E-D1E6-4F54-BA2C-86A84971CE42}"/>
              </a:ext>
            </a:extLst>
          </p:cNvPr>
          <p:cNvGrpSpPr/>
          <p:nvPr/>
        </p:nvGrpSpPr>
        <p:grpSpPr>
          <a:xfrm>
            <a:off x="8260802" y="2235478"/>
            <a:ext cx="2070633" cy="960852"/>
            <a:chOff x="591184" y="1984341"/>
            <a:chExt cx="1773555" cy="443388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EAFB0616-C351-4170-974B-E3FBADB0FE79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8093C0AD-1F3D-443D-90C2-4C225E50A218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2-LA FUNCIÓN  RECIBE </a:t>
              </a:r>
              <a:r>
                <a:rPr lang="es-CO" sz="15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ARGUMENTOS Y REALIZA LAS OPERACIONES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0DC9EBE-56D6-46D6-BB7F-065C858B5AA6}"/>
              </a:ext>
            </a:extLst>
          </p:cNvPr>
          <p:cNvGrpSpPr/>
          <p:nvPr/>
        </p:nvGrpSpPr>
        <p:grpSpPr>
          <a:xfrm>
            <a:off x="4740653" y="5606677"/>
            <a:ext cx="2070633" cy="443388"/>
            <a:chOff x="591184" y="1984341"/>
            <a:chExt cx="1773555" cy="443388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8210F7DC-4BB5-48DA-A53E-15281AB7E288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6E3B50DD-7201-4BD9-A93F-EFC0E9B4649C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3-LA FUNCIÓN RETORNA UN ÚNICO RESULTADO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97B419B7-44CC-472B-A980-B4DB0FF99BB5}"/>
              </a:ext>
            </a:extLst>
          </p:cNvPr>
          <p:cNvGrpSpPr/>
          <p:nvPr/>
        </p:nvGrpSpPr>
        <p:grpSpPr>
          <a:xfrm>
            <a:off x="6157036" y="4999542"/>
            <a:ext cx="2258894" cy="66564"/>
            <a:chOff x="591184" y="1984341"/>
            <a:chExt cx="1773555" cy="443388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971A2DB5-B18E-44DC-90CA-3BBE8101EB8C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265B844D-B6F7-40C4-AD3C-F72FF951E87A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RESULTADO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C175BD0-7488-41FD-A720-AA38344AC1C1}"/>
              </a:ext>
            </a:extLst>
          </p:cNvPr>
          <p:cNvGrpSpPr/>
          <p:nvPr/>
        </p:nvGrpSpPr>
        <p:grpSpPr>
          <a:xfrm>
            <a:off x="6050823" y="4430858"/>
            <a:ext cx="2258894" cy="66564"/>
            <a:chOff x="591184" y="1984341"/>
            <a:chExt cx="1773555" cy="443388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62F062AB-62E8-41C8-B716-F6518055FF2A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3904757D-1969-4886-9D9A-409B158AD924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OPERACIONES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684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9" grpId="0" animBg="1"/>
      <p:bldP spid="13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4" y="1071474"/>
            <a:ext cx="11101357" cy="31054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000" dirty="0">
                <a:solidFill>
                  <a:schemeClr val="tx1"/>
                </a:solidFill>
              </a:rPr>
              <a:t>Para invocar una función se da el nombre de la función y se envían los parámetros o argumentos reales en medio de paréntesis. Ejemplo:</a:t>
            </a:r>
          </a:p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Instrucción + </a:t>
            </a:r>
            <a:r>
              <a:rPr lang="es-ES" sz="3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nombreFuncion</a:t>
            </a:r>
            <a:r>
              <a:rPr lang="es-E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(argumentos);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000" dirty="0">
                <a:solidFill>
                  <a:schemeClr val="tx1"/>
                </a:solidFill>
              </a:rPr>
              <a:t>Pero estos métodos al retornar un resultado se debe realizar alguna instrucción como guardarlo en una variable, imprimiendo o preguntando. Por ejemplo: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“INVOCACIÓN DE UNA FUNCIÓN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10" y="4333963"/>
            <a:ext cx="6767673" cy="22135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9173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71474"/>
            <a:ext cx="9577357" cy="55325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3200" dirty="0">
                <a:solidFill>
                  <a:schemeClr val="tx1"/>
                </a:solidFill>
              </a:rPr>
              <a:t>Las instrucciones realizadas por una función son: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1- Se evalúan las expresiones que entran como parámetros verificando que sean iguales en cantidad, orden y tipo.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2- Se asignan los parámetros reales a los formales (uno a uno en el orden que aparecen en la definición de la función). 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3- Se realizan las instrucciones de la función, </a:t>
            </a:r>
            <a:r>
              <a:rPr lang="es-CO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hasta alcanzar una sentencia de retorno</a:t>
            </a:r>
            <a:r>
              <a:rPr lang="es-CO" sz="2800" dirty="0">
                <a:solidFill>
                  <a:schemeClr val="tx1"/>
                </a:solidFill>
              </a:rPr>
              <a:t>.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4- </a:t>
            </a:r>
            <a:r>
              <a:rPr lang="es-CO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 regresa al punto de donde fue invocada la función</a:t>
            </a:r>
            <a:r>
              <a:rPr lang="es-CO" sz="2800" dirty="0">
                <a:solidFill>
                  <a:schemeClr val="tx1"/>
                </a:solidFill>
              </a:rPr>
              <a:t> para usar el valor retornado.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“INVOCACIÓN DE UNA FUNCIÓN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964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71474"/>
            <a:ext cx="10875579" cy="10282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/>
              <a:t>Crear una función que permita calcular la suma de dos números ingresados por teclado.</a:t>
            </a:r>
            <a:endParaRPr lang="es-CO" sz="2800" dirty="0">
              <a:solidFill>
                <a:schemeClr val="tx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“EJEMPLO 1 - FUNCIÓN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20" y="2357270"/>
            <a:ext cx="9924513" cy="42875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568" y="2357269"/>
            <a:ext cx="5203432" cy="11524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>
            <a:off x="5608828" y="2099733"/>
            <a:ext cx="1379740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dk1"/>
                </a:solidFill>
              </a:rPr>
              <a:t>Función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9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flipH="1">
            <a:off x="2372463" y="2357265"/>
            <a:ext cx="2596445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dk1"/>
                </a:solidFill>
              </a:rPr>
              <a:t>Programa Principal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0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rot="16200000">
            <a:off x="9263596" y="3759198"/>
            <a:ext cx="2803864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Parámetros Formales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3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rot="2637134">
            <a:off x="6084787" y="4206650"/>
            <a:ext cx="2803864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Parámetros Reales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3328779" y="5819337"/>
            <a:ext cx="6153888" cy="6287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NOTA</a:t>
            </a:r>
            <a:r>
              <a:rPr lang="es-CO" dirty="0"/>
              <a:t>: los nombres de los parámetros se recomiendan que sean diferentes inicialmente para identificarlas y diferenciarlas.</a:t>
            </a:r>
          </a:p>
        </p:txBody>
      </p:sp>
    </p:spTree>
    <p:extLst>
      <p:ext uri="{BB962C8B-B14F-4D97-AF65-F5344CB8AC3E}">
        <p14:creationId xmlns:p14="http://schemas.microsoft.com/office/powerpoint/2010/main" val="218615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30" y="2381956"/>
            <a:ext cx="9757703" cy="43239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117" y="2518733"/>
            <a:ext cx="4991100" cy="1600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71474"/>
            <a:ext cx="10875579" cy="10282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/>
              <a:t>Crear una función que permita calcular la división de dos números ingresados por teclado. </a:t>
            </a:r>
            <a:endParaRPr lang="es-CO" sz="2800" dirty="0">
              <a:solidFill>
                <a:schemeClr val="tx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“EJEMPLO 2 - FUNCIÓN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3498112" y="5768622"/>
            <a:ext cx="6153888" cy="7923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NOTA</a:t>
            </a:r>
            <a:r>
              <a:rPr lang="es-CO" dirty="0"/>
              <a:t>: el valor retornado se puede llevar en una variable para luego usarse. En este caso sería óptimo el ejemplo anterior, que imprime directamente ese valor retornado..</a:t>
            </a:r>
          </a:p>
        </p:txBody>
      </p:sp>
    </p:spTree>
    <p:extLst>
      <p:ext uri="{BB962C8B-B14F-4D97-AF65-F5344CB8AC3E}">
        <p14:creationId xmlns:p14="http://schemas.microsoft.com/office/powerpoint/2010/main" val="199150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1180955" y="1534319"/>
            <a:ext cx="9396734" cy="34666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algn="just"/>
            <a:r>
              <a:rPr lang="es-ES" sz="4800" b="1" dirty="0"/>
              <a:t>Realizar un programa que permita calcular el valor mayor de 3 números, 3 edades y 3 salarios.</a:t>
            </a:r>
            <a:endParaRPr lang="es-CO" sz="4800" b="1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“EJEMPLO 3 - FUNCIÓN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6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94" y="3860114"/>
            <a:ext cx="9656065" cy="17666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76154" y="881016"/>
            <a:ext cx="11094254" cy="24249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>
                <a:solidFill>
                  <a:schemeClr val="tx1"/>
                </a:solidFill>
              </a:rPr>
              <a:t>Son métodos que reciben argumentos o parámetros (3), realizan instrucciones (4) pero no retornan </a:t>
            </a:r>
            <a:r>
              <a:rPr lang="es-E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resultados</a:t>
            </a:r>
            <a:r>
              <a:rPr lang="es-ES" sz="3200" dirty="0">
                <a:solidFill>
                  <a:schemeClr val="tx1"/>
                </a:solidFill>
              </a:rPr>
              <a:t>. Pueden invocarse desde cualquier parte del programa principal o desde otro método. Los métodos no tienen un tipo de retorno (1) sólo </a:t>
            </a:r>
            <a:r>
              <a:rPr lang="es-ES" sz="3200" b="1" dirty="0" err="1">
                <a:solidFill>
                  <a:schemeClr val="tx1"/>
                </a:solidFill>
              </a:rPr>
              <a:t>void</a:t>
            </a:r>
            <a:r>
              <a:rPr lang="es-ES" sz="3200" dirty="0">
                <a:solidFill>
                  <a:schemeClr val="tx1"/>
                </a:solidFill>
              </a:rPr>
              <a:t>  y un nombre de procedimiento (2). Se define así: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“MÉTODOS QUE NO RETORNAN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sp>
        <p:nvSpPr>
          <p:cNvPr id="8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rot="5400000">
            <a:off x="1267577" y="3427039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1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9" name="Flecha derecha 17">
            <a:extLst>
              <a:ext uri="{FF2B5EF4-FFF2-40B4-BE49-F238E27FC236}">
                <a16:creationId xmlns:a16="http://schemas.microsoft.com/office/drawing/2014/main" id="{499DE330-2211-4F1A-B76D-835D05DCEE5B}"/>
              </a:ext>
            </a:extLst>
          </p:cNvPr>
          <p:cNvSpPr/>
          <p:nvPr/>
        </p:nvSpPr>
        <p:spPr>
          <a:xfrm rot="5400000">
            <a:off x="3619352" y="3427040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2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10" name="Flecha derecha 17">
            <a:extLst>
              <a:ext uri="{FF2B5EF4-FFF2-40B4-BE49-F238E27FC236}">
                <a16:creationId xmlns:a16="http://schemas.microsoft.com/office/drawing/2014/main" id="{55676810-0EF0-4219-A3DD-A12D7C00F184}"/>
              </a:ext>
            </a:extLst>
          </p:cNvPr>
          <p:cNvSpPr/>
          <p:nvPr/>
        </p:nvSpPr>
        <p:spPr>
          <a:xfrm rot="5400000">
            <a:off x="6536386" y="3427040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3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11" name="Flecha derecha 17">
            <a:extLst>
              <a:ext uri="{FF2B5EF4-FFF2-40B4-BE49-F238E27FC236}">
                <a16:creationId xmlns:a16="http://schemas.microsoft.com/office/drawing/2014/main" id="{474B4E41-0C80-4ABF-927F-189A64652566}"/>
              </a:ext>
            </a:extLst>
          </p:cNvPr>
          <p:cNvSpPr/>
          <p:nvPr/>
        </p:nvSpPr>
        <p:spPr>
          <a:xfrm rot="5400000">
            <a:off x="9086132" y="3437426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3</a:t>
            </a:r>
            <a:endParaRPr lang="es-CO" b="1" dirty="0">
              <a:solidFill>
                <a:schemeClr val="dk1"/>
              </a:solidFill>
            </a:endParaRPr>
          </a:p>
        </p:txBody>
      </p:sp>
      <p:sp>
        <p:nvSpPr>
          <p:cNvPr id="12" name="Flecha derecha 17">
            <a:extLst>
              <a:ext uri="{FF2B5EF4-FFF2-40B4-BE49-F238E27FC236}">
                <a16:creationId xmlns:a16="http://schemas.microsoft.com/office/drawing/2014/main" id="{E22FF58E-E427-4C1E-8B48-18AAC586783B}"/>
              </a:ext>
            </a:extLst>
          </p:cNvPr>
          <p:cNvSpPr/>
          <p:nvPr/>
        </p:nvSpPr>
        <p:spPr>
          <a:xfrm>
            <a:off x="1065950" y="4541798"/>
            <a:ext cx="575353" cy="40325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dk1"/>
                </a:solidFill>
              </a:rPr>
              <a:t>4</a:t>
            </a:r>
            <a:endParaRPr lang="es-CO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81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753248" y="769652"/>
            <a:ext cx="7134329" cy="57878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“MÉTODOS QUE NO RETORNAN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7E14A5E7-3FEF-4797-9ED0-26D8504206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1161773"/>
              </p:ext>
            </p:extLst>
          </p:nvPr>
        </p:nvGraphicFramePr>
        <p:xfrm>
          <a:off x="3513220" y="1632735"/>
          <a:ext cx="6096000" cy="518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ectángulo 14">
            <a:extLst>
              <a:ext uri="{FF2B5EF4-FFF2-40B4-BE49-F238E27FC236}">
                <a16:creationId xmlns:a16="http://schemas.microsoft.com/office/drawing/2014/main" id="{C5F8CC1F-5496-429B-8F08-26AF5B6E8DFE}"/>
              </a:ext>
            </a:extLst>
          </p:cNvPr>
          <p:cNvSpPr/>
          <p:nvPr/>
        </p:nvSpPr>
        <p:spPr>
          <a:xfrm>
            <a:off x="2840352" y="3663578"/>
            <a:ext cx="2258894" cy="58740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CO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CUERPO DEL </a:t>
            </a:r>
            <a:r>
              <a:rPr lang="es-CO" sz="2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PROCEDIMIENTO</a:t>
            </a:r>
            <a:endParaRPr lang="es-CO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Flecha abajo 8">
            <a:extLst>
              <a:ext uri="{FF2B5EF4-FFF2-40B4-BE49-F238E27FC236}">
                <a16:creationId xmlns:a16="http://schemas.microsoft.com/office/drawing/2014/main" id="{AC8D47DA-D6F2-44A0-86D3-F107668DAC67}"/>
              </a:ext>
            </a:extLst>
          </p:cNvPr>
          <p:cNvSpPr/>
          <p:nvPr/>
        </p:nvSpPr>
        <p:spPr>
          <a:xfrm>
            <a:off x="6180220" y="1272695"/>
            <a:ext cx="762000" cy="487680"/>
          </a:xfrm>
          <a:prstGeom prst="downArrow">
            <a:avLst/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5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B195E6-E677-480D-9B6E-94B12CEE5E46}"/>
              </a:ext>
            </a:extLst>
          </p:cNvPr>
          <p:cNvSpPr/>
          <p:nvPr/>
        </p:nvSpPr>
        <p:spPr>
          <a:xfrm>
            <a:off x="5087807" y="972150"/>
            <a:ext cx="2968536" cy="30054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CO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1FEE5C1-C25D-488A-9B08-1B417EDEDC06}"/>
              </a:ext>
            </a:extLst>
          </p:cNvPr>
          <p:cNvSpPr/>
          <p:nvPr/>
        </p:nvSpPr>
        <p:spPr>
          <a:xfrm>
            <a:off x="5442628" y="5366561"/>
            <a:ext cx="2258894" cy="58740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CO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306872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15" grpId="0"/>
      <p:bldP spid="17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/>
          <p:cNvSpPr/>
          <p:nvPr/>
        </p:nvSpPr>
        <p:spPr>
          <a:xfrm>
            <a:off x="2351313" y="769652"/>
            <a:ext cx="7980122" cy="57878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“MÉTODOS QUE NO RETORNAN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67FD5AA5-D6CD-4D54-AC55-6D9793F7B635}"/>
              </a:ext>
            </a:extLst>
          </p:cNvPr>
          <p:cNvGraphicFramePr/>
          <p:nvPr/>
        </p:nvGraphicFramePr>
        <p:xfrm>
          <a:off x="5417872" y="2286529"/>
          <a:ext cx="3524796" cy="3261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Bisel 1">
            <a:extLst>
              <a:ext uri="{FF2B5EF4-FFF2-40B4-BE49-F238E27FC236}">
                <a16:creationId xmlns:a16="http://schemas.microsoft.com/office/drawing/2014/main" id="{CAC60EF1-9E9B-455C-ACE7-B93052D29BE7}"/>
              </a:ext>
            </a:extLst>
          </p:cNvPr>
          <p:cNvSpPr/>
          <p:nvPr/>
        </p:nvSpPr>
        <p:spPr>
          <a:xfrm>
            <a:off x="2832173" y="1903201"/>
            <a:ext cx="2232248" cy="3761965"/>
          </a:xfrm>
          <a:prstGeom prst="bevel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Programa</a:t>
            </a:r>
          </a:p>
          <a:p>
            <a:pPr algn="ctr"/>
            <a:r>
              <a:rPr lang="es-CO" sz="2400" b="1" dirty="0"/>
              <a:t>Principal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6BDD1D2-C22E-4023-A73B-3E113300D13D}"/>
              </a:ext>
            </a:extLst>
          </p:cNvPr>
          <p:cNvGrpSpPr/>
          <p:nvPr/>
        </p:nvGrpSpPr>
        <p:grpSpPr>
          <a:xfrm>
            <a:off x="6016979" y="2318333"/>
            <a:ext cx="2500552" cy="194959"/>
            <a:chOff x="591184" y="1984341"/>
            <a:chExt cx="1773555" cy="44338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16A0F79-EADC-4D6A-A79C-6C335B1975A9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694C4C76-FC3C-470E-B751-1038C161102D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CUERPO PROCEDIMIENTO</a:t>
              </a:r>
            </a:p>
          </p:txBody>
        </p:sp>
      </p:grpSp>
      <p:sp>
        <p:nvSpPr>
          <p:cNvPr id="13" name="Flecha curvada hacia abajo 3">
            <a:extLst>
              <a:ext uri="{FF2B5EF4-FFF2-40B4-BE49-F238E27FC236}">
                <a16:creationId xmlns:a16="http://schemas.microsoft.com/office/drawing/2014/main" id="{D0BFCE6C-AAEE-4B46-8121-C6F9D756749E}"/>
              </a:ext>
            </a:extLst>
          </p:cNvPr>
          <p:cNvSpPr/>
          <p:nvPr/>
        </p:nvSpPr>
        <p:spPr>
          <a:xfrm>
            <a:off x="3974115" y="1357788"/>
            <a:ext cx="3312368" cy="932597"/>
          </a:xfrm>
          <a:prstGeom prst="curvedDownArrow">
            <a:avLst>
              <a:gd name="adj1" fmla="val 16749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0FFA8407-6CC5-428F-B8BE-E2ACC040328A}"/>
              </a:ext>
            </a:extLst>
          </p:cNvPr>
          <p:cNvGrpSpPr/>
          <p:nvPr/>
        </p:nvGrpSpPr>
        <p:grpSpPr>
          <a:xfrm>
            <a:off x="4046415" y="914400"/>
            <a:ext cx="3240068" cy="443388"/>
            <a:chOff x="591184" y="1984341"/>
            <a:chExt cx="1773555" cy="443388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B3D9240-36FF-4B0D-9B87-22A936D3E4CB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83E004BF-41F5-4493-A063-8E491D6550E3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1-EL PROGRAMA PRINCIPAL ENVÍA ARGUMENTOS DE ENTRADA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B31AD58E-D1E6-4F54-BA2C-86A84971CE42}"/>
              </a:ext>
            </a:extLst>
          </p:cNvPr>
          <p:cNvGrpSpPr/>
          <p:nvPr/>
        </p:nvGrpSpPr>
        <p:grpSpPr>
          <a:xfrm>
            <a:off x="8260802" y="2235477"/>
            <a:ext cx="2119581" cy="2010976"/>
            <a:chOff x="591184" y="1984341"/>
            <a:chExt cx="1815480" cy="927971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EAFB0616-C351-4170-974B-E3FBADB0FE79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8093C0AD-1F3D-443D-90C2-4C225E50A218}"/>
                </a:ext>
              </a:extLst>
            </p:cNvPr>
            <p:cNvSpPr/>
            <p:nvPr/>
          </p:nvSpPr>
          <p:spPr>
            <a:xfrm>
              <a:off x="633109" y="2468924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2-EL PROCEDIMIENTO FUNCIÓN  RECIBE </a:t>
              </a:r>
              <a:r>
                <a:rPr lang="es-CO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ARGUMENTOS Y REALIZA LAS OPERACIONES, SIN RETORNAR</a:t>
              </a:r>
            </a:p>
          </p:txBody>
        </p:sp>
      </p:grp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210F7DC-4BB5-48DA-A53E-15281AB7E288}"/>
              </a:ext>
            </a:extLst>
          </p:cNvPr>
          <p:cNvSpPr/>
          <p:nvPr/>
        </p:nvSpPr>
        <p:spPr>
          <a:xfrm>
            <a:off x="4740653" y="5606677"/>
            <a:ext cx="2070633" cy="443388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71A2DB5-B18E-44DC-90CA-3BBE8101EB8C}"/>
              </a:ext>
            </a:extLst>
          </p:cNvPr>
          <p:cNvSpPr/>
          <p:nvPr/>
        </p:nvSpPr>
        <p:spPr>
          <a:xfrm>
            <a:off x="6157036" y="4999542"/>
            <a:ext cx="2258894" cy="6656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3C175BD0-7488-41FD-A720-AA38344AC1C1}"/>
              </a:ext>
            </a:extLst>
          </p:cNvPr>
          <p:cNvGrpSpPr/>
          <p:nvPr/>
        </p:nvGrpSpPr>
        <p:grpSpPr>
          <a:xfrm>
            <a:off x="6050823" y="4430858"/>
            <a:ext cx="2258894" cy="654473"/>
            <a:chOff x="591184" y="1984341"/>
            <a:chExt cx="1773555" cy="4359496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62F062AB-62E8-41C8-B716-F6518055FF2A}"/>
                </a:ext>
              </a:extLst>
            </p:cNvPr>
            <p:cNvSpPr/>
            <p:nvPr/>
          </p:nvSpPr>
          <p:spPr>
            <a:xfrm>
              <a:off x="591184" y="1984341"/>
              <a:ext cx="1773555" cy="4433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3904757D-1969-4886-9D9A-409B158AD924}"/>
                </a:ext>
              </a:extLst>
            </p:cNvPr>
            <p:cNvSpPr/>
            <p:nvPr/>
          </p:nvSpPr>
          <p:spPr>
            <a:xfrm>
              <a:off x="591184" y="5900449"/>
              <a:ext cx="1773555" cy="4433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500" b="1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OPERACIONES Y RESULTADOS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95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9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4" y="1071474"/>
            <a:ext cx="11101357" cy="31054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000" dirty="0">
                <a:solidFill>
                  <a:schemeClr val="tx1"/>
                </a:solidFill>
              </a:rPr>
              <a:t>Para invocar un procedimiento simplemente se da el nombre del método y se envían los parámetros o argumentos reales en medio de paréntesis, sin realizar instrucciones como en el caso anterior de tenerlo que guardar en una variable o imprimirlo. Ejemplo:</a:t>
            </a:r>
          </a:p>
          <a:p>
            <a:pPr lvl="0"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nombreProcedimiento</a:t>
            </a:r>
            <a:r>
              <a:rPr lang="es-ES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(argumentos);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“INVOCACIÓN DE UN PROCEDIMIENTO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94" y="4958996"/>
            <a:ext cx="9049407" cy="911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4060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71474"/>
            <a:ext cx="9577357" cy="553252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3200" dirty="0">
                <a:solidFill>
                  <a:schemeClr val="tx1"/>
                </a:solidFill>
              </a:rPr>
              <a:t>Las instrucciones realizadas por un procedimiento son: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1- Se evalúan las expresiones que entran como parámetros verificando que sean iguales en cantidad, orden y tipo.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2- Se asignan los parámetros reales a los formales (uno a uno en el orden que aparecen en la definición del procedimiento). 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3- Se realizan las instrucciones del procedimiento, </a:t>
            </a:r>
            <a:r>
              <a:rPr lang="es-CO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hasta alcanzar el final del procedimiento (sin retornar)</a:t>
            </a:r>
            <a:r>
              <a:rPr lang="es-CO" sz="2800" dirty="0">
                <a:solidFill>
                  <a:schemeClr val="tx1"/>
                </a:solidFill>
              </a:rPr>
              <a:t>.</a:t>
            </a:r>
          </a:p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CO" sz="2800" dirty="0">
                <a:solidFill>
                  <a:schemeClr val="tx1"/>
                </a:solidFill>
              </a:rPr>
              <a:t>4- </a:t>
            </a:r>
            <a:r>
              <a:rPr lang="es-CO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 regresa a la línea siguiente de donde fue invocada e procedimiento</a:t>
            </a:r>
            <a:r>
              <a:rPr lang="es-CO" sz="28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“INVOCACIÓN DE UN PROCEDIMIENTO </a:t>
            </a:r>
            <a:r>
              <a:rPr lang="pt-BR" sz="3800" b="1" dirty="0">
                <a:latin typeface="Bahnschrift Light SemiCondensed" panose="020B0502040204020203" pitchFamily="34" charset="0"/>
              </a:rPr>
              <a:t>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972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-2050" b="-2050"/>
          <a:stretch/>
        </p:blipFill>
        <p:spPr>
          <a:xfrm>
            <a:off x="299155" y="3578578"/>
            <a:ext cx="4572000" cy="29746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t="-1993" b="-1993"/>
          <a:stretch/>
        </p:blipFill>
        <p:spPr>
          <a:xfrm>
            <a:off x="4484021" y="2827311"/>
            <a:ext cx="7256423" cy="2739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864865" y="1071474"/>
            <a:ext cx="10875579" cy="10282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/>
              <a:t>Crear un procedimiento calcule las 4 operaciones básicas de dos números ingresados por teclado.</a:t>
            </a:r>
            <a:endParaRPr lang="es-CO" sz="2800" dirty="0">
              <a:solidFill>
                <a:schemeClr val="tx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“EJEMPLO 1 - PROCEDIMIENTO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sp>
        <p:nvSpPr>
          <p:cNvPr id="8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>
            <a:off x="2585155" y="2809503"/>
            <a:ext cx="2065551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dk1"/>
                </a:solidFill>
              </a:rPr>
              <a:t>Procedimiento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9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flipH="1">
            <a:off x="1758256" y="3544705"/>
            <a:ext cx="2596445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dk1"/>
                </a:solidFill>
              </a:rPr>
              <a:t>Programa Principal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0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rot="470981">
            <a:off x="5017563" y="2308046"/>
            <a:ext cx="2803864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Parámetros Formales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3" name="Flecha derecha 17">
            <a:extLst>
              <a:ext uri="{FF2B5EF4-FFF2-40B4-BE49-F238E27FC236}">
                <a16:creationId xmlns:a16="http://schemas.microsoft.com/office/drawing/2014/main" id="{092C4A56-EAAB-40BB-A10C-9FFECF3DEE15}"/>
              </a:ext>
            </a:extLst>
          </p:cNvPr>
          <p:cNvSpPr/>
          <p:nvPr/>
        </p:nvSpPr>
        <p:spPr>
          <a:xfrm rot="21241893" flipH="1">
            <a:off x="3018553" y="5084865"/>
            <a:ext cx="2883132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Parámetros Reales</a:t>
            </a:r>
            <a:endParaRPr lang="es-CO" sz="20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29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029D485-6069-4018-9E7C-8B75196D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65" y="3657577"/>
            <a:ext cx="4333875" cy="277177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“EJEMPLO 2 - PROCEDIMIENTO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509391-BA2D-4D90-98A1-41519E0F1DF7}"/>
              </a:ext>
            </a:extLst>
          </p:cNvPr>
          <p:cNvSpPr txBox="1"/>
          <p:nvPr/>
        </p:nvSpPr>
        <p:spPr>
          <a:xfrm>
            <a:off x="864865" y="1071474"/>
            <a:ext cx="10875579" cy="10282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s-ES" sz="3200" dirty="0"/>
              <a:t>Crear un procedimiento que calcule e imprima el cuadrado de un número y el triple de otro.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33825C-659F-48B2-8F96-DC5305263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349" y="2350449"/>
            <a:ext cx="8124825" cy="1905000"/>
          </a:xfrm>
          <a:prstGeom prst="rect">
            <a:avLst/>
          </a:prstGeom>
        </p:spPr>
      </p:pic>
      <p:sp>
        <p:nvSpPr>
          <p:cNvPr id="9" name="Flecha derecha 17">
            <a:extLst>
              <a:ext uri="{FF2B5EF4-FFF2-40B4-BE49-F238E27FC236}">
                <a16:creationId xmlns:a16="http://schemas.microsoft.com/office/drawing/2014/main" id="{0CF064C6-D926-491C-A453-700EABE4892D}"/>
              </a:ext>
            </a:extLst>
          </p:cNvPr>
          <p:cNvSpPr/>
          <p:nvPr/>
        </p:nvSpPr>
        <p:spPr>
          <a:xfrm>
            <a:off x="1644673" y="3006440"/>
            <a:ext cx="2065551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dk1"/>
                </a:solidFill>
              </a:rPr>
              <a:t>Procedimiento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0" name="Flecha derecha 17">
            <a:extLst>
              <a:ext uri="{FF2B5EF4-FFF2-40B4-BE49-F238E27FC236}">
                <a16:creationId xmlns:a16="http://schemas.microsoft.com/office/drawing/2014/main" id="{F7178ACD-B18D-4EB8-84DC-122A3F930E0F}"/>
              </a:ext>
            </a:extLst>
          </p:cNvPr>
          <p:cNvSpPr/>
          <p:nvPr/>
        </p:nvSpPr>
        <p:spPr>
          <a:xfrm flipH="1">
            <a:off x="1758256" y="3544705"/>
            <a:ext cx="2596445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dk1"/>
                </a:solidFill>
              </a:rPr>
              <a:t>Programa Principal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1" name="Flecha derecha 17">
            <a:extLst>
              <a:ext uri="{FF2B5EF4-FFF2-40B4-BE49-F238E27FC236}">
                <a16:creationId xmlns:a16="http://schemas.microsoft.com/office/drawing/2014/main" id="{AB92382D-25E1-4ECB-BA3C-4C1620CCE6B6}"/>
              </a:ext>
            </a:extLst>
          </p:cNvPr>
          <p:cNvSpPr/>
          <p:nvPr/>
        </p:nvSpPr>
        <p:spPr>
          <a:xfrm rot="19207131" flipH="1">
            <a:off x="6140620" y="2010593"/>
            <a:ext cx="2780534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Parámetros Formales</a:t>
            </a:r>
            <a:endParaRPr lang="es-CO" sz="2000" b="1" dirty="0">
              <a:solidFill>
                <a:schemeClr val="dk1"/>
              </a:solidFill>
            </a:endParaRPr>
          </a:p>
        </p:txBody>
      </p:sp>
      <p:sp>
        <p:nvSpPr>
          <p:cNvPr id="12" name="Flecha derecha 17">
            <a:extLst>
              <a:ext uri="{FF2B5EF4-FFF2-40B4-BE49-F238E27FC236}">
                <a16:creationId xmlns:a16="http://schemas.microsoft.com/office/drawing/2014/main" id="{1238CDAF-901A-4BDF-B96C-0280ED4F0817}"/>
              </a:ext>
            </a:extLst>
          </p:cNvPr>
          <p:cNvSpPr/>
          <p:nvPr/>
        </p:nvSpPr>
        <p:spPr>
          <a:xfrm rot="21241893" flipH="1">
            <a:off x="3312103" y="5247213"/>
            <a:ext cx="2504275" cy="515071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Parámetros Reales</a:t>
            </a:r>
            <a:endParaRPr lang="es-CO" sz="20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76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B3245438-2EFA-4DBF-85CF-60E0A78BBF68}"/>
              </a:ext>
            </a:extLst>
          </p:cNvPr>
          <p:cNvSpPr txBox="1"/>
          <p:nvPr/>
        </p:nvSpPr>
        <p:spPr>
          <a:xfrm>
            <a:off x="1180955" y="1331119"/>
            <a:ext cx="9396734" cy="34666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algn="just"/>
            <a:r>
              <a:rPr lang="es-ES" sz="4800" dirty="0"/>
              <a:t>Realice un procedimiento que permita imprimir si un número es par o no, y al mismo tiempo que diga si es positivo o no</a:t>
            </a:r>
            <a:endParaRPr lang="es-CO" sz="4800" b="1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36DB-22AF-43E4-B2DB-DB464E118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94" y="0"/>
            <a:ext cx="10229386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3800" b="1" dirty="0">
                <a:latin typeface="Bahnschrift Light SemiCondensed" panose="020B0502040204020203" pitchFamily="34" charset="0"/>
              </a:rPr>
              <a:t>“EJEMPLO 3 - PROCEDIMIENTO</a:t>
            </a:r>
            <a:r>
              <a:rPr lang="pt-BR" sz="3800" b="1" dirty="0">
                <a:latin typeface="Bahnschrift Light SemiCondensed" panose="020B0502040204020203" pitchFamily="34" charset="0"/>
              </a:rPr>
              <a:t> EN C++</a:t>
            </a:r>
            <a:r>
              <a:rPr lang="es-CO" sz="3800" b="1" dirty="0">
                <a:latin typeface="Bahnschrift Light SemiCondensed" panose="020B05020402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001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9B393-37E8-4E11-8EB2-C863ACB85223}"/>
              </a:ext>
            </a:extLst>
          </p:cNvPr>
          <p:cNvSpPr txBox="1">
            <a:spLocks/>
          </p:cNvSpPr>
          <p:nvPr/>
        </p:nvSpPr>
        <p:spPr>
          <a:xfrm>
            <a:off x="884689" y="1308683"/>
            <a:ext cx="10943788" cy="1197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solidFill>
                  <a:prstClr val="black"/>
                </a:solidFill>
                <a:latin typeface="Bahnschrift Light SemiCondensed" panose="020B0502040204020203" pitchFamily="34" charset="0"/>
              </a:rPr>
              <a:t>“</a:t>
            </a:r>
            <a:r>
              <a:rPr lang="es-CO" b="1" dirty="0">
                <a:latin typeface="Bahnschrift Light SemiCondensed" panose="020B0502040204020203" pitchFamily="34" charset="0"/>
              </a:rPr>
              <a:t>SUBPROGRAMAS O MÉTODOS EN C++”</a:t>
            </a:r>
            <a:endParaRPr lang="es-CO" b="1" dirty="0">
              <a:solidFill>
                <a:prstClr val="black"/>
              </a:solidFill>
              <a:latin typeface="Bahnschrift Light SemiCondensed" panose="020B0502040204020203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1F265C-6D74-4338-8944-0FD73F7598E6}"/>
              </a:ext>
            </a:extLst>
          </p:cNvPr>
          <p:cNvSpPr/>
          <p:nvPr/>
        </p:nvSpPr>
        <p:spPr>
          <a:xfrm>
            <a:off x="1798040" y="5362689"/>
            <a:ext cx="8595920" cy="684772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isometricTopUp">
              <a:rot lat="21594000" lon="2159400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defRPr/>
            </a:pPr>
            <a:r>
              <a:rPr lang="es-CO" sz="2000" b="1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CURSO: </a:t>
            </a:r>
            <a:r>
              <a:rPr lang="es-CO" sz="2000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“ALGORITMOS Y </a:t>
            </a:r>
            <a:r>
              <a:rPr lang="es-CO" sz="2000" b="1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PROGRAMACIÓN </a:t>
            </a:r>
            <a:r>
              <a:rPr lang="es-CO" sz="2000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"</a:t>
            </a:r>
          </a:p>
          <a:p>
            <a:pPr algn="ctr">
              <a:defRPr/>
            </a:pPr>
            <a:r>
              <a:rPr lang="es-CO" sz="2000" b="1" dirty="0">
                <a:ln/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DOCENTE: </a:t>
            </a:r>
            <a:r>
              <a:rPr lang="es-CO" sz="2000" b="1" dirty="0">
                <a:solidFill>
                  <a:prstClr val="white"/>
                </a:solidFill>
                <a:latin typeface="Bahnschrift Light SemiCondensed" panose="020B0502040204020203" pitchFamily="34" charset="0"/>
              </a:rPr>
              <a:t>JAIRO HERNANDO RAMÍREZ MARÍN</a:t>
            </a:r>
          </a:p>
        </p:txBody>
      </p:sp>
    </p:spTree>
    <p:extLst>
      <p:ext uri="{BB962C8B-B14F-4D97-AF65-F5344CB8AC3E}">
        <p14:creationId xmlns:p14="http://schemas.microsoft.com/office/powerpoint/2010/main" val="239728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2483</Words>
  <Application>Microsoft Office PowerPoint</Application>
  <PresentationFormat>Panorámica</PresentationFormat>
  <Paragraphs>310</Paragraphs>
  <Slides>25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Arial Narrow</vt:lpstr>
      <vt:lpstr>Bahnschrift Light SemiCondensed</vt:lpstr>
      <vt:lpstr>Calibri</vt:lpstr>
      <vt:lpstr>Calibri Light</vt:lpstr>
      <vt:lpstr>Cascadia Mono</vt:lpstr>
      <vt:lpstr>Tema de Office</vt:lpstr>
      <vt:lpstr>Presentación de PowerPoint</vt:lpstr>
      <vt:lpstr>“SUBPROGRAMAS O MÉTODOS EN C++”</vt:lpstr>
      <vt:lpstr>“SUBPROGRAMAS O MÉTODOS EN C++”</vt:lpstr>
      <vt:lpstr>“VALORES DENTRO DE MÉTODOS EN C++”</vt:lpstr>
      <vt:lpstr>“VARIABLES EN MÉTODOS EN C++”</vt:lpstr>
      <vt:lpstr>“PASO DE ARGUMENTOS EN MÉTODOS EN C++”</vt:lpstr>
      <vt:lpstr>“PASO DE ARGUMENTOS EN MÉTODOS EN C++”</vt:lpstr>
      <vt:lpstr>“TIPOS DE MÉTODOS EN C++”</vt:lpstr>
      <vt:lpstr>“MÉTODOS QUE RETORNAN EN C++”</vt:lpstr>
      <vt:lpstr>“MÉTODOS QUE RETORNAN EN C++”</vt:lpstr>
      <vt:lpstr>“MÉTODOS QUE RETORNAN EN C++”</vt:lpstr>
      <vt:lpstr>“INVOCACIÓN DE UNA FUNCIÓN EN C++”</vt:lpstr>
      <vt:lpstr>“INVOCACIÓN DE UNA FUNCIÓN EN C++”</vt:lpstr>
      <vt:lpstr>“EJEMPLO 1 - FUNCIÓN EN C++”</vt:lpstr>
      <vt:lpstr>“EJEMPLO 2 - FUNCIÓN EN C++”</vt:lpstr>
      <vt:lpstr>“EJEMPLO 3 - FUNCIÓN EN C++”</vt:lpstr>
      <vt:lpstr>“MÉTODOS QUE NO RETORNAN EN C++”</vt:lpstr>
      <vt:lpstr>“MÉTODOS QUE NO RETORNAN EN C++”</vt:lpstr>
      <vt:lpstr>“MÉTODOS QUE NO RETORNAN EN C++”</vt:lpstr>
      <vt:lpstr>“INVOCACIÓN DE UN PROCEDIMIENTO EN C++”</vt:lpstr>
      <vt:lpstr>“INVOCACIÓN DE UN PROCEDIMIENTO EN C++”</vt:lpstr>
      <vt:lpstr>“EJEMPLO 1 - PROCEDIMIENTO EN C++”</vt:lpstr>
      <vt:lpstr>“EJEMPLO 2 - PROCEDIMIENTO EN C++”</vt:lpstr>
      <vt:lpstr>“EJEMPLO 3 - PROCEDIMIENTO EN C++”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JAIRO HERNANDO RAMIREZ MARIN</dc:creator>
  <cp:lastModifiedBy>BRIAN STEVEN  CORDOBA OSORIO</cp:lastModifiedBy>
  <cp:revision>272</cp:revision>
  <dcterms:created xsi:type="dcterms:W3CDTF">2020-08-20T10:34:44Z</dcterms:created>
  <dcterms:modified xsi:type="dcterms:W3CDTF">2022-10-27T14:57:47Z</dcterms:modified>
</cp:coreProperties>
</file>