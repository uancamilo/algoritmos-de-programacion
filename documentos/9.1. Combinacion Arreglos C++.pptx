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0"/>
  </p:notesMasterIdLst>
  <p:sldIdLst>
    <p:sldId id="256" r:id="rId2"/>
    <p:sldId id="353" r:id="rId3"/>
    <p:sldId id="533" r:id="rId4"/>
    <p:sldId id="536" r:id="rId5"/>
    <p:sldId id="537" r:id="rId6"/>
    <p:sldId id="538" r:id="rId7"/>
    <p:sldId id="539" r:id="rId8"/>
    <p:sldId id="540" r:id="rId9"/>
    <p:sldId id="542" r:id="rId10"/>
    <p:sldId id="541" r:id="rId11"/>
    <p:sldId id="543" r:id="rId12"/>
    <p:sldId id="544" r:id="rId13"/>
    <p:sldId id="545" r:id="rId14"/>
    <p:sldId id="546" r:id="rId15"/>
    <p:sldId id="547" r:id="rId16"/>
    <p:sldId id="548" r:id="rId17"/>
    <p:sldId id="549" r:id="rId18"/>
    <p:sldId id="535" r:id="rId19"/>
  </p:sldIdLst>
  <p:sldSz cx="12192000" cy="6858000"/>
  <p:notesSz cx="6858000" cy="9144000"/>
  <p:defaultTextStyle>
    <a:defPPr>
      <a:defRPr lang="es-C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JAIRO HERNANDO RAMIREZ MARIN" initials="JHRM" lastIdx="1" clrIdx="0">
    <p:extLst>
      <p:ext uri="{19B8F6BF-5375-455C-9EA6-DF929625EA0E}">
        <p15:presenceInfo xmlns:p15="http://schemas.microsoft.com/office/powerpoint/2012/main" userId="S::jairo.ramirez@comunidad.iush.edu.co::683be6fa-ee44-4f01-ad3d-b1c13e4348df"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C77C3"/>
    <a:srgbClr val="974BA0"/>
    <a:srgbClr val="A562AB"/>
    <a:srgbClr val="265D92"/>
    <a:srgbClr val="19458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Estilo medio 2 - Énfasis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73A0DAA-6AF3-43AB-8588-CEC1D06C72B9}" styleName="Estilo medio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7DF18680-E054-41AD-8BC1-D1AEF772440D}" styleName="Estilo medio 2 - Énfasis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93296810-A885-4BE3-A3E7-6D5BEEA58F35}" styleName="Estilo medio 2 - Énfasis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4361" autoAdjust="0"/>
    <p:restoredTop sz="87074" autoAdjust="0"/>
  </p:normalViewPr>
  <p:slideViewPr>
    <p:cSldViewPr snapToGrid="0">
      <p:cViewPr varScale="1">
        <p:scale>
          <a:sx n="97" d="100"/>
          <a:sy n="97" d="100"/>
        </p:scale>
        <p:origin x="576" y="84"/>
      </p:cViewPr>
      <p:guideLst/>
    </p:cSldViewPr>
  </p:slideViewPr>
  <p:notesTextViewPr>
    <p:cViewPr>
      <p:scale>
        <a:sx n="125" d="100"/>
        <a:sy n="125" d="100"/>
      </p:scale>
      <p:origin x="0" y="-36"/>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commentAuthors" Target="commentAuthor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CO"/>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B33B264-95C8-4153-8828-8C36D1236E7F}" type="datetimeFigureOut">
              <a:rPr lang="es-CO" smtClean="0"/>
              <a:t>12/10/2024</a:t>
            </a:fld>
            <a:endParaRPr lang="es-CO"/>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CO"/>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CO"/>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EBFF732-773A-4839-B774-230B46601DA8}" type="slidenum">
              <a:rPr lang="es-CO" smtClean="0"/>
              <a:t>‹Nº›</a:t>
            </a:fld>
            <a:endParaRPr lang="es-CO"/>
          </a:p>
        </p:txBody>
      </p:sp>
    </p:spTree>
    <p:extLst>
      <p:ext uri="{BB962C8B-B14F-4D97-AF65-F5344CB8AC3E}">
        <p14:creationId xmlns:p14="http://schemas.microsoft.com/office/powerpoint/2010/main" val="48160067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CO" dirty="0"/>
              <a:t>CODIGO FUENTE</a:t>
            </a:r>
          </a:p>
          <a:p>
            <a:r>
              <a:rPr lang="es-CO" sz="1200" kern="1200">
                <a:solidFill>
                  <a:schemeClr val="tx1"/>
                </a:solidFill>
                <a:latin typeface="+mn-lt"/>
                <a:ea typeface="+mn-ea"/>
                <a:cs typeface="+mn-cs"/>
              </a:rPr>
              <a:t>#include &lt;iostream&gt;</a:t>
            </a:r>
          </a:p>
          <a:p>
            <a:r>
              <a:rPr lang="es-CO" sz="1200" kern="1200">
                <a:solidFill>
                  <a:schemeClr val="tx1"/>
                </a:solidFill>
                <a:latin typeface="+mn-lt"/>
                <a:ea typeface="+mn-ea"/>
                <a:cs typeface="+mn-cs"/>
              </a:rPr>
              <a:t>#include &lt;cstdlib&gt;</a:t>
            </a:r>
          </a:p>
          <a:p>
            <a:r>
              <a:rPr lang="es-CO" sz="1200" kern="1200">
                <a:solidFill>
                  <a:schemeClr val="tx1"/>
                </a:solidFill>
                <a:latin typeface="+mn-lt"/>
                <a:ea typeface="+mn-ea"/>
                <a:cs typeface="+mn-cs"/>
              </a:rPr>
              <a:t>#include &lt;ctime&gt;</a:t>
            </a:r>
          </a:p>
          <a:p>
            <a:r>
              <a:rPr lang="es-CO" sz="1200" kern="1200">
                <a:solidFill>
                  <a:schemeClr val="tx1"/>
                </a:solidFill>
                <a:latin typeface="+mn-lt"/>
                <a:ea typeface="+mn-ea"/>
                <a:cs typeface="+mn-cs"/>
              </a:rPr>
              <a:t>using namespace std;</a:t>
            </a:r>
          </a:p>
          <a:p>
            <a:endParaRPr lang="es-CO" sz="1200" kern="1200">
              <a:solidFill>
                <a:schemeClr val="tx1"/>
              </a:solidFill>
              <a:latin typeface="+mn-lt"/>
              <a:ea typeface="+mn-ea"/>
              <a:cs typeface="+mn-cs"/>
            </a:endParaRPr>
          </a:p>
          <a:p>
            <a:r>
              <a:rPr lang="es-CO" sz="1200" kern="1200">
                <a:solidFill>
                  <a:schemeClr val="tx1"/>
                </a:solidFill>
                <a:latin typeface="+mn-lt"/>
                <a:ea typeface="+mn-ea"/>
                <a:cs typeface="+mn-cs"/>
              </a:rPr>
              <a:t>int main()</a:t>
            </a:r>
          </a:p>
          <a:p>
            <a:r>
              <a:rPr lang="es-CO" sz="1200" kern="1200">
                <a:solidFill>
                  <a:schemeClr val="tx1"/>
                </a:solidFill>
                <a:latin typeface="+mn-lt"/>
                <a:ea typeface="+mn-ea"/>
                <a:cs typeface="+mn-cs"/>
              </a:rPr>
              <a:t>{</a:t>
            </a:r>
          </a:p>
          <a:p>
            <a:r>
              <a:rPr lang="es-CO" sz="1200" kern="1200">
                <a:solidFill>
                  <a:schemeClr val="tx1"/>
                </a:solidFill>
                <a:latin typeface="+mn-lt"/>
                <a:ea typeface="+mn-ea"/>
                <a:cs typeface="+mn-cs"/>
              </a:rPr>
              <a:t>	srand(time(NULL));</a:t>
            </a:r>
          </a:p>
          <a:p>
            <a:r>
              <a:rPr lang="es-CO"/>
              <a:t>	double NOTAS[5][5];</a:t>
            </a:r>
          </a:p>
          <a:p>
            <a:r>
              <a:rPr lang="es-CO"/>
              <a:t>	double suma = 0;</a:t>
            </a:r>
          </a:p>
          <a:p>
            <a:r>
              <a:rPr lang="es-CO"/>
              <a:t>	for (int i = 0; i &lt; 5; i++)</a:t>
            </a:r>
          </a:p>
          <a:p>
            <a:r>
              <a:rPr lang="es-CO"/>
              <a:t>	{</a:t>
            </a:r>
          </a:p>
          <a:p>
            <a:r>
              <a:rPr lang="es-CO"/>
              <a:t>		for (int j = 0; j &lt; 5; j++)</a:t>
            </a:r>
          </a:p>
          <a:p>
            <a:r>
              <a:rPr lang="es-CO"/>
              <a:t>		{</a:t>
            </a:r>
          </a:p>
          <a:p>
            <a:r>
              <a:rPr lang="es-CO"/>
              <a:t>			NOTAS[i][j] = rand()%5+rand()%10/10;</a:t>
            </a:r>
          </a:p>
          <a:p>
            <a:r>
              <a:rPr lang="es-CO"/>
              <a:t>			suma += NOTAS[i][j];</a:t>
            </a:r>
          </a:p>
          <a:p>
            <a:r>
              <a:rPr lang="es-CO"/>
              <a:t>		}		</a:t>
            </a:r>
          </a:p>
          <a:p>
            <a:r>
              <a:rPr lang="es-CO"/>
              <a:t>	}    </a:t>
            </a:r>
          </a:p>
          <a:p>
            <a:r>
              <a:rPr lang="es-CO"/>
              <a:t>	cout &lt;&lt; "\nNOTA PROMEDIO : " &lt;&lt; suma / 25;</a:t>
            </a:r>
          </a:p>
          <a:p>
            <a:r>
              <a:rPr lang="es-CO"/>
              <a:t>}</a:t>
            </a:r>
          </a:p>
          <a:p>
            <a:endParaRPr lang="es-CO" dirty="0"/>
          </a:p>
        </p:txBody>
      </p:sp>
      <p:sp>
        <p:nvSpPr>
          <p:cNvPr id="4" name="Marcador de número de diapositiva 3"/>
          <p:cNvSpPr>
            <a:spLocks noGrp="1"/>
          </p:cNvSpPr>
          <p:nvPr>
            <p:ph type="sldNum" sz="quarter" idx="10"/>
          </p:nvPr>
        </p:nvSpPr>
        <p:spPr/>
        <p:txBody>
          <a:bodyPr/>
          <a:lstStyle/>
          <a:p>
            <a:fld id="{6EBFF732-773A-4839-B774-230B46601DA8}" type="slidenum">
              <a:rPr lang="es-CO" smtClean="0"/>
              <a:t>7</a:t>
            </a:fld>
            <a:endParaRPr lang="es-CO"/>
          </a:p>
        </p:txBody>
      </p:sp>
    </p:spTree>
    <p:extLst>
      <p:ext uri="{BB962C8B-B14F-4D97-AF65-F5344CB8AC3E}">
        <p14:creationId xmlns:p14="http://schemas.microsoft.com/office/powerpoint/2010/main" val="246288772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O" dirty="0"/>
          </a:p>
        </p:txBody>
      </p:sp>
      <p:sp>
        <p:nvSpPr>
          <p:cNvPr id="4" name="Marcador de número de diapositiva 3"/>
          <p:cNvSpPr>
            <a:spLocks noGrp="1"/>
          </p:cNvSpPr>
          <p:nvPr>
            <p:ph type="sldNum" sz="quarter" idx="10"/>
          </p:nvPr>
        </p:nvSpPr>
        <p:spPr/>
        <p:txBody>
          <a:bodyPr/>
          <a:lstStyle/>
          <a:p>
            <a:fld id="{6EBFF732-773A-4839-B774-230B46601DA8}" type="slidenum">
              <a:rPr lang="es-CO" smtClean="0"/>
              <a:t>8</a:t>
            </a:fld>
            <a:endParaRPr lang="es-CO"/>
          </a:p>
        </p:txBody>
      </p:sp>
    </p:spTree>
    <p:extLst>
      <p:ext uri="{BB962C8B-B14F-4D97-AF65-F5344CB8AC3E}">
        <p14:creationId xmlns:p14="http://schemas.microsoft.com/office/powerpoint/2010/main" val="420131677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CO" dirty="0"/>
              <a:t>CODIGO FUENTE</a:t>
            </a:r>
          </a:p>
          <a:p>
            <a:r>
              <a:rPr lang="es-CO" sz="1200" kern="1200" dirty="0">
                <a:solidFill>
                  <a:schemeClr val="tx1"/>
                </a:solidFill>
                <a:latin typeface="+mn-lt"/>
                <a:ea typeface="+mn-ea"/>
                <a:cs typeface="+mn-cs"/>
              </a:rPr>
              <a:t>#</a:t>
            </a:r>
            <a:r>
              <a:rPr lang="es-CO" sz="1200" kern="1200" dirty="0" err="1">
                <a:solidFill>
                  <a:schemeClr val="tx1"/>
                </a:solidFill>
                <a:latin typeface="+mn-lt"/>
                <a:ea typeface="+mn-ea"/>
                <a:cs typeface="+mn-cs"/>
              </a:rPr>
              <a:t>include</a:t>
            </a:r>
            <a:r>
              <a:rPr lang="es-CO" sz="1200" kern="1200" dirty="0">
                <a:solidFill>
                  <a:schemeClr val="tx1"/>
                </a:solidFill>
                <a:latin typeface="+mn-lt"/>
                <a:ea typeface="+mn-ea"/>
                <a:cs typeface="+mn-cs"/>
              </a:rPr>
              <a:t> &lt;</a:t>
            </a:r>
            <a:r>
              <a:rPr lang="es-CO" sz="1200" kern="1200" dirty="0" err="1">
                <a:solidFill>
                  <a:schemeClr val="tx1"/>
                </a:solidFill>
                <a:latin typeface="+mn-lt"/>
                <a:ea typeface="+mn-ea"/>
                <a:cs typeface="+mn-cs"/>
              </a:rPr>
              <a:t>iostream</a:t>
            </a:r>
            <a:r>
              <a:rPr lang="es-CO" sz="1200" kern="1200" dirty="0">
                <a:solidFill>
                  <a:schemeClr val="tx1"/>
                </a:solidFill>
                <a:latin typeface="+mn-lt"/>
                <a:ea typeface="+mn-ea"/>
                <a:cs typeface="+mn-cs"/>
              </a:rPr>
              <a:t>&gt;</a:t>
            </a:r>
          </a:p>
          <a:p>
            <a:r>
              <a:rPr lang="es-CO" sz="1200" kern="1200" dirty="0">
                <a:solidFill>
                  <a:schemeClr val="tx1"/>
                </a:solidFill>
                <a:latin typeface="+mn-lt"/>
                <a:ea typeface="+mn-ea"/>
                <a:cs typeface="+mn-cs"/>
              </a:rPr>
              <a:t>#</a:t>
            </a:r>
            <a:r>
              <a:rPr lang="es-CO" sz="1200" kern="1200" dirty="0" err="1">
                <a:solidFill>
                  <a:schemeClr val="tx1"/>
                </a:solidFill>
                <a:latin typeface="+mn-lt"/>
                <a:ea typeface="+mn-ea"/>
                <a:cs typeface="+mn-cs"/>
              </a:rPr>
              <a:t>include</a:t>
            </a:r>
            <a:r>
              <a:rPr lang="es-CO" sz="1200" kern="1200" dirty="0">
                <a:solidFill>
                  <a:schemeClr val="tx1"/>
                </a:solidFill>
                <a:latin typeface="+mn-lt"/>
                <a:ea typeface="+mn-ea"/>
                <a:cs typeface="+mn-cs"/>
              </a:rPr>
              <a:t> &lt;</a:t>
            </a:r>
            <a:r>
              <a:rPr lang="es-CO" sz="1200" kern="1200" dirty="0" err="1">
                <a:solidFill>
                  <a:schemeClr val="tx1"/>
                </a:solidFill>
                <a:latin typeface="+mn-lt"/>
                <a:ea typeface="+mn-ea"/>
                <a:cs typeface="+mn-cs"/>
              </a:rPr>
              <a:t>cstdlib</a:t>
            </a:r>
            <a:r>
              <a:rPr lang="es-CO" sz="1200" kern="1200" dirty="0">
                <a:solidFill>
                  <a:schemeClr val="tx1"/>
                </a:solidFill>
                <a:latin typeface="+mn-lt"/>
                <a:ea typeface="+mn-ea"/>
                <a:cs typeface="+mn-cs"/>
              </a:rPr>
              <a:t>&gt;</a:t>
            </a:r>
          </a:p>
          <a:p>
            <a:r>
              <a:rPr lang="es-CO" sz="1200" kern="1200" dirty="0">
                <a:solidFill>
                  <a:schemeClr val="tx1"/>
                </a:solidFill>
                <a:latin typeface="+mn-lt"/>
                <a:ea typeface="+mn-ea"/>
                <a:cs typeface="+mn-cs"/>
              </a:rPr>
              <a:t>#</a:t>
            </a:r>
            <a:r>
              <a:rPr lang="es-CO" sz="1200" kern="1200" dirty="0" err="1">
                <a:solidFill>
                  <a:schemeClr val="tx1"/>
                </a:solidFill>
                <a:latin typeface="+mn-lt"/>
                <a:ea typeface="+mn-ea"/>
                <a:cs typeface="+mn-cs"/>
              </a:rPr>
              <a:t>include</a:t>
            </a:r>
            <a:r>
              <a:rPr lang="es-CO" sz="1200" kern="1200" dirty="0">
                <a:solidFill>
                  <a:schemeClr val="tx1"/>
                </a:solidFill>
                <a:latin typeface="+mn-lt"/>
                <a:ea typeface="+mn-ea"/>
                <a:cs typeface="+mn-cs"/>
              </a:rPr>
              <a:t> &lt;</a:t>
            </a:r>
            <a:r>
              <a:rPr lang="es-CO" sz="1200" kern="1200" dirty="0" err="1">
                <a:solidFill>
                  <a:schemeClr val="tx1"/>
                </a:solidFill>
                <a:latin typeface="+mn-lt"/>
                <a:ea typeface="+mn-ea"/>
                <a:cs typeface="+mn-cs"/>
              </a:rPr>
              <a:t>ctime</a:t>
            </a:r>
            <a:r>
              <a:rPr lang="es-CO" sz="1200" kern="1200" dirty="0">
                <a:solidFill>
                  <a:schemeClr val="tx1"/>
                </a:solidFill>
                <a:latin typeface="+mn-lt"/>
                <a:ea typeface="+mn-ea"/>
                <a:cs typeface="+mn-cs"/>
              </a:rPr>
              <a:t>&gt;</a:t>
            </a:r>
          </a:p>
          <a:p>
            <a:r>
              <a:rPr lang="es-CO" sz="1200" kern="1200" dirty="0">
                <a:solidFill>
                  <a:schemeClr val="tx1"/>
                </a:solidFill>
                <a:latin typeface="+mn-lt"/>
                <a:ea typeface="+mn-ea"/>
                <a:cs typeface="+mn-cs"/>
              </a:rPr>
              <a:t>#</a:t>
            </a:r>
            <a:r>
              <a:rPr lang="es-CO" sz="1200" kern="1200" dirty="0" err="1">
                <a:solidFill>
                  <a:schemeClr val="tx1"/>
                </a:solidFill>
                <a:latin typeface="+mn-lt"/>
                <a:ea typeface="+mn-ea"/>
                <a:cs typeface="+mn-cs"/>
              </a:rPr>
              <a:t>include</a:t>
            </a:r>
            <a:r>
              <a:rPr lang="es-CO" sz="1200" kern="1200" dirty="0">
                <a:solidFill>
                  <a:schemeClr val="tx1"/>
                </a:solidFill>
                <a:latin typeface="+mn-lt"/>
                <a:ea typeface="+mn-ea"/>
                <a:cs typeface="+mn-cs"/>
              </a:rPr>
              <a:t> &lt;</a:t>
            </a:r>
            <a:r>
              <a:rPr lang="es-CO" sz="1200" kern="1200" dirty="0" err="1">
                <a:solidFill>
                  <a:schemeClr val="tx1"/>
                </a:solidFill>
                <a:latin typeface="+mn-lt"/>
                <a:ea typeface="+mn-ea"/>
                <a:cs typeface="+mn-cs"/>
              </a:rPr>
              <a:t>iomanip</a:t>
            </a:r>
            <a:r>
              <a:rPr lang="es-CO" sz="1200" kern="1200" dirty="0">
                <a:solidFill>
                  <a:schemeClr val="tx1"/>
                </a:solidFill>
                <a:latin typeface="+mn-lt"/>
                <a:ea typeface="+mn-ea"/>
                <a:cs typeface="+mn-cs"/>
              </a:rPr>
              <a:t>&gt;</a:t>
            </a:r>
          </a:p>
          <a:p>
            <a:endParaRPr lang="es-CO" sz="1200" kern="1200" dirty="0">
              <a:solidFill>
                <a:schemeClr val="tx1"/>
              </a:solidFill>
              <a:latin typeface="+mn-lt"/>
              <a:ea typeface="+mn-ea"/>
              <a:cs typeface="+mn-cs"/>
            </a:endParaRPr>
          </a:p>
          <a:p>
            <a:r>
              <a:rPr lang="es-CO" sz="1200" kern="1200" dirty="0" err="1">
                <a:solidFill>
                  <a:schemeClr val="tx1"/>
                </a:solidFill>
                <a:latin typeface="+mn-lt"/>
                <a:ea typeface="+mn-ea"/>
                <a:cs typeface="+mn-cs"/>
              </a:rPr>
              <a:t>using</a:t>
            </a:r>
            <a:r>
              <a:rPr lang="es-CO" sz="1200" kern="1200" dirty="0">
                <a:solidFill>
                  <a:schemeClr val="tx1"/>
                </a:solidFill>
                <a:latin typeface="+mn-lt"/>
                <a:ea typeface="+mn-ea"/>
                <a:cs typeface="+mn-cs"/>
              </a:rPr>
              <a:t> </a:t>
            </a:r>
            <a:r>
              <a:rPr lang="es-CO" sz="1200" kern="1200" dirty="0" err="1">
                <a:solidFill>
                  <a:schemeClr val="tx1"/>
                </a:solidFill>
                <a:latin typeface="+mn-lt"/>
                <a:ea typeface="+mn-ea"/>
                <a:cs typeface="+mn-cs"/>
              </a:rPr>
              <a:t>namespace</a:t>
            </a:r>
            <a:r>
              <a:rPr lang="es-CO" sz="1200" kern="1200" dirty="0">
                <a:solidFill>
                  <a:schemeClr val="tx1"/>
                </a:solidFill>
                <a:latin typeface="+mn-lt"/>
                <a:ea typeface="+mn-ea"/>
                <a:cs typeface="+mn-cs"/>
              </a:rPr>
              <a:t> </a:t>
            </a:r>
            <a:r>
              <a:rPr lang="es-CO" sz="1200" kern="1200" dirty="0" err="1">
                <a:solidFill>
                  <a:schemeClr val="tx1"/>
                </a:solidFill>
                <a:latin typeface="+mn-lt"/>
                <a:ea typeface="+mn-ea"/>
                <a:cs typeface="+mn-cs"/>
              </a:rPr>
              <a:t>std</a:t>
            </a:r>
            <a:r>
              <a:rPr lang="es-CO" sz="1200" kern="1200" dirty="0">
                <a:solidFill>
                  <a:schemeClr val="tx1"/>
                </a:solidFill>
                <a:latin typeface="+mn-lt"/>
                <a:ea typeface="+mn-ea"/>
                <a:cs typeface="+mn-cs"/>
              </a:rPr>
              <a:t>;</a:t>
            </a:r>
          </a:p>
          <a:p>
            <a:endParaRPr lang="es-CO" sz="1200" kern="1200" dirty="0">
              <a:solidFill>
                <a:schemeClr val="tx1"/>
              </a:solidFill>
              <a:latin typeface="+mn-lt"/>
              <a:ea typeface="+mn-ea"/>
              <a:cs typeface="+mn-cs"/>
            </a:endParaRPr>
          </a:p>
          <a:p>
            <a:r>
              <a:rPr lang="es-CO" sz="1200" kern="1200" dirty="0" err="1">
                <a:solidFill>
                  <a:schemeClr val="tx1"/>
                </a:solidFill>
                <a:latin typeface="+mn-lt"/>
                <a:ea typeface="+mn-ea"/>
                <a:cs typeface="+mn-cs"/>
              </a:rPr>
              <a:t>int</a:t>
            </a:r>
            <a:r>
              <a:rPr lang="es-CO" sz="1200" kern="1200" dirty="0">
                <a:solidFill>
                  <a:schemeClr val="tx1"/>
                </a:solidFill>
                <a:latin typeface="+mn-lt"/>
                <a:ea typeface="+mn-ea"/>
                <a:cs typeface="+mn-cs"/>
              </a:rPr>
              <a:t> </a:t>
            </a:r>
            <a:r>
              <a:rPr lang="es-CO" sz="1200" kern="1200" dirty="0" err="1">
                <a:solidFill>
                  <a:schemeClr val="tx1"/>
                </a:solidFill>
                <a:latin typeface="+mn-lt"/>
                <a:ea typeface="+mn-ea"/>
                <a:cs typeface="+mn-cs"/>
              </a:rPr>
              <a:t>main</a:t>
            </a:r>
            <a:r>
              <a:rPr lang="es-CO" sz="1200" kern="1200" dirty="0">
                <a:solidFill>
                  <a:schemeClr val="tx1"/>
                </a:solidFill>
                <a:latin typeface="+mn-lt"/>
                <a:ea typeface="+mn-ea"/>
                <a:cs typeface="+mn-cs"/>
              </a:rPr>
              <a:t>()</a:t>
            </a:r>
          </a:p>
          <a:p>
            <a:r>
              <a:rPr lang="es-CO" sz="1200" kern="1200" dirty="0">
                <a:solidFill>
                  <a:schemeClr val="tx1"/>
                </a:solidFill>
                <a:latin typeface="+mn-lt"/>
                <a:ea typeface="+mn-ea"/>
                <a:cs typeface="+mn-cs"/>
              </a:rPr>
              <a:t>{	</a:t>
            </a:r>
          </a:p>
          <a:p>
            <a:r>
              <a:rPr lang="es-CO" sz="1200" kern="1200" dirty="0">
                <a:solidFill>
                  <a:schemeClr val="tx1"/>
                </a:solidFill>
                <a:latin typeface="+mn-lt"/>
                <a:ea typeface="+mn-ea"/>
                <a:cs typeface="+mn-cs"/>
              </a:rPr>
              <a:t>	</a:t>
            </a:r>
            <a:r>
              <a:rPr lang="es-CO" sz="1200" kern="1200" dirty="0" err="1">
                <a:solidFill>
                  <a:schemeClr val="tx1"/>
                </a:solidFill>
                <a:latin typeface="+mn-lt"/>
                <a:ea typeface="+mn-ea"/>
                <a:cs typeface="+mn-cs"/>
              </a:rPr>
              <a:t>srand</a:t>
            </a:r>
            <a:r>
              <a:rPr lang="es-CO" sz="1200" kern="1200" dirty="0">
                <a:solidFill>
                  <a:schemeClr val="tx1"/>
                </a:solidFill>
                <a:latin typeface="+mn-lt"/>
                <a:ea typeface="+mn-ea"/>
                <a:cs typeface="+mn-cs"/>
              </a:rPr>
              <a:t>(time(NULL));</a:t>
            </a:r>
          </a:p>
          <a:p>
            <a:r>
              <a:rPr lang="es-CO" sz="1200" kern="1200" dirty="0">
                <a:solidFill>
                  <a:schemeClr val="tx1"/>
                </a:solidFill>
                <a:latin typeface="+mn-lt"/>
                <a:ea typeface="+mn-ea"/>
                <a:cs typeface="+mn-cs"/>
              </a:rPr>
              <a:t>	</a:t>
            </a:r>
            <a:r>
              <a:rPr lang="es-CO" sz="1200" kern="1200" dirty="0" err="1">
                <a:solidFill>
                  <a:schemeClr val="tx1"/>
                </a:solidFill>
                <a:latin typeface="+mn-lt"/>
                <a:ea typeface="+mn-ea"/>
                <a:cs typeface="+mn-cs"/>
              </a:rPr>
              <a:t>double</a:t>
            </a:r>
            <a:r>
              <a:rPr lang="es-CO" sz="1200" kern="1200" dirty="0">
                <a:solidFill>
                  <a:schemeClr val="tx1"/>
                </a:solidFill>
                <a:latin typeface="+mn-lt"/>
                <a:ea typeface="+mn-ea"/>
                <a:cs typeface="+mn-cs"/>
              </a:rPr>
              <a:t> NOTAS[5][5];	</a:t>
            </a:r>
          </a:p>
          <a:p>
            <a:r>
              <a:rPr lang="es-CO" sz="1200" kern="1200" dirty="0">
                <a:solidFill>
                  <a:schemeClr val="tx1"/>
                </a:solidFill>
                <a:latin typeface="+mn-lt"/>
                <a:ea typeface="+mn-ea"/>
                <a:cs typeface="+mn-cs"/>
              </a:rPr>
              <a:t>	</a:t>
            </a:r>
            <a:r>
              <a:rPr lang="es-CO" sz="1200" kern="1200" dirty="0" err="1">
                <a:solidFill>
                  <a:schemeClr val="tx1"/>
                </a:solidFill>
                <a:latin typeface="+mn-lt"/>
                <a:ea typeface="+mn-ea"/>
                <a:cs typeface="+mn-cs"/>
              </a:rPr>
              <a:t>for</a:t>
            </a:r>
            <a:r>
              <a:rPr lang="es-CO" sz="1200" kern="1200" dirty="0">
                <a:solidFill>
                  <a:schemeClr val="tx1"/>
                </a:solidFill>
                <a:latin typeface="+mn-lt"/>
                <a:ea typeface="+mn-ea"/>
                <a:cs typeface="+mn-cs"/>
              </a:rPr>
              <a:t> (</a:t>
            </a:r>
            <a:r>
              <a:rPr lang="es-CO" sz="1200" kern="1200" dirty="0" err="1">
                <a:solidFill>
                  <a:schemeClr val="tx1"/>
                </a:solidFill>
                <a:latin typeface="+mn-lt"/>
                <a:ea typeface="+mn-ea"/>
                <a:cs typeface="+mn-cs"/>
              </a:rPr>
              <a:t>int</a:t>
            </a:r>
            <a:r>
              <a:rPr lang="es-CO" sz="1200" kern="1200" dirty="0">
                <a:solidFill>
                  <a:schemeClr val="tx1"/>
                </a:solidFill>
                <a:latin typeface="+mn-lt"/>
                <a:ea typeface="+mn-ea"/>
                <a:cs typeface="+mn-cs"/>
              </a:rPr>
              <a:t> i = 0; i &lt; 5; i++)</a:t>
            </a:r>
          </a:p>
          <a:p>
            <a:r>
              <a:rPr lang="es-CO" sz="1200" kern="1200" dirty="0">
                <a:solidFill>
                  <a:schemeClr val="tx1"/>
                </a:solidFill>
                <a:latin typeface="+mn-lt"/>
                <a:ea typeface="+mn-ea"/>
                <a:cs typeface="+mn-cs"/>
              </a:rPr>
              <a:t>	{</a:t>
            </a:r>
          </a:p>
          <a:p>
            <a:r>
              <a:rPr lang="es-CO" sz="1200" kern="1200" dirty="0">
                <a:solidFill>
                  <a:schemeClr val="tx1"/>
                </a:solidFill>
                <a:latin typeface="+mn-lt"/>
                <a:ea typeface="+mn-ea"/>
                <a:cs typeface="+mn-cs"/>
              </a:rPr>
              <a:t>		</a:t>
            </a:r>
            <a:r>
              <a:rPr lang="es-CO" sz="1200" kern="1200" dirty="0" err="1">
                <a:solidFill>
                  <a:schemeClr val="tx1"/>
                </a:solidFill>
                <a:latin typeface="+mn-lt"/>
                <a:ea typeface="+mn-ea"/>
                <a:cs typeface="+mn-cs"/>
              </a:rPr>
              <a:t>double</a:t>
            </a:r>
            <a:r>
              <a:rPr lang="es-CO" sz="1200" kern="1200" dirty="0">
                <a:solidFill>
                  <a:schemeClr val="tx1"/>
                </a:solidFill>
                <a:latin typeface="+mn-lt"/>
                <a:ea typeface="+mn-ea"/>
                <a:cs typeface="+mn-cs"/>
              </a:rPr>
              <a:t> suma = 0;</a:t>
            </a:r>
          </a:p>
          <a:p>
            <a:r>
              <a:rPr lang="es-CO" sz="1200" kern="1200" dirty="0">
                <a:solidFill>
                  <a:schemeClr val="tx1"/>
                </a:solidFill>
                <a:latin typeface="+mn-lt"/>
                <a:ea typeface="+mn-ea"/>
                <a:cs typeface="+mn-cs"/>
              </a:rPr>
              <a:t>		</a:t>
            </a:r>
            <a:r>
              <a:rPr lang="es-CO" sz="1200" kern="1200" dirty="0" err="1">
                <a:solidFill>
                  <a:schemeClr val="tx1"/>
                </a:solidFill>
                <a:latin typeface="+mn-lt"/>
                <a:ea typeface="+mn-ea"/>
                <a:cs typeface="+mn-cs"/>
              </a:rPr>
              <a:t>for</a:t>
            </a:r>
            <a:r>
              <a:rPr lang="es-CO" sz="1200" kern="1200" dirty="0">
                <a:solidFill>
                  <a:schemeClr val="tx1"/>
                </a:solidFill>
                <a:latin typeface="+mn-lt"/>
                <a:ea typeface="+mn-ea"/>
                <a:cs typeface="+mn-cs"/>
              </a:rPr>
              <a:t> (</a:t>
            </a:r>
            <a:r>
              <a:rPr lang="es-CO" sz="1200" kern="1200" dirty="0" err="1">
                <a:solidFill>
                  <a:schemeClr val="tx1"/>
                </a:solidFill>
                <a:latin typeface="+mn-lt"/>
                <a:ea typeface="+mn-ea"/>
                <a:cs typeface="+mn-cs"/>
              </a:rPr>
              <a:t>int</a:t>
            </a:r>
            <a:r>
              <a:rPr lang="es-CO" sz="1200" kern="1200" dirty="0">
                <a:solidFill>
                  <a:schemeClr val="tx1"/>
                </a:solidFill>
                <a:latin typeface="+mn-lt"/>
                <a:ea typeface="+mn-ea"/>
                <a:cs typeface="+mn-cs"/>
              </a:rPr>
              <a:t> j = 0; j &lt; 5; </a:t>
            </a:r>
            <a:r>
              <a:rPr lang="es-CO" sz="1200" kern="1200" dirty="0" err="1">
                <a:solidFill>
                  <a:schemeClr val="tx1"/>
                </a:solidFill>
                <a:latin typeface="+mn-lt"/>
                <a:ea typeface="+mn-ea"/>
                <a:cs typeface="+mn-cs"/>
              </a:rPr>
              <a:t>j++</a:t>
            </a:r>
            <a:r>
              <a:rPr lang="es-CO" sz="1200" kern="1200" dirty="0">
                <a:solidFill>
                  <a:schemeClr val="tx1"/>
                </a:solidFill>
                <a:latin typeface="+mn-lt"/>
                <a:ea typeface="+mn-ea"/>
                <a:cs typeface="+mn-cs"/>
              </a:rPr>
              <a:t>)</a:t>
            </a:r>
          </a:p>
          <a:p>
            <a:r>
              <a:rPr lang="es-CO" sz="1200" kern="1200" dirty="0">
                <a:solidFill>
                  <a:schemeClr val="tx1"/>
                </a:solidFill>
                <a:latin typeface="+mn-lt"/>
                <a:ea typeface="+mn-ea"/>
                <a:cs typeface="+mn-cs"/>
              </a:rPr>
              <a:t>		{</a:t>
            </a:r>
          </a:p>
          <a:p>
            <a:r>
              <a:rPr lang="es-CO" sz="1200" kern="1200" dirty="0">
                <a:solidFill>
                  <a:schemeClr val="tx1"/>
                </a:solidFill>
                <a:latin typeface="+mn-lt"/>
                <a:ea typeface="+mn-ea"/>
                <a:cs typeface="+mn-cs"/>
              </a:rPr>
              <a:t>			NOTAS[i][j] = rand()%5+rand()%10/10;</a:t>
            </a:r>
          </a:p>
          <a:p>
            <a:r>
              <a:rPr lang="es-CO" sz="1200" kern="1200" dirty="0">
                <a:solidFill>
                  <a:schemeClr val="tx1"/>
                </a:solidFill>
                <a:latin typeface="+mn-lt"/>
                <a:ea typeface="+mn-ea"/>
                <a:cs typeface="+mn-cs"/>
              </a:rPr>
              <a:t>			suma += NOTAS[i][j];</a:t>
            </a:r>
          </a:p>
          <a:p>
            <a:r>
              <a:rPr lang="es-CO" sz="1200" kern="1200" dirty="0">
                <a:solidFill>
                  <a:schemeClr val="tx1"/>
                </a:solidFill>
                <a:latin typeface="+mn-lt"/>
                <a:ea typeface="+mn-ea"/>
                <a:cs typeface="+mn-cs"/>
              </a:rPr>
              <a:t>		}		</a:t>
            </a:r>
          </a:p>
          <a:p>
            <a:r>
              <a:rPr lang="es-CO" sz="1200" kern="1200" dirty="0">
                <a:solidFill>
                  <a:schemeClr val="tx1"/>
                </a:solidFill>
                <a:latin typeface="+mn-lt"/>
                <a:ea typeface="+mn-ea"/>
                <a:cs typeface="+mn-cs"/>
              </a:rPr>
              <a:t>		</a:t>
            </a:r>
            <a:r>
              <a:rPr lang="es-CO" sz="1200" kern="1200" dirty="0" err="1">
                <a:solidFill>
                  <a:schemeClr val="tx1"/>
                </a:solidFill>
                <a:latin typeface="+mn-lt"/>
                <a:ea typeface="+mn-ea"/>
                <a:cs typeface="+mn-cs"/>
              </a:rPr>
              <a:t>cout</a:t>
            </a:r>
            <a:r>
              <a:rPr lang="es-CO" sz="1200" kern="1200" dirty="0">
                <a:solidFill>
                  <a:schemeClr val="tx1"/>
                </a:solidFill>
                <a:latin typeface="+mn-lt"/>
                <a:ea typeface="+mn-ea"/>
                <a:cs typeface="+mn-cs"/>
              </a:rPr>
              <a:t> &lt;&lt; </a:t>
            </a:r>
            <a:r>
              <a:rPr lang="es-CO" sz="1200" kern="1200" dirty="0" err="1">
                <a:solidFill>
                  <a:schemeClr val="tx1"/>
                </a:solidFill>
                <a:latin typeface="+mn-lt"/>
                <a:ea typeface="+mn-ea"/>
                <a:cs typeface="+mn-cs"/>
              </a:rPr>
              <a:t>fixed</a:t>
            </a:r>
            <a:r>
              <a:rPr lang="es-CO" sz="1200" kern="1200" dirty="0">
                <a:solidFill>
                  <a:schemeClr val="tx1"/>
                </a:solidFill>
                <a:latin typeface="+mn-lt"/>
                <a:ea typeface="+mn-ea"/>
                <a:cs typeface="+mn-cs"/>
              </a:rPr>
              <a:t> &lt;&lt; </a:t>
            </a:r>
            <a:r>
              <a:rPr lang="es-CO" sz="1200" kern="1200" dirty="0" err="1">
                <a:solidFill>
                  <a:schemeClr val="tx1"/>
                </a:solidFill>
                <a:latin typeface="+mn-lt"/>
                <a:ea typeface="+mn-ea"/>
                <a:cs typeface="+mn-cs"/>
              </a:rPr>
              <a:t>setprecision</a:t>
            </a:r>
            <a:r>
              <a:rPr lang="es-CO" sz="1200" kern="1200" dirty="0">
                <a:solidFill>
                  <a:schemeClr val="tx1"/>
                </a:solidFill>
                <a:latin typeface="+mn-lt"/>
                <a:ea typeface="+mn-ea"/>
                <a:cs typeface="+mn-cs"/>
              </a:rPr>
              <a:t>(2);</a:t>
            </a:r>
          </a:p>
          <a:p>
            <a:r>
              <a:rPr lang="es-CO" sz="1200" kern="1200" dirty="0">
                <a:solidFill>
                  <a:schemeClr val="tx1"/>
                </a:solidFill>
                <a:latin typeface="+mn-lt"/>
                <a:ea typeface="+mn-ea"/>
                <a:cs typeface="+mn-cs"/>
              </a:rPr>
              <a:t>		</a:t>
            </a:r>
            <a:r>
              <a:rPr lang="es-CO" sz="1200" kern="1200" dirty="0" err="1">
                <a:solidFill>
                  <a:schemeClr val="tx1"/>
                </a:solidFill>
                <a:latin typeface="+mn-lt"/>
                <a:ea typeface="+mn-ea"/>
                <a:cs typeface="+mn-cs"/>
              </a:rPr>
              <a:t>cout</a:t>
            </a:r>
            <a:r>
              <a:rPr lang="es-CO" sz="1200" kern="1200" dirty="0">
                <a:solidFill>
                  <a:schemeClr val="tx1"/>
                </a:solidFill>
                <a:latin typeface="+mn-lt"/>
                <a:ea typeface="+mn-ea"/>
                <a:cs typeface="+mn-cs"/>
              </a:rPr>
              <a:t> &lt;&lt; "\</a:t>
            </a:r>
            <a:r>
              <a:rPr lang="es-CO" sz="1200" kern="1200" dirty="0" err="1">
                <a:solidFill>
                  <a:schemeClr val="tx1"/>
                </a:solidFill>
                <a:latin typeface="+mn-lt"/>
                <a:ea typeface="+mn-ea"/>
                <a:cs typeface="+mn-cs"/>
              </a:rPr>
              <a:t>nNOTA</a:t>
            </a:r>
            <a:r>
              <a:rPr lang="es-CO" sz="1200" kern="1200" dirty="0">
                <a:solidFill>
                  <a:schemeClr val="tx1"/>
                </a:solidFill>
                <a:latin typeface="+mn-lt"/>
                <a:ea typeface="+mn-ea"/>
                <a:cs typeface="+mn-cs"/>
              </a:rPr>
              <a:t> PROMEDIO MATERIA #" &lt;&lt; i+1 &lt;&lt; ": " &lt;&lt; suma / 5 &lt;&lt; </a:t>
            </a:r>
            <a:r>
              <a:rPr lang="es-CO" sz="1200" kern="1200" dirty="0" err="1">
                <a:solidFill>
                  <a:schemeClr val="tx1"/>
                </a:solidFill>
                <a:latin typeface="+mn-lt"/>
                <a:ea typeface="+mn-ea"/>
                <a:cs typeface="+mn-cs"/>
              </a:rPr>
              <a:t>endl</a:t>
            </a:r>
            <a:r>
              <a:rPr lang="es-CO" sz="1200" kern="1200" dirty="0">
                <a:solidFill>
                  <a:schemeClr val="tx1"/>
                </a:solidFill>
                <a:latin typeface="+mn-lt"/>
                <a:ea typeface="+mn-ea"/>
                <a:cs typeface="+mn-cs"/>
              </a:rPr>
              <a:t>;</a:t>
            </a:r>
          </a:p>
          <a:p>
            <a:r>
              <a:rPr lang="es-CO" sz="1200" kern="1200" dirty="0">
                <a:solidFill>
                  <a:schemeClr val="tx1"/>
                </a:solidFill>
                <a:latin typeface="+mn-lt"/>
                <a:ea typeface="+mn-ea"/>
                <a:cs typeface="+mn-cs"/>
              </a:rPr>
              <a:t>	}    	</a:t>
            </a:r>
          </a:p>
          <a:p>
            <a:r>
              <a:rPr lang="es-CO" sz="1200" kern="1200" dirty="0">
                <a:solidFill>
                  <a:schemeClr val="tx1"/>
                </a:solidFill>
                <a:latin typeface="+mn-lt"/>
                <a:ea typeface="+mn-ea"/>
                <a:cs typeface="+mn-cs"/>
              </a:rPr>
              <a:t>}</a:t>
            </a:r>
          </a:p>
          <a:p>
            <a:endParaRPr lang="es-CO" sz="1200" kern="1200" dirty="0">
              <a:solidFill>
                <a:schemeClr val="tx1"/>
              </a:solidFill>
              <a:latin typeface="+mn-lt"/>
              <a:ea typeface="+mn-ea"/>
              <a:cs typeface="+mn-cs"/>
            </a:endParaRPr>
          </a:p>
        </p:txBody>
      </p:sp>
      <p:sp>
        <p:nvSpPr>
          <p:cNvPr id="4" name="Marcador de número de diapositiva 3"/>
          <p:cNvSpPr>
            <a:spLocks noGrp="1"/>
          </p:cNvSpPr>
          <p:nvPr>
            <p:ph type="sldNum" sz="quarter" idx="10"/>
          </p:nvPr>
        </p:nvSpPr>
        <p:spPr/>
        <p:txBody>
          <a:bodyPr/>
          <a:lstStyle/>
          <a:p>
            <a:fld id="{6EBFF732-773A-4839-B774-230B46601DA8}" type="slidenum">
              <a:rPr lang="es-CO" smtClean="0"/>
              <a:t>9</a:t>
            </a:fld>
            <a:endParaRPr lang="es-CO"/>
          </a:p>
        </p:txBody>
      </p:sp>
    </p:spTree>
    <p:extLst>
      <p:ext uri="{BB962C8B-B14F-4D97-AF65-F5344CB8AC3E}">
        <p14:creationId xmlns:p14="http://schemas.microsoft.com/office/powerpoint/2010/main" val="38225993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O" dirty="0"/>
          </a:p>
        </p:txBody>
      </p:sp>
      <p:sp>
        <p:nvSpPr>
          <p:cNvPr id="4" name="Marcador de número de diapositiva 3"/>
          <p:cNvSpPr>
            <a:spLocks noGrp="1"/>
          </p:cNvSpPr>
          <p:nvPr>
            <p:ph type="sldNum" sz="quarter" idx="10"/>
          </p:nvPr>
        </p:nvSpPr>
        <p:spPr/>
        <p:txBody>
          <a:bodyPr/>
          <a:lstStyle/>
          <a:p>
            <a:fld id="{6EBFF732-773A-4839-B774-230B46601DA8}" type="slidenum">
              <a:rPr lang="es-CO" smtClean="0"/>
              <a:t>10</a:t>
            </a:fld>
            <a:endParaRPr lang="es-CO"/>
          </a:p>
        </p:txBody>
      </p:sp>
    </p:spTree>
    <p:extLst>
      <p:ext uri="{BB962C8B-B14F-4D97-AF65-F5344CB8AC3E}">
        <p14:creationId xmlns:p14="http://schemas.microsoft.com/office/powerpoint/2010/main" val="325526783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CO" dirty="0"/>
              <a:t>CODIGO FUENTE</a:t>
            </a:r>
          </a:p>
          <a:p>
            <a:r>
              <a:rPr lang="es-CO" sz="1200" kern="1200" dirty="0">
                <a:solidFill>
                  <a:schemeClr val="tx1"/>
                </a:solidFill>
                <a:latin typeface="+mn-lt"/>
                <a:ea typeface="+mn-ea"/>
                <a:cs typeface="+mn-cs"/>
              </a:rPr>
              <a:t>#</a:t>
            </a:r>
            <a:r>
              <a:rPr lang="es-CO" sz="1200" kern="1200" dirty="0" err="1">
                <a:solidFill>
                  <a:schemeClr val="tx1"/>
                </a:solidFill>
                <a:latin typeface="+mn-lt"/>
                <a:ea typeface="+mn-ea"/>
                <a:cs typeface="+mn-cs"/>
              </a:rPr>
              <a:t>include</a:t>
            </a:r>
            <a:r>
              <a:rPr lang="es-CO" sz="1200" kern="1200" dirty="0">
                <a:solidFill>
                  <a:schemeClr val="tx1"/>
                </a:solidFill>
                <a:latin typeface="+mn-lt"/>
                <a:ea typeface="+mn-ea"/>
                <a:cs typeface="+mn-cs"/>
              </a:rPr>
              <a:t> &lt;</a:t>
            </a:r>
            <a:r>
              <a:rPr lang="es-CO" sz="1200" kern="1200" dirty="0" err="1">
                <a:solidFill>
                  <a:schemeClr val="tx1"/>
                </a:solidFill>
                <a:latin typeface="+mn-lt"/>
                <a:ea typeface="+mn-ea"/>
                <a:cs typeface="+mn-cs"/>
              </a:rPr>
              <a:t>iostream</a:t>
            </a:r>
            <a:r>
              <a:rPr lang="es-CO" sz="1200" kern="1200" dirty="0">
                <a:solidFill>
                  <a:schemeClr val="tx1"/>
                </a:solidFill>
                <a:latin typeface="+mn-lt"/>
                <a:ea typeface="+mn-ea"/>
                <a:cs typeface="+mn-cs"/>
              </a:rPr>
              <a:t>&gt;</a:t>
            </a:r>
          </a:p>
          <a:p>
            <a:r>
              <a:rPr lang="es-CO" sz="1200" kern="1200" dirty="0">
                <a:solidFill>
                  <a:schemeClr val="tx1"/>
                </a:solidFill>
                <a:latin typeface="+mn-lt"/>
                <a:ea typeface="+mn-ea"/>
                <a:cs typeface="+mn-cs"/>
              </a:rPr>
              <a:t>#</a:t>
            </a:r>
            <a:r>
              <a:rPr lang="es-CO" sz="1200" kern="1200" dirty="0" err="1">
                <a:solidFill>
                  <a:schemeClr val="tx1"/>
                </a:solidFill>
                <a:latin typeface="+mn-lt"/>
                <a:ea typeface="+mn-ea"/>
                <a:cs typeface="+mn-cs"/>
              </a:rPr>
              <a:t>include</a:t>
            </a:r>
            <a:r>
              <a:rPr lang="es-CO" sz="1200" kern="1200" dirty="0">
                <a:solidFill>
                  <a:schemeClr val="tx1"/>
                </a:solidFill>
                <a:latin typeface="+mn-lt"/>
                <a:ea typeface="+mn-ea"/>
                <a:cs typeface="+mn-cs"/>
              </a:rPr>
              <a:t> &lt;</a:t>
            </a:r>
            <a:r>
              <a:rPr lang="es-CO" sz="1200" kern="1200" dirty="0" err="1">
                <a:solidFill>
                  <a:schemeClr val="tx1"/>
                </a:solidFill>
                <a:latin typeface="+mn-lt"/>
                <a:ea typeface="+mn-ea"/>
                <a:cs typeface="+mn-cs"/>
              </a:rPr>
              <a:t>cstdlib</a:t>
            </a:r>
            <a:r>
              <a:rPr lang="es-CO" sz="1200" kern="1200" dirty="0">
                <a:solidFill>
                  <a:schemeClr val="tx1"/>
                </a:solidFill>
                <a:latin typeface="+mn-lt"/>
                <a:ea typeface="+mn-ea"/>
                <a:cs typeface="+mn-cs"/>
              </a:rPr>
              <a:t>&gt;</a:t>
            </a:r>
          </a:p>
          <a:p>
            <a:r>
              <a:rPr lang="es-CO" sz="1200" kern="1200" dirty="0">
                <a:solidFill>
                  <a:schemeClr val="tx1"/>
                </a:solidFill>
                <a:latin typeface="+mn-lt"/>
                <a:ea typeface="+mn-ea"/>
                <a:cs typeface="+mn-cs"/>
              </a:rPr>
              <a:t>#</a:t>
            </a:r>
            <a:r>
              <a:rPr lang="es-CO" sz="1200" kern="1200" dirty="0" err="1">
                <a:solidFill>
                  <a:schemeClr val="tx1"/>
                </a:solidFill>
                <a:latin typeface="+mn-lt"/>
                <a:ea typeface="+mn-ea"/>
                <a:cs typeface="+mn-cs"/>
              </a:rPr>
              <a:t>include</a:t>
            </a:r>
            <a:r>
              <a:rPr lang="es-CO" sz="1200" kern="1200" dirty="0">
                <a:solidFill>
                  <a:schemeClr val="tx1"/>
                </a:solidFill>
                <a:latin typeface="+mn-lt"/>
                <a:ea typeface="+mn-ea"/>
                <a:cs typeface="+mn-cs"/>
              </a:rPr>
              <a:t> &lt;</a:t>
            </a:r>
            <a:r>
              <a:rPr lang="es-CO" sz="1200" kern="1200" dirty="0" err="1">
                <a:solidFill>
                  <a:schemeClr val="tx1"/>
                </a:solidFill>
                <a:latin typeface="+mn-lt"/>
                <a:ea typeface="+mn-ea"/>
                <a:cs typeface="+mn-cs"/>
              </a:rPr>
              <a:t>ctime</a:t>
            </a:r>
            <a:r>
              <a:rPr lang="es-CO" sz="1200" kern="1200" dirty="0">
                <a:solidFill>
                  <a:schemeClr val="tx1"/>
                </a:solidFill>
                <a:latin typeface="+mn-lt"/>
                <a:ea typeface="+mn-ea"/>
                <a:cs typeface="+mn-cs"/>
              </a:rPr>
              <a:t>&gt;</a:t>
            </a:r>
          </a:p>
          <a:p>
            <a:r>
              <a:rPr lang="es-CO" sz="1200" kern="1200" dirty="0">
                <a:solidFill>
                  <a:schemeClr val="tx1"/>
                </a:solidFill>
                <a:latin typeface="+mn-lt"/>
                <a:ea typeface="+mn-ea"/>
                <a:cs typeface="+mn-cs"/>
              </a:rPr>
              <a:t>#</a:t>
            </a:r>
            <a:r>
              <a:rPr lang="es-CO" sz="1200" kern="1200" dirty="0" err="1">
                <a:solidFill>
                  <a:schemeClr val="tx1"/>
                </a:solidFill>
                <a:latin typeface="+mn-lt"/>
                <a:ea typeface="+mn-ea"/>
                <a:cs typeface="+mn-cs"/>
              </a:rPr>
              <a:t>include</a:t>
            </a:r>
            <a:r>
              <a:rPr lang="es-CO" sz="1200" kern="1200" dirty="0">
                <a:solidFill>
                  <a:schemeClr val="tx1"/>
                </a:solidFill>
                <a:latin typeface="+mn-lt"/>
                <a:ea typeface="+mn-ea"/>
                <a:cs typeface="+mn-cs"/>
              </a:rPr>
              <a:t> &lt;</a:t>
            </a:r>
            <a:r>
              <a:rPr lang="es-CO" sz="1200" kern="1200" dirty="0" err="1">
                <a:solidFill>
                  <a:schemeClr val="tx1"/>
                </a:solidFill>
                <a:latin typeface="+mn-lt"/>
                <a:ea typeface="+mn-ea"/>
                <a:cs typeface="+mn-cs"/>
              </a:rPr>
              <a:t>iomanip</a:t>
            </a:r>
            <a:r>
              <a:rPr lang="es-CO" sz="1200" kern="1200" dirty="0">
                <a:solidFill>
                  <a:schemeClr val="tx1"/>
                </a:solidFill>
                <a:latin typeface="+mn-lt"/>
                <a:ea typeface="+mn-ea"/>
                <a:cs typeface="+mn-cs"/>
              </a:rPr>
              <a:t>&gt;</a:t>
            </a:r>
          </a:p>
          <a:p>
            <a:endParaRPr lang="es-CO" sz="1200" kern="1200" dirty="0">
              <a:solidFill>
                <a:schemeClr val="tx1"/>
              </a:solidFill>
              <a:latin typeface="+mn-lt"/>
              <a:ea typeface="+mn-ea"/>
              <a:cs typeface="+mn-cs"/>
            </a:endParaRPr>
          </a:p>
          <a:p>
            <a:r>
              <a:rPr lang="es-CO" sz="1200" kern="1200" dirty="0" err="1">
                <a:solidFill>
                  <a:schemeClr val="tx1"/>
                </a:solidFill>
                <a:latin typeface="+mn-lt"/>
                <a:ea typeface="+mn-ea"/>
                <a:cs typeface="+mn-cs"/>
              </a:rPr>
              <a:t>using</a:t>
            </a:r>
            <a:r>
              <a:rPr lang="es-CO" sz="1200" kern="1200" dirty="0">
                <a:solidFill>
                  <a:schemeClr val="tx1"/>
                </a:solidFill>
                <a:latin typeface="+mn-lt"/>
                <a:ea typeface="+mn-ea"/>
                <a:cs typeface="+mn-cs"/>
              </a:rPr>
              <a:t> </a:t>
            </a:r>
            <a:r>
              <a:rPr lang="es-CO" sz="1200" kern="1200" dirty="0" err="1">
                <a:solidFill>
                  <a:schemeClr val="tx1"/>
                </a:solidFill>
                <a:latin typeface="+mn-lt"/>
                <a:ea typeface="+mn-ea"/>
                <a:cs typeface="+mn-cs"/>
              </a:rPr>
              <a:t>namespace</a:t>
            </a:r>
            <a:r>
              <a:rPr lang="es-CO" sz="1200" kern="1200" dirty="0">
                <a:solidFill>
                  <a:schemeClr val="tx1"/>
                </a:solidFill>
                <a:latin typeface="+mn-lt"/>
                <a:ea typeface="+mn-ea"/>
                <a:cs typeface="+mn-cs"/>
              </a:rPr>
              <a:t> </a:t>
            </a:r>
            <a:r>
              <a:rPr lang="es-CO" sz="1200" kern="1200" dirty="0" err="1">
                <a:solidFill>
                  <a:schemeClr val="tx1"/>
                </a:solidFill>
                <a:latin typeface="+mn-lt"/>
                <a:ea typeface="+mn-ea"/>
                <a:cs typeface="+mn-cs"/>
              </a:rPr>
              <a:t>std</a:t>
            </a:r>
            <a:r>
              <a:rPr lang="es-CO" sz="1200" kern="1200" dirty="0">
                <a:solidFill>
                  <a:schemeClr val="tx1"/>
                </a:solidFill>
                <a:latin typeface="+mn-lt"/>
                <a:ea typeface="+mn-ea"/>
                <a:cs typeface="+mn-cs"/>
              </a:rPr>
              <a:t>;</a:t>
            </a:r>
          </a:p>
          <a:p>
            <a:endParaRPr lang="es-CO" sz="1200" kern="1200" dirty="0">
              <a:solidFill>
                <a:schemeClr val="tx1"/>
              </a:solidFill>
              <a:latin typeface="+mn-lt"/>
              <a:ea typeface="+mn-ea"/>
              <a:cs typeface="+mn-cs"/>
            </a:endParaRPr>
          </a:p>
          <a:p>
            <a:r>
              <a:rPr lang="es-CO" sz="1200" kern="1200" dirty="0" err="1">
                <a:solidFill>
                  <a:schemeClr val="tx1"/>
                </a:solidFill>
                <a:latin typeface="+mn-lt"/>
                <a:ea typeface="+mn-ea"/>
                <a:cs typeface="+mn-cs"/>
              </a:rPr>
              <a:t>int</a:t>
            </a:r>
            <a:r>
              <a:rPr lang="es-CO" sz="1200" kern="1200" dirty="0">
                <a:solidFill>
                  <a:schemeClr val="tx1"/>
                </a:solidFill>
                <a:latin typeface="+mn-lt"/>
                <a:ea typeface="+mn-ea"/>
                <a:cs typeface="+mn-cs"/>
              </a:rPr>
              <a:t> </a:t>
            </a:r>
            <a:r>
              <a:rPr lang="es-CO" sz="1200" kern="1200" dirty="0" err="1">
                <a:solidFill>
                  <a:schemeClr val="tx1"/>
                </a:solidFill>
                <a:latin typeface="+mn-lt"/>
                <a:ea typeface="+mn-ea"/>
                <a:cs typeface="+mn-cs"/>
              </a:rPr>
              <a:t>main</a:t>
            </a:r>
            <a:r>
              <a:rPr lang="es-CO" sz="1200" kern="1200" dirty="0">
                <a:solidFill>
                  <a:schemeClr val="tx1"/>
                </a:solidFill>
                <a:latin typeface="+mn-lt"/>
                <a:ea typeface="+mn-ea"/>
                <a:cs typeface="+mn-cs"/>
              </a:rPr>
              <a:t>()</a:t>
            </a:r>
          </a:p>
          <a:p>
            <a:r>
              <a:rPr lang="es-CO" sz="1200" kern="1200" dirty="0">
                <a:solidFill>
                  <a:schemeClr val="tx1"/>
                </a:solidFill>
                <a:latin typeface="+mn-lt"/>
                <a:ea typeface="+mn-ea"/>
                <a:cs typeface="+mn-cs"/>
              </a:rPr>
              <a:t>{	</a:t>
            </a:r>
          </a:p>
          <a:p>
            <a:r>
              <a:rPr lang="es-CO" sz="1200" kern="1200" dirty="0">
                <a:solidFill>
                  <a:schemeClr val="tx1"/>
                </a:solidFill>
                <a:latin typeface="+mn-lt"/>
                <a:ea typeface="+mn-ea"/>
                <a:cs typeface="+mn-cs"/>
              </a:rPr>
              <a:t>	</a:t>
            </a:r>
            <a:r>
              <a:rPr lang="es-CO" sz="1200" kern="1200" dirty="0" err="1">
                <a:solidFill>
                  <a:schemeClr val="tx1"/>
                </a:solidFill>
                <a:latin typeface="+mn-lt"/>
                <a:ea typeface="+mn-ea"/>
                <a:cs typeface="+mn-cs"/>
              </a:rPr>
              <a:t>srand</a:t>
            </a:r>
            <a:r>
              <a:rPr lang="es-CO" sz="1200" kern="1200" dirty="0">
                <a:solidFill>
                  <a:schemeClr val="tx1"/>
                </a:solidFill>
                <a:latin typeface="+mn-lt"/>
                <a:ea typeface="+mn-ea"/>
                <a:cs typeface="+mn-cs"/>
              </a:rPr>
              <a:t>(time(NULL));</a:t>
            </a:r>
          </a:p>
          <a:p>
            <a:r>
              <a:rPr lang="es-CO" sz="1200" kern="1200" dirty="0">
                <a:solidFill>
                  <a:schemeClr val="tx1"/>
                </a:solidFill>
                <a:latin typeface="+mn-lt"/>
                <a:ea typeface="+mn-ea"/>
                <a:cs typeface="+mn-cs"/>
              </a:rPr>
              <a:t>	</a:t>
            </a:r>
            <a:r>
              <a:rPr lang="es-CO" sz="1200" kern="1200" dirty="0" err="1">
                <a:solidFill>
                  <a:schemeClr val="tx1"/>
                </a:solidFill>
                <a:latin typeface="+mn-lt"/>
                <a:ea typeface="+mn-ea"/>
                <a:cs typeface="+mn-cs"/>
              </a:rPr>
              <a:t>double</a:t>
            </a:r>
            <a:r>
              <a:rPr lang="es-CO" sz="1200" kern="1200" dirty="0">
                <a:solidFill>
                  <a:schemeClr val="tx1"/>
                </a:solidFill>
                <a:latin typeface="+mn-lt"/>
                <a:ea typeface="+mn-ea"/>
                <a:cs typeface="+mn-cs"/>
              </a:rPr>
              <a:t> NOTAS[5][5];	</a:t>
            </a:r>
          </a:p>
          <a:p>
            <a:r>
              <a:rPr lang="es-CO" sz="1200" kern="1200" dirty="0">
                <a:solidFill>
                  <a:schemeClr val="tx1"/>
                </a:solidFill>
                <a:latin typeface="+mn-lt"/>
                <a:ea typeface="+mn-ea"/>
                <a:cs typeface="+mn-cs"/>
              </a:rPr>
              <a:t>	</a:t>
            </a:r>
            <a:r>
              <a:rPr lang="es-CO" sz="1200" kern="1200" dirty="0" err="1">
                <a:solidFill>
                  <a:schemeClr val="tx1"/>
                </a:solidFill>
                <a:latin typeface="+mn-lt"/>
                <a:ea typeface="+mn-ea"/>
                <a:cs typeface="+mn-cs"/>
              </a:rPr>
              <a:t>for</a:t>
            </a:r>
            <a:r>
              <a:rPr lang="es-CO" sz="1200" kern="1200" dirty="0">
                <a:solidFill>
                  <a:schemeClr val="tx1"/>
                </a:solidFill>
                <a:latin typeface="+mn-lt"/>
                <a:ea typeface="+mn-ea"/>
                <a:cs typeface="+mn-cs"/>
              </a:rPr>
              <a:t> (</a:t>
            </a:r>
            <a:r>
              <a:rPr lang="es-CO" sz="1200" kern="1200" dirty="0" err="1">
                <a:solidFill>
                  <a:schemeClr val="tx1"/>
                </a:solidFill>
                <a:latin typeface="+mn-lt"/>
                <a:ea typeface="+mn-ea"/>
                <a:cs typeface="+mn-cs"/>
              </a:rPr>
              <a:t>int</a:t>
            </a:r>
            <a:r>
              <a:rPr lang="es-CO" sz="1200" kern="1200" dirty="0">
                <a:solidFill>
                  <a:schemeClr val="tx1"/>
                </a:solidFill>
                <a:latin typeface="+mn-lt"/>
                <a:ea typeface="+mn-ea"/>
                <a:cs typeface="+mn-cs"/>
              </a:rPr>
              <a:t> j = 0; j &lt; 5; </a:t>
            </a:r>
            <a:r>
              <a:rPr lang="es-CO" sz="1200" kern="1200" dirty="0" err="1">
                <a:solidFill>
                  <a:schemeClr val="tx1"/>
                </a:solidFill>
                <a:latin typeface="+mn-lt"/>
                <a:ea typeface="+mn-ea"/>
                <a:cs typeface="+mn-cs"/>
              </a:rPr>
              <a:t>j++</a:t>
            </a:r>
            <a:r>
              <a:rPr lang="es-CO" sz="1200" kern="1200" dirty="0">
                <a:solidFill>
                  <a:schemeClr val="tx1"/>
                </a:solidFill>
                <a:latin typeface="+mn-lt"/>
                <a:ea typeface="+mn-ea"/>
                <a:cs typeface="+mn-cs"/>
              </a:rPr>
              <a:t>)	</a:t>
            </a:r>
          </a:p>
          <a:p>
            <a:r>
              <a:rPr lang="es-CO" sz="1200" kern="1200" dirty="0">
                <a:solidFill>
                  <a:schemeClr val="tx1"/>
                </a:solidFill>
                <a:latin typeface="+mn-lt"/>
                <a:ea typeface="+mn-ea"/>
                <a:cs typeface="+mn-cs"/>
              </a:rPr>
              <a:t>	{</a:t>
            </a:r>
          </a:p>
          <a:p>
            <a:r>
              <a:rPr lang="es-CO" sz="1200" kern="1200" dirty="0">
                <a:solidFill>
                  <a:schemeClr val="tx1"/>
                </a:solidFill>
                <a:latin typeface="+mn-lt"/>
                <a:ea typeface="+mn-ea"/>
                <a:cs typeface="+mn-cs"/>
              </a:rPr>
              <a:t>		</a:t>
            </a:r>
            <a:r>
              <a:rPr lang="es-CO" sz="1200" kern="1200" dirty="0" err="1">
                <a:solidFill>
                  <a:schemeClr val="tx1"/>
                </a:solidFill>
                <a:latin typeface="+mn-lt"/>
                <a:ea typeface="+mn-ea"/>
                <a:cs typeface="+mn-cs"/>
              </a:rPr>
              <a:t>double</a:t>
            </a:r>
            <a:r>
              <a:rPr lang="es-CO" sz="1200" kern="1200" dirty="0">
                <a:solidFill>
                  <a:schemeClr val="tx1"/>
                </a:solidFill>
                <a:latin typeface="+mn-lt"/>
                <a:ea typeface="+mn-ea"/>
                <a:cs typeface="+mn-cs"/>
              </a:rPr>
              <a:t> suma = 0;</a:t>
            </a:r>
          </a:p>
          <a:p>
            <a:r>
              <a:rPr lang="es-CO" sz="1200" kern="1200" dirty="0">
                <a:solidFill>
                  <a:schemeClr val="tx1"/>
                </a:solidFill>
                <a:latin typeface="+mn-lt"/>
                <a:ea typeface="+mn-ea"/>
                <a:cs typeface="+mn-cs"/>
              </a:rPr>
              <a:t>		</a:t>
            </a:r>
            <a:r>
              <a:rPr lang="es-CO" sz="1200" kern="1200" dirty="0" err="1">
                <a:solidFill>
                  <a:schemeClr val="tx1"/>
                </a:solidFill>
                <a:latin typeface="+mn-lt"/>
                <a:ea typeface="+mn-ea"/>
                <a:cs typeface="+mn-cs"/>
              </a:rPr>
              <a:t>for</a:t>
            </a:r>
            <a:r>
              <a:rPr lang="es-CO" sz="1200" kern="1200" dirty="0">
                <a:solidFill>
                  <a:schemeClr val="tx1"/>
                </a:solidFill>
                <a:latin typeface="+mn-lt"/>
                <a:ea typeface="+mn-ea"/>
                <a:cs typeface="+mn-cs"/>
              </a:rPr>
              <a:t> (</a:t>
            </a:r>
            <a:r>
              <a:rPr lang="es-CO" sz="1200" kern="1200" dirty="0" err="1">
                <a:solidFill>
                  <a:schemeClr val="tx1"/>
                </a:solidFill>
                <a:latin typeface="+mn-lt"/>
                <a:ea typeface="+mn-ea"/>
                <a:cs typeface="+mn-cs"/>
              </a:rPr>
              <a:t>int</a:t>
            </a:r>
            <a:r>
              <a:rPr lang="es-CO" sz="1200" kern="1200" dirty="0">
                <a:solidFill>
                  <a:schemeClr val="tx1"/>
                </a:solidFill>
                <a:latin typeface="+mn-lt"/>
                <a:ea typeface="+mn-ea"/>
                <a:cs typeface="+mn-cs"/>
              </a:rPr>
              <a:t> i = 0; i &lt; 5; i++)</a:t>
            </a:r>
          </a:p>
          <a:p>
            <a:r>
              <a:rPr lang="es-CO" sz="1200" kern="1200" dirty="0">
                <a:solidFill>
                  <a:schemeClr val="tx1"/>
                </a:solidFill>
                <a:latin typeface="+mn-lt"/>
                <a:ea typeface="+mn-ea"/>
                <a:cs typeface="+mn-cs"/>
              </a:rPr>
              <a:t>		{</a:t>
            </a:r>
          </a:p>
          <a:p>
            <a:r>
              <a:rPr lang="es-CO" sz="1200" kern="1200" dirty="0">
                <a:solidFill>
                  <a:schemeClr val="tx1"/>
                </a:solidFill>
                <a:latin typeface="+mn-lt"/>
                <a:ea typeface="+mn-ea"/>
                <a:cs typeface="+mn-cs"/>
              </a:rPr>
              <a:t>			NOTAS[i][j] = rand()%5+rand()%10/10;</a:t>
            </a:r>
          </a:p>
          <a:p>
            <a:r>
              <a:rPr lang="es-CO" sz="1200" kern="1200" dirty="0">
                <a:solidFill>
                  <a:schemeClr val="tx1"/>
                </a:solidFill>
                <a:latin typeface="+mn-lt"/>
                <a:ea typeface="+mn-ea"/>
                <a:cs typeface="+mn-cs"/>
              </a:rPr>
              <a:t>			suma += NOTAS[i][j];</a:t>
            </a:r>
          </a:p>
          <a:p>
            <a:r>
              <a:rPr lang="es-CO" sz="1200" kern="1200" dirty="0">
                <a:solidFill>
                  <a:schemeClr val="tx1"/>
                </a:solidFill>
                <a:latin typeface="+mn-lt"/>
                <a:ea typeface="+mn-ea"/>
                <a:cs typeface="+mn-cs"/>
              </a:rPr>
              <a:t>		}		</a:t>
            </a:r>
          </a:p>
          <a:p>
            <a:r>
              <a:rPr lang="es-CO" sz="1200" kern="1200" dirty="0">
                <a:solidFill>
                  <a:schemeClr val="tx1"/>
                </a:solidFill>
                <a:latin typeface="+mn-lt"/>
                <a:ea typeface="+mn-ea"/>
                <a:cs typeface="+mn-cs"/>
              </a:rPr>
              <a:t>		</a:t>
            </a:r>
            <a:r>
              <a:rPr lang="es-CO" sz="1200" kern="1200" dirty="0" err="1">
                <a:solidFill>
                  <a:schemeClr val="tx1"/>
                </a:solidFill>
                <a:latin typeface="+mn-lt"/>
                <a:ea typeface="+mn-ea"/>
                <a:cs typeface="+mn-cs"/>
              </a:rPr>
              <a:t>cout</a:t>
            </a:r>
            <a:r>
              <a:rPr lang="es-CO" sz="1200" kern="1200" dirty="0">
                <a:solidFill>
                  <a:schemeClr val="tx1"/>
                </a:solidFill>
                <a:latin typeface="+mn-lt"/>
                <a:ea typeface="+mn-ea"/>
                <a:cs typeface="+mn-cs"/>
              </a:rPr>
              <a:t> &lt;&lt; </a:t>
            </a:r>
            <a:r>
              <a:rPr lang="es-CO" sz="1200" kern="1200" dirty="0" err="1">
                <a:solidFill>
                  <a:schemeClr val="tx1"/>
                </a:solidFill>
                <a:latin typeface="+mn-lt"/>
                <a:ea typeface="+mn-ea"/>
                <a:cs typeface="+mn-cs"/>
              </a:rPr>
              <a:t>fixed</a:t>
            </a:r>
            <a:r>
              <a:rPr lang="es-CO" sz="1200" kern="1200" dirty="0">
                <a:solidFill>
                  <a:schemeClr val="tx1"/>
                </a:solidFill>
                <a:latin typeface="+mn-lt"/>
                <a:ea typeface="+mn-ea"/>
                <a:cs typeface="+mn-cs"/>
              </a:rPr>
              <a:t> &lt;&lt; </a:t>
            </a:r>
            <a:r>
              <a:rPr lang="es-CO" sz="1200" kern="1200" dirty="0" err="1">
                <a:solidFill>
                  <a:schemeClr val="tx1"/>
                </a:solidFill>
                <a:latin typeface="+mn-lt"/>
                <a:ea typeface="+mn-ea"/>
                <a:cs typeface="+mn-cs"/>
              </a:rPr>
              <a:t>setprecision</a:t>
            </a:r>
            <a:r>
              <a:rPr lang="es-CO" sz="1200" kern="1200" dirty="0">
                <a:solidFill>
                  <a:schemeClr val="tx1"/>
                </a:solidFill>
                <a:latin typeface="+mn-lt"/>
                <a:ea typeface="+mn-ea"/>
                <a:cs typeface="+mn-cs"/>
              </a:rPr>
              <a:t>(2);</a:t>
            </a:r>
          </a:p>
          <a:p>
            <a:r>
              <a:rPr lang="es-CO" sz="1200" kern="1200" dirty="0">
                <a:solidFill>
                  <a:schemeClr val="tx1"/>
                </a:solidFill>
                <a:latin typeface="+mn-lt"/>
                <a:ea typeface="+mn-ea"/>
                <a:cs typeface="+mn-cs"/>
              </a:rPr>
              <a:t>		</a:t>
            </a:r>
            <a:r>
              <a:rPr lang="es-CO" sz="1200" kern="1200" dirty="0" err="1">
                <a:solidFill>
                  <a:schemeClr val="tx1"/>
                </a:solidFill>
                <a:latin typeface="+mn-lt"/>
                <a:ea typeface="+mn-ea"/>
                <a:cs typeface="+mn-cs"/>
              </a:rPr>
              <a:t>cout</a:t>
            </a:r>
            <a:r>
              <a:rPr lang="es-CO" sz="1200" kern="1200" dirty="0">
                <a:solidFill>
                  <a:schemeClr val="tx1"/>
                </a:solidFill>
                <a:latin typeface="+mn-lt"/>
                <a:ea typeface="+mn-ea"/>
                <a:cs typeface="+mn-cs"/>
              </a:rPr>
              <a:t> &lt;&lt; "\</a:t>
            </a:r>
            <a:r>
              <a:rPr lang="es-CO" sz="1200" kern="1200" dirty="0" err="1">
                <a:solidFill>
                  <a:schemeClr val="tx1"/>
                </a:solidFill>
                <a:latin typeface="+mn-lt"/>
                <a:ea typeface="+mn-ea"/>
                <a:cs typeface="+mn-cs"/>
              </a:rPr>
              <a:t>nNOTA</a:t>
            </a:r>
            <a:r>
              <a:rPr lang="es-CO" sz="1200" kern="1200" dirty="0">
                <a:solidFill>
                  <a:schemeClr val="tx1"/>
                </a:solidFill>
                <a:latin typeface="+mn-lt"/>
                <a:ea typeface="+mn-ea"/>
                <a:cs typeface="+mn-cs"/>
              </a:rPr>
              <a:t> PROMEDIO ESTUDIANTE#" &lt;&lt; j+1 &lt;&lt; ": " &lt;&lt; suma / 5 &lt;&lt; </a:t>
            </a:r>
            <a:r>
              <a:rPr lang="es-CO" sz="1200" kern="1200" dirty="0" err="1">
                <a:solidFill>
                  <a:schemeClr val="tx1"/>
                </a:solidFill>
                <a:latin typeface="+mn-lt"/>
                <a:ea typeface="+mn-ea"/>
                <a:cs typeface="+mn-cs"/>
              </a:rPr>
              <a:t>endl</a:t>
            </a:r>
            <a:r>
              <a:rPr lang="es-CO" sz="1200" kern="1200" dirty="0">
                <a:solidFill>
                  <a:schemeClr val="tx1"/>
                </a:solidFill>
                <a:latin typeface="+mn-lt"/>
                <a:ea typeface="+mn-ea"/>
                <a:cs typeface="+mn-cs"/>
              </a:rPr>
              <a:t>;</a:t>
            </a:r>
          </a:p>
          <a:p>
            <a:r>
              <a:rPr lang="es-CO" sz="1200" kern="1200" dirty="0">
                <a:solidFill>
                  <a:schemeClr val="tx1"/>
                </a:solidFill>
                <a:latin typeface="+mn-lt"/>
                <a:ea typeface="+mn-ea"/>
                <a:cs typeface="+mn-cs"/>
              </a:rPr>
              <a:t>	}    	</a:t>
            </a:r>
          </a:p>
          <a:p>
            <a:r>
              <a:rPr lang="es-CO" sz="1200" kern="1200" dirty="0">
                <a:solidFill>
                  <a:schemeClr val="tx1"/>
                </a:solidFill>
                <a:latin typeface="+mn-lt"/>
                <a:ea typeface="+mn-ea"/>
                <a:cs typeface="+mn-cs"/>
              </a:rPr>
              <a:t>}</a:t>
            </a:r>
          </a:p>
          <a:p>
            <a:endParaRPr lang="es-CO" sz="1200" kern="1200" dirty="0">
              <a:solidFill>
                <a:schemeClr val="tx1"/>
              </a:solidFill>
              <a:latin typeface="+mn-lt"/>
              <a:ea typeface="+mn-ea"/>
              <a:cs typeface="+mn-cs"/>
            </a:endParaRPr>
          </a:p>
        </p:txBody>
      </p:sp>
      <p:sp>
        <p:nvSpPr>
          <p:cNvPr id="4" name="Marcador de número de diapositiva 3"/>
          <p:cNvSpPr>
            <a:spLocks noGrp="1"/>
          </p:cNvSpPr>
          <p:nvPr>
            <p:ph type="sldNum" sz="quarter" idx="10"/>
          </p:nvPr>
        </p:nvSpPr>
        <p:spPr/>
        <p:txBody>
          <a:bodyPr/>
          <a:lstStyle/>
          <a:p>
            <a:fld id="{6EBFF732-773A-4839-B774-230B46601DA8}" type="slidenum">
              <a:rPr lang="es-CO" smtClean="0"/>
              <a:t>11</a:t>
            </a:fld>
            <a:endParaRPr lang="es-CO"/>
          </a:p>
        </p:txBody>
      </p:sp>
    </p:spTree>
    <p:extLst>
      <p:ext uri="{BB962C8B-B14F-4D97-AF65-F5344CB8AC3E}">
        <p14:creationId xmlns:p14="http://schemas.microsoft.com/office/powerpoint/2010/main" val="188371521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O" dirty="0"/>
          </a:p>
        </p:txBody>
      </p:sp>
      <p:sp>
        <p:nvSpPr>
          <p:cNvPr id="4" name="Marcador de número de diapositiva 3"/>
          <p:cNvSpPr>
            <a:spLocks noGrp="1"/>
          </p:cNvSpPr>
          <p:nvPr>
            <p:ph type="sldNum" sz="quarter" idx="10"/>
          </p:nvPr>
        </p:nvSpPr>
        <p:spPr/>
        <p:txBody>
          <a:bodyPr/>
          <a:lstStyle/>
          <a:p>
            <a:fld id="{6EBFF732-773A-4839-B774-230B46601DA8}" type="slidenum">
              <a:rPr lang="es-CO" smtClean="0"/>
              <a:t>12</a:t>
            </a:fld>
            <a:endParaRPr lang="es-CO"/>
          </a:p>
        </p:txBody>
      </p:sp>
    </p:spTree>
    <p:extLst>
      <p:ext uri="{BB962C8B-B14F-4D97-AF65-F5344CB8AC3E}">
        <p14:creationId xmlns:p14="http://schemas.microsoft.com/office/powerpoint/2010/main" val="330929726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CO" dirty="0"/>
              <a:t>CODIGO FUENTE</a:t>
            </a:r>
          </a:p>
          <a:p>
            <a:r>
              <a:rPr lang="es-CO" sz="1200" kern="1200" dirty="0">
                <a:solidFill>
                  <a:schemeClr val="tx1"/>
                </a:solidFill>
                <a:latin typeface="+mn-lt"/>
                <a:ea typeface="+mn-ea"/>
                <a:cs typeface="+mn-cs"/>
              </a:rPr>
              <a:t>#</a:t>
            </a:r>
            <a:r>
              <a:rPr lang="es-CO" sz="1200" kern="1200" dirty="0" err="1">
                <a:solidFill>
                  <a:schemeClr val="tx1"/>
                </a:solidFill>
                <a:latin typeface="+mn-lt"/>
                <a:ea typeface="+mn-ea"/>
                <a:cs typeface="+mn-cs"/>
              </a:rPr>
              <a:t>include</a:t>
            </a:r>
            <a:r>
              <a:rPr lang="es-CO" sz="1200" kern="1200" dirty="0">
                <a:solidFill>
                  <a:schemeClr val="tx1"/>
                </a:solidFill>
                <a:latin typeface="+mn-lt"/>
                <a:ea typeface="+mn-ea"/>
                <a:cs typeface="+mn-cs"/>
              </a:rPr>
              <a:t> &lt;</a:t>
            </a:r>
            <a:r>
              <a:rPr lang="es-CO" sz="1200" kern="1200" dirty="0" err="1">
                <a:solidFill>
                  <a:schemeClr val="tx1"/>
                </a:solidFill>
                <a:latin typeface="+mn-lt"/>
                <a:ea typeface="+mn-ea"/>
                <a:cs typeface="+mn-cs"/>
              </a:rPr>
              <a:t>iostream</a:t>
            </a:r>
            <a:r>
              <a:rPr lang="es-CO" sz="1200" kern="1200" dirty="0">
                <a:solidFill>
                  <a:schemeClr val="tx1"/>
                </a:solidFill>
                <a:latin typeface="+mn-lt"/>
                <a:ea typeface="+mn-ea"/>
                <a:cs typeface="+mn-cs"/>
              </a:rPr>
              <a:t>&gt;</a:t>
            </a:r>
          </a:p>
          <a:p>
            <a:r>
              <a:rPr lang="es-CO" sz="1200" kern="1200" dirty="0">
                <a:solidFill>
                  <a:schemeClr val="tx1"/>
                </a:solidFill>
                <a:latin typeface="+mn-lt"/>
                <a:ea typeface="+mn-ea"/>
                <a:cs typeface="+mn-cs"/>
              </a:rPr>
              <a:t>#</a:t>
            </a:r>
            <a:r>
              <a:rPr lang="es-CO" sz="1200" kern="1200" dirty="0" err="1">
                <a:solidFill>
                  <a:schemeClr val="tx1"/>
                </a:solidFill>
                <a:latin typeface="+mn-lt"/>
                <a:ea typeface="+mn-ea"/>
                <a:cs typeface="+mn-cs"/>
              </a:rPr>
              <a:t>include</a:t>
            </a:r>
            <a:r>
              <a:rPr lang="es-CO" sz="1200" kern="1200" dirty="0">
                <a:solidFill>
                  <a:schemeClr val="tx1"/>
                </a:solidFill>
                <a:latin typeface="+mn-lt"/>
                <a:ea typeface="+mn-ea"/>
                <a:cs typeface="+mn-cs"/>
              </a:rPr>
              <a:t> &lt;</a:t>
            </a:r>
            <a:r>
              <a:rPr lang="es-CO" sz="1200" kern="1200" dirty="0" err="1">
                <a:solidFill>
                  <a:schemeClr val="tx1"/>
                </a:solidFill>
                <a:latin typeface="+mn-lt"/>
                <a:ea typeface="+mn-ea"/>
                <a:cs typeface="+mn-cs"/>
              </a:rPr>
              <a:t>cstdlib</a:t>
            </a:r>
            <a:r>
              <a:rPr lang="es-CO" sz="1200" kern="1200" dirty="0">
                <a:solidFill>
                  <a:schemeClr val="tx1"/>
                </a:solidFill>
                <a:latin typeface="+mn-lt"/>
                <a:ea typeface="+mn-ea"/>
                <a:cs typeface="+mn-cs"/>
              </a:rPr>
              <a:t>&gt;</a:t>
            </a:r>
          </a:p>
          <a:p>
            <a:r>
              <a:rPr lang="es-CO" sz="1200" kern="1200" dirty="0">
                <a:solidFill>
                  <a:schemeClr val="tx1"/>
                </a:solidFill>
                <a:latin typeface="+mn-lt"/>
                <a:ea typeface="+mn-ea"/>
                <a:cs typeface="+mn-cs"/>
              </a:rPr>
              <a:t>#</a:t>
            </a:r>
            <a:r>
              <a:rPr lang="es-CO" sz="1200" kern="1200" dirty="0" err="1">
                <a:solidFill>
                  <a:schemeClr val="tx1"/>
                </a:solidFill>
                <a:latin typeface="+mn-lt"/>
                <a:ea typeface="+mn-ea"/>
                <a:cs typeface="+mn-cs"/>
              </a:rPr>
              <a:t>include</a:t>
            </a:r>
            <a:r>
              <a:rPr lang="es-CO" sz="1200" kern="1200" dirty="0">
                <a:solidFill>
                  <a:schemeClr val="tx1"/>
                </a:solidFill>
                <a:latin typeface="+mn-lt"/>
                <a:ea typeface="+mn-ea"/>
                <a:cs typeface="+mn-cs"/>
              </a:rPr>
              <a:t> &lt;</a:t>
            </a:r>
            <a:r>
              <a:rPr lang="es-CO" sz="1200" kern="1200" dirty="0" err="1">
                <a:solidFill>
                  <a:schemeClr val="tx1"/>
                </a:solidFill>
                <a:latin typeface="+mn-lt"/>
                <a:ea typeface="+mn-ea"/>
                <a:cs typeface="+mn-cs"/>
              </a:rPr>
              <a:t>ctime</a:t>
            </a:r>
            <a:r>
              <a:rPr lang="es-CO" sz="1200" kern="1200" dirty="0">
                <a:solidFill>
                  <a:schemeClr val="tx1"/>
                </a:solidFill>
                <a:latin typeface="+mn-lt"/>
                <a:ea typeface="+mn-ea"/>
                <a:cs typeface="+mn-cs"/>
              </a:rPr>
              <a:t>&gt;</a:t>
            </a:r>
          </a:p>
          <a:p>
            <a:r>
              <a:rPr lang="es-CO" sz="1200" kern="1200" dirty="0">
                <a:solidFill>
                  <a:schemeClr val="tx1"/>
                </a:solidFill>
                <a:latin typeface="+mn-lt"/>
                <a:ea typeface="+mn-ea"/>
                <a:cs typeface="+mn-cs"/>
              </a:rPr>
              <a:t>#</a:t>
            </a:r>
            <a:r>
              <a:rPr lang="es-CO" sz="1200" kern="1200" dirty="0" err="1">
                <a:solidFill>
                  <a:schemeClr val="tx1"/>
                </a:solidFill>
                <a:latin typeface="+mn-lt"/>
                <a:ea typeface="+mn-ea"/>
                <a:cs typeface="+mn-cs"/>
              </a:rPr>
              <a:t>include</a:t>
            </a:r>
            <a:r>
              <a:rPr lang="es-CO" sz="1200" kern="1200" dirty="0">
                <a:solidFill>
                  <a:schemeClr val="tx1"/>
                </a:solidFill>
                <a:latin typeface="+mn-lt"/>
                <a:ea typeface="+mn-ea"/>
                <a:cs typeface="+mn-cs"/>
              </a:rPr>
              <a:t> &lt;</a:t>
            </a:r>
            <a:r>
              <a:rPr lang="es-CO" sz="1200" kern="1200" dirty="0" err="1">
                <a:solidFill>
                  <a:schemeClr val="tx1"/>
                </a:solidFill>
                <a:latin typeface="+mn-lt"/>
                <a:ea typeface="+mn-ea"/>
                <a:cs typeface="+mn-cs"/>
              </a:rPr>
              <a:t>iomanip</a:t>
            </a:r>
            <a:r>
              <a:rPr lang="es-CO" sz="1200" kern="1200" dirty="0">
                <a:solidFill>
                  <a:schemeClr val="tx1"/>
                </a:solidFill>
                <a:latin typeface="+mn-lt"/>
                <a:ea typeface="+mn-ea"/>
                <a:cs typeface="+mn-cs"/>
              </a:rPr>
              <a:t>&gt;</a:t>
            </a:r>
          </a:p>
          <a:p>
            <a:r>
              <a:rPr lang="es-CO" sz="1200" kern="1200" dirty="0" err="1">
                <a:solidFill>
                  <a:schemeClr val="tx1"/>
                </a:solidFill>
                <a:latin typeface="+mn-lt"/>
                <a:ea typeface="+mn-ea"/>
                <a:cs typeface="+mn-cs"/>
              </a:rPr>
              <a:t>using</a:t>
            </a:r>
            <a:r>
              <a:rPr lang="es-CO" sz="1200" kern="1200" dirty="0">
                <a:solidFill>
                  <a:schemeClr val="tx1"/>
                </a:solidFill>
                <a:latin typeface="+mn-lt"/>
                <a:ea typeface="+mn-ea"/>
                <a:cs typeface="+mn-cs"/>
              </a:rPr>
              <a:t> </a:t>
            </a:r>
            <a:r>
              <a:rPr lang="es-CO" sz="1200" kern="1200" dirty="0" err="1">
                <a:solidFill>
                  <a:schemeClr val="tx1"/>
                </a:solidFill>
                <a:latin typeface="+mn-lt"/>
                <a:ea typeface="+mn-ea"/>
                <a:cs typeface="+mn-cs"/>
              </a:rPr>
              <a:t>namespace</a:t>
            </a:r>
            <a:r>
              <a:rPr lang="es-CO" sz="1200" kern="1200" dirty="0">
                <a:solidFill>
                  <a:schemeClr val="tx1"/>
                </a:solidFill>
                <a:latin typeface="+mn-lt"/>
                <a:ea typeface="+mn-ea"/>
                <a:cs typeface="+mn-cs"/>
              </a:rPr>
              <a:t> </a:t>
            </a:r>
            <a:r>
              <a:rPr lang="es-CO" sz="1200" kern="1200" dirty="0" err="1">
                <a:solidFill>
                  <a:schemeClr val="tx1"/>
                </a:solidFill>
                <a:latin typeface="+mn-lt"/>
                <a:ea typeface="+mn-ea"/>
                <a:cs typeface="+mn-cs"/>
              </a:rPr>
              <a:t>std</a:t>
            </a:r>
            <a:r>
              <a:rPr lang="es-CO" sz="1200" kern="1200" dirty="0">
                <a:solidFill>
                  <a:schemeClr val="tx1"/>
                </a:solidFill>
                <a:latin typeface="+mn-lt"/>
                <a:ea typeface="+mn-ea"/>
                <a:cs typeface="+mn-cs"/>
              </a:rPr>
              <a:t>;</a:t>
            </a:r>
          </a:p>
          <a:p>
            <a:endParaRPr lang="es-CO" sz="1200" kern="1200" dirty="0">
              <a:solidFill>
                <a:schemeClr val="tx1"/>
              </a:solidFill>
              <a:latin typeface="+mn-lt"/>
              <a:ea typeface="+mn-ea"/>
              <a:cs typeface="+mn-cs"/>
            </a:endParaRPr>
          </a:p>
          <a:p>
            <a:r>
              <a:rPr lang="es-CO" sz="1200" kern="1200" dirty="0" err="1">
                <a:solidFill>
                  <a:schemeClr val="tx1"/>
                </a:solidFill>
                <a:latin typeface="+mn-lt"/>
                <a:ea typeface="+mn-ea"/>
                <a:cs typeface="+mn-cs"/>
              </a:rPr>
              <a:t>int</a:t>
            </a:r>
            <a:r>
              <a:rPr lang="es-CO" sz="1200" kern="1200" dirty="0">
                <a:solidFill>
                  <a:schemeClr val="tx1"/>
                </a:solidFill>
                <a:latin typeface="+mn-lt"/>
                <a:ea typeface="+mn-ea"/>
                <a:cs typeface="+mn-cs"/>
              </a:rPr>
              <a:t> </a:t>
            </a:r>
            <a:r>
              <a:rPr lang="es-CO" sz="1200" kern="1200" dirty="0" err="1">
                <a:solidFill>
                  <a:schemeClr val="tx1"/>
                </a:solidFill>
                <a:latin typeface="+mn-lt"/>
                <a:ea typeface="+mn-ea"/>
                <a:cs typeface="+mn-cs"/>
              </a:rPr>
              <a:t>main</a:t>
            </a:r>
            <a:r>
              <a:rPr lang="es-CO" sz="1200" kern="1200" dirty="0">
                <a:solidFill>
                  <a:schemeClr val="tx1"/>
                </a:solidFill>
                <a:latin typeface="+mn-lt"/>
                <a:ea typeface="+mn-ea"/>
                <a:cs typeface="+mn-cs"/>
              </a:rPr>
              <a:t>()</a:t>
            </a:r>
          </a:p>
          <a:p>
            <a:r>
              <a:rPr lang="es-CO" sz="1200" kern="1200" dirty="0">
                <a:solidFill>
                  <a:schemeClr val="tx1"/>
                </a:solidFill>
                <a:latin typeface="+mn-lt"/>
                <a:ea typeface="+mn-ea"/>
                <a:cs typeface="+mn-cs"/>
              </a:rPr>
              <a:t>{	</a:t>
            </a:r>
          </a:p>
          <a:p>
            <a:r>
              <a:rPr lang="es-CO" sz="1200" kern="1200" dirty="0">
                <a:solidFill>
                  <a:schemeClr val="tx1"/>
                </a:solidFill>
                <a:latin typeface="+mn-lt"/>
                <a:ea typeface="+mn-ea"/>
                <a:cs typeface="+mn-cs"/>
              </a:rPr>
              <a:t>	</a:t>
            </a:r>
            <a:r>
              <a:rPr lang="es-CO" sz="1200" kern="1200" dirty="0" err="1">
                <a:solidFill>
                  <a:schemeClr val="tx1"/>
                </a:solidFill>
                <a:latin typeface="+mn-lt"/>
                <a:ea typeface="+mn-ea"/>
                <a:cs typeface="+mn-cs"/>
              </a:rPr>
              <a:t>srand</a:t>
            </a:r>
            <a:r>
              <a:rPr lang="es-CO" sz="1200" kern="1200" dirty="0">
                <a:solidFill>
                  <a:schemeClr val="tx1"/>
                </a:solidFill>
                <a:latin typeface="+mn-lt"/>
                <a:ea typeface="+mn-ea"/>
                <a:cs typeface="+mn-cs"/>
              </a:rPr>
              <a:t>(time(NULL));</a:t>
            </a:r>
          </a:p>
          <a:p>
            <a:r>
              <a:rPr lang="es-CO" sz="1200" kern="1200" dirty="0">
                <a:solidFill>
                  <a:schemeClr val="tx1"/>
                </a:solidFill>
                <a:latin typeface="+mn-lt"/>
                <a:ea typeface="+mn-ea"/>
                <a:cs typeface="+mn-cs"/>
              </a:rPr>
              <a:t>	</a:t>
            </a:r>
            <a:r>
              <a:rPr lang="es-CO" sz="1200" kern="1200" dirty="0" err="1">
                <a:solidFill>
                  <a:schemeClr val="tx1"/>
                </a:solidFill>
                <a:latin typeface="+mn-lt"/>
                <a:ea typeface="+mn-ea"/>
                <a:cs typeface="+mn-cs"/>
              </a:rPr>
              <a:t>double</a:t>
            </a:r>
            <a:r>
              <a:rPr lang="es-CO" sz="1200" kern="1200" dirty="0">
                <a:solidFill>
                  <a:schemeClr val="tx1"/>
                </a:solidFill>
                <a:latin typeface="+mn-lt"/>
                <a:ea typeface="+mn-ea"/>
                <a:cs typeface="+mn-cs"/>
              </a:rPr>
              <a:t> NOTAS[5][5];	</a:t>
            </a:r>
          </a:p>
          <a:p>
            <a:r>
              <a:rPr lang="es-CO" sz="1200" kern="1200" dirty="0">
                <a:solidFill>
                  <a:schemeClr val="tx1"/>
                </a:solidFill>
                <a:latin typeface="+mn-lt"/>
                <a:ea typeface="+mn-ea"/>
                <a:cs typeface="+mn-cs"/>
              </a:rPr>
              <a:t>	</a:t>
            </a:r>
            <a:r>
              <a:rPr lang="es-CO" sz="1200" kern="1200" dirty="0" err="1">
                <a:solidFill>
                  <a:schemeClr val="tx1"/>
                </a:solidFill>
                <a:latin typeface="+mn-lt"/>
                <a:ea typeface="+mn-ea"/>
                <a:cs typeface="+mn-cs"/>
              </a:rPr>
              <a:t>double</a:t>
            </a:r>
            <a:r>
              <a:rPr lang="es-CO" sz="1200" kern="1200" dirty="0">
                <a:solidFill>
                  <a:schemeClr val="tx1"/>
                </a:solidFill>
                <a:latin typeface="+mn-lt"/>
                <a:ea typeface="+mn-ea"/>
                <a:cs typeface="+mn-cs"/>
              </a:rPr>
              <a:t> VECTOR[5];</a:t>
            </a:r>
          </a:p>
          <a:p>
            <a:r>
              <a:rPr lang="es-CO" sz="1200" kern="1200" dirty="0">
                <a:solidFill>
                  <a:schemeClr val="tx1"/>
                </a:solidFill>
                <a:latin typeface="+mn-lt"/>
                <a:ea typeface="+mn-ea"/>
                <a:cs typeface="+mn-cs"/>
              </a:rPr>
              <a:t>	</a:t>
            </a:r>
            <a:r>
              <a:rPr lang="es-CO" sz="1200" kern="1200" dirty="0" err="1">
                <a:solidFill>
                  <a:schemeClr val="tx1"/>
                </a:solidFill>
                <a:latin typeface="+mn-lt"/>
                <a:ea typeface="+mn-ea"/>
                <a:cs typeface="+mn-cs"/>
              </a:rPr>
              <a:t>for</a:t>
            </a:r>
            <a:r>
              <a:rPr lang="es-CO" sz="1200" kern="1200" dirty="0">
                <a:solidFill>
                  <a:schemeClr val="tx1"/>
                </a:solidFill>
                <a:latin typeface="+mn-lt"/>
                <a:ea typeface="+mn-ea"/>
                <a:cs typeface="+mn-cs"/>
              </a:rPr>
              <a:t> (</a:t>
            </a:r>
            <a:r>
              <a:rPr lang="es-CO" sz="1200" kern="1200" dirty="0" err="1">
                <a:solidFill>
                  <a:schemeClr val="tx1"/>
                </a:solidFill>
                <a:latin typeface="+mn-lt"/>
                <a:ea typeface="+mn-ea"/>
                <a:cs typeface="+mn-cs"/>
              </a:rPr>
              <a:t>int</a:t>
            </a:r>
            <a:r>
              <a:rPr lang="es-CO" sz="1200" kern="1200" dirty="0">
                <a:solidFill>
                  <a:schemeClr val="tx1"/>
                </a:solidFill>
                <a:latin typeface="+mn-lt"/>
                <a:ea typeface="+mn-ea"/>
                <a:cs typeface="+mn-cs"/>
              </a:rPr>
              <a:t> i = 0; i &lt; 5; i++)	</a:t>
            </a:r>
          </a:p>
          <a:p>
            <a:r>
              <a:rPr lang="es-CO" sz="1200" kern="1200" dirty="0">
                <a:solidFill>
                  <a:schemeClr val="tx1"/>
                </a:solidFill>
                <a:latin typeface="+mn-lt"/>
                <a:ea typeface="+mn-ea"/>
                <a:cs typeface="+mn-cs"/>
              </a:rPr>
              <a:t>	{</a:t>
            </a:r>
          </a:p>
          <a:p>
            <a:r>
              <a:rPr lang="es-CO" sz="1200" kern="1200" dirty="0">
                <a:solidFill>
                  <a:schemeClr val="tx1"/>
                </a:solidFill>
                <a:latin typeface="+mn-lt"/>
                <a:ea typeface="+mn-ea"/>
                <a:cs typeface="+mn-cs"/>
              </a:rPr>
              <a:t>		</a:t>
            </a:r>
            <a:r>
              <a:rPr lang="es-CO" sz="1200" kern="1200" dirty="0" err="1">
                <a:solidFill>
                  <a:schemeClr val="tx1"/>
                </a:solidFill>
                <a:latin typeface="+mn-lt"/>
                <a:ea typeface="+mn-ea"/>
                <a:cs typeface="+mn-cs"/>
              </a:rPr>
              <a:t>double</a:t>
            </a:r>
            <a:r>
              <a:rPr lang="es-CO" sz="1200" kern="1200" dirty="0">
                <a:solidFill>
                  <a:schemeClr val="tx1"/>
                </a:solidFill>
                <a:latin typeface="+mn-lt"/>
                <a:ea typeface="+mn-ea"/>
                <a:cs typeface="+mn-cs"/>
              </a:rPr>
              <a:t> suma = 0;</a:t>
            </a:r>
          </a:p>
          <a:p>
            <a:r>
              <a:rPr lang="es-CO" sz="1200" kern="1200" dirty="0">
                <a:solidFill>
                  <a:schemeClr val="tx1"/>
                </a:solidFill>
                <a:latin typeface="+mn-lt"/>
                <a:ea typeface="+mn-ea"/>
                <a:cs typeface="+mn-cs"/>
              </a:rPr>
              <a:t>		</a:t>
            </a:r>
            <a:r>
              <a:rPr lang="es-CO" sz="1200" kern="1200" dirty="0" err="1">
                <a:solidFill>
                  <a:schemeClr val="tx1"/>
                </a:solidFill>
                <a:latin typeface="+mn-lt"/>
                <a:ea typeface="+mn-ea"/>
                <a:cs typeface="+mn-cs"/>
              </a:rPr>
              <a:t>for</a:t>
            </a:r>
            <a:r>
              <a:rPr lang="es-CO" sz="1200" kern="1200" dirty="0">
                <a:solidFill>
                  <a:schemeClr val="tx1"/>
                </a:solidFill>
                <a:latin typeface="+mn-lt"/>
                <a:ea typeface="+mn-ea"/>
                <a:cs typeface="+mn-cs"/>
              </a:rPr>
              <a:t> (</a:t>
            </a:r>
            <a:r>
              <a:rPr lang="es-CO" sz="1200" kern="1200" dirty="0" err="1">
                <a:solidFill>
                  <a:schemeClr val="tx1"/>
                </a:solidFill>
                <a:latin typeface="+mn-lt"/>
                <a:ea typeface="+mn-ea"/>
                <a:cs typeface="+mn-cs"/>
              </a:rPr>
              <a:t>int</a:t>
            </a:r>
            <a:r>
              <a:rPr lang="es-CO" sz="1200" kern="1200" dirty="0">
                <a:solidFill>
                  <a:schemeClr val="tx1"/>
                </a:solidFill>
                <a:latin typeface="+mn-lt"/>
                <a:ea typeface="+mn-ea"/>
                <a:cs typeface="+mn-cs"/>
              </a:rPr>
              <a:t> j = 0; j &lt; 5; </a:t>
            </a:r>
            <a:r>
              <a:rPr lang="es-CO" sz="1200" kern="1200" dirty="0" err="1">
                <a:solidFill>
                  <a:schemeClr val="tx1"/>
                </a:solidFill>
                <a:latin typeface="+mn-lt"/>
                <a:ea typeface="+mn-ea"/>
                <a:cs typeface="+mn-cs"/>
              </a:rPr>
              <a:t>j++</a:t>
            </a:r>
            <a:r>
              <a:rPr lang="es-CO" sz="1200" kern="1200" dirty="0">
                <a:solidFill>
                  <a:schemeClr val="tx1"/>
                </a:solidFill>
                <a:latin typeface="+mn-lt"/>
                <a:ea typeface="+mn-ea"/>
                <a:cs typeface="+mn-cs"/>
              </a:rPr>
              <a:t>)</a:t>
            </a:r>
          </a:p>
          <a:p>
            <a:r>
              <a:rPr lang="es-CO" sz="1200" kern="1200" dirty="0">
                <a:solidFill>
                  <a:schemeClr val="tx1"/>
                </a:solidFill>
                <a:latin typeface="+mn-lt"/>
                <a:ea typeface="+mn-ea"/>
                <a:cs typeface="+mn-cs"/>
              </a:rPr>
              <a:t>		{</a:t>
            </a:r>
          </a:p>
          <a:p>
            <a:r>
              <a:rPr lang="es-CO" sz="1200" kern="1200" dirty="0">
                <a:solidFill>
                  <a:schemeClr val="tx1"/>
                </a:solidFill>
                <a:latin typeface="+mn-lt"/>
                <a:ea typeface="+mn-ea"/>
                <a:cs typeface="+mn-cs"/>
              </a:rPr>
              <a:t>			NOTAS[i][j] = rand()%5+rand()%10/10;</a:t>
            </a:r>
          </a:p>
          <a:p>
            <a:r>
              <a:rPr lang="es-CO" sz="1200" kern="1200" dirty="0">
                <a:solidFill>
                  <a:schemeClr val="tx1"/>
                </a:solidFill>
                <a:latin typeface="+mn-lt"/>
                <a:ea typeface="+mn-ea"/>
                <a:cs typeface="+mn-cs"/>
              </a:rPr>
              <a:t>			suma += NOTAS[i][j];</a:t>
            </a:r>
          </a:p>
          <a:p>
            <a:r>
              <a:rPr lang="es-CO" sz="1200" kern="1200" dirty="0">
                <a:solidFill>
                  <a:schemeClr val="tx1"/>
                </a:solidFill>
                <a:latin typeface="+mn-lt"/>
                <a:ea typeface="+mn-ea"/>
                <a:cs typeface="+mn-cs"/>
              </a:rPr>
              <a:t>		}</a:t>
            </a:r>
          </a:p>
          <a:p>
            <a:r>
              <a:rPr lang="es-CO" sz="1200" kern="1200" dirty="0">
                <a:solidFill>
                  <a:schemeClr val="tx1"/>
                </a:solidFill>
                <a:latin typeface="+mn-lt"/>
                <a:ea typeface="+mn-ea"/>
                <a:cs typeface="+mn-cs"/>
              </a:rPr>
              <a:t>		VECTOR[i]=suma / 5;</a:t>
            </a:r>
          </a:p>
          <a:p>
            <a:r>
              <a:rPr lang="es-CO" sz="1200" kern="1200" dirty="0">
                <a:solidFill>
                  <a:schemeClr val="tx1"/>
                </a:solidFill>
                <a:latin typeface="+mn-lt"/>
                <a:ea typeface="+mn-ea"/>
                <a:cs typeface="+mn-cs"/>
              </a:rPr>
              <a:t>	} </a:t>
            </a:r>
          </a:p>
          <a:p>
            <a:r>
              <a:rPr lang="es-CO" sz="1200" kern="1200" dirty="0">
                <a:solidFill>
                  <a:schemeClr val="tx1"/>
                </a:solidFill>
                <a:latin typeface="+mn-lt"/>
                <a:ea typeface="+mn-ea"/>
                <a:cs typeface="+mn-cs"/>
              </a:rPr>
              <a:t>	</a:t>
            </a:r>
            <a:r>
              <a:rPr lang="es-CO" sz="1200" kern="1200" dirty="0" err="1">
                <a:solidFill>
                  <a:schemeClr val="tx1"/>
                </a:solidFill>
                <a:latin typeface="+mn-lt"/>
                <a:ea typeface="+mn-ea"/>
                <a:cs typeface="+mn-cs"/>
              </a:rPr>
              <a:t>cout</a:t>
            </a:r>
            <a:r>
              <a:rPr lang="es-CO" sz="1200" kern="1200" dirty="0">
                <a:solidFill>
                  <a:schemeClr val="tx1"/>
                </a:solidFill>
                <a:latin typeface="+mn-lt"/>
                <a:ea typeface="+mn-ea"/>
                <a:cs typeface="+mn-cs"/>
              </a:rPr>
              <a:t> &lt;&lt; </a:t>
            </a:r>
            <a:r>
              <a:rPr lang="es-CO" sz="1200" kern="1200" dirty="0" err="1">
                <a:solidFill>
                  <a:schemeClr val="tx1"/>
                </a:solidFill>
                <a:latin typeface="+mn-lt"/>
                <a:ea typeface="+mn-ea"/>
                <a:cs typeface="+mn-cs"/>
              </a:rPr>
              <a:t>fixed</a:t>
            </a:r>
            <a:r>
              <a:rPr lang="es-CO" sz="1200" kern="1200" dirty="0">
                <a:solidFill>
                  <a:schemeClr val="tx1"/>
                </a:solidFill>
                <a:latin typeface="+mn-lt"/>
                <a:ea typeface="+mn-ea"/>
                <a:cs typeface="+mn-cs"/>
              </a:rPr>
              <a:t> &lt;&lt; </a:t>
            </a:r>
            <a:r>
              <a:rPr lang="es-CO" sz="1200" kern="1200" dirty="0" err="1">
                <a:solidFill>
                  <a:schemeClr val="tx1"/>
                </a:solidFill>
                <a:latin typeface="+mn-lt"/>
                <a:ea typeface="+mn-ea"/>
                <a:cs typeface="+mn-cs"/>
              </a:rPr>
              <a:t>setprecision</a:t>
            </a:r>
            <a:r>
              <a:rPr lang="es-CO" sz="1200" kern="1200" dirty="0">
                <a:solidFill>
                  <a:schemeClr val="tx1"/>
                </a:solidFill>
                <a:latin typeface="+mn-lt"/>
                <a:ea typeface="+mn-ea"/>
                <a:cs typeface="+mn-cs"/>
              </a:rPr>
              <a:t>(2);</a:t>
            </a:r>
          </a:p>
          <a:p>
            <a:r>
              <a:rPr lang="es-CO" sz="1200" kern="1200" dirty="0">
                <a:solidFill>
                  <a:schemeClr val="tx1"/>
                </a:solidFill>
                <a:latin typeface="+mn-lt"/>
                <a:ea typeface="+mn-ea"/>
                <a:cs typeface="+mn-cs"/>
              </a:rPr>
              <a:t>	</a:t>
            </a:r>
            <a:r>
              <a:rPr lang="es-CO" sz="1200" kern="1200" dirty="0" err="1">
                <a:solidFill>
                  <a:schemeClr val="tx1"/>
                </a:solidFill>
                <a:latin typeface="+mn-lt"/>
                <a:ea typeface="+mn-ea"/>
                <a:cs typeface="+mn-cs"/>
              </a:rPr>
              <a:t>for</a:t>
            </a:r>
            <a:r>
              <a:rPr lang="es-CO" sz="1200" kern="1200" dirty="0">
                <a:solidFill>
                  <a:schemeClr val="tx1"/>
                </a:solidFill>
                <a:latin typeface="+mn-lt"/>
                <a:ea typeface="+mn-ea"/>
                <a:cs typeface="+mn-cs"/>
              </a:rPr>
              <a:t> (</a:t>
            </a:r>
            <a:r>
              <a:rPr lang="es-CO" sz="1200" kern="1200" dirty="0" err="1">
                <a:solidFill>
                  <a:schemeClr val="tx1"/>
                </a:solidFill>
                <a:latin typeface="+mn-lt"/>
                <a:ea typeface="+mn-ea"/>
                <a:cs typeface="+mn-cs"/>
              </a:rPr>
              <a:t>int</a:t>
            </a:r>
            <a:r>
              <a:rPr lang="es-CO" sz="1200" kern="1200" dirty="0">
                <a:solidFill>
                  <a:schemeClr val="tx1"/>
                </a:solidFill>
                <a:latin typeface="+mn-lt"/>
                <a:ea typeface="+mn-ea"/>
                <a:cs typeface="+mn-cs"/>
              </a:rPr>
              <a:t> i = 0; i &lt; 5; i++)</a:t>
            </a:r>
          </a:p>
          <a:p>
            <a:r>
              <a:rPr lang="es-CO" sz="1200" kern="1200" dirty="0">
                <a:solidFill>
                  <a:schemeClr val="tx1"/>
                </a:solidFill>
                <a:latin typeface="+mn-lt"/>
                <a:ea typeface="+mn-ea"/>
                <a:cs typeface="+mn-cs"/>
              </a:rPr>
              <a:t>		</a:t>
            </a:r>
            <a:r>
              <a:rPr lang="es-CO" sz="1200" kern="1200" dirty="0" err="1">
                <a:solidFill>
                  <a:schemeClr val="tx1"/>
                </a:solidFill>
                <a:latin typeface="+mn-lt"/>
                <a:ea typeface="+mn-ea"/>
                <a:cs typeface="+mn-cs"/>
              </a:rPr>
              <a:t>cout</a:t>
            </a:r>
            <a:r>
              <a:rPr lang="es-CO" sz="1200" kern="1200" dirty="0">
                <a:solidFill>
                  <a:schemeClr val="tx1"/>
                </a:solidFill>
                <a:latin typeface="+mn-lt"/>
                <a:ea typeface="+mn-ea"/>
                <a:cs typeface="+mn-cs"/>
              </a:rPr>
              <a:t> &lt;&lt; "\</a:t>
            </a:r>
            <a:r>
              <a:rPr lang="es-CO" sz="1200" kern="1200" dirty="0" err="1">
                <a:solidFill>
                  <a:schemeClr val="tx1"/>
                </a:solidFill>
                <a:latin typeface="+mn-lt"/>
                <a:ea typeface="+mn-ea"/>
                <a:cs typeface="+mn-cs"/>
              </a:rPr>
              <a:t>nNOTA</a:t>
            </a:r>
            <a:r>
              <a:rPr lang="es-CO" sz="1200" kern="1200" dirty="0">
                <a:solidFill>
                  <a:schemeClr val="tx1"/>
                </a:solidFill>
                <a:latin typeface="+mn-lt"/>
                <a:ea typeface="+mn-ea"/>
                <a:cs typeface="+mn-cs"/>
              </a:rPr>
              <a:t> PROMEDIO ESTUDIANTE #" &lt;&lt; i &lt;&lt; ": " &lt;&lt; VECTOR[i] &lt;&lt; </a:t>
            </a:r>
            <a:r>
              <a:rPr lang="es-CO" sz="1200" kern="1200" dirty="0" err="1">
                <a:solidFill>
                  <a:schemeClr val="tx1"/>
                </a:solidFill>
                <a:latin typeface="+mn-lt"/>
                <a:ea typeface="+mn-ea"/>
                <a:cs typeface="+mn-cs"/>
              </a:rPr>
              <a:t>endl</a:t>
            </a:r>
            <a:r>
              <a:rPr lang="es-CO" sz="1200" kern="1200" dirty="0">
                <a:solidFill>
                  <a:schemeClr val="tx1"/>
                </a:solidFill>
                <a:latin typeface="+mn-lt"/>
                <a:ea typeface="+mn-ea"/>
                <a:cs typeface="+mn-cs"/>
              </a:rPr>
              <a:t>;</a:t>
            </a:r>
          </a:p>
          <a:p>
            <a:r>
              <a:rPr lang="es-CO" sz="1200" kern="1200" dirty="0">
                <a:solidFill>
                  <a:schemeClr val="tx1"/>
                </a:solidFill>
                <a:latin typeface="+mn-lt"/>
                <a:ea typeface="+mn-ea"/>
                <a:cs typeface="+mn-cs"/>
              </a:rPr>
              <a:t>}</a:t>
            </a:r>
          </a:p>
          <a:p>
            <a:endParaRPr lang="es-CO" sz="1200" kern="1200" dirty="0">
              <a:solidFill>
                <a:schemeClr val="tx1"/>
              </a:solidFill>
              <a:latin typeface="+mn-lt"/>
              <a:ea typeface="+mn-ea"/>
              <a:cs typeface="+mn-cs"/>
            </a:endParaRPr>
          </a:p>
        </p:txBody>
      </p:sp>
      <p:sp>
        <p:nvSpPr>
          <p:cNvPr id="4" name="Marcador de número de diapositiva 3"/>
          <p:cNvSpPr>
            <a:spLocks noGrp="1"/>
          </p:cNvSpPr>
          <p:nvPr>
            <p:ph type="sldNum" sz="quarter" idx="10"/>
          </p:nvPr>
        </p:nvSpPr>
        <p:spPr/>
        <p:txBody>
          <a:bodyPr/>
          <a:lstStyle/>
          <a:p>
            <a:fld id="{6EBFF732-773A-4839-B774-230B46601DA8}" type="slidenum">
              <a:rPr lang="es-CO" smtClean="0"/>
              <a:t>13</a:t>
            </a:fld>
            <a:endParaRPr lang="es-CO"/>
          </a:p>
        </p:txBody>
      </p:sp>
    </p:spTree>
    <p:extLst>
      <p:ext uri="{BB962C8B-B14F-4D97-AF65-F5344CB8AC3E}">
        <p14:creationId xmlns:p14="http://schemas.microsoft.com/office/powerpoint/2010/main" val="221137825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O" dirty="0"/>
          </a:p>
        </p:txBody>
      </p:sp>
      <p:sp>
        <p:nvSpPr>
          <p:cNvPr id="4" name="Marcador de número de diapositiva 3"/>
          <p:cNvSpPr>
            <a:spLocks noGrp="1"/>
          </p:cNvSpPr>
          <p:nvPr>
            <p:ph type="sldNum" sz="quarter" idx="10"/>
          </p:nvPr>
        </p:nvSpPr>
        <p:spPr/>
        <p:txBody>
          <a:bodyPr/>
          <a:lstStyle/>
          <a:p>
            <a:fld id="{6EBFF732-773A-4839-B774-230B46601DA8}" type="slidenum">
              <a:rPr lang="es-CO" smtClean="0"/>
              <a:t>14</a:t>
            </a:fld>
            <a:endParaRPr lang="es-CO"/>
          </a:p>
        </p:txBody>
      </p:sp>
    </p:spTree>
    <p:extLst>
      <p:ext uri="{BB962C8B-B14F-4D97-AF65-F5344CB8AC3E}">
        <p14:creationId xmlns:p14="http://schemas.microsoft.com/office/powerpoint/2010/main" val="291087519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CO" dirty="0"/>
              <a:t>CODIGO FUENTE</a:t>
            </a:r>
          </a:p>
          <a:p>
            <a:r>
              <a:rPr lang="es-CO" dirty="0"/>
              <a:t>#</a:t>
            </a:r>
            <a:r>
              <a:rPr lang="es-CO" dirty="0" err="1"/>
              <a:t>include</a:t>
            </a:r>
            <a:r>
              <a:rPr lang="es-CO" dirty="0"/>
              <a:t> &lt;</a:t>
            </a:r>
            <a:r>
              <a:rPr lang="es-CO" dirty="0" err="1"/>
              <a:t>iostream</a:t>
            </a:r>
            <a:r>
              <a:rPr lang="es-CO" dirty="0"/>
              <a:t>&gt;</a:t>
            </a:r>
          </a:p>
          <a:p>
            <a:r>
              <a:rPr lang="es-CO" dirty="0"/>
              <a:t>#</a:t>
            </a:r>
            <a:r>
              <a:rPr lang="es-CO" dirty="0" err="1"/>
              <a:t>include</a:t>
            </a:r>
            <a:r>
              <a:rPr lang="es-CO" dirty="0"/>
              <a:t> &lt;</a:t>
            </a:r>
            <a:r>
              <a:rPr lang="es-CO" dirty="0" err="1"/>
              <a:t>cstdlib</a:t>
            </a:r>
            <a:r>
              <a:rPr lang="es-CO" dirty="0"/>
              <a:t>&gt;</a:t>
            </a:r>
          </a:p>
          <a:p>
            <a:r>
              <a:rPr lang="es-CO" dirty="0"/>
              <a:t>#</a:t>
            </a:r>
            <a:r>
              <a:rPr lang="es-CO" dirty="0" err="1"/>
              <a:t>include</a:t>
            </a:r>
            <a:r>
              <a:rPr lang="es-CO" dirty="0"/>
              <a:t> &lt;</a:t>
            </a:r>
            <a:r>
              <a:rPr lang="es-CO" dirty="0" err="1"/>
              <a:t>ctime</a:t>
            </a:r>
            <a:r>
              <a:rPr lang="es-CO" dirty="0"/>
              <a:t>&gt;</a:t>
            </a:r>
          </a:p>
          <a:p>
            <a:r>
              <a:rPr lang="es-CO" dirty="0"/>
              <a:t>#</a:t>
            </a:r>
            <a:r>
              <a:rPr lang="es-CO" dirty="0" err="1"/>
              <a:t>include</a:t>
            </a:r>
            <a:r>
              <a:rPr lang="es-CO" dirty="0"/>
              <a:t> &lt;</a:t>
            </a:r>
            <a:r>
              <a:rPr lang="es-CO" dirty="0" err="1"/>
              <a:t>iomanip</a:t>
            </a:r>
            <a:r>
              <a:rPr lang="es-CO" dirty="0"/>
              <a:t>&gt;</a:t>
            </a:r>
          </a:p>
          <a:p>
            <a:r>
              <a:rPr lang="es-CO" dirty="0" err="1"/>
              <a:t>using</a:t>
            </a:r>
            <a:r>
              <a:rPr lang="es-CO" dirty="0"/>
              <a:t> </a:t>
            </a:r>
            <a:r>
              <a:rPr lang="es-CO" dirty="0" err="1"/>
              <a:t>namespace</a:t>
            </a:r>
            <a:r>
              <a:rPr lang="es-CO" dirty="0"/>
              <a:t> </a:t>
            </a:r>
            <a:r>
              <a:rPr lang="es-CO" dirty="0" err="1"/>
              <a:t>std</a:t>
            </a:r>
            <a:r>
              <a:rPr lang="es-CO" dirty="0"/>
              <a:t>;</a:t>
            </a:r>
          </a:p>
          <a:p>
            <a:endParaRPr lang="es-CO" dirty="0"/>
          </a:p>
          <a:p>
            <a:r>
              <a:rPr lang="es-CO" dirty="0" err="1"/>
              <a:t>int</a:t>
            </a:r>
            <a:r>
              <a:rPr lang="es-CO" dirty="0"/>
              <a:t> </a:t>
            </a:r>
            <a:r>
              <a:rPr lang="es-CO" dirty="0" err="1"/>
              <a:t>main</a:t>
            </a:r>
            <a:r>
              <a:rPr lang="es-CO" dirty="0"/>
              <a:t>()</a:t>
            </a:r>
          </a:p>
          <a:p>
            <a:r>
              <a:rPr lang="es-CO" dirty="0"/>
              <a:t>{	</a:t>
            </a:r>
          </a:p>
          <a:p>
            <a:r>
              <a:rPr lang="es-CO" dirty="0"/>
              <a:t>	</a:t>
            </a:r>
            <a:r>
              <a:rPr lang="es-CO" dirty="0" err="1"/>
              <a:t>srand</a:t>
            </a:r>
            <a:r>
              <a:rPr lang="es-CO" dirty="0"/>
              <a:t>(time(NULL));</a:t>
            </a:r>
          </a:p>
          <a:p>
            <a:r>
              <a:rPr lang="es-CO" dirty="0"/>
              <a:t>	</a:t>
            </a:r>
            <a:r>
              <a:rPr lang="es-CO" dirty="0" err="1"/>
              <a:t>double</a:t>
            </a:r>
            <a:r>
              <a:rPr lang="es-CO" dirty="0"/>
              <a:t> NOTAS[5][5];	</a:t>
            </a:r>
          </a:p>
          <a:p>
            <a:r>
              <a:rPr lang="es-CO" dirty="0"/>
              <a:t>	</a:t>
            </a:r>
            <a:r>
              <a:rPr lang="es-CO" dirty="0" err="1"/>
              <a:t>double</a:t>
            </a:r>
            <a:r>
              <a:rPr lang="es-CO" dirty="0"/>
              <a:t> VECTOR[5];</a:t>
            </a:r>
          </a:p>
          <a:p>
            <a:r>
              <a:rPr lang="es-CO" dirty="0"/>
              <a:t>	</a:t>
            </a:r>
            <a:r>
              <a:rPr lang="es-CO" dirty="0" err="1"/>
              <a:t>for</a:t>
            </a:r>
            <a:r>
              <a:rPr lang="es-CO" dirty="0"/>
              <a:t> (</a:t>
            </a:r>
            <a:r>
              <a:rPr lang="es-CO" dirty="0" err="1"/>
              <a:t>int</a:t>
            </a:r>
            <a:r>
              <a:rPr lang="es-CO" dirty="0"/>
              <a:t> j = 0; j &lt; 5; </a:t>
            </a:r>
            <a:r>
              <a:rPr lang="es-CO" dirty="0" err="1"/>
              <a:t>j++</a:t>
            </a:r>
            <a:r>
              <a:rPr lang="es-CO" dirty="0"/>
              <a:t>)	</a:t>
            </a:r>
          </a:p>
          <a:p>
            <a:r>
              <a:rPr lang="es-CO" dirty="0"/>
              <a:t>	{</a:t>
            </a:r>
          </a:p>
          <a:p>
            <a:r>
              <a:rPr lang="es-CO" dirty="0"/>
              <a:t>		</a:t>
            </a:r>
            <a:r>
              <a:rPr lang="es-CO" dirty="0" err="1"/>
              <a:t>double</a:t>
            </a:r>
            <a:r>
              <a:rPr lang="es-CO" dirty="0"/>
              <a:t> suma = 0;</a:t>
            </a:r>
          </a:p>
          <a:p>
            <a:r>
              <a:rPr lang="es-CO" dirty="0"/>
              <a:t>		</a:t>
            </a:r>
            <a:r>
              <a:rPr lang="es-CO" dirty="0" err="1"/>
              <a:t>for</a:t>
            </a:r>
            <a:r>
              <a:rPr lang="es-CO" dirty="0"/>
              <a:t> (</a:t>
            </a:r>
            <a:r>
              <a:rPr lang="es-CO" dirty="0" err="1"/>
              <a:t>int</a:t>
            </a:r>
            <a:r>
              <a:rPr lang="es-CO" dirty="0"/>
              <a:t> i = 0; i &lt; 5; i++)</a:t>
            </a:r>
          </a:p>
          <a:p>
            <a:r>
              <a:rPr lang="es-CO" dirty="0"/>
              <a:t>		{</a:t>
            </a:r>
          </a:p>
          <a:p>
            <a:r>
              <a:rPr lang="es-CO" dirty="0"/>
              <a:t>			NOTAS[i][j] = rand()%5+rand()%10/10;</a:t>
            </a:r>
          </a:p>
          <a:p>
            <a:r>
              <a:rPr lang="es-CO" dirty="0"/>
              <a:t>			suma += NOTAS[i][j];</a:t>
            </a:r>
          </a:p>
          <a:p>
            <a:r>
              <a:rPr lang="es-CO" dirty="0"/>
              <a:t>		}</a:t>
            </a:r>
          </a:p>
          <a:p>
            <a:r>
              <a:rPr lang="es-CO" dirty="0"/>
              <a:t>		VECTOR[j]=suma / 5;</a:t>
            </a:r>
          </a:p>
          <a:p>
            <a:r>
              <a:rPr lang="es-CO" dirty="0"/>
              <a:t>	} </a:t>
            </a:r>
          </a:p>
          <a:p>
            <a:r>
              <a:rPr lang="es-CO" dirty="0"/>
              <a:t>	</a:t>
            </a:r>
            <a:r>
              <a:rPr lang="es-CO" dirty="0" err="1"/>
              <a:t>cout</a:t>
            </a:r>
            <a:r>
              <a:rPr lang="es-CO" dirty="0"/>
              <a:t> &lt;&lt; </a:t>
            </a:r>
            <a:r>
              <a:rPr lang="es-CO" dirty="0" err="1"/>
              <a:t>fixed</a:t>
            </a:r>
            <a:r>
              <a:rPr lang="es-CO" dirty="0"/>
              <a:t> &lt;&lt; </a:t>
            </a:r>
            <a:r>
              <a:rPr lang="es-CO" dirty="0" err="1"/>
              <a:t>setprecision</a:t>
            </a:r>
            <a:r>
              <a:rPr lang="es-CO" dirty="0"/>
              <a:t>(2);</a:t>
            </a:r>
          </a:p>
          <a:p>
            <a:r>
              <a:rPr lang="es-CO" dirty="0"/>
              <a:t>	</a:t>
            </a:r>
            <a:r>
              <a:rPr lang="es-CO" dirty="0" err="1"/>
              <a:t>for</a:t>
            </a:r>
            <a:r>
              <a:rPr lang="es-CO" dirty="0"/>
              <a:t> (</a:t>
            </a:r>
            <a:r>
              <a:rPr lang="es-CO" dirty="0" err="1"/>
              <a:t>int</a:t>
            </a:r>
            <a:r>
              <a:rPr lang="es-CO" dirty="0"/>
              <a:t> i = 0; i &lt; 5; i++)</a:t>
            </a:r>
          </a:p>
          <a:p>
            <a:r>
              <a:rPr lang="es-CO" dirty="0"/>
              <a:t>		</a:t>
            </a:r>
            <a:r>
              <a:rPr lang="es-CO" dirty="0" err="1"/>
              <a:t>cout</a:t>
            </a:r>
            <a:r>
              <a:rPr lang="es-CO" dirty="0"/>
              <a:t> &lt;&lt; "\</a:t>
            </a:r>
            <a:r>
              <a:rPr lang="es-CO" dirty="0" err="1"/>
              <a:t>nNOTA</a:t>
            </a:r>
            <a:r>
              <a:rPr lang="es-CO" dirty="0"/>
              <a:t> PROMEDIO ESTUDIANTE#" &lt;&lt; i &lt;&lt; ": " &lt;&lt; VECTOR[i] &lt;&lt; </a:t>
            </a:r>
            <a:r>
              <a:rPr lang="es-CO" dirty="0" err="1"/>
              <a:t>endl</a:t>
            </a:r>
            <a:r>
              <a:rPr lang="es-CO" dirty="0"/>
              <a:t>;</a:t>
            </a:r>
          </a:p>
          <a:p>
            <a:r>
              <a:rPr lang="es-CO" dirty="0"/>
              <a:t>}</a:t>
            </a:r>
          </a:p>
          <a:p>
            <a:endParaRPr lang="es-CO" dirty="0"/>
          </a:p>
          <a:p>
            <a:endParaRPr lang="es-CO" dirty="0"/>
          </a:p>
        </p:txBody>
      </p:sp>
      <p:sp>
        <p:nvSpPr>
          <p:cNvPr id="4" name="Marcador de número de diapositiva 3"/>
          <p:cNvSpPr>
            <a:spLocks noGrp="1"/>
          </p:cNvSpPr>
          <p:nvPr>
            <p:ph type="sldNum" sz="quarter" idx="10"/>
          </p:nvPr>
        </p:nvSpPr>
        <p:spPr/>
        <p:txBody>
          <a:bodyPr/>
          <a:lstStyle/>
          <a:p>
            <a:fld id="{6EBFF732-773A-4839-B774-230B46601DA8}" type="slidenum">
              <a:rPr lang="es-CO" smtClean="0"/>
              <a:t>15</a:t>
            </a:fld>
            <a:endParaRPr lang="es-CO"/>
          </a:p>
        </p:txBody>
      </p:sp>
    </p:spTree>
    <p:extLst>
      <p:ext uri="{BB962C8B-B14F-4D97-AF65-F5344CB8AC3E}">
        <p14:creationId xmlns:p14="http://schemas.microsoft.com/office/powerpoint/2010/main" val="366228520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O" sz="1800" dirty="0">
              <a:solidFill>
                <a:srgbClr val="808080"/>
              </a:solidFill>
              <a:latin typeface="Cascadia Mono" panose="020B0609020000020004" pitchFamily="49" charset="0"/>
            </a:endParaRPr>
          </a:p>
          <a:p>
            <a:endParaRPr lang="es-CO" sz="1800" dirty="0">
              <a:solidFill>
                <a:srgbClr val="808080"/>
              </a:solidFill>
              <a:latin typeface="Cascadia Mono" panose="020B0609020000020004" pitchFamily="49" charset="0"/>
            </a:endParaRPr>
          </a:p>
          <a:p>
            <a:endParaRPr lang="es-CO" sz="1800" dirty="0">
              <a:solidFill>
                <a:srgbClr val="808080"/>
              </a:solidFill>
              <a:latin typeface="Cascadia Mono" panose="020B0609020000020004" pitchFamily="49" charset="0"/>
            </a:endParaRPr>
          </a:p>
          <a:p>
            <a:endParaRPr lang="es-CO" sz="1800" dirty="0">
              <a:solidFill>
                <a:srgbClr val="808080"/>
              </a:solidFill>
              <a:latin typeface="Cascadia Mono" panose="020B0609020000020004" pitchFamily="49" charset="0"/>
            </a:endParaRPr>
          </a:p>
          <a:p>
            <a:endParaRPr lang="es-CO" sz="1800" dirty="0">
              <a:solidFill>
                <a:srgbClr val="808080"/>
              </a:solidFill>
              <a:latin typeface="Cascadia Mono" panose="020B0609020000020004" pitchFamily="49" charset="0"/>
            </a:endParaRPr>
          </a:p>
          <a:p>
            <a:r>
              <a:rPr lang="es-CO" sz="1800" dirty="0">
                <a:solidFill>
                  <a:srgbClr val="808080"/>
                </a:solidFill>
                <a:latin typeface="Cascadia Mono" panose="020B0609020000020004" pitchFamily="49" charset="0"/>
              </a:rPr>
              <a:t>#include</a:t>
            </a:r>
            <a:r>
              <a:rPr lang="es-CO" sz="1800" dirty="0">
                <a:solidFill>
                  <a:srgbClr val="000000"/>
                </a:solidFill>
                <a:latin typeface="Cascadia Mono" panose="020B0609020000020004" pitchFamily="49" charset="0"/>
              </a:rPr>
              <a:t> </a:t>
            </a:r>
            <a:r>
              <a:rPr lang="es-CO" sz="1800" dirty="0">
                <a:solidFill>
                  <a:srgbClr val="A31515"/>
                </a:solidFill>
                <a:latin typeface="Cascadia Mono" panose="020B0609020000020004" pitchFamily="49" charset="0"/>
              </a:rPr>
              <a:t>&lt;iostream&gt;</a:t>
            </a:r>
            <a:endParaRPr lang="es-CO" sz="1800" dirty="0">
              <a:solidFill>
                <a:srgbClr val="000000"/>
              </a:solidFill>
              <a:latin typeface="Cascadia Mono" panose="020B0609020000020004" pitchFamily="49" charset="0"/>
            </a:endParaRPr>
          </a:p>
          <a:p>
            <a:r>
              <a:rPr lang="es-CO" sz="1800" dirty="0">
                <a:solidFill>
                  <a:srgbClr val="808080"/>
                </a:solidFill>
                <a:latin typeface="Cascadia Mono" panose="020B0609020000020004" pitchFamily="49" charset="0"/>
              </a:rPr>
              <a:t>#include</a:t>
            </a:r>
            <a:r>
              <a:rPr lang="es-CO" sz="1800" dirty="0">
                <a:solidFill>
                  <a:srgbClr val="000000"/>
                </a:solidFill>
                <a:latin typeface="Cascadia Mono" panose="020B0609020000020004" pitchFamily="49" charset="0"/>
              </a:rPr>
              <a:t> </a:t>
            </a:r>
            <a:r>
              <a:rPr lang="es-CO" sz="1800" dirty="0">
                <a:solidFill>
                  <a:srgbClr val="A31515"/>
                </a:solidFill>
                <a:latin typeface="Cascadia Mono" panose="020B0609020000020004" pitchFamily="49" charset="0"/>
              </a:rPr>
              <a:t>&lt;</a:t>
            </a:r>
            <a:r>
              <a:rPr lang="es-CO" sz="1800" dirty="0" err="1">
                <a:solidFill>
                  <a:srgbClr val="A31515"/>
                </a:solidFill>
                <a:latin typeface="Cascadia Mono" panose="020B0609020000020004" pitchFamily="49" charset="0"/>
              </a:rPr>
              <a:t>iomanip</a:t>
            </a:r>
            <a:r>
              <a:rPr lang="es-CO" sz="1800" dirty="0">
                <a:solidFill>
                  <a:srgbClr val="A31515"/>
                </a:solidFill>
                <a:latin typeface="Cascadia Mono" panose="020B0609020000020004" pitchFamily="49" charset="0"/>
              </a:rPr>
              <a:t>&gt;</a:t>
            </a:r>
            <a:endParaRPr lang="es-CO" sz="1800" dirty="0">
              <a:solidFill>
                <a:srgbClr val="000000"/>
              </a:solidFill>
              <a:latin typeface="Cascadia Mono" panose="020B0609020000020004" pitchFamily="49" charset="0"/>
            </a:endParaRPr>
          </a:p>
          <a:p>
            <a:r>
              <a:rPr lang="es-CO" sz="1800" dirty="0">
                <a:solidFill>
                  <a:srgbClr val="808080"/>
                </a:solidFill>
                <a:latin typeface="Cascadia Mono" panose="020B0609020000020004" pitchFamily="49" charset="0"/>
              </a:rPr>
              <a:t>#include</a:t>
            </a:r>
            <a:r>
              <a:rPr lang="es-CO" sz="1800" dirty="0">
                <a:solidFill>
                  <a:srgbClr val="000000"/>
                </a:solidFill>
                <a:latin typeface="Cascadia Mono" panose="020B0609020000020004" pitchFamily="49" charset="0"/>
              </a:rPr>
              <a:t> </a:t>
            </a:r>
            <a:r>
              <a:rPr lang="es-CO" sz="1800" dirty="0">
                <a:solidFill>
                  <a:srgbClr val="A31515"/>
                </a:solidFill>
                <a:latin typeface="Cascadia Mono" panose="020B0609020000020004" pitchFamily="49" charset="0"/>
              </a:rPr>
              <a:t>&lt;</a:t>
            </a:r>
            <a:r>
              <a:rPr lang="es-CO" sz="1800" dirty="0" err="1">
                <a:solidFill>
                  <a:srgbClr val="A31515"/>
                </a:solidFill>
                <a:latin typeface="Cascadia Mono" panose="020B0609020000020004" pitchFamily="49" charset="0"/>
              </a:rPr>
              <a:t>ctime</a:t>
            </a:r>
            <a:r>
              <a:rPr lang="es-CO" sz="1800" dirty="0">
                <a:solidFill>
                  <a:srgbClr val="A31515"/>
                </a:solidFill>
                <a:latin typeface="Cascadia Mono" panose="020B0609020000020004" pitchFamily="49" charset="0"/>
              </a:rPr>
              <a:t>&gt;</a:t>
            </a:r>
            <a:endParaRPr lang="es-CO" sz="1800" dirty="0">
              <a:solidFill>
                <a:srgbClr val="000000"/>
              </a:solidFill>
              <a:latin typeface="Cascadia Mono" panose="020B0609020000020004" pitchFamily="49" charset="0"/>
            </a:endParaRPr>
          </a:p>
          <a:p>
            <a:r>
              <a:rPr lang="es-CO" sz="1800" dirty="0">
                <a:solidFill>
                  <a:srgbClr val="808080"/>
                </a:solidFill>
                <a:latin typeface="Cascadia Mono" panose="020B0609020000020004" pitchFamily="49" charset="0"/>
              </a:rPr>
              <a:t>#include</a:t>
            </a:r>
            <a:r>
              <a:rPr lang="es-CO" sz="1800" dirty="0">
                <a:solidFill>
                  <a:srgbClr val="000000"/>
                </a:solidFill>
                <a:latin typeface="Cascadia Mono" panose="020B0609020000020004" pitchFamily="49" charset="0"/>
              </a:rPr>
              <a:t> </a:t>
            </a:r>
            <a:r>
              <a:rPr lang="es-CO" sz="1800" dirty="0">
                <a:solidFill>
                  <a:srgbClr val="A31515"/>
                </a:solidFill>
                <a:latin typeface="Cascadia Mono" panose="020B0609020000020004" pitchFamily="49" charset="0"/>
              </a:rPr>
              <a:t>&lt;</a:t>
            </a:r>
            <a:r>
              <a:rPr lang="es-CO" sz="1800" dirty="0" err="1">
                <a:solidFill>
                  <a:srgbClr val="A31515"/>
                </a:solidFill>
                <a:latin typeface="Cascadia Mono" panose="020B0609020000020004" pitchFamily="49" charset="0"/>
              </a:rPr>
              <a:t>cstdlib</a:t>
            </a:r>
            <a:r>
              <a:rPr lang="es-CO" sz="1800" dirty="0">
                <a:solidFill>
                  <a:srgbClr val="A31515"/>
                </a:solidFill>
                <a:latin typeface="Cascadia Mono" panose="020B0609020000020004" pitchFamily="49" charset="0"/>
              </a:rPr>
              <a:t>&gt;</a:t>
            </a:r>
            <a:endParaRPr lang="es-CO" sz="1800" dirty="0">
              <a:solidFill>
                <a:srgbClr val="000000"/>
              </a:solidFill>
              <a:latin typeface="Cascadia Mono" panose="020B0609020000020004" pitchFamily="49" charset="0"/>
            </a:endParaRPr>
          </a:p>
          <a:p>
            <a:r>
              <a:rPr lang="es-CO" sz="1800" dirty="0">
                <a:solidFill>
                  <a:srgbClr val="808080"/>
                </a:solidFill>
                <a:latin typeface="Cascadia Mono" panose="020B0609020000020004" pitchFamily="49" charset="0"/>
              </a:rPr>
              <a:t>#include</a:t>
            </a:r>
            <a:r>
              <a:rPr lang="es-CO" sz="1800" dirty="0">
                <a:solidFill>
                  <a:srgbClr val="000000"/>
                </a:solidFill>
                <a:latin typeface="Cascadia Mono" panose="020B0609020000020004" pitchFamily="49" charset="0"/>
              </a:rPr>
              <a:t> </a:t>
            </a:r>
            <a:r>
              <a:rPr lang="es-CO" sz="1800" dirty="0">
                <a:solidFill>
                  <a:srgbClr val="A31515"/>
                </a:solidFill>
                <a:latin typeface="Cascadia Mono" panose="020B0609020000020004" pitchFamily="49" charset="0"/>
              </a:rPr>
              <a:t>&lt;</a:t>
            </a:r>
            <a:r>
              <a:rPr lang="es-CO" sz="1800" dirty="0" err="1">
                <a:solidFill>
                  <a:srgbClr val="A31515"/>
                </a:solidFill>
                <a:latin typeface="Cascadia Mono" panose="020B0609020000020004" pitchFamily="49" charset="0"/>
              </a:rPr>
              <a:t>clocale</a:t>
            </a:r>
            <a:r>
              <a:rPr lang="es-CO" sz="1800" dirty="0">
                <a:solidFill>
                  <a:srgbClr val="A31515"/>
                </a:solidFill>
                <a:latin typeface="Cascadia Mono" panose="020B0609020000020004" pitchFamily="49" charset="0"/>
              </a:rPr>
              <a:t>&gt;</a:t>
            </a:r>
            <a:endParaRPr lang="es-CO" sz="1800" dirty="0">
              <a:solidFill>
                <a:srgbClr val="000000"/>
              </a:solidFill>
              <a:latin typeface="Cascadia Mono" panose="020B0609020000020004" pitchFamily="49" charset="0"/>
            </a:endParaRPr>
          </a:p>
          <a:p>
            <a:r>
              <a:rPr lang="es-CO" sz="1800" dirty="0" err="1">
                <a:solidFill>
                  <a:srgbClr val="0000FF"/>
                </a:solidFill>
                <a:latin typeface="Cascadia Mono" panose="020B0609020000020004" pitchFamily="49" charset="0"/>
              </a:rPr>
              <a:t>using</a:t>
            </a:r>
            <a:r>
              <a:rPr lang="es-CO" sz="1800" dirty="0">
                <a:solidFill>
                  <a:srgbClr val="000000"/>
                </a:solidFill>
                <a:latin typeface="Cascadia Mono" panose="020B0609020000020004" pitchFamily="49" charset="0"/>
              </a:rPr>
              <a:t> </a:t>
            </a:r>
            <a:r>
              <a:rPr lang="es-CO" sz="1800" dirty="0" err="1">
                <a:solidFill>
                  <a:srgbClr val="0000FF"/>
                </a:solidFill>
                <a:latin typeface="Cascadia Mono" panose="020B0609020000020004" pitchFamily="49" charset="0"/>
              </a:rPr>
              <a:t>namespace</a:t>
            </a:r>
            <a:r>
              <a:rPr lang="es-CO" sz="1800" dirty="0">
                <a:solidFill>
                  <a:srgbClr val="000000"/>
                </a:solidFill>
                <a:latin typeface="Cascadia Mono" panose="020B0609020000020004" pitchFamily="49" charset="0"/>
              </a:rPr>
              <a:t> </a:t>
            </a:r>
            <a:r>
              <a:rPr lang="es-CO" sz="1800" dirty="0" err="1">
                <a:solidFill>
                  <a:srgbClr val="000000"/>
                </a:solidFill>
                <a:latin typeface="Cascadia Mono" panose="020B0609020000020004" pitchFamily="49" charset="0"/>
              </a:rPr>
              <a:t>std</a:t>
            </a:r>
            <a:r>
              <a:rPr lang="es-CO" sz="1800" dirty="0">
                <a:solidFill>
                  <a:srgbClr val="000000"/>
                </a:solidFill>
                <a:latin typeface="Cascadia Mono" panose="020B0609020000020004" pitchFamily="49" charset="0"/>
              </a:rPr>
              <a:t>;</a:t>
            </a:r>
          </a:p>
          <a:p>
            <a:endParaRPr lang="es-CO" sz="1800" dirty="0">
              <a:solidFill>
                <a:srgbClr val="000000"/>
              </a:solidFill>
              <a:latin typeface="Cascadia Mono" panose="020B0609020000020004" pitchFamily="49" charset="0"/>
            </a:endParaRPr>
          </a:p>
          <a:p>
            <a:r>
              <a:rPr lang="es-CO" sz="1800" dirty="0" err="1">
                <a:solidFill>
                  <a:srgbClr val="0000FF"/>
                </a:solidFill>
                <a:latin typeface="Cascadia Mono" panose="020B0609020000020004" pitchFamily="49" charset="0"/>
              </a:rPr>
              <a:t>int</a:t>
            </a:r>
            <a:r>
              <a:rPr lang="es-CO" sz="1800" dirty="0">
                <a:solidFill>
                  <a:srgbClr val="000000"/>
                </a:solidFill>
                <a:latin typeface="Cascadia Mono" panose="020B0609020000020004" pitchFamily="49" charset="0"/>
              </a:rPr>
              <a:t> </a:t>
            </a:r>
            <a:r>
              <a:rPr lang="es-CO" sz="1800" dirty="0" err="1">
                <a:solidFill>
                  <a:srgbClr val="000000"/>
                </a:solidFill>
                <a:latin typeface="Cascadia Mono" panose="020B0609020000020004" pitchFamily="49" charset="0"/>
              </a:rPr>
              <a:t>main</a:t>
            </a:r>
            <a:r>
              <a:rPr lang="es-CO" sz="1800" dirty="0">
                <a:solidFill>
                  <a:srgbClr val="000000"/>
                </a:solidFill>
                <a:latin typeface="Cascadia Mono" panose="020B0609020000020004" pitchFamily="49" charset="0"/>
              </a:rPr>
              <a:t>() {</a:t>
            </a:r>
          </a:p>
          <a:p>
            <a:r>
              <a:rPr lang="es-CO" sz="1800" dirty="0">
                <a:solidFill>
                  <a:srgbClr val="008000"/>
                </a:solidFill>
                <a:latin typeface="Cascadia Mono" panose="020B0609020000020004" pitchFamily="49" charset="0"/>
              </a:rPr>
              <a:t>//CONFIGURACIÓN</a:t>
            </a:r>
            <a:endParaRPr lang="es-CO" sz="1800" dirty="0">
              <a:solidFill>
                <a:srgbClr val="000000"/>
              </a:solidFill>
              <a:latin typeface="Cascadia Mono" panose="020B0609020000020004" pitchFamily="49" charset="0"/>
            </a:endParaRPr>
          </a:p>
          <a:p>
            <a:r>
              <a:rPr lang="es-CO" sz="1800" dirty="0" err="1">
                <a:solidFill>
                  <a:srgbClr val="000000"/>
                </a:solidFill>
                <a:latin typeface="Cascadia Mono" panose="020B0609020000020004" pitchFamily="49" charset="0"/>
              </a:rPr>
              <a:t>setlocale</a:t>
            </a:r>
            <a:r>
              <a:rPr lang="es-CO" sz="1800" dirty="0">
                <a:solidFill>
                  <a:srgbClr val="000000"/>
                </a:solidFill>
                <a:latin typeface="Cascadia Mono" panose="020B0609020000020004" pitchFamily="49" charset="0"/>
              </a:rPr>
              <a:t>(</a:t>
            </a:r>
            <a:r>
              <a:rPr lang="es-CO" sz="1800" dirty="0">
                <a:solidFill>
                  <a:srgbClr val="6F008A"/>
                </a:solidFill>
                <a:latin typeface="Cascadia Mono" panose="020B0609020000020004" pitchFamily="49" charset="0"/>
              </a:rPr>
              <a:t>LC_CTYPE</a:t>
            </a:r>
            <a:r>
              <a:rPr lang="es-CO" sz="1800" dirty="0">
                <a:solidFill>
                  <a:srgbClr val="000000"/>
                </a:solidFill>
                <a:latin typeface="Cascadia Mono" panose="020B0609020000020004" pitchFamily="49" charset="0"/>
              </a:rPr>
              <a:t>, </a:t>
            </a:r>
            <a:r>
              <a:rPr lang="es-CO" sz="1800" dirty="0">
                <a:solidFill>
                  <a:srgbClr val="A31515"/>
                </a:solidFill>
                <a:latin typeface="Cascadia Mono" panose="020B0609020000020004" pitchFamily="49" charset="0"/>
              </a:rPr>
              <a:t>"</a:t>
            </a:r>
            <a:r>
              <a:rPr lang="es-CO" sz="1800" dirty="0" err="1">
                <a:solidFill>
                  <a:srgbClr val="A31515"/>
                </a:solidFill>
                <a:latin typeface="Cascadia Mono" panose="020B0609020000020004" pitchFamily="49" charset="0"/>
              </a:rPr>
              <a:t>spanish</a:t>
            </a:r>
            <a:r>
              <a:rPr lang="es-CO" sz="1800" dirty="0">
                <a:solidFill>
                  <a:srgbClr val="A31515"/>
                </a:solidFill>
                <a:latin typeface="Cascadia Mono" panose="020B0609020000020004" pitchFamily="49" charset="0"/>
              </a:rPr>
              <a:t>"</a:t>
            </a:r>
            <a:r>
              <a:rPr lang="es-CO" sz="1800" dirty="0">
                <a:solidFill>
                  <a:srgbClr val="000000"/>
                </a:solidFill>
                <a:latin typeface="Cascadia Mono" panose="020B0609020000020004" pitchFamily="49" charset="0"/>
              </a:rPr>
              <a:t>);</a:t>
            </a:r>
          </a:p>
          <a:p>
            <a:r>
              <a:rPr lang="es-CO" sz="1800" dirty="0" err="1">
                <a:solidFill>
                  <a:srgbClr val="000000"/>
                </a:solidFill>
                <a:latin typeface="Cascadia Mono" panose="020B0609020000020004" pitchFamily="49" charset="0"/>
              </a:rPr>
              <a:t>srand</a:t>
            </a:r>
            <a:r>
              <a:rPr lang="es-CO" sz="1800" dirty="0">
                <a:solidFill>
                  <a:srgbClr val="000000"/>
                </a:solidFill>
                <a:latin typeface="Cascadia Mono" panose="020B0609020000020004" pitchFamily="49" charset="0"/>
              </a:rPr>
              <a:t>(time(</a:t>
            </a:r>
            <a:r>
              <a:rPr lang="es-CO" sz="1800" dirty="0">
                <a:solidFill>
                  <a:srgbClr val="6F008A"/>
                </a:solidFill>
                <a:latin typeface="Cascadia Mono" panose="020B0609020000020004" pitchFamily="49" charset="0"/>
              </a:rPr>
              <a:t>NULL</a:t>
            </a:r>
            <a:r>
              <a:rPr lang="es-CO" sz="1800" dirty="0">
                <a:solidFill>
                  <a:srgbClr val="000000"/>
                </a:solidFill>
                <a:latin typeface="Cascadia Mono" panose="020B0609020000020004" pitchFamily="49" charset="0"/>
              </a:rPr>
              <a:t>));</a:t>
            </a:r>
          </a:p>
          <a:p>
            <a:r>
              <a:rPr lang="es-CO" sz="1800" dirty="0" err="1">
                <a:solidFill>
                  <a:srgbClr val="000000"/>
                </a:solidFill>
                <a:latin typeface="Cascadia Mono" panose="020B0609020000020004" pitchFamily="49" charset="0"/>
              </a:rPr>
              <a:t>cout</a:t>
            </a:r>
            <a:r>
              <a:rPr lang="es-CO" sz="1800" dirty="0">
                <a:solidFill>
                  <a:srgbClr val="000000"/>
                </a:solidFill>
                <a:latin typeface="Cascadia Mono" panose="020B0609020000020004" pitchFamily="49" charset="0"/>
              </a:rPr>
              <a:t> </a:t>
            </a:r>
            <a:r>
              <a:rPr lang="es-CO" sz="1800" dirty="0">
                <a:solidFill>
                  <a:srgbClr val="008080"/>
                </a:solidFill>
                <a:latin typeface="Cascadia Mono" panose="020B0609020000020004" pitchFamily="49" charset="0"/>
              </a:rPr>
              <a:t>&lt;&lt;</a:t>
            </a:r>
            <a:r>
              <a:rPr lang="es-CO" sz="1800" dirty="0">
                <a:solidFill>
                  <a:srgbClr val="000000"/>
                </a:solidFill>
                <a:latin typeface="Cascadia Mono" panose="020B0609020000020004" pitchFamily="49" charset="0"/>
              </a:rPr>
              <a:t> </a:t>
            </a:r>
            <a:r>
              <a:rPr lang="es-CO" sz="1800" dirty="0" err="1">
                <a:solidFill>
                  <a:srgbClr val="000000"/>
                </a:solidFill>
                <a:latin typeface="Cascadia Mono" panose="020B0609020000020004" pitchFamily="49" charset="0"/>
              </a:rPr>
              <a:t>fixed</a:t>
            </a:r>
            <a:r>
              <a:rPr lang="es-CO" sz="1800" dirty="0">
                <a:solidFill>
                  <a:srgbClr val="000000"/>
                </a:solidFill>
                <a:latin typeface="Cascadia Mono" panose="020B0609020000020004" pitchFamily="49" charset="0"/>
              </a:rPr>
              <a:t> </a:t>
            </a:r>
            <a:r>
              <a:rPr lang="es-CO" sz="1800" dirty="0">
                <a:solidFill>
                  <a:srgbClr val="008080"/>
                </a:solidFill>
                <a:latin typeface="Cascadia Mono" panose="020B0609020000020004" pitchFamily="49" charset="0"/>
              </a:rPr>
              <a:t>&lt;&lt;</a:t>
            </a:r>
            <a:r>
              <a:rPr lang="es-CO" sz="1800" dirty="0">
                <a:solidFill>
                  <a:srgbClr val="000000"/>
                </a:solidFill>
                <a:latin typeface="Cascadia Mono" panose="020B0609020000020004" pitchFamily="49" charset="0"/>
              </a:rPr>
              <a:t> </a:t>
            </a:r>
            <a:r>
              <a:rPr lang="es-CO" sz="1800" dirty="0" err="1">
                <a:solidFill>
                  <a:srgbClr val="000000"/>
                </a:solidFill>
                <a:latin typeface="Cascadia Mono" panose="020B0609020000020004" pitchFamily="49" charset="0"/>
              </a:rPr>
              <a:t>setprecision</a:t>
            </a:r>
            <a:r>
              <a:rPr lang="es-CO" sz="1800" dirty="0">
                <a:solidFill>
                  <a:srgbClr val="000000"/>
                </a:solidFill>
                <a:latin typeface="Cascadia Mono" panose="020B0609020000020004" pitchFamily="49" charset="0"/>
              </a:rPr>
              <a:t>(1);</a:t>
            </a:r>
          </a:p>
          <a:p>
            <a:r>
              <a:rPr lang="es-ES" sz="1800" dirty="0">
                <a:solidFill>
                  <a:srgbClr val="008000"/>
                </a:solidFill>
                <a:latin typeface="Cascadia Mono" panose="020B0609020000020004" pitchFamily="49" charset="0"/>
              </a:rPr>
              <a:t>//DECLARACIÓN Y LLENADO DE ARREGLOS</a:t>
            </a:r>
            <a:endParaRPr lang="es-ES" sz="1800" dirty="0">
              <a:solidFill>
                <a:srgbClr val="000000"/>
              </a:solidFill>
              <a:latin typeface="Cascadia Mono" panose="020B0609020000020004" pitchFamily="49" charset="0"/>
            </a:endParaRPr>
          </a:p>
          <a:p>
            <a:r>
              <a:rPr lang="fr-FR" sz="1800" dirty="0">
                <a:solidFill>
                  <a:srgbClr val="0000FF"/>
                </a:solidFill>
                <a:latin typeface="Cascadia Mono" panose="020B0609020000020004" pitchFamily="49" charset="0"/>
              </a:rPr>
              <a:t>double</a:t>
            </a:r>
            <a:r>
              <a:rPr lang="fr-FR" sz="1800" dirty="0">
                <a:solidFill>
                  <a:srgbClr val="000000"/>
                </a:solidFill>
                <a:latin typeface="Cascadia Mono" panose="020B0609020000020004" pitchFamily="49" charset="0"/>
              </a:rPr>
              <a:t> NOTAS[5][5] = { {3.2, 4.5, 5.0, 1.8, 2.10},</a:t>
            </a:r>
          </a:p>
          <a:p>
            <a:r>
              <a:rPr lang="es-CO" sz="1800" dirty="0">
                <a:solidFill>
                  <a:srgbClr val="000000"/>
                </a:solidFill>
                <a:latin typeface="Cascadia Mono" panose="020B0609020000020004" pitchFamily="49" charset="0"/>
              </a:rPr>
              <a:t>{4.0, 3.0, 4.8, 5.0, 3.2},</a:t>
            </a:r>
          </a:p>
          <a:p>
            <a:r>
              <a:rPr lang="es-CO" sz="1800" dirty="0">
                <a:solidFill>
                  <a:srgbClr val="000000"/>
                </a:solidFill>
                <a:latin typeface="Cascadia Mono" panose="020B0609020000020004" pitchFamily="49" charset="0"/>
              </a:rPr>
              <a:t>{1.0, 0.0, 0.2, 1.0, 4.0},</a:t>
            </a:r>
          </a:p>
          <a:p>
            <a:r>
              <a:rPr lang="es-CO" sz="1800" dirty="0">
                <a:solidFill>
                  <a:srgbClr val="000000"/>
                </a:solidFill>
                <a:latin typeface="Cascadia Mono" panose="020B0609020000020004" pitchFamily="49" charset="0"/>
              </a:rPr>
              <a:t>{2.0, 2.1, 4.9, 4.8, 4.0},</a:t>
            </a:r>
          </a:p>
          <a:p>
            <a:r>
              <a:rPr lang="es-CO" sz="1800" dirty="0">
                <a:solidFill>
                  <a:srgbClr val="000000"/>
                </a:solidFill>
                <a:latin typeface="Cascadia Mono" panose="020B0609020000020004" pitchFamily="49" charset="0"/>
              </a:rPr>
              <a:t>{1.0, 0.5, 5.0, 4.0, 3.0}</a:t>
            </a:r>
          </a:p>
          <a:p>
            <a:r>
              <a:rPr lang="es-CO" sz="1800" dirty="0">
                <a:solidFill>
                  <a:srgbClr val="000000"/>
                </a:solidFill>
                <a:latin typeface="Cascadia Mono" panose="020B0609020000020004" pitchFamily="49" charset="0"/>
              </a:rPr>
              <a:t>};</a:t>
            </a:r>
          </a:p>
          <a:p>
            <a:r>
              <a:rPr lang="es-CO" sz="1800" dirty="0" err="1">
                <a:solidFill>
                  <a:srgbClr val="2B91AF"/>
                </a:solidFill>
                <a:latin typeface="Cascadia Mono" panose="020B0609020000020004" pitchFamily="49" charset="0"/>
              </a:rPr>
              <a:t>string</a:t>
            </a:r>
            <a:r>
              <a:rPr lang="es-CO" sz="1800" dirty="0">
                <a:solidFill>
                  <a:srgbClr val="000000"/>
                </a:solidFill>
                <a:latin typeface="Cascadia Mono" panose="020B0609020000020004" pitchFamily="49" charset="0"/>
              </a:rPr>
              <a:t> MATERIAS[5] = { </a:t>
            </a:r>
            <a:r>
              <a:rPr lang="es-CO" sz="1800" dirty="0">
                <a:solidFill>
                  <a:srgbClr val="A31515"/>
                </a:solidFill>
                <a:latin typeface="Cascadia Mono" panose="020B0609020000020004" pitchFamily="49" charset="0"/>
              </a:rPr>
              <a:t>"Inglés"</a:t>
            </a:r>
            <a:r>
              <a:rPr lang="es-CO" sz="1800" dirty="0">
                <a:solidFill>
                  <a:srgbClr val="000000"/>
                </a:solidFill>
                <a:latin typeface="Cascadia Mono" panose="020B0609020000020004" pitchFamily="49" charset="0"/>
              </a:rPr>
              <a:t>, </a:t>
            </a:r>
            <a:r>
              <a:rPr lang="es-CO" sz="1800" dirty="0">
                <a:solidFill>
                  <a:srgbClr val="A31515"/>
                </a:solidFill>
                <a:latin typeface="Cascadia Mono" panose="020B0609020000020004" pitchFamily="49" charset="0"/>
              </a:rPr>
              <a:t>"Física"</a:t>
            </a:r>
            <a:r>
              <a:rPr lang="es-CO" sz="1800" dirty="0">
                <a:solidFill>
                  <a:srgbClr val="000000"/>
                </a:solidFill>
                <a:latin typeface="Cascadia Mono" panose="020B0609020000020004" pitchFamily="49" charset="0"/>
              </a:rPr>
              <a:t>, </a:t>
            </a:r>
            <a:r>
              <a:rPr lang="es-CO" sz="1800" dirty="0">
                <a:solidFill>
                  <a:srgbClr val="A31515"/>
                </a:solidFill>
                <a:latin typeface="Cascadia Mono" panose="020B0609020000020004" pitchFamily="49" charset="0"/>
              </a:rPr>
              <a:t>"Ética"</a:t>
            </a:r>
            <a:r>
              <a:rPr lang="es-CO" sz="1800" dirty="0">
                <a:solidFill>
                  <a:srgbClr val="000000"/>
                </a:solidFill>
                <a:latin typeface="Cascadia Mono" panose="020B0609020000020004" pitchFamily="49" charset="0"/>
              </a:rPr>
              <a:t>, </a:t>
            </a:r>
            <a:r>
              <a:rPr lang="es-CO" sz="1800" dirty="0">
                <a:solidFill>
                  <a:srgbClr val="A31515"/>
                </a:solidFill>
                <a:latin typeface="Cascadia Mono" panose="020B0609020000020004" pitchFamily="49" charset="0"/>
              </a:rPr>
              <a:t>"Religió"</a:t>
            </a:r>
            <a:r>
              <a:rPr lang="es-CO" sz="1800" dirty="0">
                <a:solidFill>
                  <a:srgbClr val="000000"/>
                </a:solidFill>
                <a:latin typeface="Cascadia Mono" panose="020B0609020000020004" pitchFamily="49" charset="0"/>
              </a:rPr>
              <a:t>, </a:t>
            </a:r>
            <a:r>
              <a:rPr lang="es-CO" sz="1800" dirty="0">
                <a:solidFill>
                  <a:srgbClr val="A31515"/>
                </a:solidFill>
                <a:latin typeface="Cascadia Mono" panose="020B0609020000020004" pitchFamily="49" charset="0"/>
              </a:rPr>
              <a:t>"Química"</a:t>
            </a:r>
            <a:r>
              <a:rPr lang="es-CO" sz="1800" dirty="0">
                <a:solidFill>
                  <a:srgbClr val="000000"/>
                </a:solidFill>
                <a:latin typeface="Cascadia Mono" panose="020B0609020000020004" pitchFamily="49" charset="0"/>
              </a:rPr>
              <a:t> };</a:t>
            </a:r>
          </a:p>
          <a:p>
            <a:r>
              <a:rPr lang="es-CO" sz="1800" dirty="0" err="1">
                <a:solidFill>
                  <a:srgbClr val="2B91AF"/>
                </a:solidFill>
                <a:latin typeface="Cascadia Mono" panose="020B0609020000020004" pitchFamily="49" charset="0"/>
              </a:rPr>
              <a:t>string</a:t>
            </a:r>
            <a:r>
              <a:rPr lang="es-CO" sz="1800" dirty="0">
                <a:solidFill>
                  <a:srgbClr val="000000"/>
                </a:solidFill>
                <a:latin typeface="Cascadia Mono" panose="020B0609020000020004" pitchFamily="49" charset="0"/>
              </a:rPr>
              <a:t> ESTUDIANTES[5]{ </a:t>
            </a:r>
            <a:r>
              <a:rPr lang="es-CO" sz="1800" dirty="0">
                <a:solidFill>
                  <a:srgbClr val="A31515"/>
                </a:solidFill>
                <a:latin typeface="Cascadia Mono" panose="020B0609020000020004" pitchFamily="49" charset="0"/>
              </a:rPr>
              <a:t>"Jorge"</a:t>
            </a:r>
            <a:r>
              <a:rPr lang="es-CO" sz="1800" dirty="0">
                <a:solidFill>
                  <a:srgbClr val="000000"/>
                </a:solidFill>
                <a:latin typeface="Cascadia Mono" panose="020B0609020000020004" pitchFamily="49" charset="0"/>
              </a:rPr>
              <a:t>, </a:t>
            </a:r>
            <a:r>
              <a:rPr lang="es-CO" sz="1800" dirty="0">
                <a:solidFill>
                  <a:srgbClr val="A31515"/>
                </a:solidFill>
                <a:latin typeface="Cascadia Mono" panose="020B0609020000020004" pitchFamily="49" charset="0"/>
              </a:rPr>
              <a:t>"Juan"</a:t>
            </a:r>
            <a:r>
              <a:rPr lang="es-CO" sz="1800" dirty="0">
                <a:solidFill>
                  <a:srgbClr val="000000"/>
                </a:solidFill>
                <a:latin typeface="Cascadia Mono" panose="020B0609020000020004" pitchFamily="49" charset="0"/>
              </a:rPr>
              <a:t>, </a:t>
            </a:r>
            <a:r>
              <a:rPr lang="es-CO" sz="1800" dirty="0">
                <a:solidFill>
                  <a:srgbClr val="A31515"/>
                </a:solidFill>
                <a:latin typeface="Cascadia Mono" panose="020B0609020000020004" pitchFamily="49" charset="0"/>
              </a:rPr>
              <a:t>"Carlos"</a:t>
            </a:r>
            <a:r>
              <a:rPr lang="es-CO" sz="1800" dirty="0">
                <a:solidFill>
                  <a:srgbClr val="000000"/>
                </a:solidFill>
                <a:latin typeface="Cascadia Mono" panose="020B0609020000020004" pitchFamily="49" charset="0"/>
              </a:rPr>
              <a:t>, </a:t>
            </a:r>
            <a:r>
              <a:rPr lang="es-CO" sz="1800" dirty="0">
                <a:solidFill>
                  <a:srgbClr val="A31515"/>
                </a:solidFill>
                <a:latin typeface="Cascadia Mono" panose="020B0609020000020004" pitchFamily="49" charset="0"/>
              </a:rPr>
              <a:t>"Pedro"</a:t>
            </a:r>
            <a:r>
              <a:rPr lang="es-CO" sz="1800" dirty="0">
                <a:solidFill>
                  <a:srgbClr val="000000"/>
                </a:solidFill>
                <a:latin typeface="Cascadia Mono" panose="020B0609020000020004" pitchFamily="49" charset="0"/>
              </a:rPr>
              <a:t>, </a:t>
            </a:r>
            <a:r>
              <a:rPr lang="es-CO" sz="1800" dirty="0">
                <a:solidFill>
                  <a:srgbClr val="A31515"/>
                </a:solidFill>
                <a:latin typeface="Cascadia Mono" panose="020B0609020000020004" pitchFamily="49" charset="0"/>
              </a:rPr>
              <a:t>"Luis"</a:t>
            </a:r>
            <a:r>
              <a:rPr lang="es-CO" sz="1800" dirty="0">
                <a:solidFill>
                  <a:srgbClr val="000000"/>
                </a:solidFill>
                <a:latin typeface="Cascadia Mono" panose="020B0609020000020004" pitchFamily="49" charset="0"/>
              </a:rPr>
              <a:t> };</a:t>
            </a:r>
          </a:p>
          <a:p>
            <a:r>
              <a:rPr lang="fr-FR" sz="1800" dirty="0">
                <a:solidFill>
                  <a:srgbClr val="0000FF"/>
                </a:solidFill>
                <a:latin typeface="Cascadia Mono" panose="020B0609020000020004" pitchFamily="49" charset="0"/>
              </a:rPr>
              <a:t>double</a:t>
            </a:r>
            <a:r>
              <a:rPr lang="fr-FR" sz="1800" dirty="0">
                <a:solidFill>
                  <a:srgbClr val="000000"/>
                </a:solidFill>
                <a:latin typeface="Cascadia Mono" panose="020B0609020000020004" pitchFamily="49" charset="0"/>
              </a:rPr>
              <a:t> </a:t>
            </a:r>
            <a:r>
              <a:rPr lang="fr-FR" sz="1800" dirty="0" err="1">
                <a:solidFill>
                  <a:srgbClr val="000000"/>
                </a:solidFill>
                <a:latin typeface="Cascadia Mono" panose="020B0609020000020004" pitchFamily="49" charset="0"/>
              </a:rPr>
              <a:t>sumEst</a:t>
            </a:r>
            <a:r>
              <a:rPr lang="fr-FR" sz="1800" dirty="0">
                <a:solidFill>
                  <a:srgbClr val="000000"/>
                </a:solidFill>
                <a:latin typeface="Cascadia Mono" panose="020B0609020000020004" pitchFamily="49" charset="0"/>
              </a:rPr>
              <a:t>[5], </a:t>
            </a:r>
            <a:r>
              <a:rPr lang="fr-FR" sz="1800" dirty="0" err="1">
                <a:solidFill>
                  <a:srgbClr val="000000"/>
                </a:solidFill>
                <a:latin typeface="Cascadia Mono" panose="020B0609020000020004" pitchFamily="49" charset="0"/>
              </a:rPr>
              <a:t>proEst</a:t>
            </a:r>
            <a:r>
              <a:rPr lang="fr-FR" sz="1800" dirty="0">
                <a:solidFill>
                  <a:srgbClr val="000000"/>
                </a:solidFill>
                <a:latin typeface="Cascadia Mono" panose="020B0609020000020004" pitchFamily="49" charset="0"/>
              </a:rPr>
              <a:t>[5], </a:t>
            </a:r>
            <a:r>
              <a:rPr lang="fr-FR" sz="1800" dirty="0" err="1">
                <a:solidFill>
                  <a:srgbClr val="000000"/>
                </a:solidFill>
                <a:latin typeface="Cascadia Mono" panose="020B0609020000020004" pitchFamily="49" charset="0"/>
              </a:rPr>
              <a:t>mayEst</a:t>
            </a:r>
            <a:r>
              <a:rPr lang="fr-FR" sz="1800" dirty="0">
                <a:solidFill>
                  <a:srgbClr val="000000"/>
                </a:solidFill>
                <a:latin typeface="Cascadia Mono" panose="020B0609020000020004" pitchFamily="49" charset="0"/>
              </a:rPr>
              <a:t>[5], </a:t>
            </a:r>
            <a:r>
              <a:rPr lang="fr-FR" sz="1800" dirty="0" err="1">
                <a:solidFill>
                  <a:srgbClr val="000000"/>
                </a:solidFill>
                <a:latin typeface="Cascadia Mono" panose="020B0609020000020004" pitchFamily="49" charset="0"/>
              </a:rPr>
              <a:t>menEst</a:t>
            </a:r>
            <a:r>
              <a:rPr lang="fr-FR" sz="1800" dirty="0">
                <a:solidFill>
                  <a:srgbClr val="000000"/>
                </a:solidFill>
                <a:latin typeface="Cascadia Mono" panose="020B0609020000020004" pitchFamily="49" charset="0"/>
              </a:rPr>
              <a:t>[5], </a:t>
            </a:r>
            <a:r>
              <a:rPr lang="fr-FR" sz="1800" dirty="0" err="1">
                <a:solidFill>
                  <a:srgbClr val="000000"/>
                </a:solidFill>
                <a:latin typeface="Cascadia Mono" panose="020B0609020000020004" pitchFamily="49" charset="0"/>
              </a:rPr>
              <a:t>contEst</a:t>
            </a:r>
            <a:r>
              <a:rPr lang="fr-FR" sz="1800" dirty="0">
                <a:solidFill>
                  <a:srgbClr val="000000"/>
                </a:solidFill>
                <a:latin typeface="Cascadia Mono" panose="020B0609020000020004" pitchFamily="49" charset="0"/>
              </a:rPr>
              <a:t>[5];</a:t>
            </a:r>
          </a:p>
          <a:p>
            <a:r>
              <a:rPr lang="fr-FR" sz="1800" dirty="0">
                <a:solidFill>
                  <a:srgbClr val="0000FF"/>
                </a:solidFill>
                <a:latin typeface="Cascadia Mono" panose="020B0609020000020004" pitchFamily="49" charset="0"/>
              </a:rPr>
              <a:t>double</a:t>
            </a:r>
            <a:r>
              <a:rPr lang="fr-FR" sz="1800" dirty="0">
                <a:solidFill>
                  <a:srgbClr val="000000"/>
                </a:solidFill>
                <a:latin typeface="Cascadia Mono" panose="020B0609020000020004" pitchFamily="49" charset="0"/>
              </a:rPr>
              <a:t> </a:t>
            </a:r>
            <a:r>
              <a:rPr lang="fr-FR" sz="1800" dirty="0" err="1">
                <a:solidFill>
                  <a:srgbClr val="000000"/>
                </a:solidFill>
                <a:latin typeface="Cascadia Mono" panose="020B0609020000020004" pitchFamily="49" charset="0"/>
              </a:rPr>
              <a:t>sumMat</a:t>
            </a:r>
            <a:r>
              <a:rPr lang="fr-FR" sz="1800" dirty="0">
                <a:solidFill>
                  <a:srgbClr val="000000"/>
                </a:solidFill>
                <a:latin typeface="Cascadia Mono" panose="020B0609020000020004" pitchFamily="49" charset="0"/>
              </a:rPr>
              <a:t>[5], </a:t>
            </a:r>
            <a:r>
              <a:rPr lang="fr-FR" sz="1800" dirty="0" err="1">
                <a:solidFill>
                  <a:srgbClr val="000000"/>
                </a:solidFill>
                <a:latin typeface="Cascadia Mono" panose="020B0609020000020004" pitchFamily="49" charset="0"/>
              </a:rPr>
              <a:t>proMat</a:t>
            </a:r>
            <a:r>
              <a:rPr lang="fr-FR" sz="1800" dirty="0">
                <a:solidFill>
                  <a:srgbClr val="000000"/>
                </a:solidFill>
                <a:latin typeface="Cascadia Mono" panose="020B0609020000020004" pitchFamily="49" charset="0"/>
              </a:rPr>
              <a:t>[5], </a:t>
            </a:r>
            <a:r>
              <a:rPr lang="fr-FR" sz="1800" dirty="0" err="1">
                <a:solidFill>
                  <a:srgbClr val="000000"/>
                </a:solidFill>
                <a:latin typeface="Cascadia Mono" panose="020B0609020000020004" pitchFamily="49" charset="0"/>
              </a:rPr>
              <a:t>mayMat</a:t>
            </a:r>
            <a:r>
              <a:rPr lang="fr-FR" sz="1800" dirty="0">
                <a:solidFill>
                  <a:srgbClr val="000000"/>
                </a:solidFill>
                <a:latin typeface="Cascadia Mono" panose="020B0609020000020004" pitchFamily="49" charset="0"/>
              </a:rPr>
              <a:t>[5], </a:t>
            </a:r>
            <a:r>
              <a:rPr lang="fr-FR" sz="1800" dirty="0" err="1">
                <a:solidFill>
                  <a:srgbClr val="000000"/>
                </a:solidFill>
                <a:latin typeface="Cascadia Mono" panose="020B0609020000020004" pitchFamily="49" charset="0"/>
              </a:rPr>
              <a:t>menMat</a:t>
            </a:r>
            <a:r>
              <a:rPr lang="fr-FR" sz="1800" dirty="0">
                <a:solidFill>
                  <a:srgbClr val="000000"/>
                </a:solidFill>
                <a:latin typeface="Cascadia Mono" panose="020B0609020000020004" pitchFamily="49" charset="0"/>
              </a:rPr>
              <a:t>[5], </a:t>
            </a:r>
            <a:r>
              <a:rPr lang="fr-FR" sz="1800" dirty="0" err="1">
                <a:solidFill>
                  <a:srgbClr val="000000"/>
                </a:solidFill>
                <a:latin typeface="Cascadia Mono" panose="020B0609020000020004" pitchFamily="49" charset="0"/>
              </a:rPr>
              <a:t>contMat</a:t>
            </a:r>
            <a:r>
              <a:rPr lang="fr-FR" sz="1800" dirty="0">
                <a:solidFill>
                  <a:srgbClr val="000000"/>
                </a:solidFill>
                <a:latin typeface="Cascadia Mono" panose="020B0609020000020004" pitchFamily="49" charset="0"/>
              </a:rPr>
              <a:t>[5];</a:t>
            </a:r>
          </a:p>
          <a:p>
            <a:endParaRPr lang="es-CO" sz="1800" dirty="0">
              <a:solidFill>
                <a:srgbClr val="000000"/>
              </a:solidFill>
              <a:latin typeface="Cascadia Mono" panose="020B0609020000020004" pitchFamily="49" charset="0"/>
            </a:endParaRPr>
          </a:p>
          <a:p>
            <a:r>
              <a:rPr lang="es-CO" sz="1800" dirty="0">
                <a:solidFill>
                  <a:srgbClr val="008000"/>
                </a:solidFill>
                <a:latin typeface="Cascadia Mono" panose="020B0609020000020004" pitchFamily="49" charset="0"/>
              </a:rPr>
              <a:t>//IMPRIMIR LA MATRIZ</a:t>
            </a:r>
            <a:endParaRPr lang="es-CO" sz="1800" dirty="0">
              <a:solidFill>
                <a:srgbClr val="000000"/>
              </a:solidFill>
              <a:latin typeface="Cascadia Mono" panose="020B0609020000020004" pitchFamily="49" charset="0"/>
            </a:endParaRPr>
          </a:p>
          <a:p>
            <a:r>
              <a:rPr lang="nn-NO" sz="1800" dirty="0">
                <a:solidFill>
                  <a:srgbClr val="0000FF"/>
                </a:solidFill>
                <a:latin typeface="Cascadia Mono" panose="020B0609020000020004" pitchFamily="49" charset="0"/>
              </a:rPr>
              <a:t>for</a:t>
            </a:r>
            <a:r>
              <a:rPr lang="nn-NO" sz="1800" dirty="0">
                <a:solidFill>
                  <a:srgbClr val="000000"/>
                </a:solidFill>
                <a:latin typeface="Cascadia Mono" panose="020B0609020000020004" pitchFamily="49" charset="0"/>
              </a:rPr>
              <a:t> (</a:t>
            </a:r>
            <a:r>
              <a:rPr lang="nn-NO" sz="1800" dirty="0">
                <a:solidFill>
                  <a:srgbClr val="0000FF"/>
                </a:solidFill>
                <a:latin typeface="Cascadia Mono" panose="020B0609020000020004" pitchFamily="49" charset="0"/>
              </a:rPr>
              <a:t>int</a:t>
            </a:r>
            <a:r>
              <a:rPr lang="nn-NO" sz="1800" dirty="0">
                <a:solidFill>
                  <a:srgbClr val="000000"/>
                </a:solidFill>
                <a:latin typeface="Cascadia Mono" panose="020B0609020000020004" pitchFamily="49" charset="0"/>
              </a:rPr>
              <a:t> i = 0; i &lt; 5; i++) {</a:t>
            </a:r>
          </a:p>
          <a:p>
            <a:r>
              <a:rPr lang="es-CO" sz="1800" dirty="0" err="1">
                <a:solidFill>
                  <a:srgbClr val="0000FF"/>
                </a:solidFill>
                <a:latin typeface="Cascadia Mono" panose="020B0609020000020004" pitchFamily="49" charset="0"/>
              </a:rPr>
              <a:t>for</a:t>
            </a:r>
            <a:r>
              <a:rPr lang="es-CO" sz="1800" dirty="0">
                <a:solidFill>
                  <a:srgbClr val="000000"/>
                </a:solidFill>
                <a:latin typeface="Cascadia Mono" panose="020B0609020000020004" pitchFamily="49" charset="0"/>
              </a:rPr>
              <a:t> (</a:t>
            </a:r>
            <a:r>
              <a:rPr lang="es-CO" sz="1800" dirty="0" err="1">
                <a:solidFill>
                  <a:srgbClr val="0000FF"/>
                </a:solidFill>
                <a:latin typeface="Cascadia Mono" panose="020B0609020000020004" pitchFamily="49" charset="0"/>
              </a:rPr>
              <a:t>int</a:t>
            </a:r>
            <a:r>
              <a:rPr lang="es-CO" sz="1800" dirty="0">
                <a:solidFill>
                  <a:srgbClr val="000000"/>
                </a:solidFill>
                <a:latin typeface="Cascadia Mono" panose="020B0609020000020004" pitchFamily="49" charset="0"/>
              </a:rPr>
              <a:t> j = 0; j &lt; 5; </a:t>
            </a:r>
            <a:r>
              <a:rPr lang="es-CO" sz="1800" dirty="0" err="1">
                <a:solidFill>
                  <a:srgbClr val="000000"/>
                </a:solidFill>
                <a:latin typeface="Cascadia Mono" panose="020B0609020000020004" pitchFamily="49" charset="0"/>
              </a:rPr>
              <a:t>j++</a:t>
            </a:r>
            <a:r>
              <a:rPr lang="es-CO" sz="1800" dirty="0">
                <a:solidFill>
                  <a:srgbClr val="000000"/>
                </a:solidFill>
                <a:latin typeface="Cascadia Mono" panose="020B0609020000020004" pitchFamily="49" charset="0"/>
              </a:rPr>
              <a:t>) {</a:t>
            </a:r>
          </a:p>
          <a:p>
            <a:r>
              <a:rPr lang="es-CO" sz="1800" dirty="0">
                <a:solidFill>
                  <a:srgbClr val="008000"/>
                </a:solidFill>
                <a:latin typeface="Cascadia Mono" panose="020B0609020000020004" pitchFamily="49" charset="0"/>
              </a:rPr>
              <a:t>//NOTAS[i][j] = rand() % 51 / 10.0;</a:t>
            </a:r>
            <a:endParaRPr lang="es-CO" sz="1800" dirty="0">
              <a:solidFill>
                <a:srgbClr val="000000"/>
              </a:solidFill>
              <a:latin typeface="Cascadia Mono" panose="020B0609020000020004" pitchFamily="49" charset="0"/>
            </a:endParaRPr>
          </a:p>
          <a:p>
            <a:r>
              <a:rPr lang="es-CO" sz="1800" dirty="0" err="1">
                <a:solidFill>
                  <a:srgbClr val="000000"/>
                </a:solidFill>
                <a:latin typeface="Cascadia Mono" panose="020B0609020000020004" pitchFamily="49" charset="0"/>
              </a:rPr>
              <a:t>cout</a:t>
            </a:r>
            <a:r>
              <a:rPr lang="es-CO" sz="1800" dirty="0">
                <a:solidFill>
                  <a:srgbClr val="000000"/>
                </a:solidFill>
                <a:latin typeface="Cascadia Mono" panose="020B0609020000020004" pitchFamily="49" charset="0"/>
              </a:rPr>
              <a:t> </a:t>
            </a:r>
            <a:r>
              <a:rPr lang="es-CO" sz="1800" dirty="0">
                <a:solidFill>
                  <a:srgbClr val="008080"/>
                </a:solidFill>
                <a:latin typeface="Cascadia Mono" panose="020B0609020000020004" pitchFamily="49" charset="0"/>
              </a:rPr>
              <a:t>&lt;&lt;</a:t>
            </a:r>
            <a:r>
              <a:rPr lang="es-CO" sz="1800" dirty="0">
                <a:solidFill>
                  <a:srgbClr val="000000"/>
                </a:solidFill>
                <a:latin typeface="Cascadia Mono" panose="020B0609020000020004" pitchFamily="49" charset="0"/>
              </a:rPr>
              <a:t> NOTAS[i][j] </a:t>
            </a:r>
            <a:r>
              <a:rPr lang="es-CO" sz="1800" dirty="0">
                <a:solidFill>
                  <a:srgbClr val="008080"/>
                </a:solidFill>
                <a:latin typeface="Cascadia Mono" panose="020B0609020000020004" pitchFamily="49" charset="0"/>
              </a:rPr>
              <a:t>&lt;&lt;</a:t>
            </a:r>
            <a:r>
              <a:rPr lang="es-CO" sz="1800" dirty="0">
                <a:solidFill>
                  <a:srgbClr val="000000"/>
                </a:solidFill>
                <a:latin typeface="Cascadia Mono" panose="020B0609020000020004" pitchFamily="49" charset="0"/>
              </a:rPr>
              <a:t> </a:t>
            </a:r>
            <a:r>
              <a:rPr lang="es-CO" sz="1800" dirty="0">
                <a:solidFill>
                  <a:srgbClr val="A31515"/>
                </a:solidFill>
                <a:latin typeface="Cascadia Mono" panose="020B0609020000020004" pitchFamily="49" charset="0"/>
              </a:rPr>
              <a:t>" "</a:t>
            </a:r>
            <a:r>
              <a:rPr lang="es-CO" sz="1800" dirty="0">
                <a:solidFill>
                  <a:srgbClr val="000000"/>
                </a:solidFill>
                <a:latin typeface="Cascadia Mono" panose="020B0609020000020004" pitchFamily="49" charset="0"/>
              </a:rPr>
              <a:t>;</a:t>
            </a:r>
          </a:p>
          <a:p>
            <a:r>
              <a:rPr lang="es-CO" sz="1800" dirty="0">
                <a:solidFill>
                  <a:srgbClr val="000000"/>
                </a:solidFill>
                <a:latin typeface="Cascadia Mono" panose="020B0609020000020004" pitchFamily="49" charset="0"/>
              </a:rPr>
              <a:t>}</a:t>
            </a:r>
          </a:p>
          <a:p>
            <a:r>
              <a:rPr lang="es-CO" sz="1800" dirty="0" err="1">
                <a:solidFill>
                  <a:srgbClr val="000000"/>
                </a:solidFill>
                <a:latin typeface="Cascadia Mono" panose="020B0609020000020004" pitchFamily="49" charset="0"/>
              </a:rPr>
              <a:t>cout</a:t>
            </a:r>
            <a:r>
              <a:rPr lang="es-CO" sz="1800" dirty="0">
                <a:solidFill>
                  <a:srgbClr val="000000"/>
                </a:solidFill>
                <a:latin typeface="Cascadia Mono" panose="020B0609020000020004" pitchFamily="49" charset="0"/>
              </a:rPr>
              <a:t> </a:t>
            </a:r>
            <a:r>
              <a:rPr lang="es-CO" sz="1800" dirty="0">
                <a:solidFill>
                  <a:srgbClr val="008080"/>
                </a:solidFill>
                <a:latin typeface="Cascadia Mono" panose="020B0609020000020004" pitchFamily="49" charset="0"/>
              </a:rPr>
              <a:t>&lt;&lt;</a:t>
            </a:r>
            <a:r>
              <a:rPr lang="es-CO" sz="1800" dirty="0">
                <a:solidFill>
                  <a:srgbClr val="000000"/>
                </a:solidFill>
                <a:latin typeface="Cascadia Mono" panose="020B0609020000020004" pitchFamily="49" charset="0"/>
              </a:rPr>
              <a:t> </a:t>
            </a:r>
            <a:r>
              <a:rPr lang="es-CO" sz="1800" dirty="0" err="1">
                <a:solidFill>
                  <a:srgbClr val="000000"/>
                </a:solidFill>
                <a:latin typeface="Cascadia Mono" panose="020B0609020000020004" pitchFamily="49" charset="0"/>
              </a:rPr>
              <a:t>endl</a:t>
            </a:r>
            <a:r>
              <a:rPr lang="es-CO" sz="1800" dirty="0">
                <a:solidFill>
                  <a:srgbClr val="000000"/>
                </a:solidFill>
                <a:latin typeface="Cascadia Mono" panose="020B0609020000020004" pitchFamily="49" charset="0"/>
              </a:rPr>
              <a:t>;</a:t>
            </a:r>
          </a:p>
          <a:p>
            <a:r>
              <a:rPr lang="es-CO" sz="1800" dirty="0">
                <a:solidFill>
                  <a:srgbClr val="000000"/>
                </a:solidFill>
                <a:latin typeface="Cascadia Mono" panose="020B0609020000020004" pitchFamily="49" charset="0"/>
              </a:rPr>
              <a:t>}</a:t>
            </a:r>
          </a:p>
          <a:p>
            <a:endParaRPr lang="es-CO" sz="1800" dirty="0">
              <a:solidFill>
                <a:srgbClr val="000000"/>
              </a:solidFill>
              <a:latin typeface="Cascadia Mono" panose="020B0609020000020004" pitchFamily="49" charset="0"/>
            </a:endParaRPr>
          </a:p>
          <a:p>
            <a:r>
              <a:rPr lang="es-CO" sz="1800" dirty="0">
                <a:solidFill>
                  <a:srgbClr val="008000"/>
                </a:solidFill>
                <a:latin typeface="Cascadia Mono" panose="020B0609020000020004" pitchFamily="49" charset="0"/>
              </a:rPr>
              <a:t>//OPERACIONES POR ESTUDIANTES</a:t>
            </a:r>
            <a:endParaRPr lang="es-CO" sz="1800" dirty="0">
              <a:solidFill>
                <a:srgbClr val="000000"/>
              </a:solidFill>
              <a:latin typeface="Cascadia Mono" panose="020B0609020000020004" pitchFamily="49" charset="0"/>
            </a:endParaRPr>
          </a:p>
          <a:p>
            <a:r>
              <a:rPr lang="es-CO" sz="1800" dirty="0" err="1">
                <a:solidFill>
                  <a:srgbClr val="0000FF"/>
                </a:solidFill>
                <a:latin typeface="Cascadia Mono" panose="020B0609020000020004" pitchFamily="49" charset="0"/>
              </a:rPr>
              <a:t>for</a:t>
            </a:r>
            <a:r>
              <a:rPr lang="es-CO" sz="1800" dirty="0">
                <a:solidFill>
                  <a:srgbClr val="000000"/>
                </a:solidFill>
                <a:latin typeface="Cascadia Mono" panose="020B0609020000020004" pitchFamily="49" charset="0"/>
              </a:rPr>
              <a:t> (</a:t>
            </a:r>
            <a:r>
              <a:rPr lang="es-CO" sz="1800" dirty="0" err="1">
                <a:solidFill>
                  <a:srgbClr val="0000FF"/>
                </a:solidFill>
                <a:latin typeface="Cascadia Mono" panose="020B0609020000020004" pitchFamily="49" charset="0"/>
              </a:rPr>
              <a:t>int</a:t>
            </a:r>
            <a:r>
              <a:rPr lang="es-CO" sz="1800" dirty="0">
                <a:solidFill>
                  <a:srgbClr val="000000"/>
                </a:solidFill>
                <a:latin typeface="Cascadia Mono" panose="020B0609020000020004" pitchFamily="49" charset="0"/>
              </a:rPr>
              <a:t> j = 0; j &lt; 5; </a:t>
            </a:r>
            <a:r>
              <a:rPr lang="es-CO" sz="1800" dirty="0" err="1">
                <a:solidFill>
                  <a:srgbClr val="000000"/>
                </a:solidFill>
                <a:latin typeface="Cascadia Mono" panose="020B0609020000020004" pitchFamily="49" charset="0"/>
              </a:rPr>
              <a:t>j++</a:t>
            </a:r>
            <a:r>
              <a:rPr lang="es-CO" sz="1800" dirty="0">
                <a:solidFill>
                  <a:srgbClr val="000000"/>
                </a:solidFill>
                <a:latin typeface="Cascadia Mono" panose="020B0609020000020004" pitchFamily="49" charset="0"/>
              </a:rPr>
              <a:t>) {</a:t>
            </a:r>
          </a:p>
          <a:p>
            <a:r>
              <a:rPr lang="en-US" sz="1800" dirty="0">
                <a:solidFill>
                  <a:srgbClr val="0000FF"/>
                </a:solidFill>
                <a:latin typeface="Cascadia Mono" panose="020B0609020000020004" pitchFamily="49" charset="0"/>
              </a:rPr>
              <a:t>double</a:t>
            </a:r>
            <a:r>
              <a:rPr lang="en-US" sz="1800" dirty="0">
                <a:solidFill>
                  <a:srgbClr val="000000"/>
                </a:solidFill>
                <a:latin typeface="Cascadia Mono" panose="020B0609020000020004" pitchFamily="49" charset="0"/>
              </a:rPr>
              <a:t> sum = 0, may = 0, men = 5, </a:t>
            </a:r>
            <a:r>
              <a:rPr lang="en-US" sz="1800" dirty="0" err="1">
                <a:solidFill>
                  <a:srgbClr val="000000"/>
                </a:solidFill>
                <a:latin typeface="Cascadia Mono" panose="020B0609020000020004" pitchFamily="49" charset="0"/>
              </a:rPr>
              <a:t>cont</a:t>
            </a:r>
            <a:r>
              <a:rPr lang="en-US" sz="1800" dirty="0">
                <a:solidFill>
                  <a:srgbClr val="000000"/>
                </a:solidFill>
                <a:latin typeface="Cascadia Mono" panose="020B0609020000020004" pitchFamily="49" charset="0"/>
              </a:rPr>
              <a:t> = 0;</a:t>
            </a:r>
          </a:p>
          <a:p>
            <a:r>
              <a:rPr lang="nn-NO" sz="1800" dirty="0">
                <a:solidFill>
                  <a:srgbClr val="0000FF"/>
                </a:solidFill>
                <a:latin typeface="Cascadia Mono" panose="020B0609020000020004" pitchFamily="49" charset="0"/>
              </a:rPr>
              <a:t>for</a:t>
            </a:r>
            <a:r>
              <a:rPr lang="nn-NO" sz="1800" dirty="0">
                <a:solidFill>
                  <a:srgbClr val="000000"/>
                </a:solidFill>
                <a:latin typeface="Cascadia Mono" panose="020B0609020000020004" pitchFamily="49" charset="0"/>
              </a:rPr>
              <a:t> (</a:t>
            </a:r>
            <a:r>
              <a:rPr lang="nn-NO" sz="1800" dirty="0">
                <a:solidFill>
                  <a:srgbClr val="0000FF"/>
                </a:solidFill>
                <a:latin typeface="Cascadia Mono" panose="020B0609020000020004" pitchFamily="49" charset="0"/>
              </a:rPr>
              <a:t>int</a:t>
            </a:r>
            <a:r>
              <a:rPr lang="nn-NO" sz="1800" dirty="0">
                <a:solidFill>
                  <a:srgbClr val="000000"/>
                </a:solidFill>
                <a:latin typeface="Cascadia Mono" panose="020B0609020000020004" pitchFamily="49" charset="0"/>
              </a:rPr>
              <a:t> i = 0; i &lt; 5; i++) {</a:t>
            </a:r>
          </a:p>
          <a:p>
            <a:r>
              <a:rPr lang="es-CO" sz="1800" dirty="0">
                <a:solidFill>
                  <a:srgbClr val="000000"/>
                </a:solidFill>
                <a:latin typeface="Cascadia Mono" panose="020B0609020000020004" pitchFamily="49" charset="0"/>
              </a:rPr>
              <a:t>sum += NOTAS[i][j];</a:t>
            </a:r>
          </a:p>
          <a:p>
            <a:r>
              <a:rPr lang="en-US" sz="1800" dirty="0">
                <a:solidFill>
                  <a:srgbClr val="0000FF"/>
                </a:solidFill>
                <a:latin typeface="Cascadia Mono" panose="020B0609020000020004" pitchFamily="49" charset="0"/>
              </a:rPr>
              <a:t>if</a:t>
            </a:r>
            <a:r>
              <a:rPr lang="en-US" sz="1800" dirty="0">
                <a:solidFill>
                  <a:srgbClr val="000000"/>
                </a:solidFill>
                <a:latin typeface="Cascadia Mono" panose="020B0609020000020004" pitchFamily="49" charset="0"/>
              </a:rPr>
              <a:t> (NOTAS[</a:t>
            </a:r>
            <a:r>
              <a:rPr lang="en-US" sz="1800" dirty="0" err="1">
                <a:solidFill>
                  <a:srgbClr val="000000"/>
                </a:solidFill>
                <a:latin typeface="Cascadia Mono" panose="020B0609020000020004" pitchFamily="49" charset="0"/>
              </a:rPr>
              <a:t>i</a:t>
            </a:r>
            <a:r>
              <a:rPr lang="en-US" sz="1800" dirty="0">
                <a:solidFill>
                  <a:srgbClr val="000000"/>
                </a:solidFill>
                <a:latin typeface="Cascadia Mono" panose="020B0609020000020004" pitchFamily="49" charset="0"/>
              </a:rPr>
              <a:t>][j] &gt; may)</a:t>
            </a:r>
          </a:p>
          <a:p>
            <a:r>
              <a:rPr lang="es-CO" sz="1800" dirty="0" err="1">
                <a:solidFill>
                  <a:srgbClr val="000000"/>
                </a:solidFill>
                <a:latin typeface="Cascadia Mono" panose="020B0609020000020004" pitchFamily="49" charset="0"/>
              </a:rPr>
              <a:t>may</a:t>
            </a:r>
            <a:r>
              <a:rPr lang="es-CO" sz="1800" dirty="0">
                <a:solidFill>
                  <a:srgbClr val="000000"/>
                </a:solidFill>
                <a:latin typeface="Cascadia Mono" panose="020B0609020000020004" pitchFamily="49" charset="0"/>
              </a:rPr>
              <a:t> = NOTAS[i][j];</a:t>
            </a:r>
          </a:p>
          <a:p>
            <a:r>
              <a:rPr lang="es-CO" sz="1800" dirty="0" err="1">
                <a:solidFill>
                  <a:srgbClr val="0000FF"/>
                </a:solidFill>
                <a:latin typeface="Cascadia Mono" panose="020B0609020000020004" pitchFamily="49" charset="0"/>
              </a:rPr>
              <a:t>if</a:t>
            </a:r>
            <a:r>
              <a:rPr lang="es-CO" sz="1800" dirty="0">
                <a:solidFill>
                  <a:srgbClr val="000000"/>
                </a:solidFill>
                <a:latin typeface="Cascadia Mono" panose="020B0609020000020004" pitchFamily="49" charset="0"/>
              </a:rPr>
              <a:t> (NOTAS[i][j] &lt; </a:t>
            </a:r>
            <a:r>
              <a:rPr lang="es-CO" sz="1800" dirty="0" err="1">
                <a:solidFill>
                  <a:srgbClr val="000000"/>
                </a:solidFill>
                <a:latin typeface="Cascadia Mono" panose="020B0609020000020004" pitchFamily="49" charset="0"/>
              </a:rPr>
              <a:t>men</a:t>
            </a:r>
            <a:r>
              <a:rPr lang="es-CO" sz="1800" dirty="0">
                <a:solidFill>
                  <a:srgbClr val="000000"/>
                </a:solidFill>
                <a:latin typeface="Cascadia Mono" panose="020B0609020000020004" pitchFamily="49" charset="0"/>
              </a:rPr>
              <a:t>)</a:t>
            </a:r>
          </a:p>
          <a:p>
            <a:r>
              <a:rPr lang="es-CO" sz="1800" dirty="0" err="1">
                <a:solidFill>
                  <a:srgbClr val="000000"/>
                </a:solidFill>
                <a:latin typeface="Cascadia Mono" panose="020B0609020000020004" pitchFamily="49" charset="0"/>
              </a:rPr>
              <a:t>men</a:t>
            </a:r>
            <a:r>
              <a:rPr lang="es-CO" sz="1800" dirty="0">
                <a:solidFill>
                  <a:srgbClr val="000000"/>
                </a:solidFill>
                <a:latin typeface="Cascadia Mono" panose="020B0609020000020004" pitchFamily="49" charset="0"/>
              </a:rPr>
              <a:t> = NOTAS[i][j];</a:t>
            </a:r>
          </a:p>
          <a:p>
            <a:r>
              <a:rPr lang="en-US" sz="1800" dirty="0">
                <a:solidFill>
                  <a:srgbClr val="0000FF"/>
                </a:solidFill>
                <a:latin typeface="Cascadia Mono" panose="020B0609020000020004" pitchFamily="49" charset="0"/>
              </a:rPr>
              <a:t>if</a:t>
            </a:r>
            <a:r>
              <a:rPr lang="en-US" sz="1800" dirty="0">
                <a:solidFill>
                  <a:srgbClr val="000000"/>
                </a:solidFill>
                <a:latin typeface="Cascadia Mono" panose="020B0609020000020004" pitchFamily="49" charset="0"/>
              </a:rPr>
              <a:t> (NOTAS[</a:t>
            </a:r>
            <a:r>
              <a:rPr lang="en-US" sz="1800" dirty="0" err="1">
                <a:solidFill>
                  <a:srgbClr val="000000"/>
                </a:solidFill>
                <a:latin typeface="Cascadia Mono" panose="020B0609020000020004" pitchFamily="49" charset="0"/>
              </a:rPr>
              <a:t>i</a:t>
            </a:r>
            <a:r>
              <a:rPr lang="en-US" sz="1800" dirty="0">
                <a:solidFill>
                  <a:srgbClr val="000000"/>
                </a:solidFill>
                <a:latin typeface="Cascadia Mono" panose="020B0609020000020004" pitchFamily="49" charset="0"/>
              </a:rPr>
              <a:t>][j] &gt;= 3)</a:t>
            </a:r>
          </a:p>
          <a:p>
            <a:r>
              <a:rPr lang="es-CO" sz="1800" dirty="0" err="1">
                <a:solidFill>
                  <a:srgbClr val="000000"/>
                </a:solidFill>
                <a:latin typeface="Cascadia Mono" panose="020B0609020000020004" pitchFamily="49" charset="0"/>
              </a:rPr>
              <a:t>cont</a:t>
            </a:r>
            <a:r>
              <a:rPr lang="es-CO" sz="1800" dirty="0">
                <a:solidFill>
                  <a:srgbClr val="000000"/>
                </a:solidFill>
                <a:latin typeface="Cascadia Mono" panose="020B0609020000020004" pitchFamily="49" charset="0"/>
              </a:rPr>
              <a:t>++;</a:t>
            </a:r>
          </a:p>
          <a:p>
            <a:r>
              <a:rPr lang="es-CO" sz="1800" dirty="0">
                <a:solidFill>
                  <a:srgbClr val="000000"/>
                </a:solidFill>
                <a:latin typeface="Cascadia Mono" panose="020B0609020000020004" pitchFamily="49" charset="0"/>
              </a:rPr>
              <a:t>}</a:t>
            </a:r>
          </a:p>
          <a:p>
            <a:r>
              <a:rPr lang="es-CO" sz="1800" dirty="0" err="1">
                <a:solidFill>
                  <a:srgbClr val="000000"/>
                </a:solidFill>
                <a:latin typeface="Cascadia Mono" panose="020B0609020000020004" pitchFamily="49" charset="0"/>
              </a:rPr>
              <a:t>sumEst</a:t>
            </a:r>
            <a:r>
              <a:rPr lang="es-CO" sz="1800" dirty="0">
                <a:solidFill>
                  <a:srgbClr val="000000"/>
                </a:solidFill>
                <a:latin typeface="Cascadia Mono" panose="020B0609020000020004" pitchFamily="49" charset="0"/>
              </a:rPr>
              <a:t>[j] = sum;</a:t>
            </a:r>
          </a:p>
          <a:p>
            <a:r>
              <a:rPr lang="es-CO" sz="1800" dirty="0" err="1">
                <a:solidFill>
                  <a:srgbClr val="000000"/>
                </a:solidFill>
                <a:latin typeface="Cascadia Mono" panose="020B0609020000020004" pitchFamily="49" charset="0"/>
              </a:rPr>
              <a:t>proEst</a:t>
            </a:r>
            <a:r>
              <a:rPr lang="es-CO" sz="1800" dirty="0">
                <a:solidFill>
                  <a:srgbClr val="000000"/>
                </a:solidFill>
                <a:latin typeface="Cascadia Mono" panose="020B0609020000020004" pitchFamily="49" charset="0"/>
              </a:rPr>
              <a:t>[j] = sum / 5;</a:t>
            </a:r>
          </a:p>
          <a:p>
            <a:r>
              <a:rPr lang="es-CO" sz="1800" dirty="0" err="1">
                <a:solidFill>
                  <a:srgbClr val="000000"/>
                </a:solidFill>
                <a:latin typeface="Cascadia Mono" panose="020B0609020000020004" pitchFamily="49" charset="0"/>
              </a:rPr>
              <a:t>mayEst</a:t>
            </a:r>
            <a:r>
              <a:rPr lang="es-CO" sz="1800" dirty="0">
                <a:solidFill>
                  <a:srgbClr val="000000"/>
                </a:solidFill>
                <a:latin typeface="Cascadia Mono" panose="020B0609020000020004" pitchFamily="49" charset="0"/>
              </a:rPr>
              <a:t>[j] = </a:t>
            </a:r>
            <a:r>
              <a:rPr lang="es-CO" sz="1800" dirty="0" err="1">
                <a:solidFill>
                  <a:srgbClr val="000000"/>
                </a:solidFill>
                <a:latin typeface="Cascadia Mono" panose="020B0609020000020004" pitchFamily="49" charset="0"/>
              </a:rPr>
              <a:t>may</a:t>
            </a:r>
            <a:r>
              <a:rPr lang="es-CO" sz="1800" dirty="0">
                <a:solidFill>
                  <a:srgbClr val="000000"/>
                </a:solidFill>
                <a:latin typeface="Cascadia Mono" panose="020B0609020000020004" pitchFamily="49" charset="0"/>
              </a:rPr>
              <a:t>;</a:t>
            </a:r>
          </a:p>
          <a:p>
            <a:r>
              <a:rPr lang="es-CO" sz="1800" dirty="0" err="1">
                <a:solidFill>
                  <a:srgbClr val="000000"/>
                </a:solidFill>
                <a:latin typeface="Cascadia Mono" panose="020B0609020000020004" pitchFamily="49" charset="0"/>
              </a:rPr>
              <a:t>menEst</a:t>
            </a:r>
            <a:r>
              <a:rPr lang="es-CO" sz="1800" dirty="0">
                <a:solidFill>
                  <a:srgbClr val="000000"/>
                </a:solidFill>
                <a:latin typeface="Cascadia Mono" panose="020B0609020000020004" pitchFamily="49" charset="0"/>
              </a:rPr>
              <a:t>[j] = </a:t>
            </a:r>
            <a:r>
              <a:rPr lang="es-CO" sz="1800" dirty="0" err="1">
                <a:solidFill>
                  <a:srgbClr val="000000"/>
                </a:solidFill>
                <a:latin typeface="Cascadia Mono" panose="020B0609020000020004" pitchFamily="49" charset="0"/>
              </a:rPr>
              <a:t>men</a:t>
            </a:r>
            <a:r>
              <a:rPr lang="es-CO" sz="1800" dirty="0">
                <a:solidFill>
                  <a:srgbClr val="000000"/>
                </a:solidFill>
                <a:latin typeface="Cascadia Mono" panose="020B0609020000020004" pitchFamily="49" charset="0"/>
              </a:rPr>
              <a:t>;</a:t>
            </a:r>
          </a:p>
          <a:p>
            <a:r>
              <a:rPr lang="es-CO" sz="1800" dirty="0" err="1">
                <a:solidFill>
                  <a:srgbClr val="000000"/>
                </a:solidFill>
                <a:latin typeface="Cascadia Mono" panose="020B0609020000020004" pitchFamily="49" charset="0"/>
              </a:rPr>
              <a:t>contEst</a:t>
            </a:r>
            <a:r>
              <a:rPr lang="es-CO" sz="1800" dirty="0">
                <a:solidFill>
                  <a:srgbClr val="000000"/>
                </a:solidFill>
                <a:latin typeface="Cascadia Mono" panose="020B0609020000020004" pitchFamily="49" charset="0"/>
              </a:rPr>
              <a:t>[j] = </a:t>
            </a:r>
            <a:r>
              <a:rPr lang="es-CO" sz="1800" dirty="0" err="1">
                <a:solidFill>
                  <a:srgbClr val="000000"/>
                </a:solidFill>
                <a:latin typeface="Cascadia Mono" panose="020B0609020000020004" pitchFamily="49" charset="0"/>
              </a:rPr>
              <a:t>cont</a:t>
            </a:r>
            <a:r>
              <a:rPr lang="es-CO" sz="1800" dirty="0">
                <a:solidFill>
                  <a:srgbClr val="000000"/>
                </a:solidFill>
                <a:latin typeface="Cascadia Mono" panose="020B0609020000020004" pitchFamily="49" charset="0"/>
              </a:rPr>
              <a:t>;</a:t>
            </a:r>
          </a:p>
          <a:p>
            <a:r>
              <a:rPr lang="es-CO" sz="1800" dirty="0">
                <a:solidFill>
                  <a:srgbClr val="000000"/>
                </a:solidFill>
                <a:latin typeface="Cascadia Mono" panose="020B0609020000020004" pitchFamily="49" charset="0"/>
              </a:rPr>
              <a:t>}</a:t>
            </a:r>
          </a:p>
          <a:p>
            <a:r>
              <a:rPr lang="es-CO" sz="1800" dirty="0">
                <a:solidFill>
                  <a:srgbClr val="008000"/>
                </a:solidFill>
                <a:latin typeface="Cascadia Mono" panose="020B0609020000020004" pitchFamily="49" charset="0"/>
              </a:rPr>
              <a:t>//IMPRIMIR REPORTE X ESTUDIANTES</a:t>
            </a:r>
            <a:endParaRPr lang="es-CO" sz="1800" dirty="0">
              <a:solidFill>
                <a:srgbClr val="000000"/>
              </a:solidFill>
              <a:latin typeface="Cascadia Mono" panose="020B0609020000020004" pitchFamily="49" charset="0"/>
            </a:endParaRPr>
          </a:p>
          <a:p>
            <a:r>
              <a:rPr lang="es-CO" sz="1800" dirty="0" err="1">
                <a:solidFill>
                  <a:srgbClr val="000000"/>
                </a:solidFill>
                <a:latin typeface="Cascadia Mono" panose="020B0609020000020004" pitchFamily="49" charset="0"/>
              </a:rPr>
              <a:t>cout</a:t>
            </a:r>
            <a:r>
              <a:rPr lang="es-CO" sz="1800" dirty="0">
                <a:solidFill>
                  <a:srgbClr val="000000"/>
                </a:solidFill>
                <a:latin typeface="Cascadia Mono" panose="020B0609020000020004" pitchFamily="49" charset="0"/>
              </a:rPr>
              <a:t> </a:t>
            </a:r>
            <a:r>
              <a:rPr lang="es-CO" sz="1800" dirty="0">
                <a:solidFill>
                  <a:srgbClr val="008080"/>
                </a:solidFill>
                <a:latin typeface="Cascadia Mono" panose="020B0609020000020004" pitchFamily="49" charset="0"/>
              </a:rPr>
              <a:t>&lt;&lt;</a:t>
            </a:r>
            <a:r>
              <a:rPr lang="es-CO" sz="1800" dirty="0">
                <a:solidFill>
                  <a:srgbClr val="000000"/>
                </a:solidFill>
                <a:latin typeface="Cascadia Mono" panose="020B0609020000020004" pitchFamily="49" charset="0"/>
              </a:rPr>
              <a:t> </a:t>
            </a:r>
            <a:r>
              <a:rPr lang="es-CO" sz="1800" dirty="0">
                <a:solidFill>
                  <a:srgbClr val="A31515"/>
                </a:solidFill>
                <a:latin typeface="Cascadia Mono" panose="020B0609020000020004" pitchFamily="49" charset="0"/>
              </a:rPr>
              <a:t>"\n---&gt; REPORTE POR CADA ESTUDIANTE &lt;---"</a:t>
            </a:r>
            <a:r>
              <a:rPr lang="es-CO" sz="1800" dirty="0">
                <a:solidFill>
                  <a:srgbClr val="000000"/>
                </a:solidFill>
                <a:latin typeface="Cascadia Mono" panose="020B0609020000020004" pitchFamily="49" charset="0"/>
              </a:rPr>
              <a:t> </a:t>
            </a:r>
            <a:r>
              <a:rPr lang="es-CO" sz="1800" dirty="0">
                <a:solidFill>
                  <a:srgbClr val="008080"/>
                </a:solidFill>
                <a:latin typeface="Cascadia Mono" panose="020B0609020000020004" pitchFamily="49" charset="0"/>
              </a:rPr>
              <a:t>&lt;&lt;</a:t>
            </a:r>
            <a:r>
              <a:rPr lang="es-CO" sz="1800" dirty="0">
                <a:solidFill>
                  <a:srgbClr val="000000"/>
                </a:solidFill>
                <a:latin typeface="Cascadia Mono" panose="020B0609020000020004" pitchFamily="49" charset="0"/>
              </a:rPr>
              <a:t> </a:t>
            </a:r>
            <a:r>
              <a:rPr lang="es-CO" sz="1800" dirty="0" err="1">
                <a:solidFill>
                  <a:srgbClr val="000000"/>
                </a:solidFill>
                <a:latin typeface="Cascadia Mono" panose="020B0609020000020004" pitchFamily="49" charset="0"/>
              </a:rPr>
              <a:t>endl</a:t>
            </a:r>
            <a:r>
              <a:rPr lang="es-CO" sz="1800" dirty="0">
                <a:solidFill>
                  <a:srgbClr val="000000"/>
                </a:solidFill>
                <a:latin typeface="Cascadia Mono" panose="020B0609020000020004" pitchFamily="49" charset="0"/>
              </a:rPr>
              <a:t>;</a:t>
            </a:r>
          </a:p>
          <a:p>
            <a:r>
              <a:rPr lang="es-CO" sz="1800" dirty="0" err="1">
                <a:solidFill>
                  <a:srgbClr val="000000"/>
                </a:solidFill>
                <a:latin typeface="Cascadia Mono" panose="020B0609020000020004" pitchFamily="49" charset="0"/>
              </a:rPr>
              <a:t>cout</a:t>
            </a:r>
            <a:r>
              <a:rPr lang="es-CO" sz="1800" dirty="0">
                <a:solidFill>
                  <a:srgbClr val="000000"/>
                </a:solidFill>
                <a:latin typeface="Cascadia Mono" panose="020B0609020000020004" pitchFamily="49" charset="0"/>
              </a:rPr>
              <a:t> </a:t>
            </a:r>
            <a:r>
              <a:rPr lang="es-CO" sz="1800" dirty="0">
                <a:solidFill>
                  <a:srgbClr val="008080"/>
                </a:solidFill>
                <a:latin typeface="Cascadia Mono" panose="020B0609020000020004" pitchFamily="49" charset="0"/>
              </a:rPr>
              <a:t>&lt;&lt;</a:t>
            </a:r>
            <a:r>
              <a:rPr lang="es-CO" sz="1800" dirty="0">
                <a:solidFill>
                  <a:srgbClr val="000000"/>
                </a:solidFill>
                <a:latin typeface="Cascadia Mono" panose="020B0609020000020004" pitchFamily="49" charset="0"/>
              </a:rPr>
              <a:t> </a:t>
            </a:r>
            <a:r>
              <a:rPr lang="es-CO" sz="1800" dirty="0">
                <a:solidFill>
                  <a:srgbClr val="A31515"/>
                </a:solidFill>
                <a:latin typeface="Cascadia Mono" panose="020B0609020000020004" pitchFamily="49" charset="0"/>
              </a:rPr>
              <a:t>"MATERIA   SUMA PROMEDIO  MAYOR   MENOR CANT.GANADAS"</a:t>
            </a:r>
            <a:r>
              <a:rPr lang="es-CO" sz="1800" dirty="0">
                <a:solidFill>
                  <a:srgbClr val="000000"/>
                </a:solidFill>
                <a:latin typeface="Cascadia Mono" panose="020B0609020000020004" pitchFamily="49" charset="0"/>
              </a:rPr>
              <a:t> </a:t>
            </a:r>
            <a:r>
              <a:rPr lang="es-CO" sz="1800" dirty="0">
                <a:solidFill>
                  <a:srgbClr val="008080"/>
                </a:solidFill>
                <a:latin typeface="Cascadia Mono" panose="020B0609020000020004" pitchFamily="49" charset="0"/>
              </a:rPr>
              <a:t>&lt;&lt;</a:t>
            </a:r>
            <a:r>
              <a:rPr lang="es-CO" sz="1800" dirty="0">
                <a:solidFill>
                  <a:srgbClr val="000000"/>
                </a:solidFill>
                <a:latin typeface="Cascadia Mono" panose="020B0609020000020004" pitchFamily="49" charset="0"/>
              </a:rPr>
              <a:t> </a:t>
            </a:r>
            <a:r>
              <a:rPr lang="es-CO" sz="1800" dirty="0" err="1">
                <a:solidFill>
                  <a:srgbClr val="000000"/>
                </a:solidFill>
                <a:latin typeface="Cascadia Mono" panose="020B0609020000020004" pitchFamily="49" charset="0"/>
              </a:rPr>
              <a:t>endl</a:t>
            </a:r>
            <a:r>
              <a:rPr lang="es-CO" sz="1800" dirty="0">
                <a:solidFill>
                  <a:srgbClr val="000000"/>
                </a:solidFill>
                <a:latin typeface="Cascadia Mono" panose="020B0609020000020004" pitchFamily="49" charset="0"/>
              </a:rPr>
              <a:t>;</a:t>
            </a:r>
          </a:p>
          <a:p>
            <a:r>
              <a:rPr lang="es-CO" sz="1800" dirty="0" err="1">
                <a:solidFill>
                  <a:srgbClr val="0000FF"/>
                </a:solidFill>
                <a:latin typeface="Cascadia Mono" panose="020B0609020000020004" pitchFamily="49" charset="0"/>
              </a:rPr>
              <a:t>for</a:t>
            </a:r>
            <a:r>
              <a:rPr lang="es-CO" sz="1800" dirty="0">
                <a:solidFill>
                  <a:srgbClr val="000000"/>
                </a:solidFill>
                <a:latin typeface="Cascadia Mono" panose="020B0609020000020004" pitchFamily="49" charset="0"/>
              </a:rPr>
              <a:t> (</a:t>
            </a:r>
            <a:r>
              <a:rPr lang="es-CO" sz="1800" dirty="0" err="1">
                <a:solidFill>
                  <a:srgbClr val="0000FF"/>
                </a:solidFill>
                <a:latin typeface="Cascadia Mono" panose="020B0609020000020004" pitchFamily="49" charset="0"/>
              </a:rPr>
              <a:t>int</a:t>
            </a:r>
            <a:r>
              <a:rPr lang="es-CO" sz="1800" dirty="0">
                <a:solidFill>
                  <a:srgbClr val="000000"/>
                </a:solidFill>
                <a:latin typeface="Cascadia Mono" panose="020B0609020000020004" pitchFamily="49" charset="0"/>
              </a:rPr>
              <a:t> j = 0; j &lt; 5; </a:t>
            </a:r>
            <a:r>
              <a:rPr lang="es-CO" sz="1800" dirty="0" err="1">
                <a:solidFill>
                  <a:srgbClr val="000000"/>
                </a:solidFill>
                <a:latin typeface="Cascadia Mono" panose="020B0609020000020004" pitchFamily="49" charset="0"/>
              </a:rPr>
              <a:t>j++</a:t>
            </a:r>
            <a:r>
              <a:rPr lang="es-CO" sz="1800" dirty="0">
                <a:solidFill>
                  <a:srgbClr val="000000"/>
                </a:solidFill>
                <a:latin typeface="Cascadia Mono" panose="020B0609020000020004" pitchFamily="49" charset="0"/>
              </a:rPr>
              <a:t>) {</a:t>
            </a:r>
          </a:p>
          <a:p>
            <a:r>
              <a:rPr lang="es-CO" sz="1800" dirty="0" err="1">
                <a:solidFill>
                  <a:srgbClr val="000000"/>
                </a:solidFill>
                <a:latin typeface="Cascadia Mono" panose="020B0609020000020004" pitchFamily="49" charset="0"/>
              </a:rPr>
              <a:t>cout</a:t>
            </a:r>
            <a:r>
              <a:rPr lang="es-CO" sz="1800" dirty="0">
                <a:solidFill>
                  <a:srgbClr val="000000"/>
                </a:solidFill>
                <a:latin typeface="Cascadia Mono" panose="020B0609020000020004" pitchFamily="49" charset="0"/>
              </a:rPr>
              <a:t> </a:t>
            </a:r>
            <a:r>
              <a:rPr lang="es-CO" sz="1800" dirty="0">
                <a:solidFill>
                  <a:srgbClr val="008080"/>
                </a:solidFill>
                <a:latin typeface="Cascadia Mono" panose="020B0609020000020004" pitchFamily="49" charset="0"/>
              </a:rPr>
              <a:t>&lt;&lt;</a:t>
            </a:r>
            <a:r>
              <a:rPr lang="es-CO" sz="1800" dirty="0">
                <a:solidFill>
                  <a:srgbClr val="000000"/>
                </a:solidFill>
                <a:latin typeface="Cascadia Mono" panose="020B0609020000020004" pitchFamily="49" charset="0"/>
              </a:rPr>
              <a:t> </a:t>
            </a:r>
            <a:r>
              <a:rPr lang="es-CO" sz="1800" dirty="0" err="1">
                <a:solidFill>
                  <a:srgbClr val="000000"/>
                </a:solidFill>
                <a:latin typeface="Cascadia Mono" panose="020B0609020000020004" pitchFamily="49" charset="0"/>
              </a:rPr>
              <a:t>left</a:t>
            </a:r>
            <a:r>
              <a:rPr lang="es-CO" sz="1800" dirty="0">
                <a:solidFill>
                  <a:srgbClr val="000000"/>
                </a:solidFill>
                <a:latin typeface="Cascadia Mono" panose="020B0609020000020004" pitchFamily="49" charset="0"/>
              </a:rPr>
              <a:t> </a:t>
            </a:r>
            <a:r>
              <a:rPr lang="es-CO" sz="1800" dirty="0">
                <a:solidFill>
                  <a:srgbClr val="008080"/>
                </a:solidFill>
                <a:latin typeface="Cascadia Mono" panose="020B0609020000020004" pitchFamily="49" charset="0"/>
              </a:rPr>
              <a:t>&lt;&lt;</a:t>
            </a:r>
            <a:r>
              <a:rPr lang="es-CO" sz="1800" dirty="0">
                <a:solidFill>
                  <a:srgbClr val="000000"/>
                </a:solidFill>
                <a:latin typeface="Cascadia Mono" panose="020B0609020000020004" pitchFamily="49" charset="0"/>
              </a:rPr>
              <a:t> </a:t>
            </a:r>
            <a:r>
              <a:rPr lang="es-CO" sz="1800" dirty="0" err="1">
                <a:solidFill>
                  <a:srgbClr val="000000"/>
                </a:solidFill>
                <a:latin typeface="Cascadia Mono" panose="020B0609020000020004" pitchFamily="49" charset="0"/>
              </a:rPr>
              <a:t>setw</a:t>
            </a:r>
            <a:r>
              <a:rPr lang="es-CO" sz="1800" dirty="0">
                <a:solidFill>
                  <a:srgbClr val="000000"/>
                </a:solidFill>
                <a:latin typeface="Cascadia Mono" panose="020B0609020000020004" pitchFamily="49" charset="0"/>
              </a:rPr>
              <a:t>(10) </a:t>
            </a:r>
            <a:r>
              <a:rPr lang="es-CO" sz="1800" dirty="0">
                <a:solidFill>
                  <a:srgbClr val="008080"/>
                </a:solidFill>
                <a:latin typeface="Cascadia Mono" panose="020B0609020000020004" pitchFamily="49" charset="0"/>
              </a:rPr>
              <a:t>&lt;&lt;</a:t>
            </a:r>
            <a:r>
              <a:rPr lang="es-CO" sz="1800" dirty="0">
                <a:solidFill>
                  <a:srgbClr val="000000"/>
                </a:solidFill>
                <a:latin typeface="Cascadia Mono" panose="020B0609020000020004" pitchFamily="49" charset="0"/>
              </a:rPr>
              <a:t> ESTUDIANTES[j] </a:t>
            </a:r>
            <a:r>
              <a:rPr lang="es-CO" sz="1800" dirty="0">
                <a:solidFill>
                  <a:srgbClr val="008080"/>
                </a:solidFill>
                <a:latin typeface="Cascadia Mono" panose="020B0609020000020004" pitchFamily="49" charset="0"/>
              </a:rPr>
              <a:t>&lt;&lt;</a:t>
            </a:r>
            <a:r>
              <a:rPr lang="es-CO" sz="1800" dirty="0">
                <a:solidFill>
                  <a:srgbClr val="000000"/>
                </a:solidFill>
                <a:latin typeface="Cascadia Mono" panose="020B0609020000020004" pitchFamily="49" charset="0"/>
              </a:rPr>
              <a:t> </a:t>
            </a:r>
            <a:r>
              <a:rPr lang="es-CO" sz="1800" dirty="0" err="1">
                <a:solidFill>
                  <a:srgbClr val="000000"/>
                </a:solidFill>
                <a:latin typeface="Cascadia Mono" panose="020B0609020000020004" pitchFamily="49" charset="0"/>
              </a:rPr>
              <a:t>setw</a:t>
            </a:r>
            <a:r>
              <a:rPr lang="es-CO" sz="1800" dirty="0">
                <a:solidFill>
                  <a:srgbClr val="000000"/>
                </a:solidFill>
                <a:latin typeface="Cascadia Mono" panose="020B0609020000020004" pitchFamily="49" charset="0"/>
              </a:rPr>
              <a:t>(8) </a:t>
            </a:r>
            <a:r>
              <a:rPr lang="es-CO" sz="1800" dirty="0">
                <a:solidFill>
                  <a:srgbClr val="008080"/>
                </a:solidFill>
                <a:latin typeface="Cascadia Mono" panose="020B0609020000020004" pitchFamily="49" charset="0"/>
              </a:rPr>
              <a:t>&lt;&lt;</a:t>
            </a:r>
            <a:r>
              <a:rPr lang="es-CO" sz="1800" dirty="0">
                <a:solidFill>
                  <a:srgbClr val="000000"/>
                </a:solidFill>
                <a:latin typeface="Cascadia Mono" panose="020B0609020000020004" pitchFamily="49" charset="0"/>
              </a:rPr>
              <a:t> </a:t>
            </a:r>
            <a:r>
              <a:rPr lang="es-CO" sz="1800" dirty="0" err="1">
                <a:solidFill>
                  <a:srgbClr val="000000"/>
                </a:solidFill>
                <a:latin typeface="Cascadia Mono" panose="020B0609020000020004" pitchFamily="49" charset="0"/>
              </a:rPr>
              <a:t>sumEst</a:t>
            </a:r>
            <a:r>
              <a:rPr lang="es-CO" sz="1800" dirty="0">
                <a:solidFill>
                  <a:srgbClr val="000000"/>
                </a:solidFill>
                <a:latin typeface="Cascadia Mono" panose="020B0609020000020004" pitchFamily="49" charset="0"/>
              </a:rPr>
              <a:t>[j] </a:t>
            </a:r>
            <a:r>
              <a:rPr lang="es-CO" sz="1800" dirty="0">
                <a:solidFill>
                  <a:srgbClr val="008080"/>
                </a:solidFill>
                <a:latin typeface="Cascadia Mono" panose="020B0609020000020004" pitchFamily="49" charset="0"/>
              </a:rPr>
              <a:t>&lt;&lt;</a:t>
            </a:r>
            <a:r>
              <a:rPr lang="es-CO" sz="1800" dirty="0">
                <a:solidFill>
                  <a:srgbClr val="000000"/>
                </a:solidFill>
                <a:latin typeface="Cascadia Mono" panose="020B0609020000020004" pitchFamily="49" charset="0"/>
              </a:rPr>
              <a:t> </a:t>
            </a:r>
            <a:r>
              <a:rPr lang="es-CO" sz="1800" dirty="0" err="1">
                <a:solidFill>
                  <a:srgbClr val="000000"/>
                </a:solidFill>
                <a:latin typeface="Cascadia Mono" panose="020B0609020000020004" pitchFamily="49" charset="0"/>
              </a:rPr>
              <a:t>setw</a:t>
            </a:r>
            <a:r>
              <a:rPr lang="es-CO" sz="1800" dirty="0">
                <a:solidFill>
                  <a:srgbClr val="000000"/>
                </a:solidFill>
                <a:latin typeface="Cascadia Mono" panose="020B0609020000020004" pitchFamily="49" charset="0"/>
              </a:rPr>
              <a:t>(8) </a:t>
            </a:r>
            <a:r>
              <a:rPr lang="es-CO" sz="1800" dirty="0">
                <a:solidFill>
                  <a:srgbClr val="008080"/>
                </a:solidFill>
                <a:latin typeface="Cascadia Mono" panose="020B0609020000020004" pitchFamily="49" charset="0"/>
              </a:rPr>
              <a:t>&lt;&lt;</a:t>
            </a:r>
            <a:r>
              <a:rPr lang="es-CO" sz="1800" dirty="0">
                <a:solidFill>
                  <a:srgbClr val="000000"/>
                </a:solidFill>
                <a:latin typeface="Cascadia Mono" panose="020B0609020000020004" pitchFamily="49" charset="0"/>
              </a:rPr>
              <a:t> </a:t>
            </a:r>
            <a:r>
              <a:rPr lang="es-CO" sz="1800" dirty="0" err="1">
                <a:solidFill>
                  <a:srgbClr val="000000"/>
                </a:solidFill>
                <a:latin typeface="Cascadia Mono" panose="020B0609020000020004" pitchFamily="49" charset="0"/>
              </a:rPr>
              <a:t>proEst</a:t>
            </a:r>
            <a:r>
              <a:rPr lang="es-CO" sz="1800" dirty="0">
                <a:solidFill>
                  <a:srgbClr val="000000"/>
                </a:solidFill>
                <a:latin typeface="Cascadia Mono" panose="020B0609020000020004" pitchFamily="49" charset="0"/>
              </a:rPr>
              <a:t>[j]</a:t>
            </a:r>
          </a:p>
          <a:p>
            <a:r>
              <a:rPr lang="es-CO" sz="1800" dirty="0">
                <a:solidFill>
                  <a:srgbClr val="008080"/>
                </a:solidFill>
                <a:latin typeface="Cascadia Mono" panose="020B0609020000020004" pitchFamily="49" charset="0"/>
              </a:rPr>
              <a:t>&lt;&lt;</a:t>
            </a:r>
            <a:r>
              <a:rPr lang="es-CO" sz="1800" dirty="0">
                <a:solidFill>
                  <a:srgbClr val="000000"/>
                </a:solidFill>
                <a:latin typeface="Cascadia Mono" panose="020B0609020000020004" pitchFamily="49" charset="0"/>
              </a:rPr>
              <a:t> </a:t>
            </a:r>
            <a:r>
              <a:rPr lang="es-CO" sz="1800" dirty="0" err="1">
                <a:solidFill>
                  <a:srgbClr val="000000"/>
                </a:solidFill>
                <a:latin typeface="Cascadia Mono" panose="020B0609020000020004" pitchFamily="49" charset="0"/>
              </a:rPr>
              <a:t>setw</a:t>
            </a:r>
            <a:r>
              <a:rPr lang="es-CO" sz="1800" dirty="0">
                <a:solidFill>
                  <a:srgbClr val="000000"/>
                </a:solidFill>
                <a:latin typeface="Cascadia Mono" panose="020B0609020000020004" pitchFamily="49" charset="0"/>
              </a:rPr>
              <a:t>(8) </a:t>
            </a:r>
            <a:r>
              <a:rPr lang="es-CO" sz="1800" dirty="0">
                <a:solidFill>
                  <a:srgbClr val="008080"/>
                </a:solidFill>
                <a:latin typeface="Cascadia Mono" panose="020B0609020000020004" pitchFamily="49" charset="0"/>
              </a:rPr>
              <a:t>&lt;&lt;</a:t>
            </a:r>
            <a:r>
              <a:rPr lang="es-CO" sz="1800" dirty="0">
                <a:solidFill>
                  <a:srgbClr val="000000"/>
                </a:solidFill>
                <a:latin typeface="Cascadia Mono" panose="020B0609020000020004" pitchFamily="49" charset="0"/>
              </a:rPr>
              <a:t> </a:t>
            </a:r>
            <a:r>
              <a:rPr lang="es-CO" sz="1800" dirty="0" err="1">
                <a:solidFill>
                  <a:srgbClr val="000000"/>
                </a:solidFill>
                <a:latin typeface="Cascadia Mono" panose="020B0609020000020004" pitchFamily="49" charset="0"/>
              </a:rPr>
              <a:t>mayEst</a:t>
            </a:r>
            <a:r>
              <a:rPr lang="es-CO" sz="1800" dirty="0">
                <a:solidFill>
                  <a:srgbClr val="000000"/>
                </a:solidFill>
                <a:latin typeface="Cascadia Mono" panose="020B0609020000020004" pitchFamily="49" charset="0"/>
              </a:rPr>
              <a:t>[j] </a:t>
            </a:r>
            <a:r>
              <a:rPr lang="es-CO" sz="1800" dirty="0">
                <a:solidFill>
                  <a:srgbClr val="008080"/>
                </a:solidFill>
                <a:latin typeface="Cascadia Mono" panose="020B0609020000020004" pitchFamily="49" charset="0"/>
              </a:rPr>
              <a:t>&lt;&lt;</a:t>
            </a:r>
            <a:r>
              <a:rPr lang="es-CO" sz="1800" dirty="0">
                <a:solidFill>
                  <a:srgbClr val="000000"/>
                </a:solidFill>
                <a:latin typeface="Cascadia Mono" panose="020B0609020000020004" pitchFamily="49" charset="0"/>
              </a:rPr>
              <a:t> </a:t>
            </a:r>
            <a:r>
              <a:rPr lang="es-CO" sz="1800" dirty="0" err="1">
                <a:solidFill>
                  <a:srgbClr val="000000"/>
                </a:solidFill>
                <a:latin typeface="Cascadia Mono" panose="020B0609020000020004" pitchFamily="49" charset="0"/>
              </a:rPr>
              <a:t>setw</a:t>
            </a:r>
            <a:r>
              <a:rPr lang="es-CO" sz="1800" dirty="0">
                <a:solidFill>
                  <a:srgbClr val="000000"/>
                </a:solidFill>
                <a:latin typeface="Cascadia Mono" panose="020B0609020000020004" pitchFamily="49" charset="0"/>
              </a:rPr>
              <a:t>(8) </a:t>
            </a:r>
            <a:r>
              <a:rPr lang="es-CO" sz="1800" dirty="0">
                <a:solidFill>
                  <a:srgbClr val="008080"/>
                </a:solidFill>
                <a:latin typeface="Cascadia Mono" panose="020B0609020000020004" pitchFamily="49" charset="0"/>
              </a:rPr>
              <a:t>&lt;&lt;</a:t>
            </a:r>
            <a:r>
              <a:rPr lang="es-CO" sz="1800" dirty="0">
                <a:solidFill>
                  <a:srgbClr val="000000"/>
                </a:solidFill>
                <a:latin typeface="Cascadia Mono" panose="020B0609020000020004" pitchFamily="49" charset="0"/>
              </a:rPr>
              <a:t> </a:t>
            </a:r>
            <a:r>
              <a:rPr lang="es-CO" sz="1800" dirty="0" err="1">
                <a:solidFill>
                  <a:srgbClr val="000000"/>
                </a:solidFill>
                <a:latin typeface="Cascadia Mono" panose="020B0609020000020004" pitchFamily="49" charset="0"/>
              </a:rPr>
              <a:t>menEst</a:t>
            </a:r>
            <a:r>
              <a:rPr lang="es-CO" sz="1800" dirty="0">
                <a:solidFill>
                  <a:srgbClr val="000000"/>
                </a:solidFill>
                <a:latin typeface="Cascadia Mono" panose="020B0609020000020004" pitchFamily="49" charset="0"/>
              </a:rPr>
              <a:t>[j] </a:t>
            </a:r>
            <a:r>
              <a:rPr lang="es-CO" sz="1800" dirty="0">
                <a:solidFill>
                  <a:srgbClr val="008080"/>
                </a:solidFill>
                <a:latin typeface="Cascadia Mono" panose="020B0609020000020004" pitchFamily="49" charset="0"/>
              </a:rPr>
              <a:t>&lt;&lt;</a:t>
            </a:r>
            <a:r>
              <a:rPr lang="es-CO" sz="1800" dirty="0">
                <a:solidFill>
                  <a:srgbClr val="000000"/>
                </a:solidFill>
                <a:latin typeface="Cascadia Mono" panose="020B0609020000020004" pitchFamily="49" charset="0"/>
              </a:rPr>
              <a:t> </a:t>
            </a:r>
            <a:r>
              <a:rPr lang="es-CO" sz="1800" dirty="0" err="1">
                <a:solidFill>
                  <a:srgbClr val="000000"/>
                </a:solidFill>
                <a:latin typeface="Cascadia Mono" panose="020B0609020000020004" pitchFamily="49" charset="0"/>
              </a:rPr>
              <a:t>setw</a:t>
            </a:r>
            <a:r>
              <a:rPr lang="es-CO" sz="1800" dirty="0">
                <a:solidFill>
                  <a:srgbClr val="000000"/>
                </a:solidFill>
                <a:latin typeface="Cascadia Mono" panose="020B0609020000020004" pitchFamily="49" charset="0"/>
              </a:rPr>
              <a:t>(8) </a:t>
            </a:r>
            <a:r>
              <a:rPr lang="es-CO" sz="1800" dirty="0">
                <a:solidFill>
                  <a:srgbClr val="008080"/>
                </a:solidFill>
                <a:latin typeface="Cascadia Mono" panose="020B0609020000020004" pitchFamily="49" charset="0"/>
              </a:rPr>
              <a:t>&lt;&lt;</a:t>
            </a:r>
            <a:r>
              <a:rPr lang="es-CO" sz="1800" dirty="0">
                <a:solidFill>
                  <a:srgbClr val="000000"/>
                </a:solidFill>
                <a:latin typeface="Cascadia Mono" panose="020B0609020000020004" pitchFamily="49" charset="0"/>
              </a:rPr>
              <a:t> </a:t>
            </a:r>
            <a:r>
              <a:rPr lang="es-CO" sz="1800" dirty="0" err="1">
                <a:solidFill>
                  <a:srgbClr val="000000"/>
                </a:solidFill>
                <a:latin typeface="Cascadia Mono" panose="020B0609020000020004" pitchFamily="49" charset="0"/>
              </a:rPr>
              <a:t>contEst</a:t>
            </a:r>
            <a:r>
              <a:rPr lang="es-CO" sz="1800" dirty="0">
                <a:solidFill>
                  <a:srgbClr val="000000"/>
                </a:solidFill>
                <a:latin typeface="Cascadia Mono" panose="020B0609020000020004" pitchFamily="49" charset="0"/>
              </a:rPr>
              <a:t>[j] </a:t>
            </a:r>
            <a:r>
              <a:rPr lang="es-CO" sz="1800" dirty="0">
                <a:solidFill>
                  <a:srgbClr val="008080"/>
                </a:solidFill>
                <a:latin typeface="Cascadia Mono" panose="020B0609020000020004" pitchFamily="49" charset="0"/>
              </a:rPr>
              <a:t>&lt;&lt;</a:t>
            </a:r>
            <a:r>
              <a:rPr lang="es-CO" sz="1800" dirty="0">
                <a:solidFill>
                  <a:srgbClr val="000000"/>
                </a:solidFill>
                <a:latin typeface="Cascadia Mono" panose="020B0609020000020004" pitchFamily="49" charset="0"/>
              </a:rPr>
              <a:t> </a:t>
            </a:r>
            <a:r>
              <a:rPr lang="es-CO" sz="1800" dirty="0" err="1">
                <a:solidFill>
                  <a:srgbClr val="000000"/>
                </a:solidFill>
                <a:latin typeface="Cascadia Mono" panose="020B0609020000020004" pitchFamily="49" charset="0"/>
              </a:rPr>
              <a:t>endl</a:t>
            </a:r>
            <a:r>
              <a:rPr lang="es-CO" sz="1800" dirty="0">
                <a:solidFill>
                  <a:srgbClr val="000000"/>
                </a:solidFill>
                <a:latin typeface="Cascadia Mono" panose="020B0609020000020004" pitchFamily="49" charset="0"/>
              </a:rPr>
              <a:t>;</a:t>
            </a:r>
          </a:p>
          <a:p>
            <a:r>
              <a:rPr lang="es-CO" sz="1800" dirty="0">
                <a:solidFill>
                  <a:srgbClr val="000000"/>
                </a:solidFill>
                <a:latin typeface="Cascadia Mono" panose="020B0609020000020004" pitchFamily="49" charset="0"/>
              </a:rPr>
              <a:t>} </a:t>
            </a:r>
          </a:p>
          <a:p>
            <a:r>
              <a:rPr lang="es-ES" sz="1800" dirty="0">
                <a:solidFill>
                  <a:srgbClr val="008000"/>
                </a:solidFill>
                <a:latin typeface="Cascadia Mono" panose="020B0609020000020004" pitchFamily="49" charset="0"/>
              </a:rPr>
              <a:t>//</a:t>
            </a:r>
            <a:r>
              <a:rPr lang="es-ES" sz="1800" dirty="0" err="1">
                <a:solidFill>
                  <a:srgbClr val="008000"/>
                </a:solidFill>
                <a:latin typeface="Cascadia Mono" panose="020B0609020000020004" pitchFamily="49" charset="0"/>
              </a:rPr>
              <a:t>left</a:t>
            </a:r>
            <a:r>
              <a:rPr lang="es-ES" sz="1800" dirty="0">
                <a:solidFill>
                  <a:srgbClr val="008000"/>
                </a:solidFill>
                <a:latin typeface="Cascadia Mono" panose="020B0609020000020004" pitchFamily="49" charset="0"/>
              </a:rPr>
              <a:t> ALINEA a la IZQUIERDA, </a:t>
            </a:r>
            <a:r>
              <a:rPr lang="es-ES" sz="1800" dirty="0" err="1">
                <a:solidFill>
                  <a:srgbClr val="008000"/>
                </a:solidFill>
                <a:latin typeface="Cascadia Mono" panose="020B0609020000020004" pitchFamily="49" charset="0"/>
              </a:rPr>
              <a:t>right</a:t>
            </a:r>
            <a:r>
              <a:rPr lang="es-ES" sz="1800" dirty="0">
                <a:solidFill>
                  <a:srgbClr val="008000"/>
                </a:solidFill>
                <a:latin typeface="Cascadia Mono" panose="020B0609020000020004" pitchFamily="49" charset="0"/>
              </a:rPr>
              <a:t> ALINEA A LA DERECHA. </a:t>
            </a:r>
            <a:r>
              <a:rPr lang="es-ES" sz="1800" dirty="0" err="1">
                <a:solidFill>
                  <a:srgbClr val="008000"/>
                </a:solidFill>
                <a:latin typeface="Cascadia Mono" panose="020B0609020000020004" pitchFamily="49" charset="0"/>
              </a:rPr>
              <a:t>setw</a:t>
            </a:r>
            <a:r>
              <a:rPr lang="es-ES" sz="1800" dirty="0">
                <a:solidFill>
                  <a:srgbClr val="008000"/>
                </a:solidFill>
                <a:latin typeface="Cascadia Mono" panose="020B0609020000020004" pitchFamily="49" charset="0"/>
              </a:rPr>
              <a:t>. Determina ancho de columna</a:t>
            </a:r>
            <a:endParaRPr lang="es-ES" sz="1800" dirty="0">
              <a:solidFill>
                <a:srgbClr val="000000"/>
              </a:solidFill>
              <a:latin typeface="Cascadia Mono" panose="020B0609020000020004" pitchFamily="49" charset="0"/>
            </a:endParaRPr>
          </a:p>
          <a:p>
            <a:endParaRPr lang="es-CO" sz="1800" dirty="0">
              <a:solidFill>
                <a:srgbClr val="000000"/>
              </a:solidFill>
              <a:latin typeface="Cascadia Mono" panose="020B0609020000020004" pitchFamily="49" charset="0"/>
            </a:endParaRPr>
          </a:p>
          <a:p>
            <a:r>
              <a:rPr lang="es-CO" sz="1800" dirty="0">
                <a:solidFill>
                  <a:srgbClr val="008000"/>
                </a:solidFill>
                <a:latin typeface="Cascadia Mono" panose="020B0609020000020004" pitchFamily="49" charset="0"/>
              </a:rPr>
              <a:t>//OPERACIONES POR MATERIAS</a:t>
            </a:r>
            <a:endParaRPr lang="es-CO" sz="1800" dirty="0">
              <a:solidFill>
                <a:srgbClr val="000000"/>
              </a:solidFill>
              <a:latin typeface="Cascadia Mono" panose="020B0609020000020004" pitchFamily="49" charset="0"/>
            </a:endParaRPr>
          </a:p>
          <a:p>
            <a:r>
              <a:rPr lang="nn-NO" sz="1800" dirty="0">
                <a:solidFill>
                  <a:srgbClr val="0000FF"/>
                </a:solidFill>
                <a:latin typeface="Cascadia Mono" panose="020B0609020000020004" pitchFamily="49" charset="0"/>
              </a:rPr>
              <a:t>for</a:t>
            </a:r>
            <a:r>
              <a:rPr lang="nn-NO" sz="1800" dirty="0">
                <a:solidFill>
                  <a:srgbClr val="000000"/>
                </a:solidFill>
                <a:latin typeface="Cascadia Mono" panose="020B0609020000020004" pitchFamily="49" charset="0"/>
              </a:rPr>
              <a:t> (</a:t>
            </a:r>
            <a:r>
              <a:rPr lang="nn-NO" sz="1800" dirty="0">
                <a:solidFill>
                  <a:srgbClr val="0000FF"/>
                </a:solidFill>
                <a:latin typeface="Cascadia Mono" panose="020B0609020000020004" pitchFamily="49" charset="0"/>
              </a:rPr>
              <a:t>int</a:t>
            </a:r>
            <a:r>
              <a:rPr lang="nn-NO" sz="1800" dirty="0">
                <a:solidFill>
                  <a:srgbClr val="000000"/>
                </a:solidFill>
                <a:latin typeface="Cascadia Mono" panose="020B0609020000020004" pitchFamily="49" charset="0"/>
              </a:rPr>
              <a:t> i = 0; i &lt; 5; i++) {</a:t>
            </a:r>
          </a:p>
          <a:p>
            <a:r>
              <a:rPr lang="en-US" sz="1800" dirty="0">
                <a:solidFill>
                  <a:srgbClr val="0000FF"/>
                </a:solidFill>
                <a:latin typeface="Cascadia Mono" panose="020B0609020000020004" pitchFamily="49" charset="0"/>
              </a:rPr>
              <a:t>double</a:t>
            </a:r>
            <a:r>
              <a:rPr lang="en-US" sz="1800" dirty="0">
                <a:solidFill>
                  <a:srgbClr val="000000"/>
                </a:solidFill>
                <a:latin typeface="Cascadia Mono" panose="020B0609020000020004" pitchFamily="49" charset="0"/>
              </a:rPr>
              <a:t> sum = 0, may = 0, men = 5, </a:t>
            </a:r>
            <a:r>
              <a:rPr lang="en-US" sz="1800" dirty="0" err="1">
                <a:solidFill>
                  <a:srgbClr val="000000"/>
                </a:solidFill>
                <a:latin typeface="Cascadia Mono" panose="020B0609020000020004" pitchFamily="49" charset="0"/>
              </a:rPr>
              <a:t>cont</a:t>
            </a:r>
            <a:r>
              <a:rPr lang="en-US" sz="1800" dirty="0">
                <a:solidFill>
                  <a:srgbClr val="000000"/>
                </a:solidFill>
                <a:latin typeface="Cascadia Mono" panose="020B0609020000020004" pitchFamily="49" charset="0"/>
              </a:rPr>
              <a:t> = 0;</a:t>
            </a:r>
          </a:p>
          <a:p>
            <a:r>
              <a:rPr lang="es-CO" sz="1800" dirty="0" err="1">
                <a:solidFill>
                  <a:srgbClr val="0000FF"/>
                </a:solidFill>
                <a:latin typeface="Cascadia Mono" panose="020B0609020000020004" pitchFamily="49" charset="0"/>
              </a:rPr>
              <a:t>for</a:t>
            </a:r>
            <a:r>
              <a:rPr lang="es-CO" sz="1800" dirty="0">
                <a:solidFill>
                  <a:srgbClr val="000000"/>
                </a:solidFill>
                <a:latin typeface="Cascadia Mono" panose="020B0609020000020004" pitchFamily="49" charset="0"/>
              </a:rPr>
              <a:t> (</a:t>
            </a:r>
            <a:r>
              <a:rPr lang="es-CO" sz="1800" dirty="0" err="1">
                <a:solidFill>
                  <a:srgbClr val="0000FF"/>
                </a:solidFill>
                <a:latin typeface="Cascadia Mono" panose="020B0609020000020004" pitchFamily="49" charset="0"/>
              </a:rPr>
              <a:t>int</a:t>
            </a:r>
            <a:r>
              <a:rPr lang="es-CO" sz="1800" dirty="0">
                <a:solidFill>
                  <a:srgbClr val="000000"/>
                </a:solidFill>
                <a:latin typeface="Cascadia Mono" panose="020B0609020000020004" pitchFamily="49" charset="0"/>
              </a:rPr>
              <a:t> j = 0; j &lt; 5; </a:t>
            </a:r>
            <a:r>
              <a:rPr lang="es-CO" sz="1800" dirty="0" err="1">
                <a:solidFill>
                  <a:srgbClr val="000000"/>
                </a:solidFill>
                <a:latin typeface="Cascadia Mono" panose="020B0609020000020004" pitchFamily="49" charset="0"/>
              </a:rPr>
              <a:t>j++</a:t>
            </a:r>
            <a:r>
              <a:rPr lang="es-CO" sz="1800" dirty="0">
                <a:solidFill>
                  <a:srgbClr val="000000"/>
                </a:solidFill>
                <a:latin typeface="Cascadia Mono" panose="020B0609020000020004" pitchFamily="49" charset="0"/>
              </a:rPr>
              <a:t>) {</a:t>
            </a:r>
          </a:p>
          <a:p>
            <a:r>
              <a:rPr lang="es-CO" sz="1800" dirty="0">
                <a:solidFill>
                  <a:srgbClr val="000000"/>
                </a:solidFill>
                <a:latin typeface="Cascadia Mono" panose="020B0609020000020004" pitchFamily="49" charset="0"/>
              </a:rPr>
              <a:t>sum += NOTAS[i][j];</a:t>
            </a:r>
          </a:p>
          <a:p>
            <a:r>
              <a:rPr lang="en-US" sz="1800" dirty="0">
                <a:solidFill>
                  <a:srgbClr val="0000FF"/>
                </a:solidFill>
                <a:latin typeface="Cascadia Mono" panose="020B0609020000020004" pitchFamily="49" charset="0"/>
              </a:rPr>
              <a:t>if</a:t>
            </a:r>
            <a:r>
              <a:rPr lang="en-US" sz="1800" dirty="0">
                <a:solidFill>
                  <a:srgbClr val="000000"/>
                </a:solidFill>
                <a:latin typeface="Cascadia Mono" panose="020B0609020000020004" pitchFamily="49" charset="0"/>
              </a:rPr>
              <a:t> (NOTAS[</a:t>
            </a:r>
            <a:r>
              <a:rPr lang="en-US" sz="1800" dirty="0" err="1">
                <a:solidFill>
                  <a:srgbClr val="000000"/>
                </a:solidFill>
                <a:latin typeface="Cascadia Mono" panose="020B0609020000020004" pitchFamily="49" charset="0"/>
              </a:rPr>
              <a:t>i</a:t>
            </a:r>
            <a:r>
              <a:rPr lang="en-US" sz="1800" dirty="0">
                <a:solidFill>
                  <a:srgbClr val="000000"/>
                </a:solidFill>
                <a:latin typeface="Cascadia Mono" panose="020B0609020000020004" pitchFamily="49" charset="0"/>
              </a:rPr>
              <a:t>][j] &gt; may)</a:t>
            </a:r>
          </a:p>
          <a:p>
            <a:r>
              <a:rPr lang="es-CO" sz="1800" dirty="0" err="1">
                <a:solidFill>
                  <a:srgbClr val="000000"/>
                </a:solidFill>
                <a:latin typeface="Cascadia Mono" panose="020B0609020000020004" pitchFamily="49" charset="0"/>
              </a:rPr>
              <a:t>may</a:t>
            </a:r>
            <a:r>
              <a:rPr lang="es-CO" sz="1800" dirty="0">
                <a:solidFill>
                  <a:srgbClr val="000000"/>
                </a:solidFill>
                <a:latin typeface="Cascadia Mono" panose="020B0609020000020004" pitchFamily="49" charset="0"/>
              </a:rPr>
              <a:t> = NOTAS[i][j];</a:t>
            </a:r>
          </a:p>
          <a:p>
            <a:r>
              <a:rPr lang="es-CO" sz="1800" dirty="0" err="1">
                <a:solidFill>
                  <a:srgbClr val="0000FF"/>
                </a:solidFill>
                <a:latin typeface="Cascadia Mono" panose="020B0609020000020004" pitchFamily="49" charset="0"/>
              </a:rPr>
              <a:t>if</a:t>
            </a:r>
            <a:r>
              <a:rPr lang="es-CO" sz="1800" dirty="0">
                <a:solidFill>
                  <a:srgbClr val="000000"/>
                </a:solidFill>
                <a:latin typeface="Cascadia Mono" panose="020B0609020000020004" pitchFamily="49" charset="0"/>
              </a:rPr>
              <a:t> (NOTAS[i][j] &lt; </a:t>
            </a:r>
            <a:r>
              <a:rPr lang="es-CO" sz="1800" dirty="0" err="1">
                <a:solidFill>
                  <a:srgbClr val="000000"/>
                </a:solidFill>
                <a:latin typeface="Cascadia Mono" panose="020B0609020000020004" pitchFamily="49" charset="0"/>
              </a:rPr>
              <a:t>men</a:t>
            </a:r>
            <a:r>
              <a:rPr lang="es-CO" sz="1800" dirty="0">
                <a:solidFill>
                  <a:srgbClr val="000000"/>
                </a:solidFill>
                <a:latin typeface="Cascadia Mono" panose="020B0609020000020004" pitchFamily="49" charset="0"/>
              </a:rPr>
              <a:t>)</a:t>
            </a:r>
          </a:p>
          <a:p>
            <a:r>
              <a:rPr lang="es-CO" sz="1800" dirty="0" err="1">
                <a:solidFill>
                  <a:srgbClr val="000000"/>
                </a:solidFill>
                <a:latin typeface="Cascadia Mono" panose="020B0609020000020004" pitchFamily="49" charset="0"/>
              </a:rPr>
              <a:t>men</a:t>
            </a:r>
            <a:r>
              <a:rPr lang="es-CO" sz="1800" dirty="0">
                <a:solidFill>
                  <a:srgbClr val="000000"/>
                </a:solidFill>
                <a:latin typeface="Cascadia Mono" panose="020B0609020000020004" pitchFamily="49" charset="0"/>
              </a:rPr>
              <a:t> = NOTAS[i][j];</a:t>
            </a:r>
          </a:p>
          <a:p>
            <a:r>
              <a:rPr lang="en-US" sz="1800" dirty="0">
                <a:solidFill>
                  <a:srgbClr val="0000FF"/>
                </a:solidFill>
                <a:latin typeface="Cascadia Mono" panose="020B0609020000020004" pitchFamily="49" charset="0"/>
              </a:rPr>
              <a:t>if</a:t>
            </a:r>
            <a:r>
              <a:rPr lang="en-US" sz="1800" dirty="0">
                <a:solidFill>
                  <a:srgbClr val="000000"/>
                </a:solidFill>
                <a:latin typeface="Cascadia Mono" panose="020B0609020000020004" pitchFamily="49" charset="0"/>
              </a:rPr>
              <a:t> (NOTAS[</a:t>
            </a:r>
            <a:r>
              <a:rPr lang="en-US" sz="1800" dirty="0" err="1">
                <a:solidFill>
                  <a:srgbClr val="000000"/>
                </a:solidFill>
                <a:latin typeface="Cascadia Mono" panose="020B0609020000020004" pitchFamily="49" charset="0"/>
              </a:rPr>
              <a:t>i</a:t>
            </a:r>
            <a:r>
              <a:rPr lang="en-US" sz="1800" dirty="0">
                <a:solidFill>
                  <a:srgbClr val="000000"/>
                </a:solidFill>
                <a:latin typeface="Cascadia Mono" panose="020B0609020000020004" pitchFamily="49" charset="0"/>
              </a:rPr>
              <a:t>][j] &lt; 3)</a:t>
            </a:r>
          </a:p>
          <a:p>
            <a:r>
              <a:rPr lang="es-CO" sz="1800" dirty="0" err="1">
                <a:solidFill>
                  <a:srgbClr val="000000"/>
                </a:solidFill>
                <a:latin typeface="Cascadia Mono" panose="020B0609020000020004" pitchFamily="49" charset="0"/>
              </a:rPr>
              <a:t>cont</a:t>
            </a:r>
            <a:r>
              <a:rPr lang="es-CO" sz="1800" dirty="0">
                <a:solidFill>
                  <a:srgbClr val="000000"/>
                </a:solidFill>
                <a:latin typeface="Cascadia Mono" panose="020B0609020000020004" pitchFamily="49" charset="0"/>
              </a:rPr>
              <a:t>++;</a:t>
            </a:r>
          </a:p>
          <a:p>
            <a:r>
              <a:rPr lang="es-CO" sz="1800" dirty="0">
                <a:solidFill>
                  <a:srgbClr val="000000"/>
                </a:solidFill>
                <a:latin typeface="Cascadia Mono" panose="020B0609020000020004" pitchFamily="49" charset="0"/>
              </a:rPr>
              <a:t>}</a:t>
            </a:r>
          </a:p>
          <a:p>
            <a:r>
              <a:rPr lang="es-CO" sz="1800" dirty="0" err="1">
                <a:solidFill>
                  <a:srgbClr val="000000"/>
                </a:solidFill>
                <a:latin typeface="Cascadia Mono" panose="020B0609020000020004" pitchFamily="49" charset="0"/>
              </a:rPr>
              <a:t>sumMat</a:t>
            </a:r>
            <a:r>
              <a:rPr lang="es-CO" sz="1800" dirty="0">
                <a:solidFill>
                  <a:srgbClr val="000000"/>
                </a:solidFill>
                <a:latin typeface="Cascadia Mono" panose="020B0609020000020004" pitchFamily="49" charset="0"/>
              </a:rPr>
              <a:t>[i] = sum;</a:t>
            </a:r>
          </a:p>
          <a:p>
            <a:r>
              <a:rPr lang="es-CO" sz="1800" dirty="0" err="1">
                <a:solidFill>
                  <a:srgbClr val="000000"/>
                </a:solidFill>
                <a:latin typeface="Cascadia Mono" panose="020B0609020000020004" pitchFamily="49" charset="0"/>
              </a:rPr>
              <a:t>proMat</a:t>
            </a:r>
            <a:r>
              <a:rPr lang="es-CO" sz="1800" dirty="0">
                <a:solidFill>
                  <a:srgbClr val="000000"/>
                </a:solidFill>
                <a:latin typeface="Cascadia Mono" panose="020B0609020000020004" pitchFamily="49" charset="0"/>
              </a:rPr>
              <a:t>[i] = sum / 5;</a:t>
            </a:r>
          </a:p>
          <a:p>
            <a:r>
              <a:rPr lang="es-CO" sz="1800" dirty="0" err="1">
                <a:solidFill>
                  <a:srgbClr val="000000"/>
                </a:solidFill>
                <a:latin typeface="Cascadia Mono" panose="020B0609020000020004" pitchFamily="49" charset="0"/>
              </a:rPr>
              <a:t>mayMat</a:t>
            </a:r>
            <a:r>
              <a:rPr lang="es-CO" sz="1800" dirty="0">
                <a:solidFill>
                  <a:srgbClr val="000000"/>
                </a:solidFill>
                <a:latin typeface="Cascadia Mono" panose="020B0609020000020004" pitchFamily="49" charset="0"/>
              </a:rPr>
              <a:t>[i] = </a:t>
            </a:r>
            <a:r>
              <a:rPr lang="es-CO" sz="1800" dirty="0" err="1">
                <a:solidFill>
                  <a:srgbClr val="000000"/>
                </a:solidFill>
                <a:latin typeface="Cascadia Mono" panose="020B0609020000020004" pitchFamily="49" charset="0"/>
              </a:rPr>
              <a:t>may</a:t>
            </a:r>
            <a:r>
              <a:rPr lang="es-CO" sz="1800" dirty="0">
                <a:solidFill>
                  <a:srgbClr val="000000"/>
                </a:solidFill>
                <a:latin typeface="Cascadia Mono" panose="020B0609020000020004" pitchFamily="49" charset="0"/>
              </a:rPr>
              <a:t>;</a:t>
            </a:r>
          </a:p>
          <a:p>
            <a:r>
              <a:rPr lang="es-CO" sz="1800" dirty="0" err="1">
                <a:solidFill>
                  <a:srgbClr val="000000"/>
                </a:solidFill>
                <a:latin typeface="Cascadia Mono" panose="020B0609020000020004" pitchFamily="49" charset="0"/>
              </a:rPr>
              <a:t>menMat</a:t>
            </a:r>
            <a:r>
              <a:rPr lang="es-CO" sz="1800" dirty="0">
                <a:solidFill>
                  <a:srgbClr val="000000"/>
                </a:solidFill>
                <a:latin typeface="Cascadia Mono" panose="020B0609020000020004" pitchFamily="49" charset="0"/>
              </a:rPr>
              <a:t>[i] = </a:t>
            </a:r>
            <a:r>
              <a:rPr lang="es-CO" sz="1800" dirty="0" err="1">
                <a:solidFill>
                  <a:srgbClr val="000000"/>
                </a:solidFill>
                <a:latin typeface="Cascadia Mono" panose="020B0609020000020004" pitchFamily="49" charset="0"/>
              </a:rPr>
              <a:t>men</a:t>
            </a:r>
            <a:r>
              <a:rPr lang="es-CO" sz="1800" dirty="0">
                <a:solidFill>
                  <a:srgbClr val="000000"/>
                </a:solidFill>
                <a:latin typeface="Cascadia Mono" panose="020B0609020000020004" pitchFamily="49" charset="0"/>
              </a:rPr>
              <a:t>;</a:t>
            </a:r>
          </a:p>
          <a:p>
            <a:r>
              <a:rPr lang="es-CO" sz="1800" dirty="0" err="1">
                <a:solidFill>
                  <a:srgbClr val="000000"/>
                </a:solidFill>
                <a:latin typeface="Cascadia Mono" panose="020B0609020000020004" pitchFamily="49" charset="0"/>
              </a:rPr>
              <a:t>contMat</a:t>
            </a:r>
            <a:r>
              <a:rPr lang="es-CO" sz="1800" dirty="0">
                <a:solidFill>
                  <a:srgbClr val="000000"/>
                </a:solidFill>
                <a:latin typeface="Cascadia Mono" panose="020B0609020000020004" pitchFamily="49" charset="0"/>
              </a:rPr>
              <a:t>[i] = </a:t>
            </a:r>
            <a:r>
              <a:rPr lang="es-CO" sz="1800" dirty="0" err="1">
                <a:solidFill>
                  <a:srgbClr val="000000"/>
                </a:solidFill>
                <a:latin typeface="Cascadia Mono" panose="020B0609020000020004" pitchFamily="49" charset="0"/>
              </a:rPr>
              <a:t>cont</a:t>
            </a:r>
            <a:r>
              <a:rPr lang="es-CO" sz="1800" dirty="0">
                <a:solidFill>
                  <a:srgbClr val="000000"/>
                </a:solidFill>
                <a:latin typeface="Cascadia Mono" panose="020B0609020000020004" pitchFamily="49" charset="0"/>
              </a:rPr>
              <a:t>;</a:t>
            </a:r>
          </a:p>
          <a:p>
            <a:r>
              <a:rPr lang="es-CO" sz="1800" dirty="0">
                <a:solidFill>
                  <a:srgbClr val="000000"/>
                </a:solidFill>
                <a:latin typeface="Cascadia Mono" panose="020B0609020000020004" pitchFamily="49" charset="0"/>
              </a:rPr>
              <a:t>}</a:t>
            </a:r>
          </a:p>
          <a:p>
            <a:r>
              <a:rPr lang="es-CO" sz="1800" dirty="0">
                <a:solidFill>
                  <a:srgbClr val="008000"/>
                </a:solidFill>
                <a:latin typeface="Cascadia Mono" panose="020B0609020000020004" pitchFamily="49" charset="0"/>
              </a:rPr>
              <a:t>//IMPRIMIR REPORTE X MATERIAS</a:t>
            </a:r>
            <a:endParaRPr lang="es-CO" sz="1800" dirty="0">
              <a:solidFill>
                <a:srgbClr val="000000"/>
              </a:solidFill>
              <a:latin typeface="Cascadia Mono" panose="020B0609020000020004" pitchFamily="49" charset="0"/>
            </a:endParaRPr>
          </a:p>
          <a:p>
            <a:r>
              <a:rPr lang="pt-BR" sz="1800" dirty="0" err="1">
                <a:solidFill>
                  <a:srgbClr val="000000"/>
                </a:solidFill>
                <a:latin typeface="Cascadia Mono" panose="020B0609020000020004" pitchFamily="49" charset="0"/>
              </a:rPr>
              <a:t>cout</a:t>
            </a:r>
            <a:r>
              <a:rPr lang="pt-BR" sz="1800" dirty="0">
                <a:solidFill>
                  <a:srgbClr val="000000"/>
                </a:solidFill>
                <a:latin typeface="Cascadia Mono" panose="020B0609020000020004" pitchFamily="49" charset="0"/>
              </a:rPr>
              <a:t> </a:t>
            </a:r>
            <a:r>
              <a:rPr lang="pt-BR" sz="1800" dirty="0">
                <a:solidFill>
                  <a:srgbClr val="008080"/>
                </a:solidFill>
                <a:latin typeface="Cascadia Mono" panose="020B0609020000020004" pitchFamily="49" charset="0"/>
              </a:rPr>
              <a:t>&lt;&lt;</a:t>
            </a:r>
            <a:r>
              <a:rPr lang="pt-BR" sz="1800" dirty="0">
                <a:solidFill>
                  <a:srgbClr val="000000"/>
                </a:solidFill>
                <a:latin typeface="Cascadia Mono" panose="020B0609020000020004" pitchFamily="49" charset="0"/>
              </a:rPr>
              <a:t> </a:t>
            </a:r>
            <a:r>
              <a:rPr lang="pt-BR" sz="1800" dirty="0">
                <a:solidFill>
                  <a:srgbClr val="A31515"/>
                </a:solidFill>
                <a:latin typeface="Cascadia Mono" panose="020B0609020000020004" pitchFamily="49" charset="0"/>
              </a:rPr>
              <a:t>"\n---&gt; REPORTE POR CADA MATERIA &lt;---"</a:t>
            </a:r>
            <a:r>
              <a:rPr lang="pt-BR" sz="1800" dirty="0">
                <a:solidFill>
                  <a:srgbClr val="000000"/>
                </a:solidFill>
                <a:latin typeface="Cascadia Mono" panose="020B0609020000020004" pitchFamily="49" charset="0"/>
              </a:rPr>
              <a:t> </a:t>
            </a:r>
            <a:r>
              <a:rPr lang="pt-BR" sz="1800" dirty="0">
                <a:solidFill>
                  <a:srgbClr val="008080"/>
                </a:solidFill>
                <a:latin typeface="Cascadia Mono" panose="020B0609020000020004" pitchFamily="49" charset="0"/>
              </a:rPr>
              <a:t>&lt;&lt;</a:t>
            </a:r>
            <a:r>
              <a:rPr lang="pt-BR" sz="1800" dirty="0">
                <a:solidFill>
                  <a:srgbClr val="000000"/>
                </a:solidFill>
                <a:latin typeface="Cascadia Mono" panose="020B0609020000020004" pitchFamily="49" charset="0"/>
              </a:rPr>
              <a:t> </a:t>
            </a:r>
            <a:r>
              <a:rPr lang="pt-BR" sz="1800" dirty="0" err="1">
                <a:solidFill>
                  <a:srgbClr val="000000"/>
                </a:solidFill>
                <a:latin typeface="Cascadia Mono" panose="020B0609020000020004" pitchFamily="49" charset="0"/>
              </a:rPr>
              <a:t>endl</a:t>
            </a:r>
            <a:r>
              <a:rPr lang="pt-BR" sz="1800" dirty="0">
                <a:solidFill>
                  <a:srgbClr val="000000"/>
                </a:solidFill>
                <a:latin typeface="Cascadia Mono" panose="020B0609020000020004" pitchFamily="49" charset="0"/>
              </a:rPr>
              <a:t>;</a:t>
            </a:r>
          </a:p>
          <a:p>
            <a:r>
              <a:rPr lang="es-CO" sz="1800" dirty="0" err="1">
                <a:solidFill>
                  <a:srgbClr val="000000"/>
                </a:solidFill>
                <a:latin typeface="Cascadia Mono" panose="020B0609020000020004" pitchFamily="49" charset="0"/>
              </a:rPr>
              <a:t>cout</a:t>
            </a:r>
            <a:r>
              <a:rPr lang="es-CO" sz="1800" dirty="0">
                <a:solidFill>
                  <a:srgbClr val="000000"/>
                </a:solidFill>
                <a:latin typeface="Cascadia Mono" panose="020B0609020000020004" pitchFamily="49" charset="0"/>
              </a:rPr>
              <a:t> </a:t>
            </a:r>
            <a:r>
              <a:rPr lang="es-CO" sz="1800" dirty="0">
                <a:solidFill>
                  <a:srgbClr val="008080"/>
                </a:solidFill>
                <a:latin typeface="Cascadia Mono" panose="020B0609020000020004" pitchFamily="49" charset="0"/>
              </a:rPr>
              <a:t>&lt;&lt;</a:t>
            </a:r>
            <a:r>
              <a:rPr lang="es-CO" sz="1800" dirty="0">
                <a:solidFill>
                  <a:srgbClr val="000000"/>
                </a:solidFill>
                <a:latin typeface="Cascadia Mono" panose="020B0609020000020004" pitchFamily="49" charset="0"/>
              </a:rPr>
              <a:t> </a:t>
            </a:r>
            <a:r>
              <a:rPr lang="es-CO" sz="1800" dirty="0">
                <a:solidFill>
                  <a:srgbClr val="A31515"/>
                </a:solidFill>
                <a:latin typeface="Cascadia Mono" panose="020B0609020000020004" pitchFamily="49" charset="0"/>
              </a:rPr>
              <a:t>"MATERIA   SUMA PROMEDIO  MAYOR   MENOR CANT.GANADAS"</a:t>
            </a:r>
            <a:r>
              <a:rPr lang="es-CO" sz="1800" dirty="0">
                <a:solidFill>
                  <a:srgbClr val="000000"/>
                </a:solidFill>
                <a:latin typeface="Cascadia Mono" panose="020B0609020000020004" pitchFamily="49" charset="0"/>
              </a:rPr>
              <a:t> </a:t>
            </a:r>
            <a:r>
              <a:rPr lang="es-CO" sz="1800" dirty="0">
                <a:solidFill>
                  <a:srgbClr val="008080"/>
                </a:solidFill>
                <a:latin typeface="Cascadia Mono" panose="020B0609020000020004" pitchFamily="49" charset="0"/>
              </a:rPr>
              <a:t>&lt;&lt;</a:t>
            </a:r>
            <a:r>
              <a:rPr lang="es-CO" sz="1800" dirty="0">
                <a:solidFill>
                  <a:srgbClr val="000000"/>
                </a:solidFill>
                <a:latin typeface="Cascadia Mono" panose="020B0609020000020004" pitchFamily="49" charset="0"/>
              </a:rPr>
              <a:t> </a:t>
            </a:r>
            <a:r>
              <a:rPr lang="es-CO" sz="1800" dirty="0" err="1">
                <a:solidFill>
                  <a:srgbClr val="000000"/>
                </a:solidFill>
                <a:latin typeface="Cascadia Mono" panose="020B0609020000020004" pitchFamily="49" charset="0"/>
              </a:rPr>
              <a:t>endl</a:t>
            </a:r>
            <a:r>
              <a:rPr lang="es-CO" sz="1800" dirty="0">
                <a:solidFill>
                  <a:srgbClr val="000000"/>
                </a:solidFill>
                <a:latin typeface="Cascadia Mono" panose="020B0609020000020004" pitchFamily="49" charset="0"/>
              </a:rPr>
              <a:t>;</a:t>
            </a:r>
          </a:p>
          <a:p>
            <a:r>
              <a:rPr lang="es-CO" sz="1800" dirty="0" err="1">
                <a:solidFill>
                  <a:srgbClr val="0000FF"/>
                </a:solidFill>
                <a:latin typeface="Cascadia Mono" panose="020B0609020000020004" pitchFamily="49" charset="0"/>
              </a:rPr>
              <a:t>for</a:t>
            </a:r>
            <a:r>
              <a:rPr lang="es-CO" sz="1800" dirty="0">
                <a:solidFill>
                  <a:srgbClr val="000000"/>
                </a:solidFill>
                <a:latin typeface="Cascadia Mono" panose="020B0609020000020004" pitchFamily="49" charset="0"/>
              </a:rPr>
              <a:t> (</a:t>
            </a:r>
            <a:r>
              <a:rPr lang="es-CO" sz="1800" dirty="0" err="1">
                <a:solidFill>
                  <a:srgbClr val="0000FF"/>
                </a:solidFill>
                <a:latin typeface="Cascadia Mono" panose="020B0609020000020004" pitchFamily="49" charset="0"/>
              </a:rPr>
              <a:t>int</a:t>
            </a:r>
            <a:r>
              <a:rPr lang="es-CO" sz="1800" dirty="0">
                <a:solidFill>
                  <a:srgbClr val="000000"/>
                </a:solidFill>
                <a:latin typeface="Cascadia Mono" panose="020B0609020000020004" pitchFamily="49" charset="0"/>
              </a:rPr>
              <a:t> j = 0; j &lt; 5; </a:t>
            </a:r>
            <a:r>
              <a:rPr lang="es-CO" sz="1800" dirty="0" err="1">
                <a:solidFill>
                  <a:srgbClr val="000000"/>
                </a:solidFill>
                <a:latin typeface="Cascadia Mono" panose="020B0609020000020004" pitchFamily="49" charset="0"/>
              </a:rPr>
              <a:t>j++</a:t>
            </a:r>
            <a:r>
              <a:rPr lang="es-CO" sz="1800" dirty="0">
                <a:solidFill>
                  <a:srgbClr val="000000"/>
                </a:solidFill>
                <a:latin typeface="Cascadia Mono" panose="020B0609020000020004" pitchFamily="49" charset="0"/>
              </a:rPr>
              <a:t>) {</a:t>
            </a:r>
          </a:p>
          <a:p>
            <a:r>
              <a:rPr lang="es-CO" sz="1800" dirty="0" err="1">
                <a:solidFill>
                  <a:srgbClr val="000000"/>
                </a:solidFill>
                <a:latin typeface="Cascadia Mono" panose="020B0609020000020004" pitchFamily="49" charset="0"/>
              </a:rPr>
              <a:t>cout</a:t>
            </a:r>
            <a:r>
              <a:rPr lang="es-CO" sz="1800" dirty="0">
                <a:solidFill>
                  <a:srgbClr val="000000"/>
                </a:solidFill>
                <a:latin typeface="Cascadia Mono" panose="020B0609020000020004" pitchFamily="49" charset="0"/>
              </a:rPr>
              <a:t> </a:t>
            </a:r>
            <a:r>
              <a:rPr lang="es-CO" sz="1800" dirty="0">
                <a:solidFill>
                  <a:srgbClr val="008080"/>
                </a:solidFill>
                <a:latin typeface="Cascadia Mono" panose="020B0609020000020004" pitchFamily="49" charset="0"/>
              </a:rPr>
              <a:t>&lt;&lt;</a:t>
            </a:r>
            <a:r>
              <a:rPr lang="es-CO" sz="1800" dirty="0">
                <a:solidFill>
                  <a:srgbClr val="000000"/>
                </a:solidFill>
                <a:latin typeface="Cascadia Mono" panose="020B0609020000020004" pitchFamily="49" charset="0"/>
              </a:rPr>
              <a:t> </a:t>
            </a:r>
            <a:r>
              <a:rPr lang="es-CO" sz="1800" dirty="0" err="1">
                <a:solidFill>
                  <a:srgbClr val="000000"/>
                </a:solidFill>
                <a:latin typeface="Cascadia Mono" panose="020B0609020000020004" pitchFamily="49" charset="0"/>
              </a:rPr>
              <a:t>left</a:t>
            </a:r>
            <a:r>
              <a:rPr lang="es-CO" sz="1800" dirty="0">
                <a:solidFill>
                  <a:srgbClr val="000000"/>
                </a:solidFill>
                <a:latin typeface="Cascadia Mono" panose="020B0609020000020004" pitchFamily="49" charset="0"/>
              </a:rPr>
              <a:t> </a:t>
            </a:r>
            <a:r>
              <a:rPr lang="es-CO" sz="1800" dirty="0">
                <a:solidFill>
                  <a:srgbClr val="008080"/>
                </a:solidFill>
                <a:latin typeface="Cascadia Mono" panose="020B0609020000020004" pitchFamily="49" charset="0"/>
              </a:rPr>
              <a:t>&lt;&lt;</a:t>
            </a:r>
            <a:r>
              <a:rPr lang="es-CO" sz="1800" dirty="0">
                <a:solidFill>
                  <a:srgbClr val="000000"/>
                </a:solidFill>
                <a:latin typeface="Cascadia Mono" panose="020B0609020000020004" pitchFamily="49" charset="0"/>
              </a:rPr>
              <a:t> </a:t>
            </a:r>
            <a:r>
              <a:rPr lang="es-CO" sz="1800" dirty="0" err="1">
                <a:solidFill>
                  <a:srgbClr val="000000"/>
                </a:solidFill>
                <a:latin typeface="Cascadia Mono" panose="020B0609020000020004" pitchFamily="49" charset="0"/>
              </a:rPr>
              <a:t>setw</a:t>
            </a:r>
            <a:r>
              <a:rPr lang="es-CO" sz="1800" dirty="0">
                <a:solidFill>
                  <a:srgbClr val="000000"/>
                </a:solidFill>
                <a:latin typeface="Cascadia Mono" panose="020B0609020000020004" pitchFamily="49" charset="0"/>
              </a:rPr>
              <a:t>(10) </a:t>
            </a:r>
            <a:r>
              <a:rPr lang="es-CO" sz="1800" dirty="0">
                <a:solidFill>
                  <a:srgbClr val="008080"/>
                </a:solidFill>
                <a:latin typeface="Cascadia Mono" panose="020B0609020000020004" pitchFamily="49" charset="0"/>
              </a:rPr>
              <a:t>&lt;&lt;</a:t>
            </a:r>
            <a:r>
              <a:rPr lang="es-CO" sz="1800" dirty="0">
                <a:solidFill>
                  <a:srgbClr val="000000"/>
                </a:solidFill>
                <a:latin typeface="Cascadia Mono" panose="020B0609020000020004" pitchFamily="49" charset="0"/>
              </a:rPr>
              <a:t> MATERIAS[j] </a:t>
            </a:r>
            <a:r>
              <a:rPr lang="es-CO" sz="1800" dirty="0">
                <a:solidFill>
                  <a:srgbClr val="008080"/>
                </a:solidFill>
                <a:latin typeface="Cascadia Mono" panose="020B0609020000020004" pitchFamily="49" charset="0"/>
              </a:rPr>
              <a:t>&lt;&lt;</a:t>
            </a:r>
            <a:r>
              <a:rPr lang="es-CO" sz="1800" dirty="0">
                <a:solidFill>
                  <a:srgbClr val="000000"/>
                </a:solidFill>
                <a:latin typeface="Cascadia Mono" panose="020B0609020000020004" pitchFamily="49" charset="0"/>
              </a:rPr>
              <a:t> </a:t>
            </a:r>
            <a:r>
              <a:rPr lang="es-CO" sz="1800" dirty="0" err="1">
                <a:solidFill>
                  <a:srgbClr val="000000"/>
                </a:solidFill>
                <a:latin typeface="Cascadia Mono" panose="020B0609020000020004" pitchFamily="49" charset="0"/>
              </a:rPr>
              <a:t>setw</a:t>
            </a:r>
            <a:r>
              <a:rPr lang="es-CO" sz="1800" dirty="0">
                <a:solidFill>
                  <a:srgbClr val="000000"/>
                </a:solidFill>
                <a:latin typeface="Cascadia Mono" panose="020B0609020000020004" pitchFamily="49" charset="0"/>
              </a:rPr>
              <a:t>(8) </a:t>
            </a:r>
            <a:r>
              <a:rPr lang="es-CO" sz="1800" dirty="0">
                <a:solidFill>
                  <a:srgbClr val="008080"/>
                </a:solidFill>
                <a:latin typeface="Cascadia Mono" panose="020B0609020000020004" pitchFamily="49" charset="0"/>
              </a:rPr>
              <a:t>&lt;&lt;</a:t>
            </a:r>
            <a:r>
              <a:rPr lang="es-CO" sz="1800" dirty="0">
                <a:solidFill>
                  <a:srgbClr val="000000"/>
                </a:solidFill>
                <a:latin typeface="Cascadia Mono" panose="020B0609020000020004" pitchFamily="49" charset="0"/>
              </a:rPr>
              <a:t> </a:t>
            </a:r>
            <a:r>
              <a:rPr lang="es-CO" sz="1800" dirty="0" err="1">
                <a:solidFill>
                  <a:srgbClr val="000000"/>
                </a:solidFill>
                <a:latin typeface="Cascadia Mono" panose="020B0609020000020004" pitchFamily="49" charset="0"/>
              </a:rPr>
              <a:t>sumMat</a:t>
            </a:r>
            <a:r>
              <a:rPr lang="es-CO" sz="1800" dirty="0">
                <a:solidFill>
                  <a:srgbClr val="000000"/>
                </a:solidFill>
                <a:latin typeface="Cascadia Mono" panose="020B0609020000020004" pitchFamily="49" charset="0"/>
              </a:rPr>
              <a:t>[j] </a:t>
            </a:r>
            <a:r>
              <a:rPr lang="es-CO" sz="1800" dirty="0">
                <a:solidFill>
                  <a:srgbClr val="008080"/>
                </a:solidFill>
                <a:latin typeface="Cascadia Mono" panose="020B0609020000020004" pitchFamily="49" charset="0"/>
              </a:rPr>
              <a:t>&lt;&lt;</a:t>
            </a:r>
            <a:r>
              <a:rPr lang="es-CO" sz="1800" dirty="0">
                <a:solidFill>
                  <a:srgbClr val="000000"/>
                </a:solidFill>
                <a:latin typeface="Cascadia Mono" panose="020B0609020000020004" pitchFamily="49" charset="0"/>
              </a:rPr>
              <a:t> </a:t>
            </a:r>
            <a:r>
              <a:rPr lang="es-CO" sz="1800" dirty="0" err="1">
                <a:solidFill>
                  <a:srgbClr val="000000"/>
                </a:solidFill>
                <a:latin typeface="Cascadia Mono" panose="020B0609020000020004" pitchFamily="49" charset="0"/>
              </a:rPr>
              <a:t>setw</a:t>
            </a:r>
            <a:r>
              <a:rPr lang="es-CO" sz="1800" dirty="0">
                <a:solidFill>
                  <a:srgbClr val="000000"/>
                </a:solidFill>
                <a:latin typeface="Cascadia Mono" panose="020B0609020000020004" pitchFamily="49" charset="0"/>
              </a:rPr>
              <a:t>(8) </a:t>
            </a:r>
            <a:r>
              <a:rPr lang="es-CO" sz="1800" dirty="0">
                <a:solidFill>
                  <a:srgbClr val="008080"/>
                </a:solidFill>
                <a:latin typeface="Cascadia Mono" panose="020B0609020000020004" pitchFamily="49" charset="0"/>
              </a:rPr>
              <a:t>&lt;&lt;</a:t>
            </a:r>
            <a:r>
              <a:rPr lang="es-CO" sz="1800" dirty="0">
                <a:solidFill>
                  <a:srgbClr val="000000"/>
                </a:solidFill>
                <a:latin typeface="Cascadia Mono" panose="020B0609020000020004" pitchFamily="49" charset="0"/>
              </a:rPr>
              <a:t> </a:t>
            </a:r>
            <a:r>
              <a:rPr lang="es-CO" sz="1800" dirty="0" err="1">
                <a:solidFill>
                  <a:srgbClr val="000000"/>
                </a:solidFill>
                <a:latin typeface="Cascadia Mono" panose="020B0609020000020004" pitchFamily="49" charset="0"/>
              </a:rPr>
              <a:t>proMat</a:t>
            </a:r>
            <a:r>
              <a:rPr lang="es-CO" sz="1800" dirty="0">
                <a:solidFill>
                  <a:srgbClr val="000000"/>
                </a:solidFill>
                <a:latin typeface="Cascadia Mono" panose="020B0609020000020004" pitchFamily="49" charset="0"/>
              </a:rPr>
              <a:t>[j]</a:t>
            </a:r>
          </a:p>
          <a:p>
            <a:r>
              <a:rPr lang="es-CO" sz="1800" dirty="0">
                <a:solidFill>
                  <a:srgbClr val="008080"/>
                </a:solidFill>
                <a:latin typeface="Cascadia Mono" panose="020B0609020000020004" pitchFamily="49" charset="0"/>
              </a:rPr>
              <a:t>&lt;&lt;</a:t>
            </a:r>
            <a:r>
              <a:rPr lang="es-CO" sz="1800" dirty="0">
                <a:solidFill>
                  <a:srgbClr val="000000"/>
                </a:solidFill>
                <a:latin typeface="Cascadia Mono" panose="020B0609020000020004" pitchFamily="49" charset="0"/>
              </a:rPr>
              <a:t> </a:t>
            </a:r>
            <a:r>
              <a:rPr lang="es-CO" sz="1800" dirty="0" err="1">
                <a:solidFill>
                  <a:srgbClr val="000000"/>
                </a:solidFill>
                <a:latin typeface="Cascadia Mono" panose="020B0609020000020004" pitchFamily="49" charset="0"/>
              </a:rPr>
              <a:t>setw</a:t>
            </a:r>
            <a:r>
              <a:rPr lang="es-CO" sz="1800" dirty="0">
                <a:solidFill>
                  <a:srgbClr val="000000"/>
                </a:solidFill>
                <a:latin typeface="Cascadia Mono" panose="020B0609020000020004" pitchFamily="49" charset="0"/>
              </a:rPr>
              <a:t>(8) </a:t>
            </a:r>
            <a:r>
              <a:rPr lang="es-CO" sz="1800" dirty="0">
                <a:solidFill>
                  <a:srgbClr val="008080"/>
                </a:solidFill>
                <a:latin typeface="Cascadia Mono" panose="020B0609020000020004" pitchFamily="49" charset="0"/>
              </a:rPr>
              <a:t>&lt;&lt;</a:t>
            </a:r>
            <a:r>
              <a:rPr lang="es-CO" sz="1800" dirty="0">
                <a:solidFill>
                  <a:srgbClr val="000000"/>
                </a:solidFill>
                <a:latin typeface="Cascadia Mono" panose="020B0609020000020004" pitchFamily="49" charset="0"/>
              </a:rPr>
              <a:t> </a:t>
            </a:r>
            <a:r>
              <a:rPr lang="es-CO" sz="1800" dirty="0" err="1">
                <a:solidFill>
                  <a:srgbClr val="000000"/>
                </a:solidFill>
                <a:latin typeface="Cascadia Mono" panose="020B0609020000020004" pitchFamily="49" charset="0"/>
              </a:rPr>
              <a:t>mayMat</a:t>
            </a:r>
            <a:r>
              <a:rPr lang="es-CO" sz="1800" dirty="0">
                <a:solidFill>
                  <a:srgbClr val="000000"/>
                </a:solidFill>
                <a:latin typeface="Cascadia Mono" panose="020B0609020000020004" pitchFamily="49" charset="0"/>
              </a:rPr>
              <a:t>[j] </a:t>
            </a:r>
            <a:r>
              <a:rPr lang="es-CO" sz="1800" dirty="0">
                <a:solidFill>
                  <a:srgbClr val="008080"/>
                </a:solidFill>
                <a:latin typeface="Cascadia Mono" panose="020B0609020000020004" pitchFamily="49" charset="0"/>
              </a:rPr>
              <a:t>&lt;&lt;</a:t>
            </a:r>
            <a:r>
              <a:rPr lang="es-CO" sz="1800" dirty="0">
                <a:solidFill>
                  <a:srgbClr val="000000"/>
                </a:solidFill>
                <a:latin typeface="Cascadia Mono" panose="020B0609020000020004" pitchFamily="49" charset="0"/>
              </a:rPr>
              <a:t> </a:t>
            </a:r>
            <a:r>
              <a:rPr lang="es-CO" sz="1800" dirty="0" err="1">
                <a:solidFill>
                  <a:srgbClr val="000000"/>
                </a:solidFill>
                <a:latin typeface="Cascadia Mono" panose="020B0609020000020004" pitchFamily="49" charset="0"/>
              </a:rPr>
              <a:t>setw</a:t>
            </a:r>
            <a:r>
              <a:rPr lang="es-CO" sz="1800" dirty="0">
                <a:solidFill>
                  <a:srgbClr val="000000"/>
                </a:solidFill>
                <a:latin typeface="Cascadia Mono" panose="020B0609020000020004" pitchFamily="49" charset="0"/>
              </a:rPr>
              <a:t>(8) </a:t>
            </a:r>
            <a:r>
              <a:rPr lang="es-CO" sz="1800" dirty="0">
                <a:solidFill>
                  <a:srgbClr val="008080"/>
                </a:solidFill>
                <a:latin typeface="Cascadia Mono" panose="020B0609020000020004" pitchFamily="49" charset="0"/>
              </a:rPr>
              <a:t>&lt;&lt;</a:t>
            </a:r>
            <a:r>
              <a:rPr lang="es-CO" sz="1800" dirty="0">
                <a:solidFill>
                  <a:srgbClr val="000000"/>
                </a:solidFill>
                <a:latin typeface="Cascadia Mono" panose="020B0609020000020004" pitchFamily="49" charset="0"/>
              </a:rPr>
              <a:t> </a:t>
            </a:r>
            <a:r>
              <a:rPr lang="es-CO" sz="1800" dirty="0" err="1">
                <a:solidFill>
                  <a:srgbClr val="000000"/>
                </a:solidFill>
                <a:latin typeface="Cascadia Mono" panose="020B0609020000020004" pitchFamily="49" charset="0"/>
              </a:rPr>
              <a:t>menMat</a:t>
            </a:r>
            <a:r>
              <a:rPr lang="es-CO" sz="1800" dirty="0">
                <a:solidFill>
                  <a:srgbClr val="000000"/>
                </a:solidFill>
                <a:latin typeface="Cascadia Mono" panose="020B0609020000020004" pitchFamily="49" charset="0"/>
              </a:rPr>
              <a:t>[j] </a:t>
            </a:r>
            <a:r>
              <a:rPr lang="es-CO" sz="1800" dirty="0">
                <a:solidFill>
                  <a:srgbClr val="008080"/>
                </a:solidFill>
                <a:latin typeface="Cascadia Mono" panose="020B0609020000020004" pitchFamily="49" charset="0"/>
              </a:rPr>
              <a:t>&lt;&lt;</a:t>
            </a:r>
            <a:r>
              <a:rPr lang="es-CO" sz="1800" dirty="0">
                <a:solidFill>
                  <a:srgbClr val="000000"/>
                </a:solidFill>
                <a:latin typeface="Cascadia Mono" panose="020B0609020000020004" pitchFamily="49" charset="0"/>
              </a:rPr>
              <a:t> </a:t>
            </a:r>
            <a:r>
              <a:rPr lang="es-CO" sz="1800" dirty="0" err="1">
                <a:solidFill>
                  <a:srgbClr val="000000"/>
                </a:solidFill>
                <a:latin typeface="Cascadia Mono" panose="020B0609020000020004" pitchFamily="49" charset="0"/>
              </a:rPr>
              <a:t>setw</a:t>
            </a:r>
            <a:r>
              <a:rPr lang="es-CO" sz="1800" dirty="0">
                <a:solidFill>
                  <a:srgbClr val="000000"/>
                </a:solidFill>
                <a:latin typeface="Cascadia Mono" panose="020B0609020000020004" pitchFamily="49" charset="0"/>
              </a:rPr>
              <a:t>(8) </a:t>
            </a:r>
            <a:r>
              <a:rPr lang="es-CO" sz="1800" dirty="0">
                <a:solidFill>
                  <a:srgbClr val="008080"/>
                </a:solidFill>
                <a:latin typeface="Cascadia Mono" panose="020B0609020000020004" pitchFamily="49" charset="0"/>
              </a:rPr>
              <a:t>&lt;&lt;</a:t>
            </a:r>
            <a:r>
              <a:rPr lang="es-CO" sz="1800" dirty="0">
                <a:solidFill>
                  <a:srgbClr val="000000"/>
                </a:solidFill>
                <a:latin typeface="Cascadia Mono" panose="020B0609020000020004" pitchFamily="49" charset="0"/>
              </a:rPr>
              <a:t> </a:t>
            </a:r>
            <a:r>
              <a:rPr lang="es-CO" sz="1800" dirty="0" err="1">
                <a:solidFill>
                  <a:srgbClr val="000000"/>
                </a:solidFill>
                <a:latin typeface="Cascadia Mono" panose="020B0609020000020004" pitchFamily="49" charset="0"/>
              </a:rPr>
              <a:t>contMat</a:t>
            </a:r>
            <a:r>
              <a:rPr lang="es-CO" sz="1800" dirty="0">
                <a:solidFill>
                  <a:srgbClr val="000000"/>
                </a:solidFill>
                <a:latin typeface="Cascadia Mono" panose="020B0609020000020004" pitchFamily="49" charset="0"/>
              </a:rPr>
              <a:t>[j] </a:t>
            </a:r>
            <a:r>
              <a:rPr lang="es-CO" sz="1800" dirty="0">
                <a:solidFill>
                  <a:srgbClr val="008080"/>
                </a:solidFill>
                <a:latin typeface="Cascadia Mono" panose="020B0609020000020004" pitchFamily="49" charset="0"/>
              </a:rPr>
              <a:t>&lt;&lt;</a:t>
            </a:r>
            <a:r>
              <a:rPr lang="es-CO" sz="1800" dirty="0">
                <a:solidFill>
                  <a:srgbClr val="000000"/>
                </a:solidFill>
                <a:latin typeface="Cascadia Mono" panose="020B0609020000020004" pitchFamily="49" charset="0"/>
              </a:rPr>
              <a:t> </a:t>
            </a:r>
            <a:r>
              <a:rPr lang="es-CO" sz="1800" dirty="0" err="1">
                <a:solidFill>
                  <a:srgbClr val="000000"/>
                </a:solidFill>
                <a:latin typeface="Cascadia Mono" panose="020B0609020000020004" pitchFamily="49" charset="0"/>
              </a:rPr>
              <a:t>endl</a:t>
            </a:r>
            <a:r>
              <a:rPr lang="es-CO" sz="1800" dirty="0">
                <a:solidFill>
                  <a:srgbClr val="000000"/>
                </a:solidFill>
                <a:latin typeface="Cascadia Mono" panose="020B0609020000020004" pitchFamily="49" charset="0"/>
              </a:rPr>
              <a:t>;</a:t>
            </a:r>
          </a:p>
          <a:p>
            <a:r>
              <a:rPr lang="es-CO" sz="1800" dirty="0">
                <a:solidFill>
                  <a:srgbClr val="000000"/>
                </a:solidFill>
                <a:latin typeface="Cascadia Mono" panose="020B0609020000020004" pitchFamily="49" charset="0"/>
              </a:rPr>
              <a:t>}</a:t>
            </a:r>
          </a:p>
          <a:p>
            <a:r>
              <a:rPr lang="es-CO" sz="1800" dirty="0" err="1">
                <a:solidFill>
                  <a:srgbClr val="0000FF"/>
                </a:solidFill>
                <a:latin typeface="Cascadia Mono" panose="020B0609020000020004" pitchFamily="49" charset="0"/>
              </a:rPr>
              <a:t>return</a:t>
            </a:r>
            <a:r>
              <a:rPr lang="es-CO" sz="1800" dirty="0">
                <a:solidFill>
                  <a:srgbClr val="000000"/>
                </a:solidFill>
                <a:latin typeface="Cascadia Mono" panose="020B0609020000020004" pitchFamily="49" charset="0"/>
              </a:rPr>
              <a:t> 0;</a:t>
            </a:r>
          </a:p>
          <a:p>
            <a:r>
              <a:rPr lang="es-CO" sz="1800" dirty="0">
                <a:solidFill>
                  <a:srgbClr val="000000"/>
                </a:solidFill>
                <a:latin typeface="Cascadia Mono" panose="020B0609020000020004" pitchFamily="49" charset="0"/>
              </a:rPr>
              <a:t>}</a:t>
            </a:r>
            <a:endParaRPr lang="es-CO" dirty="0"/>
          </a:p>
        </p:txBody>
      </p:sp>
      <p:sp>
        <p:nvSpPr>
          <p:cNvPr id="4" name="Marcador de número de diapositiva 3"/>
          <p:cNvSpPr>
            <a:spLocks noGrp="1"/>
          </p:cNvSpPr>
          <p:nvPr>
            <p:ph type="sldNum" sz="quarter" idx="5"/>
          </p:nvPr>
        </p:nvSpPr>
        <p:spPr/>
        <p:txBody>
          <a:bodyPr/>
          <a:lstStyle/>
          <a:p>
            <a:fld id="{6EBFF732-773A-4839-B774-230B46601DA8}" type="slidenum">
              <a:rPr lang="es-CO" smtClean="0"/>
              <a:t>17</a:t>
            </a:fld>
            <a:endParaRPr lang="es-CO"/>
          </a:p>
        </p:txBody>
      </p:sp>
    </p:spTree>
    <p:extLst>
      <p:ext uri="{BB962C8B-B14F-4D97-AF65-F5344CB8AC3E}">
        <p14:creationId xmlns:p14="http://schemas.microsoft.com/office/powerpoint/2010/main" val="115117287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s-CO"/>
          </a:p>
        </p:txBody>
      </p:sp>
      <p:sp>
        <p:nvSpPr>
          <p:cNvPr id="3" name="Subtítulo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editar el estilo de subtítulo del patrón</a:t>
            </a:r>
            <a:endParaRPr lang="es-CO"/>
          </a:p>
        </p:txBody>
      </p:sp>
      <p:sp>
        <p:nvSpPr>
          <p:cNvPr id="4" name="Marcador de fecha 3"/>
          <p:cNvSpPr>
            <a:spLocks noGrp="1"/>
          </p:cNvSpPr>
          <p:nvPr>
            <p:ph type="dt" sz="half" idx="10"/>
          </p:nvPr>
        </p:nvSpPr>
        <p:spPr/>
        <p:txBody>
          <a:bodyPr/>
          <a:lstStyle/>
          <a:p>
            <a:fld id="{620CEF71-AC54-4907-87CE-021372FB99F1}" type="datetimeFigureOut">
              <a:rPr lang="es-CO" smtClean="0"/>
              <a:t>12/10/2024</a:t>
            </a:fld>
            <a:endParaRPr lang="es-CO"/>
          </a:p>
        </p:txBody>
      </p:sp>
      <p:sp>
        <p:nvSpPr>
          <p:cNvPr id="5" name="Marcador de pie de página 4"/>
          <p:cNvSpPr>
            <a:spLocks noGrp="1"/>
          </p:cNvSpPr>
          <p:nvPr>
            <p:ph type="ftr" sz="quarter" idx="11"/>
          </p:nvPr>
        </p:nvSpPr>
        <p:spPr/>
        <p:txBody>
          <a:bodyPr/>
          <a:lstStyle/>
          <a:p>
            <a:endParaRPr lang="es-CO"/>
          </a:p>
        </p:txBody>
      </p:sp>
      <p:sp>
        <p:nvSpPr>
          <p:cNvPr id="6" name="Marcador de número de diapositiva 5"/>
          <p:cNvSpPr>
            <a:spLocks noGrp="1"/>
          </p:cNvSpPr>
          <p:nvPr>
            <p:ph type="sldNum" sz="quarter" idx="12"/>
          </p:nvPr>
        </p:nvSpPr>
        <p:spPr/>
        <p:txBody>
          <a:bodyPr/>
          <a:lstStyle/>
          <a:p>
            <a:fld id="{E95D3DBD-534B-4F0D-A315-13E9D6466E1D}" type="slidenum">
              <a:rPr lang="es-CO" smtClean="0"/>
              <a:t>‹Nº›</a:t>
            </a:fld>
            <a:endParaRPr lang="es-CO"/>
          </a:p>
        </p:txBody>
      </p:sp>
    </p:spTree>
    <p:extLst>
      <p:ext uri="{BB962C8B-B14F-4D97-AF65-F5344CB8AC3E}">
        <p14:creationId xmlns:p14="http://schemas.microsoft.com/office/powerpoint/2010/main" val="17166939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t>Haga clic para modificar el estilo de título del patrón</a:t>
            </a:r>
            <a:endParaRPr lang="es-CO"/>
          </a:p>
        </p:txBody>
      </p:sp>
      <p:sp>
        <p:nvSpPr>
          <p:cNvPr id="3" name="Marcador de contenido 2"/>
          <p:cNvSpPr>
            <a:spLocks noGrp="1"/>
          </p:cNvSpPr>
          <p:nvPr>
            <p:ph idx="1"/>
          </p:nvPr>
        </p:nvSpPr>
        <p:spPr/>
        <p:txBody>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fecha 3"/>
          <p:cNvSpPr>
            <a:spLocks noGrp="1"/>
          </p:cNvSpPr>
          <p:nvPr>
            <p:ph type="dt" sz="half" idx="10"/>
          </p:nvPr>
        </p:nvSpPr>
        <p:spPr/>
        <p:txBody>
          <a:bodyPr/>
          <a:lstStyle/>
          <a:p>
            <a:fld id="{620CEF71-AC54-4907-87CE-021372FB99F1}" type="datetimeFigureOut">
              <a:rPr lang="es-CO" smtClean="0"/>
              <a:t>12/10/2024</a:t>
            </a:fld>
            <a:endParaRPr lang="es-CO"/>
          </a:p>
        </p:txBody>
      </p:sp>
      <p:sp>
        <p:nvSpPr>
          <p:cNvPr id="5" name="Marcador de pie de página 4"/>
          <p:cNvSpPr>
            <a:spLocks noGrp="1"/>
          </p:cNvSpPr>
          <p:nvPr>
            <p:ph type="ftr" sz="quarter" idx="11"/>
          </p:nvPr>
        </p:nvSpPr>
        <p:spPr/>
        <p:txBody>
          <a:bodyPr/>
          <a:lstStyle/>
          <a:p>
            <a:endParaRPr lang="es-CO"/>
          </a:p>
        </p:txBody>
      </p:sp>
      <p:sp>
        <p:nvSpPr>
          <p:cNvPr id="6" name="Marcador de número de diapositiva 5"/>
          <p:cNvSpPr>
            <a:spLocks noGrp="1"/>
          </p:cNvSpPr>
          <p:nvPr>
            <p:ph type="sldNum" sz="quarter" idx="12"/>
          </p:nvPr>
        </p:nvSpPr>
        <p:spPr/>
        <p:txBody>
          <a:bodyPr/>
          <a:lstStyle/>
          <a:p>
            <a:fld id="{E95D3DBD-534B-4F0D-A315-13E9D6466E1D}" type="slidenum">
              <a:rPr lang="es-CO" smtClean="0"/>
              <a:t>‹Nº›</a:t>
            </a:fld>
            <a:endParaRPr lang="es-CO"/>
          </a:p>
        </p:txBody>
      </p:sp>
    </p:spTree>
    <p:extLst>
      <p:ext uri="{BB962C8B-B14F-4D97-AF65-F5344CB8AC3E}">
        <p14:creationId xmlns:p14="http://schemas.microsoft.com/office/powerpoint/2010/main" val="305765473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endParaRPr lang="es-CO"/>
          </a:p>
        </p:txBody>
      </p:sp>
      <p:sp>
        <p:nvSpPr>
          <p:cNvPr id="3" name="Marcador de texto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Editar el estilo de texto del patrón</a:t>
            </a:r>
          </a:p>
        </p:txBody>
      </p:sp>
      <p:sp>
        <p:nvSpPr>
          <p:cNvPr id="4" name="Marcador de fecha 3"/>
          <p:cNvSpPr>
            <a:spLocks noGrp="1"/>
          </p:cNvSpPr>
          <p:nvPr>
            <p:ph type="dt" sz="half" idx="10"/>
          </p:nvPr>
        </p:nvSpPr>
        <p:spPr/>
        <p:txBody>
          <a:bodyPr/>
          <a:lstStyle/>
          <a:p>
            <a:fld id="{620CEF71-AC54-4907-87CE-021372FB99F1}" type="datetimeFigureOut">
              <a:rPr lang="es-CO" smtClean="0"/>
              <a:t>12/10/2024</a:t>
            </a:fld>
            <a:endParaRPr lang="es-CO"/>
          </a:p>
        </p:txBody>
      </p:sp>
      <p:sp>
        <p:nvSpPr>
          <p:cNvPr id="5" name="Marcador de pie de página 4"/>
          <p:cNvSpPr>
            <a:spLocks noGrp="1"/>
          </p:cNvSpPr>
          <p:nvPr>
            <p:ph type="ftr" sz="quarter" idx="11"/>
          </p:nvPr>
        </p:nvSpPr>
        <p:spPr/>
        <p:txBody>
          <a:bodyPr/>
          <a:lstStyle/>
          <a:p>
            <a:endParaRPr lang="es-CO"/>
          </a:p>
        </p:txBody>
      </p:sp>
      <p:sp>
        <p:nvSpPr>
          <p:cNvPr id="6" name="Marcador de número de diapositiva 5"/>
          <p:cNvSpPr>
            <a:spLocks noGrp="1"/>
          </p:cNvSpPr>
          <p:nvPr>
            <p:ph type="sldNum" sz="quarter" idx="12"/>
          </p:nvPr>
        </p:nvSpPr>
        <p:spPr/>
        <p:txBody>
          <a:bodyPr/>
          <a:lstStyle/>
          <a:p>
            <a:fld id="{E95D3DBD-534B-4F0D-A315-13E9D6466E1D}" type="slidenum">
              <a:rPr lang="es-CO" smtClean="0"/>
              <a:t>‹Nº›</a:t>
            </a:fld>
            <a:endParaRPr lang="es-CO"/>
          </a:p>
        </p:txBody>
      </p:sp>
    </p:spTree>
    <p:extLst>
      <p:ext uri="{BB962C8B-B14F-4D97-AF65-F5344CB8AC3E}">
        <p14:creationId xmlns:p14="http://schemas.microsoft.com/office/powerpoint/2010/main" val="287728889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t>Haga clic para modificar el estilo de título del patrón</a:t>
            </a:r>
            <a:endParaRPr lang="es-CO"/>
          </a:p>
        </p:txBody>
      </p:sp>
      <p:sp>
        <p:nvSpPr>
          <p:cNvPr id="3" name="Marcador de contenido 2"/>
          <p:cNvSpPr>
            <a:spLocks noGrp="1"/>
          </p:cNvSpPr>
          <p:nvPr>
            <p:ph sz="half" idx="1"/>
          </p:nvPr>
        </p:nvSpPr>
        <p:spPr>
          <a:xfrm>
            <a:off x="838200" y="1825625"/>
            <a:ext cx="5181600" cy="4351338"/>
          </a:xfrm>
        </p:spPr>
        <p:txBody>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contenido 3"/>
          <p:cNvSpPr>
            <a:spLocks noGrp="1"/>
          </p:cNvSpPr>
          <p:nvPr>
            <p:ph sz="half" idx="2"/>
          </p:nvPr>
        </p:nvSpPr>
        <p:spPr>
          <a:xfrm>
            <a:off x="6172200" y="1825625"/>
            <a:ext cx="5181600" cy="4351338"/>
          </a:xfrm>
        </p:spPr>
        <p:txBody>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5" name="Marcador de fecha 4"/>
          <p:cNvSpPr>
            <a:spLocks noGrp="1"/>
          </p:cNvSpPr>
          <p:nvPr>
            <p:ph type="dt" sz="half" idx="10"/>
          </p:nvPr>
        </p:nvSpPr>
        <p:spPr/>
        <p:txBody>
          <a:bodyPr/>
          <a:lstStyle/>
          <a:p>
            <a:fld id="{620CEF71-AC54-4907-87CE-021372FB99F1}" type="datetimeFigureOut">
              <a:rPr lang="es-CO" smtClean="0"/>
              <a:t>12/10/2024</a:t>
            </a:fld>
            <a:endParaRPr lang="es-CO"/>
          </a:p>
        </p:txBody>
      </p:sp>
      <p:sp>
        <p:nvSpPr>
          <p:cNvPr id="6" name="Marcador de pie de página 5"/>
          <p:cNvSpPr>
            <a:spLocks noGrp="1"/>
          </p:cNvSpPr>
          <p:nvPr>
            <p:ph type="ftr" sz="quarter" idx="11"/>
          </p:nvPr>
        </p:nvSpPr>
        <p:spPr/>
        <p:txBody>
          <a:bodyPr/>
          <a:lstStyle/>
          <a:p>
            <a:endParaRPr lang="es-CO"/>
          </a:p>
        </p:txBody>
      </p:sp>
      <p:sp>
        <p:nvSpPr>
          <p:cNvPr id="7" name="Marcador de número de diapositiva 6"/>
          <p:cNvSpPr>
            <a:spLocks noGrp="1"/>
          </p:cNvSpPr>
          <p:nvPr>
            <p:ph type="sldNum" sz="quarter" idx="12"/>
          </p:nvPr>
        </p:nvSpPr>
        <p:spPr/>
        <p:txBody>
          <a:bodyPr/>
          <a:lstStyle/>
          <a:p>
            <a:fld id="{E95D3DBD-534B-4F0D-A315-13E9D6466E1D}" type="slidenum">
              <a:rPr lang="es-CO" smtClean="0"/>
              <a:t>‹Nº›</a:t>
            </a:fld>
            <a:endParaRPr lang="es-CO"/>
          </a:p>
        </p:txBody>
      </p:sp>
    </p:spTree>
    <p:extLst>
      <p:ext uri="{BB962C8B-B14F-4D97-AF65-F5344CB8AC3E}">
        <p14:creationId xmlns:p14="http://schemas.microsoft.com/office/powerpoint/2010/main" val="25626115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p:cNvSpPr>
            <a:spLocks noGrp="1"/>
          </p:cNvSpPr>
          <p:nvPr>
            <p:ph type="title"/>
          </p:nvPr>
        </p:nvSpPr>
        <p:spPr>
          <a:xfrm>
            <a:off x="839788" y="365125"/>
            <a:ext cx="10515600" cy="1325563"/>
          </a:xfrm>
        </p:spPr>
        <p:txBody>
          <a:bodyPr/>
          <a:lstStyle/>
          <a:p>
            <a:r>
              <a:rPr lang="es-ES"/>
              <a:t>Haga clic para modificar el estilo de título del patrón</a:t>
            </a:r>
            <a:endParaRPr lang="es-CO"/>
          </a:p>
        </p:txBody>
      </p:sp>
      <p:sp>
        <p:nvSpPr>
          <p:cNvPr id="3" name="Marcador de texto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Editar el estilo de texto del patrón</a:t>
            </a:r>
          </a:p>
        </p:txBody>
      </p:sp>
      <p:sp>
        <p:nvSpPr>
          <p:cNvPr id="4" name="Marcador de contenido 3"/>
          <p:cNvSpPr>
            <a:spLocks noGrp="1"/>
          </p:cNvSpPr>
          <p:nvPr>
            <p:ph sz="half" idx="2"/>
          </p:nvPr>
        </p:nvSpPr>
        <p:spPr>
          <a:xfrm>
            <a:off x="839788" y="2505075"/>
            <a:ext cx="5157787" cy="3684588"/>
          </a:xfrm>
        </p:spPr>
        <p:txBody>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5" name="Marcador de texto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Editar el estilo de texto del patrón</a:t>
            </a:r>
          </a:p>
        </p:txBody>
      </p:sp>
      <p:sp>
        <p:nvSpPr>
          <p:cNvPr id="6" name="Marcador de contenido 5"/>
          <p:cNvSpPr>
            <a:spLocks noGrp="1"/>
          </p:cNvSpPr>
          <p:nvPr>
            <p:ph sz="quarter" idx="4"/>
          </p:nvPr>
        </p:nvSpPr>
        <p:spPr>
          <a:xfrm>
            <a:off x="6172200" y="2505075"/>
            <a:ext cx="5183188" cy="3684588"/>
          </a:xfrm>
        </p:spPr>
        <p:txBody>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7" name="Marcador de fecha 6"/>
          <p:cNvSpPr>
            <a:spLocks noGrp="1"/>
          </p:cNvSpPr>
          <p:nvPr>
            <p:ph type="dt" sz="half" idx="10"/>
          </p:nvPr>
        </p:nvSpPr>
        <p:spPr/>
        <p:txBody>
          <a:bodyPr/>
          <a:lstStyle/>
          <a:p>
            <a:fld id="{620CEF71-AC54-4907-87CE-021372FB99F1}" type="datetimeFigureOut">
              <a:rPr lang="es-CO" smtClean="0"/>
              <a:t>12/10/2024</a:t>
            </a:fld>
            <a:endParaRPr lang="es-CO"/>
          </a:p>
        </p:txBody>
      </p:sp>
      <p:sp>
        <p:nvSpPr>
          <p:cNvPr id="8" name="Marcador de pie de página 7"/>
          <p:cNvSpPr>
            <a:spLocks noGrp="1"/>
          </p:cNvSpPr>
          <p:nvPr>
            <p:ph type="ftr" sz="quarter" idx="11"/>
          </p:nvPr>
        </p:nvSpPr>
        <p:spPr/>
        <p:txBody>
          <a:bodyPr/>
          <a:lstStyle/>
          <a:p>
            <a:endParaRPr lang="es-CO"/>
          </a:p>
        </p:txBody>
      </p:sp>
      <p:sp>
        <p:nvSpPr>
          <p:cNvPr id="9" name="Marcador de número de diapositiva 8"/>
          <p:cNvSpPr>
            <a:spLocks noGrp="1"/>
          </p:cNvSpPr>
          <p:nvPr>
            <p:ph type="sldNum" sz="quarter" idx="12"/>
          </p:nvPr>
        </p:nvSpPr>
        <p:spPr/>
        <p:txBody>
          <a:bodyPr/>
          <a:lstStyle/>
          <a:p>
            <a:fld id="{E95D3DBD-534B-4F0D-A315-13E9D6466E1D}" type="slidenum">
              <a:rPr lang="es-CO" smtClean="0"/>
              <a:t>‹Nº›</a:t>
            </a:fld>
            <a:endParaRPr lang="es-CO"/>
          </a:p>
        </p:txBody>
      </p:sp>
    </p:spTree>
    <p:extLst>
      <p:ext uri="{BB962C8B-B14F-4D97-AF65-F5344CB8AC3E}">
        <p14:creationId xmlns:p14="http://schemas.microsoft.com/office/powerpoint/2010/main" val="97642228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t>Haga clic para modificar el estilo de título del patrón</a:t>
            </a:r>
            <a:endParaRPr lang="es-CO"/>
          </a:p>
        </p:txBody>
      </p:sp>
      <p:sp>
        <p:nvSpPr>
          <p:cNvPr id="3" name="Marcador de fecha 2"/>
          <p:cNvSpPr>
            <a:spLocks noGrp="1"/>
          </p:cNvSpPr>
          <p:nvPr>
            <p:ph type="dt" sz="half" idx="10"/>
          </p:nvPr>
        </p:nvSpPr>
        <p:spPr/>
        <p:txBody>
          <a:bodyPr/>
          <a:lstStyle/>
          <a:p>
            <a:fld id="{620CEF71-AC54-4907-87CE-021372FB99F1}" type="datetimeFigureOut">
              <a:rPr lang="es-CO" smtClean="0"/>
              <a:t>12/10/2024</a:t>
            </a:fld>
            <a:endParaRPr lang="es-CO"/>
          </a:p>
        </p:txBody>
      </p:sp>
      <p:sp>
        <p:nvSpPr>
          <p:cNvPr id="4" name="Marcador de pie de página 3"/>
          <p:cNvSpPr>
            <a:spLocks noGrp="1"/>
          </p:cNvSpPr>
          <p:nvPr>
            <p:ph type="ftr" sz="quarter" idx="11"/>
          </p:nvPr>
        </p:nvSpPr>
        <p:spPr/>
        <p:txBody>
          <a:bodyPr/>
          <a:lstStyle/>
          <a:p>
            <a:endParaRPr lang="es-CO"/>
          </a:p>
        </p:txBody>
      </p:sp>
      <p:sp>
        <p:nvSpPr>
          <p:cNvPr id="5" name="Marcador de número de diapositiva 4"/>
          <p:cNvSpPr>
            <a:spLocks noGrp="1"/>
          </p:cNvSpPr>
          <p:nvPr>
            <p:ph type="sldNum" sz="quarter" idx="12"/>
          </p:nvPr>
        </p:nvSpPr>
        <p:spPr/>
        <p:txBody>
          <a:bodyPr/>
          <a:lstStyle/>
          <a:p>
            <a:fld id="{E95D3DBD-534B-4F0D-A315-13E9D6466E1D}" type="slidenum">
              <a:rPr lang="es-CO" smtClean="0"/>
              <a:t>‹Nº›</a:t>
            </a:fld>
            <a:endParaRPr lang="es-CO"/>
          </a:p>
        </p:txBody>
      </p:sp>
    </p:spTree>
    <p:extLst>
      <p:ext uri="{BB962C8B-B14F-4D97-AF65-F5344CB8AC3E}">
        <p14:creationId xmlns:p14="http://schemas.microsoft.com/office/powerpoint/2010/main" val="68248718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p:cNvSpPr>
            <a:spLocks noGrp="1"/>
          </p:cNvSpPr>
          <p:nvPr>
            <p:ph type="dt" sz="half" idx="10"/>
          </p:nvPr>
        </p:nvSpPr>
        <p:spPr/>
        <p:txBody>
          <a:bodyPr/>
          <a:lstStyle/>
          <a:p>
            <a:fld id="{620CEF71-AC54-4907-87CE-021372FB99F1}" type="datetimeFigureOut">
              <a:rPr lang="es-CO" smtClean="0"/>
              <a:t>12/10/2024</a:t>
            </a:fld>
            <a:endParaRPr lang="es-CO"/>
          </a:p>
        </p:txBody>
      </p:sp>
      <p:sp>
        <p:nvSpPr>
          <p:cNvPr id="3" name="Marcador de pie de página 2"/>
          <p:cNvSpPr>
            <a:spLocks noGrp="1"/>
          </p:cNvSpPr>
          <p:nvPr>
            <p:ph type="ftr" sz="quarter" idx="11"/>
          </p:nvPr>
        </p:nvSpPr>
        <p:spPr/>
        <p:txBody>
          <a:bodyPr/>
          <a:lstStyle/>
          <a:p>
            <a:endParaRPr lang="es-CO"/>
          </a:p>
        </p:txBody>
      </p:sp>
      <p:sp>
        <p:nvSpPr>
          <p:cNvPr id="4" name="Marcador de número de diapositiva 3"/>
          <p:cNvSpPr>
            <a:spLocks noGrp="1"/>
          </p:cNvSpPr>
          <p:nvPr>
            <p:ph type="sldNum" sz="quarter" idx="12"/>
          </p:nvPr>
        </p:nvSpPr>
        <p:spPr/>
        <p:txBody>
          <a:bodyPr/>
          <a:lstStyle/>
          <a:p>
            <a:fld id="{E95D3DBD-534B-4F0D-A315-13E9D6466E1D}" type="slidenum">
              <a:rPr lang="es-CO" smtClean="0"/>
              <a:t>‹Nº›</a:t>
            </a:fld>
            <a:endParaRPr lang="es-CO"/>
          </a:p>
        </p:txBody>
      </p:sp>
    </p:spTree>
    <p:extLst>
      <p:ext uri="{BB962C8B-B14F-4D97-AF65-F5344CB8AC3E}">
        <p14:creationId xmlns:p14="http://schemas.microsoft.com/office/powerpoint/2010/main" val="9334132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CO"/>
          </a:p>
        </p:txBody>
      </p:sp>
      <p:sp>
        <p:nvSpPr>
          <p:cNvPr id="3" name="Marcador de contenido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texto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Editar el estilo de texto del patrón</a:t>
            </a:r>
          </a:p>
        </p:txBody>
      </p:sp>
      <p:sp>
        <p:nvSpPr>
          <p:cNvPr id="5" name="Marcador de fecha 4"/>
          <p:cNvSpPr>
            <a:spLocks noGrp="1"/>
          </p:cNvSpPr>
          <p:nvPr>
            <p:ph type="dt" sz="half" idx="10"/>
          </p:nvPr>
        </p:nvSpPr>
        <p:spPr/>
        <p:txBody>
          <a:bodyPr/>
          <a:lstStyle/>
          <a:p>
            <a:fld id="{620CEF71-AC54-4907-87CE-021372FB99F1}" type="datetimeFigureOut">
              <a:rPr lang="es-CO" smtClean="0"/>
              <a:t>12/10/2024</a:t>
            </a:fld>
            <a:endParaRPr lang="es-CO"/>
          </a:p>
        </p:txBody>
      </p:sp>
      <p:sp>
        <p:nvSpPr>
          <p:cNvPr id="6" name="Marcador de pie de página 5"/>
          <p:cNvSpPr>
            <a:spLocks noGrp="1"/>
          </p:cNvSpPr>
          <p:nvPr>
            <p:ph type="ftr" sz="quarter" idx="11"/>
          </p:nvPr>
        </p:nvSpPr>
        <p:spPr/>
        <p:txBody>
          <a:bodyPr/>
          <a:lstStyle/>
          <a:p>
            <a:endParaRPr lang="es-CO"/>
          </a:p>
        </p:txBody>
      </p:sp>
      <p:sp>
        <p:nvSpPr>
          <p:cNvPr id="7" name="Marcador de número de diapositiva 6"/>
          <p:cNvSpPr>
            <a:spLocks noGrp="1"/>
          </p:cNvSpPr>
          <p:nvPr>
            <p:ph type="sldNum" sz="quarter" idx="12"/>
          </p:nvPr>
        </p:nvSpPr>
        <p:spPr/>
        <p:txBody>
          <a:bodyPr/>
          <a:lstStyle/>
          <a:p>
            <a:fld id="{E95D3DBD-534B-4F0D-A315-13E9D6466E1D}" type="slidenum">
              <a:rPr lang="es-CO" smtClean="0"/>
              <a:t>‹Nº›</a:t>
            </a:fld>
            <a:endParaRPr lang="es-CO"/>
          </a:p>
        </p:txBody>
      </p:sp>
    </p:spTree>
    <p:extLst>
      <p:ext uri="{BB962C8B-B14F-4D97-AF65-F5344CB8AC3E}">
        <p14:creationId xmlns:p14="http://schemas.microsoft.com/office/powerpoint/2010/main" val="285153176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CO"/>
          </a:p>
        </p:txBody>
      </p:sp>
      <p:sp>
        <p:nvSpPr>
          <p:cNvPr id="3" name="Marcador de posición de imagen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CO"/>
          </a:p>
        </p:txBody>
      </p:sp>
      <p:sp>
        <p:nvSpPr>
          <p:cNvPr id="4" name="Marcador de texto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Editar el estilo de texto del patrón</a:t>
            </a:r>
          </a:p>
        </p:txBody>
      </p:sp>
      <p:sp>
        <p:nvSpPr>
          <p:cNvPr id="5" name="Marcador de fecha 4"/>
          <p:cNvSpPr>
            <a:spLocks noGrp="1"/>
          </p:cNvSpPr>
          <p:nvPr>
            <p:ph type="dt" sz="half" idx="10"/>
          </p:nvPr>
        </p:nvSpPr>
        <p:spPr/>
        <p:txBody>
          <a:bodyPr/>
          <a:lstStyle/>
          <a:p>
            <a:fld id="{620CEF71-AC54-4907-87CE-021372FB99F1}" type="datetimeFigureOut">
              <a:rPr lang="es-CO" smtClean="0"/>
              <a:t>12/10/2024</a:t>
            </a:fld>
            <a:endParaRPr lang="es-CO"/>
          </a:p>
        </p:txBody>
      </p:sp>
      <p:sp>
        <p:nvSpPr>
          <p:cNvPr id="6" name="Marcador de pie de página 5"/>
          <p:cNvSpPr>
            <a:spLocks noGrp="1"/>
          </p:cNvSpPr>
          <p:nvPr>
            <p:ph type="ftr" sz="quarter" idx="11"/>
          </p:nvPr>
        </p:nvSpPr>
        <p:spPr/>
        <p:txBody>
          <a:bodyPr/>
          <a:lstStyle/>
          <a:p>
            <a:endParaRPr lang="es-CO"/>
          </a:p>
        </p:txBody>
      </p:sp>
      <p:sp>
        <p:nvSpPr>
          <p:cNvPr id="7" name="Marcador de número de diapositiva 6"/>
          <p:cNvSpPr>
            <a:spLocks noGrp="1"/>
          </p:cNvSpPr>
          <p:nvPr>
            <p:ph type="sldNum" sz="quarter" idx="12"/>
          </p:nvPr>
        </p:nvSpPr>
        <p:spPr/>
        <p:txBody>
          <a:bodyPr/>
          <a:lstStyle/>
          <a:p>
            <a:fld id="{E95D3DBD-534B-4F0D-A315-13E9D6466E1D}" type="slidenum">
              <a:rPr lang="es-CO" smtClean="0"/>
              <a:t>‹Nº›</a:t>
            </a:fld>
            <a:endParaRPr lang="es-CO"/>
          </a:p>
        </p:txBody>
      </p:sp>
    </p:spTree>
    <p:extLst>
      <p:ext uri="{BB962C8B-B14F-4D97-AF65-F5344CB8AC3E}">
        <p14:creationId xmlns:p14="http://schemas.microsoft.com/office/powerpoint/2010/main" val="359172776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t>Haga clic para modificar el estilo de título del patrón</a:t>
            </a:r>
            <a:endParaRPr lang="es-CO"/>
          </a:p>
        </p:txBody>
      </p:sp>
      <p:sp>
        <p:nvSpPr>
          <p:cNvPr id="3" name="Marcador de texto vertical 2"/>
          <p:cNvSpPr>
            <a:spLocks noGrp="1"/>
          </p:cNvSpPr>
          <p:nvPr>
            <p:ph type="body" orient="vert" idx="1"/>
          </p:nvPr>
        </p:nvSpPr>
        <p:spPr/>
        <p:txBody>
          <a:bodyPr vert="eaVert"/>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fecha 3"/>
          <p:cNvSpPr>
            <a:spLocks noGrp="1"/>
          </p:cNvSpPr>
          <p:nvPr>
            <p:ph type="dt" sz="half" idx="10"/>
          </p:nvPr>
        </p:nvSpPr>
        <p:spPr/>
        <p:txBody>
          <a:bodyPr/>
          <a:lstStyle/>
          <a:p>
            <a:fld id="{620CEF71-AC54-4907-87CE-021372FB99F1}" type="datetimeFigureOut">
              <a:rPr lang="es-CO" smtClean="0"/>
              <a:t>12/10/2024</a:t>
            </a:fld>
            <a:endParaRPr lang="es-CO"/>
          </a:p>
        </p:txBody>
      </p:sp>
      <p:sp>
        <p:nvSpPr>
          <p:cNvPr id="5" name="Marcador de pie de página 4"/>
          <p:cNvSpPr>
            <a:spLocks noGrp="1"/>
          </p:cNvSpPr>
          <p:nvPr>
            <p:ph type="ftr" sz="quarter" idx="11"/>
          </p:nvPr>
        </p:nvSpPr>
        <p:spPr/>
        <p:txBody>
          <a:bodyPr/>
          <a:lstStyle/>
          <a:p>
            <a:endParaRPr lang="es-CO"/>
          </a:p>
        </p:txBody>
      </p:sp>
      <p:sp>
        <p:nvSpPr>
          <p:cNvPr id="6" name="Marcador de número de diapositiva 5"/>
          <p:cNvSpPr>
            <a:spLocks noGrp="1"/>
          </p:cNvSpPr>
          <p:nvPr>
            <p:ph type="sldNum" sz="quarter" idx="12"/>
          </p:nvPr>
        </p:nvSpPr>
        <p:spPr/>
        <p:txBody>
          <a:bodyPr/>
          <a:lstStyle/>
          <a:p>
            <a:fld id="{E95D3DBD-534B-4F0D-A315-13E9D6466E1D}" type="slidenum">
              <a:rPr lang="es-CO" smtClean="0"/>
              <a:t>‹Nº›</a:t>
            </a:fld>
            <a:endParaRPr lang="es-CO"/>
          </a:p>
        </p:txBody>
      </p:sp>
    </p:spTree>
    <p:extLst>
      <p:ext uri="{BB962C8B-B14F-4D97-AF65-F5344CB8AC3E}">
        <p14:creationId xmlns:p14="http://schemas.microsoft.com/office/powerpoint/2010/main" val="416738309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p:cNvSpPr>
            <a:spLocks noGrp="1"/>
          </p:cNvSpPr>
          <p:nvPr>
            <p:ph type="title" orient="vert"/>
          </p:nvPr>
        </p:nvSpPr>
        <p:spPr>
          <a:xfrm>
            <a:off x="8724900" y="365125"/>
            <a:ext cx="2628900" cy="5811838"/>
          </a:xfrm>
        </p:spPr>
        <p:txBody>
          <a:bodyPr vert="eaVert"/>
          <a:lstStyle/>
          <a:p>
            <a:r>
              <a:rPr lang="es-ES"/>
              <a:t>Haga clic para modificar el estilo de título del patrón</a:t>
            </a:r>
            <a:endParaRPr lang="es-CO"/>
          </a:p>
        </p:txBody>
      </p:sp>
      <p:sp>
        <p:nvSpPr>
          <p:cNvPr id="3" name="Marcador de texto vertical 2"/>
          <p:cNvSpPr>
            <a:spLocks noGrp="1"/>
          </p:cNvSpPr>
          <p:nvPr>
            <p:ph type="body" orient="vert" idx="1"/>
          </p:nvPr>
        </p:nvSpPr>
        <p:spPr>
          <a:xfrm>
            <a:off x="838200" y="365125"/>
            <a:ext cx="7734300" cy="5811838"/>
          </a:xfrm>
        </p:spPr>
        <p:txBody>
          <a:bodyPr vert="eaVert"/>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fecha 3"/>
          <p:cNvSpPr>
            <a:spLocks noGrp="1"/>
          </p:cNvSpPr>
          <p:nvPr>
            <p:ph type="dt" sz="half" idx="10"/>
          </p:nvPr>
        </p:nvSpPr>
        <p:spPr/>
        <p:txBody>
          <a:bodyPr/>
          <a:lstStyle/>
          <a:p>
            <a:fld id="{620CEF71-AC54-4907-87CE-021372FB99F1}" type="datetimeFigureOut">
              <a:rPr lang="es-CO" smtClean="0"/>
              <a:t>12/10/2024</a:t>
            </a:fld>
            <a:endParaRPr lang="es-CO"/>
          </a:p>
        </p:txBody>
      </p:sp>
      <p:sp>
        <p:nvSpPr>
          <p:cNvPr id="5" name="Marcador de pie de página 4"/>
          <p:cNvSpPr>
            <a:spLocks noGrp="1"/>
          </p:cNvSpPr>
          <p:nvPr>
            <p:ph type="ftr" sz="quarter" idx="11"/>
          </p:nvPr>
        </p:nvSpPr>
        <p:spPr/>
        <p:txBody>
          <a:bodyPr/>
          <a:lstStyle/>
          <a:p>
            <a:endParaRPr lang="es-CO"/>
          </a:p>
        </p:txBody>
      </p:sp>
      <p:sp>
        <p:nvSpPr>
          <p:cNvPr id="6" name="Marcador de número de diapositiva 5"/>
          <p:cNvSpPr>
            <a:spLocks noGrp="1"/>
          </p:cNvSpPr>
          <p:nvPr>
            <p:ph type="sldNum" sz="quarter" idx="12"/>
          </p:nvPr>
        </p:nvSpPr>
        <p:spPr/>
        <p:txBody>
          <a:bodyPr/>
          <a:lstStyle/>
          <a:p>
            <a:fld id="{E95D3DBD-534B-4F0D-A315-13E9D6466E1D}" type="slidenum">
              <a:rPr lang="es-CO" smtClean="0"/>
              <a:t>‹Nº›</a:t>
            </a:fld>
            <a:endParaRPr lang="es-CO"/>
          </a:p>
        </p:txBody>
      </p:sp>
    </p:spTree>
    <p:extLst>
      <p:ext uri="{BB962C8B-B14F-4D97-AF65-F5344CB8AC3E}">
        <p14:creationId xmlns:p14="http://schemas.microsoft.com/office/powerpoint/2010/main" val="194534775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t="-2000" b="-2000"/>
          </a:stretch>
        </a:blipFill>
        <a:effectLst/>
      </p:bgPr>
    </p:bg>
    <p:spTree>
      <p:nvGrpSpPr>
        <p:cNvPr id="1" name=""/>
        <p:cNvGrpSpPr/>
        <p:nvPr/>
      </p:nvGrpSpPr>
      <p:grpSpPr>
        <a:xfrm>
          <a:off x="0" y="0"/>
          <a:ext cx="0" cy="0"/>
          <a:chOff x="0" y="0"/>
          <a:chExt cx="0" cy="0"/>
        </a:xfrm>
      </p:grpSpPr>
      <p:sp>
        <p:nvSpPr>
          <p:cNvPr id="2" name="Marcador de título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endParaRPr lang="es-CO"/>
          </a:p>
        </p:txBody>
      </p:sp>
      <p:sp>
        <p:nvSpPr>
          <p:cNvPr id="3" name="Marcador de texto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fecha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20CEF71-AC54-4907-87CE-021372FB99F1}" type="datetimeFigureOut">
              <a:rPr lang="es-CO" smtClean="0"/>
              <a:t>12/10/2024</a:t>
            </a:fld>
            <a:endParaRPr lang="es-CO"/>
          </a:p>
        </p:txBody>
      </p:sp>
      <p:sp>
        <p:nvSpPr>
          <p:cNvPr id="5" name="Marcador de pie de página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CO"/>
          </a:p>
        </p:txBody>
      </p:sp>
      <p:sp>
        <p:nvSpPr>
          <p:cNvPr id="6" name="Marcador de número de diapositiva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95D3DBD-534B-4F0D-A315-13E9D6466E1D}" type="slidenum">
              <a:rPr lang="es-CO" smtClean="0"/>
              <a:t>‹Nº›</a:t>
            </a:fld>
            <a:endParaRPr lang="es-CO"/>
          </a:p>
        </p:txBody>
      </p:sp>
    </p:spTree>
    <p:extLst>
      <p:ext uri="{BB962C8B-B14F-4D97-AF65-F5344CB8AC3E}">
        <p14:creationId xmlns:p14="http://schemas.microsoft.com/office/powerpoint/2010/main" val="49491209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C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1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2000" b="-2000"/>
          </a:stretch>
        </a:blip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999B393-37E8-4E11-8EB2-C863ACB85223}"/>
              </a:ext>
            </a:extLst>
          </p:cNvPr>
          <p:cNvSpPr txBox="1">
            <a:spLocks/>
          </p:cNvSpPr>
          <p:nvPr/>
        </p:nvSpPr>
        <p:spPr>
          <a:xfrm>
            <a:off x="884689" y="1308683"/>
            <a:ext cx="10943788" cy="1197553"/>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s-CO" b="1" dirty="0">
                <a:latin typeface="Bahnschrift Light SemiCondensed" panose="020B0502040204020203" pitchFamily="34" charset="0"/>
              </a:rPr>
              <a:t>“COMBINACIÓN DE ARREGLOS EN C++”</a:t>
            </a:r>
          </a:p>
        </p:txBody>
      </p:sp>
      <p:sp>
        <p:nvSpPr>
          <p:cNvPr id="5" name="Rectángulo 4">
            <a:extLst>
              <a:ext uri="{FF2B5EF4-FFF2-40B4-BE49-F238E27FC236}">
                <a16:creationId xmlns:a16="http://schemas.microsoft.com/office/drawing/2014/main" id="{161F265C-6D74-4338-8944-0FD73F7598E6}"/>
              </a:ext>
            </a:extLst>
          </p:cNvPr>
          <p:cNvSpPr/>
          <p:nvPr/>
        </p:nvSpPr>
        <p:spPr>
          <a:xfrm>
            <a:off x="1798040" y="5362689"/>
            <a:ext cx="8595920" cy="684772"/>
          </a:xfrm>
          <a:prstGeom prst="rect">
            <a:avLst/>
          </a:prstGeom>
          <a:solidFill>
            <a:srgbClr val="0070C0"/>
          </a:solidFill>
          <a:ln>
            <a:noFill/>
          </a:ln>
          <a:effectLst>
            <a:outerShdw blurRad="107950" dist="12700" dir="5400000" algn="ctr">
              <a:srgbClr val="000000"/>
            </a:outerShdw>
          </a:effectLst>
          <a:scene3d>
            <a:camera prst="isometricTopUp">
              <a:rot lat="21594000" lon="21594000" rev="0"/>
            </a:camera>
            <a:lightRig rig="soft" dir="t">
              <a:rot lat="0" lon="0" rev="0"/>
            </a:lightRig>
          </a:scene3d>
          <a:sp3d contourW="44450" prstMaterial="matte">
            <a:bevelT w="63500" h="63500" prst="artDeco"/>
            <a:contourClr>
              <a:srgbClr val="FFFFFF"/>
            </a:contourClr>
          </a:sp3d>
        </p:spPr>
        <p:style>
          <a:lnRef idx="2">
            <a:schemeClr val="accent1">
              <a:shade val="50000"/>
            </a:schemeClr>
          </a:lnRef>
          <a:fillRef idx="1">
            <a:schemeClr val="accent1"/>
          </a:fillRef>
          <a:effectRef idx="0">
            <a:schemeClr val="accent1"/>
          </a:effectRef>
          <a:fontRef idx="minor">
            <a:schemeClr val="lt1"/>
          </a:fontRef>
        </p:style>
        <p:txBody>
          <a:bodyPr rtlCol="0" anchor="ctr">
            <a:scene3d>
              <a:camera prst="orthographicFront"/>
              <a:lightRig rig="harsh" dir="t"/>
            </a:scene3d>
            <a:sp3d extrusionH="57150" prstMaterial="matte">
              <a:bevelT w="63500" h="12700" prst="angle"/>
              <a:contourClr>
                <a:schemeClr val="bg1">
                  <a:lumMod val="65000"/>
                </a:schemeClr>
              </a:contourClr>
            </a:sp3d>
          </a:bodyPr>
          <a:lstStyle/>
          <a:p>
            <a:pPr lvl="0" algn="ctr">
              <a:defRPr/>
            </a:pPr>
            <a:r>
              <a:rPr lang="es-CO" sz="2000" b="1" dirty="0">
                <a:ln/>
                <a:solidFill>
                  <a:prstClr val="white"/>
                </a:solidFill>
                <a:effectLst>
                  <a:outerShdw blurRad="38100" dist="38100" dir="2700000" algn="tl">
                    <a:srgbClr val="000000">
                      <a:alpha val="43137"/>
                    </a:srgbClr>
                  </a:outerShdw>
                </a:effectLst>
              </a:rPr>
              <a:t>CURSO: </a:t>
            </a:r>
            <a:r>
              <a:rPr lang="es-CO" sz="2000" dirty="0">
                <a:solidFill>
                  <a:prstClr val="white"/>
                </a:solidFill>
                <a:latin typeface="Bahnschrift Light SemiCondensed" panose="020B0502040204020203" pitchFamily="34" charset="0"/>
              </a:rPr>
              <a:t>“ALGORITMOS Y </a:t>
            </a:r>
            <a:r>
              <a:rPr lang="es-CO" sz="2000" b="1" dirty="0">
                <a:solidFill>
                  <a:prstClr val="white"/>
                </a:solidFill>
                <a:latin typeface="Bahnschrift Light SemiCondensed" panose="020B0502040204020203" pitchFamily="34" charset="0"/>
              </a:rPr>
              <a:t>PROGRAMACIÓN </a:t>
            </a:r>
            <a:r>
              <a:rPr lang="es-CO" sz="2000" dirty="0">
                <a:solidFill>
                  <a:prstClr val="white"/>
                </a:solidFill>
                <a:latin typeface="Bahnschrift Light SemiCondensed" panose="020B0502040204020203" pitchFamily="34" charset="0"/>
              </a:rPr>
              <a:t>"</a:t>
            </a:r>
          </a:p>
          <a:p>
            <a:pPr lvl="0" algn="ctr">
              <a:defRPr/>
            </a:pPr>
            <a:r>
              <a:rPr lang="es-CO" sz="2000" b="1" dirty="0">
                <a:ln/>
                <a:solidFill>
                  <a:prstClr val="white"/>
                </a:solidFill>
                <a:effectLst>
                  <a:outerShdw blurRad="38100" dist="38100" dir="2700000" algn="tl">
                    <a:srgbClr val="000000">
                      <a:alpha val="43137"/>
                    </a:srgbClr>
                  </a:outerShdw>
                </a:effectLst>
              </a:rPr>
              <a:t>DOCENTE: </a:t>
            </a:r>
            <a:r>
              <a:rPr lang="es-CO" sz="2000" b="1" dirty="0">
                <a:solidFill>
                  <a:prstClr val="white"/>
                </a:solidFill>
                <a:latin typeface="Bahnschrift Light SemiCondensed" panose="020B0502040204020203" pitchFamily="34" charset="0"/>
              </a:rPr>
              <a:t>JAIRO HERNANDO RAMÍREZ MARÍN</a:t>
            </a:r>
          </a:p>
        </p:txBody>
      </p:sp>
    </p:spTree>
    <p:extLst>
      <p:ext uri="{BB962C8B-B14F-4D97-AF65-F5344CB8AC3E}">
        <p14:creationId xmlns:p14="http://schemas.microsoft.com/office/powerpoint/2010/main" val="40148419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0" presetClass="entr" presetSubtype="0"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800" decel="100000"/>
                                        <p:tgtEl>
                                          <p:spTgt spid="5"/>
                                        </p:tgtEl>
                                      </p:cBhvr>
                                    </p:animEffect>
                                    <p:anim calcmode="lin" valueType="num">
                                      <p:cBhvr>
                                        <p:cTn id="8" dur="800" decel="100000" fill="hold"/>
                                        <p:tgtEl>
                                          <p:spTgt spid="5"/>
                                        </p:tgtEl>
                                        <p:attrNameLst>
                                          <p:attrName>style.rotation</p:attrName>
                                        </p:attrNameLst>
                                      </p:cBhvr>
                                      <p:tavLst>
                                        <p:tav tm="0">
                                          <p:val>
                                            <p:fltVal val="-90"/>
                                          </p:val>
                                        </p:tav>
                                        <p:tav tm="100000">
                                          <p:val>
                                            <p:fltVal val="0"/>
                                          </p:val>
                                        </p:tav>
                                      </p:tavLst>
                                    </p:anim>
                                    <p:anim calcmode="lin" valueType="num">
                                      <p:cBhvr>
                                        <p:cTn id="9" dur="800" decel="100000" fill="hold"/>
                                        <p:tgtEl>
                                          <p:spTgt spid="5"/>
                                        </p:tgtEl>
                                        <p:attrNameLst>
                                          <p:attrName>ppt_x</p:attrName>
                                        </p:attrNameLst>
                                      </p:cBhvr>
                                      <p:tavLst>
                                        <p:tav tm="0">
                                          <p:val>
                                            <p:strVal val="#ppt_x+0.4"/>
                                          </p:val>
                                        </p:tav>
                                        <p:tav tm="100000">
                                          <p:val>
                                            <p:strVal val="#ppt_x-0.05"/>
                                          </p:val>
                                        </p:tav>
                                      </p:tavLst>
                                    </p:anim>
                                    <p:anim calcmode="lin" valueType="num">
                                      <p:cBhvr>
                                        <p:cTn id="10" dur="800" decel="100000" fill="hold"/>
                                        <p:tgtEl>
                                          <p:spTgt spid="5"/>
                                        </p:tgtEl>
                                        <p:attrNameLst>
                                          <p:attrName>ppt_y</p:attrName>
                                        </p:attrNameLst>
                                      </p:cBhvr>
                                      <p:tavLst>
                                        <p:tav tm="0">
                                          <p:val>
                                            <p:strVal val="#ppt_y-0.4"/>
                                          </p:val>
                                        </p:tav>
                                        <p:tav tm="100000">
                                          <p:val>
                                            <p:strVal val="#ppt_y+0.1"/>
                                          </p:val>
                                        </p:tav>
                                      </p:tavLst>
                                    </p:anim>
                                    <p:anim calcmode="lin" valueType="num">
                                      <p:cBhvr>
                                        <p:cTn id="11" dur="200" accel="100000" fill="hold">
                                          <p:stCondLst>
                                            <p:cond delay="800"/>
                                          </p:stCondLst>
                                        </p:cTn>
                                        <p:tgtEl>
                                          <p:spTgt spid="5"/>
                                        </p:tgtEl>
                                        <p:attrNameLst>
                                          <p:attrName>ppt_x</p:attrName>
                                        </p:attrNameLst>
                                      </p:cBhvr>
                                      <p:tavLst>
                                        <p:tav tm="0">
                                          <p:val>
                                            <p:strVal val="#ppt_x-0.05"/>
                                          </p:val>
                                        </p:tav>
                                        <p:tav tm="100000">
                                          <p:val>
                                            <p:strVal val="#ppt_x"/>
                                          </p:val>
                                        </p:tav>
                                      </p:tavLst>
                                    </p:anim>
                                    <p:anim calcmode="lin" valueType="num">
                                      <p:cBhvr>
                                        <p:cTn id="12" dur="200" accel="100000" fill="hold">
                                          <p:stCondLst>
                                            <p:cond delay="800"/>
                                          </p:stCondLst>
                                        </p:cTn>
                                        <p:tgtEl>
                                          <p:spTgt spid="5"/>
                                        </p:tgtEl>
                                        <p:attrNameLst>
                                          <p:attrName>ppt_y</p:attrName>
                                        </p:attrNameLst>
                                      </p:cBhvr>
                                      <p:tavLst>
                                        <p:tav tm="0">
                                          <p:val>
                                            <p:strVal val="#ppt_y+0.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uadroTexto 6">
            <a:extLst>
              <a:ext uri="{FF2B5EF4-FFF2-40B4-BE49-F238E27FC236}">
                <a16:creationId xmlns:a16="http://schemas.microsoft.com/office/drawing/2014/main" id="{B3245438-2EFA-4DBF-85CF-60E0A78BBF68}"/>
              </a:ext>
            </a:extLst>
          </p:cNvPr>
          <p:cNvSpPr txBox="1"/>
          <p:nvPr/>
        </p:nvSpPr>
        <p:spPr>
          <a:xfrm>
            <a:off x="989994" y="1206230"/>
            <a:ext cx="9404308" cy="4912468"/>
          </a:xfrm>
          <a:prstGeom prst="rect">
            <a:avLst/>
          </a:prstGeom>
          <a:solidFill>
            <a:schemeClr val="accent5">
              <a:lumMod val="20000"/>
              <a:lumOff val="80000"/>
            </a:schemeClr>
          </a:solidFill>
          <a:scene3d>
            <a:camera prst="orthographicFront"/>
            <a:lightRig rig="flat" dir="t"/>
          </a:scene3d>
          <a:sp3d/>
        </p:spPr>
        <p:style>
          <a:lnRef idx="0">
            <a:scrgbClr r="0" g="0" b="0"/>
          </a:lnRef>
          <a:fillRef idx="0">
            <a:scrgbClr r="0" g="0" b="0"/>
          </a:fillRef>
          <a:effectRef idx="0">
            <a:scrgbClr r="0" g="0" b="0"/>
          </a:effectRef>
          <a:fontRef idx="minor">
            <a:schemeClr val="dk1"/>
          </a:fontRef>
        </p:style>
        <p:txBody>
          <a:bodyPr spcFirstLastPara="0" vert="horz" wrap="square" lIns="121920" tIns="121920" rIns="121920" bIns="121920" numCol="1" spcCol="1270" anchor="ctr" anchorCtr="0">
            <a:noAutofit/>
          </a:bodyPr>
          <a:lstStyle/>
          <a:p>
            <a:pPr lvl="0" algn="just" fontAlgn="base">
              <a:spcBef>
                <a:spcPct val="50000"/>
              </a:spcBef>
              <a:spcAft>
                <a:spcPct val="0"/>
              </a:spcAft>
              <a:defRPr/>
            </a:pPr>
            <a:r>
              <a:rPr lang="es-CO" sz="3000" dirty="0">
                <a:solidFill>
                  <a:schemeClr val="tx1"/>
                </a:solidFill>
              </a:rPr>
              <a:t>Cuando se mira la definición de un arreglo: </a:t>
            </a:r>
            <a:r>
              <a:rPr lang="es-CO" sz="3000" b="1" dirty="0">
                <a:solidFill>
                  <a:schemeClr val="tx1"/>
                </a:solidFill>
              </a:rPr>
              <a:t>estructura que permite el almacenamiento de información del MISMO TIPO</a:t>
            </a:r>
            <a:r>
              <a:rPr lang="es-CO" sz="3000" dirty="0">
                <a:solidFill>
                  <a:schemeClr val="tx1"/>
                </a:solidFill>
              </a:rPr>
              <a:t>, no podría aplicarse a múltiples casos que se presentan  en los cuales se requiere manejar información de diferente tipo. Por ejemplo, al manejar estudiantes se tiene que almacenar nombres, notas, edades, fechas de nacimiento, entre otros. En este caso resulta necesario conocer y combinar los arreglos unidimensionales (vectores) y los arreglos bidimensionales (matrices).</a:t>
            </a:r>
            <a:endParaRPr lang="es-MX" sz="3000" b="1" dirty="0">
              <a:solidFill>
                <a:prstClr val="black"/>
              </a:solidFill>
              <a:latin typeface="Arial Narrow" pitchFamily="34" charset="0"/>
            </a:endParaRPr>
          </a:p>
        </p:txBody>
      </p:sp>
      <p:sp>
        <p:nvSpPr>
          <p:cNvPr id="6" name="Título 1">
            <a:extLst>
              <a:ext uri="{FF2B5EF4-FFF2-40B4-BE49-F238E27FC236}">
                <a16:creationId xmlns:a16="http://schemas.microsoft.com/office/drawing/2014/main" id="{641536DB-22AF-43E4-B2DB-DB464E118EC6}"/>
              </a:ext>
            </a:extLst>
          </p:cNvPr>
          <p:cNvSpPr>
            <a:spLocks noGrp="1"/>
          </p:cNvSpPr>
          <p:nvPr>
            <p:ph type="title"/>
          </p:nvPr>
        </p:nvSpPr>
        <p:spPr>
          <a:xfrm>
            <a:off x="989994" y="0"/>
            <a:ext cx="10229386" cy="914400"/>
          </a:xfrm>
        </p:spPr>
        <p:txBody>
          <a:bodyPr vert="horz" lIns="91440" tIns="45720" rIns="91440" bIns="45720" rtlCol="0" anchor="ctr">
            <a:noAutofit/>
          </a:bodyPr>
          <a:lstStyle/>
          <a:p>
            <a:pPr algn="ctr"/>
            <a:r>
              <a:rPr lang="es-CO" sz="3800" b="1" dirty="0">
                <a:latin typeface="Bahnschrift Light SemiCondensed" panose="020B0502040204020203" pitchFamily="34" charset="0"/>
              </a:rPr>
              <a:t>“COMBINACIÓN DE ARREGLOS EN C++”</a:t>
            </a:r>
          </a:p>
        </p:txBody>
      </p:sp>
    </p:spTree>
    <p:extLst>
      <p:ext uri="{BB962C8B-B14F-4D97-AF65-F5344CB8AC3E}">
        <p14:creationId xmlns:p14="http://schemas.microsoft.com/office/powerpoint/2010/main" val="20216741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up)">
                                      <p:cBhvr>
                                        <p:cTn id="7" dur="10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uadroTexto 6">
            <a:extLst>
              <a:ext uri="{FF2B5EF4-FFF2-40B4-BE49-F238E27FC236}">
                <a16:creationId xmlns:a16="http://schemas.microsoft.com/office/drawing/2014/main" id="{B3245438-2EFA-4DBF-85CF-60E0A78BBF68}"/>
              </a:ext>
            </a:extLst>
          </p:cNvPr>
          <p:cNvSpPr txBox="1"/>
          <p:nvPr/>
        </p:nvSpPr>
        <p:spPr>
          <a:xfrm>
            <a:off x="702897" y="1286617"/>
            <a:ext cx="11284785" cy="1036466"/>
          </a:xfrm>
          <a:prstGeom prst="rect">
            <a:avLst/>
          </a:prstGeom>
          <a:solidFill>
            <a:schemeClr val="accent5">
              <a:lumMod val="20000"/>
              <a:lumOff val="80000"/>
            </a:schemeClr>
          </a:solidFill>
          <a:scene3d>
            <a:camera prst="orthographicFront"/>
            <a:lightRig rig="flat" dir="t"/>
          </a:scene3d>
          <a:sp3d/>
        </p:spPr>
        <p:style>
          <a:lnRef idx="0">
            <a:scrgbClr r="0" g="0" b="0"/>
          </a:lnRef>
          <a:fillRef idx="0">
            <a:scrgbClr r="0" g="0" b="0"/>
          </a:fillRef>
          <a:effectRef idx="0">
            <a:scrgbClr r="0" g="0" b="0"/>
          </a:effectRef>
          <a:fontRef idx="minor">
            <a:schemeClr val="dk1"/>
          </a:fontRef>
        </p:style>
        <p:txBody>
          <a:bodyPr spcFirstLastPara="0" vert="horz" wrap="square" lIns="121920" tIns="121920" rIns="121920" bIns="121920" numCol="1" spcCol="1270" anchor="ctr" anchorCtr="0">
            <a:noAutofit/>
          </a:bodyPr>
          <a:lstStyle>
            <a:defPPr>
              <a:defRPr lang="es-CO"/>
            </a:defPPr>
            <a:lvl1pPr algn="just">
              <a:defRPr sz="2400">
                <a:solidFill>
                  <a:schemeClr val="tx1"/>
                </a:solidFill>
              </a:defRPr>
            </a:lvl1pPr>
          </a:lstStyle>
          <a:p>
            <a:r>
              <a:rPr lang="es-CO" dirty="0"/>
              <a:t>Inicialmente se manejará el concepto de VECTORES PARALELOS, donde la información de cada posición en los diferentes vectores corresponden a un mismo registro de información, por ejemplo:</a:t>
            </a:r>
            <a:endParaRPr lang="es-MX" dirty="0"/>
          </a:p>
        </p:txBody>
      </p:sp>
      <p:sp>
        <p:nvSpPr>
          <p:cNvPr id="6" name="Título 1">
            <a:extLst>
              <a:ext uri="{FF2B5EF4-FFF2-40B4-BE49-F238E27FC236}">
                <a16:creationId xmlns:a16="http://schemas.microsoft.com/office/drawing/2014/main" id="{641536DB-22AF-43E4-B2DB-DB464E118EC6}"/>
              </a:ext>
            </a:extLst>
          </p:cNvPr>
          <p:cNvSpPr>
            <a:spLocks noGrp="1"/>
          </p:cNvSpPr>
          <p:nvPr>
            <p:ph type="title"/>
          </p:nvPr>
        </p:nvSpPr>
        <p:spPr>
          <a:xfrm>
            <a:off x="989994" y="0"/>
            <a:ext cx="10229386" cy="914400"/>
          </a:xfrm>
        </p:spPr>
        <p:txBody>
          <a:bodyPr vert="horz" lIns="91440" tIns="45720" rIns="91440" bIns="45720" rtlCol="0" anchor="ctr">
            <a:noAutofit/>
          </a:bodyPr>
          <a:lstStyle/>
          <a:p>
            <a:pPr algn="ctr"/>
            <a:r>
              <a:rPr lang="es-CO" sz="3800" b="1" dirty="0">
                <a:latin typeface="Bahnschrift Light SemiCondensed" panose="020B0502040204020203" pitchFamily="34" charset="0"/>
              </a:rPr>
              <a:t>“COMBINACIÓN DE ARREGLOS EN C++”</a:t>
            </a:r>
          </a:p>
        </p:txBody>
      </p:sp>
      <p:sp>
        <p:nvSpPr>
          <p:cNvPr id="26" name="Flecha abajo 25"/>
          <p:cNvSpPr/>
          <p:nvPr/>
        </p:nvSpPr>
        <p:spPr>
          <a:xfrm>
            <a:off x="6437043" y="2779873"/>
            <a:ext cx="683868" cy="2640988"/>
          </a:xfrm>
          <a:prstGeom prst="downArrow">
            <a:avLst/>
          </a:prstGeom>
          <a:solidFill>
            <a:srgbClr val="9E8E5C"/>
          </a:solidFill>
          <a:ln w="13970" cap="flat" cmpd="sng" algn="ctr">
            <a:solidFill>
              <a:srgbClr val="9E8E5C">
                <a:shade val="50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s-CO" sz="1800" b="0" i="0" u="none" strike="noStrike" kern="0" cap="none" spc="0" normalizeH="0" baseline="0" noProof="0">
              <a:ln>
                <a:noFill/>
              </a:ln>
              <a:solidFill>
                <a:prstClr val="white"/>
              </a:solidFill>
              <a:effectLst/>
              <a:uLnTx/>
              <a:uFillTx/>
              <a:latin typeface="Calibri"/>
              <a:ea typeface="+mn-ea"/>
              <a:cs typeface="+mn-cs"/>
            </a:endParaRPr>
          </a:p>
        </p:txBody>
      </p:sp>
      <p:graphicFrame>
        <p:nvGraphicFramePr>
          <p:cNvPr id="27" name="Tabla 26"/>
          <p:cNvGraphicFramePr>
            <a:graphicFrameLocks noGrp="1"/>
          </p:cNvGraphicFramePr>
          <p:nvPr>
            <p:extLst>
              <p:ext uri="{D42A27DB-BD31-4B8C-83A1-F6EECF244321}">
                <p14:modId xmlns:p14="http://schemas.microsoft.com/office/powerpoint/2010/main" val="4273800390"/>
              </p:ext>
            </p:extLst>
          </p:nvPr>
        </p:nvGraphicFramePr>
        <p:xfrm>
          <a:off x="3267354" y="2905227"/>
          <a:ext cx="6096000" cy="370840"/>
        </p:xfrm>
        <a:graphic>
          <a:graphicData uri="http://schemas.openxmlformats.org/drawingml/2006/table">
            <a:tbl>
              <a:tblPr firstRow="1" bandRow="1"/>
              <a:tblGrid>
                <a:gridCol w="1016000">
                  <a:extLst>
                    <a:ext uri="{9D8B030D-6E8A-4147-A177-3AD203B41FA5}">
                      <a16:colId xmlns:a16="http://schemas.microsoft.com/office/drawing/2014/main" val="20000"/>
                    </a:ext>
                  </a:extLst>
                </a:gridCol>
                <a:gridCol w="1016000">
                  <a:extLst>
                    <a:ext uri="{9D8B030D-6E8A-4147-A177-3AD203B41FA5}">
                      <a16:colId xmlns:a16="http://schemas.microsoft.com/office/drawing/2014/main" val="20001"/>
                    </a:ext>
                  </a:extLst>
                </a:gridCol>
                <a:gridCol w="1016000">
                  <a:extLst>
                    <a:ext uri="{9D8B030D-6E8A-4147-A177-3AD203B41FA5}">
                      <a16:colId xmlns:a16="http://schemas.microsoft.com/office/drawing/2014/main" val="20002"/>
                    </a:ext>
                  </a:extLst>
                </a:gridCol>
                <a:gridCol w="1016000">
                  <a:extLst>
                    <a:ext uri="{9D8B030D-6E8A-4147-A177-3AD203B41FA5}">
                      <a16:colId xmlns:a16="http://schemas.microsoft.com/office/drawing/2014/main" val="20003"/>
                    </a:ext>
                  </a:extLst>
                </a:gridCol>
                <a:gridCol w="1016000">
                  <a:extLst>
                    <a:ext uri="{9D8B030D-6E8A-4147-A177-3AD203B41FA5}">
                      <a16:colId xmlns:a16="http://schemas.microsoft.com/office/drawing/2014/main" val="20004"/>
                    </a:ext>
                  </a:extLst>
                </a:gridCol>
                <a:gridCol w="1016000">
                  <a:extLst>
                    <a:ext uri="{9D8B030D-6E8A-4147-A177-3AD203B41FA5}">
                      <a16:colId xmlns:a16="http://schemas.microsoft.com/office/drawing/2014/main" val="20005"/>
                    </a:ext>
                  </a:extLst>
                </a:gridCol>
              </a:tblGrid>
              <a:tr h="370840">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algn="ctr"/>
                      <a:r>
                        <a:rPr lang="es-CO" dirty="0">
                          <a:solidFill>
                            <a:schemeClr val="tx1"/>
                          </a:solidFill>
                        </a:rPr>
                        <a:t>201402</a:t>
                      </a:r>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AEAFA9"/>
                    </a:solidFill>
                  </a:tcPr>
                </a:tc>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algn="ctr"/>
                      <a:r>
                        <a:rPr lang="es-CO" dirty="0">
                          <a:solidFill>
                            <a:schemeClr val="tx1"/>
                          </a:solidFill>
                        </a:rPr>
                        <a:t>201405</a:t>
                      </a:r>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AEAFA9"/>
                    </a:solidFill>
                  </a:tcPr>
                </a:tc>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algn="ctr"/>
                      <a:r>
                        <a:rPr lang="es-CO" dirty="0">
                          <a:solidFill>
                            <a:schemeClr val="tx1"/>
                          </a:solidFill>
                        </a:rPr>
                        <a:t>201409</a:t>
                      </a:r>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AEAFA9"/>
                    </a:solidFill>
                  </a:tcPr>
                </a:tc>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algn="ctr"/>
                      <a:r>
                        <a:rPr lang="es-CO" dirty="0">
                          <a:solidFill>
                            <a:schemeClr val="tx1"/>
                          </a:solidFill>
                        </a:rPr>
                        <a:t>201410</a:t>
                      </a:r>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AEAFA9"/>
                    </a:solidFill>
                  </a:tcPr>
                </a:tc>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algn="ctr"/>
                      <a:r>
                        <a:rPr lang="es-CO" dirty="0">
                          <a:solidFill>
                            <a:schemeClr val="tx1"/>
                          </a:solidFill>
                        </a:rPr>
                        <a:t>201452</a:t>
                      </a:r>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AEAFA9"/>
                    </a:solidFill>
                  </a:tcPr>
                </a:tc>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algn="ctr"/>
                      <a:r>
                        <a:rPr lang="es-CO" dirty="0">
                          <a:solidFill>
                            <a:schemeClr val="tx1"/>
                          </a:solidFill>
                        </a:rPr>
                        <a:t>201465</a:t>
                      </a:r>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AEAFA9"/>
                    </a:solidFill>
                  </a:tcPr>
                </a:tc>
                <a:extLst>
                  <a:ext uri="{0D108BD9-81ED-4DB2-BD59-A6C34878D82A}">
                    <a16:rowId xmlns:a16="http://schemas.microsoft.com/office/drawing/2014/main" val="10000"/>
                  </a:ext>
                </a:extLst>
              </a:tr>
            </a:tbl>
          </a:graphicData>
        </a:graphic>
      </p:graphicFrame>
      <p:sp>
        <p:nvSpPr>
          <p:cNvPr id="28" name="CuadroTexto 27"/>
          <p:cNvSpPr txBox="1"/>
          <p:nvPr/>
        </p:nvSpPr>
        <p:spPr>
          <a:xfrm>
            <a:off x="2701264" y="2905227"/>
            <a:ext cx="600998" cy="369332"/>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s-CO" sz="1800" b="1" i="0" u="none" strike="noStrike" kern="0" cap="none" spc="0" normalizeH="0" baseline="0" noProof="0" dirty="0">
                <a:ln>
                  <a:noFill/>
                </a:ln>
                <a:solidFill>
                  <a:prstClr val="black"/>
                </a:solidFill>
                <a:effectLst/>
                <a:uLnTx/>
                <a:uFillTx/>
              </a:rPr>
              <a:t>COD</a:t>
            </a:r>
          </a:p>
        </p:txBody>
      </p:sp>
      <p:graphicFrame>
        <p:nvGraphicFramePr>
          <p:cNvPr id="29" name="Tabla 28"/>
          <p:cNvGraphicFramePr>
            <a:graphicFrameLocks noGrp="1"/>
          </p:cNvGraphicFramePr>
          <p:nvPr>
            <p:extLst>
              <p:ext uri="{D42A27DB-BD31-4B8C-83A1-F6EECF244321}">
                <p14:modId xmlns:p14="http://schemas.microsoft.com/office/powerpoint/2010/main" val="2743413309"/>
              </p:ext>
            </p:extLst>
          </p:nvPr>
        </p:nvGraphicFramePr>
        <p:xfrm>
          <a:off x="3267354" y="3481291"/>
          <a:ext cx="6096000" cy="370840"/>
        </p:xfrm>
        <a:graphic>
          <a:graphicData uri="http://schemas.openxmlformats.org/drawingml/2006/table">
            <a:tbl>
              <a:tblPr firstRow="1" bandRow="1"/>
              <a:tblGrid>
                <a:gridCol w="1016000">
                  <a:extLst>
                    <a:ext uri="{9D8B030D-6E8A-4147-A177-3AD203B41FA5}">
                      <a16:colId xmlns:a16="http://schemas.microsoft.com/office/drawing/2014/main" val="20000"/>
                    </a:ext>
                  </a:extLst>
                </a:gridCol>
                <a:gridCol w="1016000">
                  <a:extLst>
                    <a:ext uri="{9D8B030D-6E8A-4147-A177-3AD203B41FA5}">
                      <a16:colId xmlns:a16="http://schemas.microsoft.com/office/drawing/2014/main" val="20001"/>
                    </a:ext>
                  </a:extLst>
                </a:gridCol>
                <a:gridCol w="1016000">
                  <a:extLst>
                    <a:ext uri="{9D8B030D-6E8A-4147-A177-3AD203B41FA5}">
                      <a16:colId xmlns:a16="http://schemas.microsoft.com/office/drawing/2014/main" val="20002"/>
                    </a:ext>
                  </a:extLst>
                </a:gridCol>
                <a:gridCol w="1016000">
                  <a:extLst>
                    <a:ext uri="{9D8B030D-6E8A-4147-A177-3AD203B41FA5}">
                      <a16:colId xmlns:a16="http://schemas.microsoft.com/office/drawing/2014/main" val="20003"/>
                    </a:ext>
                  </a:extLst>
                </a:gridCol>
                <a:gridCol w="1016000">
                  <a:extLst>
                    <a:ext uri="{9D8B030D-6E8A-4147-A177-3AD203B41FA5}">
                      <a16:colId xmlns:a16="http://schemas.microsoft.com/office/drawing/2014/main" val="20004"/>
                    </a:ext>
                  </a:extLst>
                </a:gridCol>
                <a:gridCol w="1016000">
                  <a:extLst>
                    <a:ext uri="{9D8B030D-6E8A-4147-A177-3AD203B41FA5}">
                      <a16:colId xmlns:a16="http://schemas.microsoft.com/office/drawing/2014/main" val="20005"/>
                    </a:ext>
                  </a:extLst>
                </a:gridCol>
              </a:tblGrid>
              <a:tr h="370840">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algn="ctr"/>
                      <a:r>
                        <a:rPr lang="es-CO" dirty="0">
                          <a:solidFill>
                            <a:schemeClr val="tx1"/>
                          </a:solidFill>
                        </a:rPr>
                        <a:t>JORGE</a:t>
                      </a:r>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AEAFA9"/>
                    </a:solidFill>
                  </a:tcPr>
                </a:tc>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algn="ctr"/>
                      <a:r>
                        <a:rPr lang="es-CO" dirty="0">
                          <a:solidFill>
                            <a:schemeClr val="tx1"/>
                          </a:solidFill>
                        </a:rPr>
                        <a:t>JUAN</a:t>
                      </a:r>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AEAFA9"/>
                    </a:solidFill>
                  </a:tcPr>
                </a:tc>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algn="ctr"/>
                      <a:r>
                        <a:rPr lang="es-CO" dirty="0">
                          <a:solidFill>
                            <a:schemeClr val="tx1"/>
                          </a:solidFill>
                        </a:rPr>
                        <a:t>CARLOS</a:t>
                      </a:r>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AEAFA9"/>
                    </a:solidFill>
                  </a:tcPr>
                </a:tc>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algn="ctr"/>
                      <a:r>
                        <a:rPr lang="es-CO" dirty="0">
                          <a:solidFill>
                            <a:schemeClr val="tx1"/>
                          </a:solidFill>
                        </a:rPr>
                        <a:t>PEDRO</a:t>
                      </a:r>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AEAFA9"/>
                    </a:solidFill>
                  </a:tcPr>
                </a:tc>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algn="ctr"/>
                      <a:r>
                        <a:rPr lang="es-CO" dirty="0">
                          <a:solidFill>
                            <a:schemeClr val="tx1"/>
                          </a:solidFill>
                        </a:rPr>
                        <a:t>LUIS</a:t>
                      </a:r>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AEAFA9"/>
                    </a:solidFill>
                  </a:tcPr>
                </a:tc>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algn="ctr"/>
                      <a:r>
                        <a:rPr lang="es-CO" dirty="0">
                          <a:solidFill>
                            <a:schemeClr val="tx1"/>
                          </a:solidFill>
                        </a:rPr>
                        <a:t>JOSE</a:t>
                      </a:r>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AEAFA9"/>
                    </a:solidFill>
                  </a:tcPr>
                </a:tc>
                <a:extLst>
                  <a:ext uri="{0D108BD9-81ED-4DB2-BD59-A6C34878D82A}">
                    <a16:rowId xmlns:a16="http://schemas.microsoft.com/office/drawing/2014/main" val="10000"/>
                  </a:ext>
                </a:extLst>
              </a:tr>
            </a:tbl>
          </a:graphicData>
        </a:graphic>
      </p:graphicFrame>
      <p:sp>
        <p:nvSpPr>
          <p:cNvPr id="30" name="CuadroTexto 29"/>
          <p:cNvSpPr txBox="1"/>
          <p:nvPr/>
        </p:nvSpPr>
        <p:spPr>
          <a:xfrm>
            <a:off x="2629256" y="3481291"/>
            <a:ext cx="694421" cy="369332"/>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s-CO" sz="1800" b="1" i="0" u="none" strike="noStrike" kern="0" cap="none" spc="0" normalizeH="0" baseline="0" noProof="0" dirty="0">
                <a:ln>
                  <a:noFill/>
                </a:ln>
                <a:solidFill>
                  <a:prstClr val="black"/>
                </a:solidFill>
                <a:effectLst/>
                <a:uLnTx/>
                <a:uFillTx/>
              </a:rPr>
              <a:t>NOM</a:t>
            </a:r>
          </a:p>
        </p:txBody>
      </p:sp>
      <p:graphicFrame>
        <p:nvGraphicFramePr>
          <p:cNvPr id="31" name="Tabla 30"/>
          <p:cNvGraphicFramePr>
            <a:graphicFrameLocks noGrp="1"/>
          </p:cNvGraphicFramePr>
          <p:nvPr>
            <p:extLst>
              <p:ext uri="{D42A27DB-BD31-4B8C-83A1-F6EECF244321}">
                <p14:modId xmlns:p14="http://schemas.microsoft.com/office/powerpoint/2010/main" val="2142254533"/>
              </p:ext>
            </p:extLst>
          </p:nvPr>
        </p:nvGraphicFramePr>
        <p:xfrm>
          <a:off x="3295534" y="4057355"/>
          <a:ext cx="6096000" cy="370840"/>
        </p:xfrm>
        <a:graphic>
          <a:graphicData uri="http://schemas.openxmlformats.org/drawingml/2006/table">
            <a:tbl>
              <a:tblPr firstRow="1" bandRow="1"/>
              <a:tblGrid>
                <a:gridCol w="1016000">
                  <a:extLst>
                    <a:ext uri="{9D8B030D-6E8A-4147-A177-3AD203B41FA5}">
                      <a16:colId xmlns:a16="http://schemas.microsoft.com/office/drawing/2014/main" val="20000"/>
                    </a:ext>
                  </a:extLst>
                </a:gridCol>
                <a:gridCol w="1016000">
                  <a:extLst>
                    <a:ext uri="{9D8B030D-6E8A-4147-A177-3AD203B41FA5}">
                      <a16:colId xmlns:a16="http://schemas.microsoft.com/office/drawing/2014/main" val="20001"/>
                    </a:ext>
                  </a:extLst>
                </a:gridCol>
                <a:gridCol w="1016000">
                  <a:extLst>
                    <a:ext uri="{9D8B030D-6E8A-4147-A177-3AD203B41FA5}">
                      <a16:colId xmlns:a16="http://schemas.microsoft.com/office/drawing/2014/main" val="20002"/>
                    </a:ext>
                  </a:extLst>
                </a:gridCol>
                <a:gridCol w="1016000">
                  <a:extLst>
                    <a:ext uri="{9D8B030D-6E8A-4147-A177-3AD203B41FA5}">
                      <a16:colId xmlns:a16="http://schemas.microsoft.com/office/drawing/2014/main" val="20003"/>
                    </a:ext>
                  </a:extLst>
                </a:gridCol>
                <a:gridCol w="1016000">
                  <a:extLst>
                    <a:ext uri="{9D8B030D-6E8A-4147-A177-3AD203B41FA5}">
                      <a16:colId xmlns:a16="http://schemas.microsoft.com/office/drawing/2014/main" val="20004"/>
                    </a:ext>
                  </a:extLst>
                </a:gridCol>
                <a:gridCol w="1016000">
                  <a:extLst>
                    <a:ext uri="{9D8B030D-6E8A-4147-A177-3AD203B41FA5}">
                      <a16:colId xmlns:a16="http://schemas.microsoft.com/office/drawing/2014/main" val="20005"/>
                    </a:ext>
                  </a:extLst>
                </a:gridCol>
              </a:tblGrid>
              <a:tr h="370840">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algn="ctr"/>
                      <a:r>
                        <a:rPr lang="es-CO" sz="1600" dirty="0">
                          <a:solidFill>
                            <a:schemeClr val="tx1"/>
                          </a:solidFill>
                        </a:rPr>
                        <a:t>21/01/80</a:t>
                      </a:r>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AEAFA9"/>
                    </a:solidFill>
                  </a:tcPr>
                </a:tc>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algn="ctr"/>
                      <a:r>
                        <a:rPr lang="es-CO" sz="1600" dirty="0">
                          <a:solidFill>
                            <a:schemeClr val="tx1"/>
                          </a:solidFill>
                        </a:rPr>
                        <a:t>30/02/95</a:t>
                      </a:r>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AEAFA9"/>
                    </a:solidFill>
                  </a:tcPr>
                </a:tc>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algn="ctr"/>
                      <a:r>
                        <a:rPr lang="es-CO" sz="1600" dirty="0">
                          <a:solidFill>
                            <a:schemeClr val="tx1"/>
                          </a:solidFill>
                        </a:rPr>
                        <a:t>10/08/75</a:t>
                      </a:r>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AEAFA9"/>
                    </a:solidFill>
                  </a:tcPr>
                </a:tc>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algn="ctr"/>
                      <a:r>
                        <a:rPr lang="es-CO" sz="1600" dirty="0">
                          <a:solidFill>
                            <a:schemeClr val="tx1"/>
                          </a:solidFill>
                        </a:rPr>
                        <a:t>11/03/86</a:t>
                      </a:r>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AEAFA9"/>
                    </a:solidFill>
                  </a:tcPr>
                </a:tc>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algn="ctr"/>
                      <a:r>
                        <a:rPr lang="es-CO" sz="1600" dirty="0">
                          <a:solidFill>
                            <a:schemeClr val="tx1"/>
                          </a:solidFill>
                        </a:rPr>
                        <a:t>28/12/00</a:t>
                      </a:r>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AEAFA9"/>
                    </a:solidFill>
                  </a:tcPr>
                </a:tc>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algn="ctr"/>
                      <a:r>
                        <a:rPr lang="es-CO" sz="1600" dirty="0">
                          <a:solidFill>
                            <a:schemeClr val="tx1"/>
                          </a:solidFill>
                        </a:rPr>
                        <a:t>01/01/99</a:t>
                      </a:r>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AEAFA9"/>
                    </a:solidFill>
                  </a:tcPr>
                </a:tc>
                <a:extLst>
                  <a:ext uri="{0D108BD9-81ED-4DB2-BD59-A6C34878D82A}">
                    <a16:rowId xmlns:a16="http://schemas.microsoft.com/office/drawing/2014/main" val="10000"/>
                  </a:ext>
                </a:extLst>
              </a:tr>
            </a:tbl>
          </a:graphicData>
        </a:graphic>
      </p:graphicFrame>
      <p:sp>
        <p:nvSpPr>
          <p:cNvPr id="32" name="CuadroTexto 31"/>
          <p:cNvSpPr txBox="1"/>
          <p:nvPr/>
        </p:nvSpPr>
        <p:spPr>
          <a:xfrm>
            <a:off x="2548604" y="4057355"/>
            <a:ext cx="800732" cy="369332"/>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s-CO" sz="1800" b="1" i="0" u="none" strike="noStrike" kern="0" cap="none" spc="0" normalizeH="0" baseline="0" noProof="0" dirty="0">
                <a:ln>
                  <a:noFill/>
                </a:ln>
                <a:solidFill>
                  <a:prstClr val="black"/>
                </a:solidFill>
                <a:effectLst/>
                <a:uLnTx/>
                <a:uFillTx/>
              </a:rPr>
              <a:t>FECHA</a:t>
            </a:r>
          </a:p>
        </p:txBody>
      </p:sp>
      <p:graphicFrame>
        <p:nvGraphicFramePr>
          <p:cNvPr id="33" name="Tabla 32"/>
          <p:cNvGraphicFramePr>
            <a:graphicFrameLocks noGrp="1"/>
          </p:cNvGraphicFramePr>
          <p:nvPr>
            <p:extLst>
              <p:ext uri="{D42A27DB-BD31-4B8C-83A1-F6EECF244321}">
                <p14:modId xmlns:p14="http://schemas.microsoft.com/office/powerpoint/2010/main" val="3365896559"/>
              </p:ext>
            </p:extLst>
          </p:nvPr>
        </p:nvGraphicFramePr>
        <p:xfrm>
          <a:off x="3285593" y="4629296"/>
          <a:ext cx="6096000" cy="370840"/>
        </p:xfrm>
        <a:graphic>
          <a:graphicData uri="http://schemas.openxmlformats.org/drawingml/2006/table">
            <a:tbl>
              <a:tblPr firstRow="1" bandRow="1"/>
              <a:tblGrid>
                <a:gridCol w="1016000">
                  <a:extLst>
                    <a:ext uri="{9D8B030D-6E8A-4147-A177-3AD203B41FA5}">
                      <a16:colId xmlns:a16="http://schemas.microsoft.com/office/drawing/2014/main" val="20000"/>
                    </a:ext>
                  </a:extLst>
                </a:gridCol>
                <a:gridCol w="1016000">
                  <a:extLst>
                    <a:ext uri="{9D8B030D-6E8A-4147-A177-3AD203B41FA5}">
                      <a16:colId xmlns:a16="http://schemas.microsoft.com/office/drawing/2014/main" val="20001"/>
                    </a:ext>
                  </a:extLst>
                </a:gridCol>
                <a:gridCol w="1016000">
                  <a:extLst>
                    <a:ext uri="{9D8B030D-6E8A-4147-A177-3AD203B41FA5}">
                      <a16:colId xmlns:a16="http://schemas.microsoft.com/office/drawing/2014/main" val="20002"/>
                    </a:ext>
                  </a:extLst>
                </a:gridCol>
                <a:gridCol w="1016000">
                  <a:extLst>
                    <a:ext uri="{9D8B030D-6E8A-4147-A177-3AD203B41FA5}">
                      <a16:colId xmlns:a16="http://schemas.microsoft.com/office/drawing/2014/main" val="20003"/>
                    </a:ext>
                  </a:extLst>
                </a:gridCol>
                <a:gridCol w="1016000">
                  <a:extLst>
                    <a:ext uri="{9D8B030D-6E8A-4147-A177-3AD203B41FA5}">
                      <a16:colId xmlns:a16="http://schemas.microsoft.com/office/drawing/2014/main" val="20004"/>
                    </a:ext>
                  </a:extLst>
                </a:gridCol>
                <a:gridCol w="1016000">
                  <a:extLst>
                    <a:ext uri="{9D8B030D-6E8A-4147-A177-3AD203B41FA5}">
                      <a16:colId xmlns:a16="http://schemas.microsoft.com/office/drawing/2014/main" val="20005"/>
                    </a:ext>
                  </a:extLst>
                </a:gridCol>
              </a:tblGrid>
              <a:tr h="370840">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algn="ctr"/>
                      <a:r>
                        <a:rPr lang="es-CO" dirty="0">
                          <a:solidFill>
                            <a:schemeClr val="tx1"/>
                          </a:solidFill>
                        </a:rPr>
                        <a:t>4,3</a:t>
                      </a:r>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AEAFA9"/>
                    </a:solidFill>
                  </a:tcPr>
                </a:tc>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algn="ctr"/>
                      <a:r>
                        <a:rPr lang="es-CO" dirty="0">
                          <a:solidFill>
                            <a:schemeClr val="tx1"/>
                          </a:solidFill>
                        </a:rPr>
                        <a:t>2,0</a:t>
                      </a:r>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AEAFA9"/>
                    </a:solidFill>
                  </a:tcPr>
                </a:tc>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algn="ctr"/>
                      <a:r>
                        <a:rPr lang="es-CO" dirty="0">
                          <a:solidFill>
                            <a:schemeClr val="tx1"/>
                          </a:solidFill>
                        </a:rPr>
                        <a:t>5,0</a:t>
                      </a:r>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AEAFA9"/>
                    </a:solidFill>
                  </a:tcPr>
                </a:tc>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algn="ctr"/>
                      <a:r>
                        <a:rPr lang="es-CO" dirty="0">
                          <a:solidFill>
                            <a:schemeClr val="tx1"/>
                          </a:solidFill>
                        </a:rPr>
                        <a:t>1,5</a:t>
                      </a:r>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AEAFA9"/>
                    </a:solidFill>
                  </a:tcPr>
                </a:tc>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algn="ctr"/>
                      <a:r>
                        <a:rPr lang="es-CO" dirty="0">
                          <a:solidFill>
                            <a:schemeClr val="tx1"/>
                          </a:solidFill>
                        </a:rPr>
                        <a:t>3,5</a:t>
                      </a:r>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AEAFA9"/>
                    </a:solidFill>
                  </a:tcPr>
                </a:tc>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algn="ctr"/>
                      <a:r>
                        <a:rPr lang="es-CO" dirty="0">
                          <a:solidFill>
                            <a:schemeClr val="tx1"/>
                          </a:solidFill>
                        </a:rPr>
                        <a:t>4,0</a:t>
                      </a:r>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AEAFA9"/>
                    </a:solidFill>
                  </a:tcPr>
                </a:tc>
                <a:extLst>
                  <a:ext uri="{0D108BD9-81ED-4DB2-BD59-A6C34878D82A}">
                    <a16:rowId xmlns:a16="http://schemas.microsoft.com/office/drawing/2014/main" val="10000"/>
                  </a:ext>
                </a:extLst>
              </a:tr>
            </a:tbl>
          </a:graphicData>
        </a:graphic>
      </p:graphicFrame>
      <p:sp>
        <p:nvSpPr>
          <p:cNvPr id="34" name="CuadroTexto 33"/>
          <p:cNvSpPr txBox="1"/>
          <p:nvPr/>
        </p:nvSpPr>
        <p:spPr>
          <a:xfrm>
            <a:off x="2629256" y="4629296"/>
            <a:ext cx="722505" cy="369332"/>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s-CO" sz="1800" b="1" i="0" u="none" strike="noStrike" kern="0" cap="none" spc="0" normalizeH="0" baseline="0" noProof="0" dirty="0">
                <a:ln>
                  <a:noFill/>
                </a:ln>
                <a:solidFill>
                  <a:prstClr val="black"/>
                </a:solidFill>
                <a:effectLst/>
                <a:uLnTx/>
                <a:uFillTx/>
              </a:rPr>
              <a:t>NOTA</a:t>
            </a:r>
          </a:p>
        </p:txBody>
      </p:sp>
      <p:sp>
        <p:nvSpPr>
          <p:cNvPr id="35" name="CuadroTexto 34"/>
          <p:cNvSpPr txBox="1"/>
          <p:nvPr/>
        </p:nvSpPr>
        <p:spPr>
          <a:xfrm>
            <a:off x="3520511" y="2468533"/>
            <a:ext cx="5688632" cy="369332"/>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s-CO" sz="1800" b="0" i="0" u="none" strike="noStrike" kern="0" cap="none" spc="0" normalizeH="0" baseline="0" noProof="0" dirty="0">
                <a:ln>
                  <a:noFill/>
                </a:ln>
                <a:solidFill>
                  <a:prstClr val="black"/>
                </a:solidFill>
                <a:effectLst/>
                <a:uLnTx/>
                <a:uFillTx/>
              </a:rPr>
              <a:t>0 	     1	       2	       3	          4                  5</a:t>
            </a:r>
          </a:p>
        </p:txBody>
      </p:sp>
      <p:sp>
        <p:nvSpPr>
          <p:cNvPr id="36" name="CuadroTexto 35">
            <a:extLst>
              <a:ext uri="{FF2B5EF4-FFF2-40B4-BE49-F238E27FC236}">
                <a16:creationId xmlns:a16="http://schemas.microsoft.com/office/drawing/2014/main" id="{B3245438-2EFA-4DBF-85CF-60E0A78BBF68}"/>
              </a:ext>
            </a:extLst>
          </p:cNvPr>
          <p:cNvSpPr txBox="1"/>
          <p:nvPr/>
        </p:nvSpPr>
        <p:spPr>
          <a:xfrm>
            <a:off x="702897" y="5627593"/>
            <a:ext cx="11284785" cy="1105307"/>
          </a:xfrm>
          <a:prstGeom prst="rect">
            <a:avLst/>
          </a:prstGeom>
          <a:solidFill>
            <a:schemeClr val="accent5">
              <a:lumMod val="20000"/>
              <a:lumOff val="80000"/>
            </a:schemeClr>
          </a:solidFill>
          <a:scene3d>
            <a:camera prst="orthographicFront"/>
            <a:lightRig rig="flat" dir="t"/>
          </a:scene3d>
          <a:sp3d/>
        </p:spPr>
        <p:style>
          <a:lnRef idx="0">
            <a:scrgbClr r="0" g="0" b="0"/>
          </a:lnRef>
          <a:fillRef idx="0">
            <a:scrgbClr r="0" g="0" b="0"/>
          </a:fillRef>
          <a:effectRef idx="0">
            <a:scrgbClr r="0" g="0" b="0"/>
          </a:effectRef>
          <a:fontRef idx="minor">
            <a:schemeClr val="dk1"/>
          </a:fontRef>
        </p:style>
        <p:txBody>
          <a:bodyPr spcFirstLastPara="0" vert="horz" wrap="square" lIns="121920" tIns="121920" rIns="121920" bIns="121920" numCol="1" spcCol="1270" anchor="ctr" anchorCtr="0">
            <a:noAutofit/>
          </a:bodyPr>
          <a:lstStyle/>
          <a:p>
            <a:pPr algn="just"/>
            <a:r>
              <a:rPr lang="es-CO" sz="2400" dirty="0">
                <a:solidFill>
                  <a:schemeClr val="tx1"/>
                </a:solidFill>
              </a:rPr>
              <a:t>En cada vector la posición 3 corresponde a la información de PEDRO, así su código es 201410, su fecha es 11/03/86 y su nota es 1,5. Lo mismo sucede con las otras posiciones (información relacionada - por eso se dice paralelo).</a:t>
            </a:r>
            <a:endParaRPr lang="en-US" altLang="es-CO" sz="2400" dirty="0">
              <a:solidFill>
                <a:schemeClr val="tx1"/>
              </a:solidFill>
            </a:endParaRPr>
          </a:p>
        </p:txBody>
      </p:sp>
    </p:spTree>
    <p:extLst>
      <p:ext uri="{BB962C8B-B14F-4D97-AF65-F5344CB8AC3E}">
        <p14:creationId xmlns:p14="http://schemas.microsoft.com/office/powerpoint/2010/main" val="13028996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up)">
                                      <p:cBhvr>
                                        <p:cTn id="7" dur="1000"/>
                                        <p:tgtEl>
                                          <p:spTgt spid="7"/>
                                        </p:tgtEl>
                                      </p:cBhvr>
                                    </p:animEffect>
                                  </p:childTnLst>
                                </p:cTn>
                              </p:par>
                            </p:childTnLst>
                          </p:cTn>
                        </p:par>
                        <p:par>
                          <p:cTn id="8" fill="hold">
                            <p:stCondLst>
                              <p:cond delay="1000"/>
                            </p:stCondLst>
                            <p:childTnLst>
                              <p:par>
                                <p:cTn id="9" presetID="22" presetClass="entr" presetSubtype="1" fill="hold" grpId="0" nodeType="afterEffect">
                                  <p:stCondLst>
                                    <p:cond delay="0"/>
                                  </p:stCondLst>
                                  <p:childTnLst>
                                    <p:set>
                                      <p:cBhvr>
                                        <p:cTn id="10" dur="1" fill="hold">
                                          <p:stCondLst>
                                            <p:cond delay="0"/>
                                          </p:stCondLst>
                                        </p:cTn>
                                        <p:tgtEl>
                                          <p:spTgt spid="36"/>
                                        </p:tgtEl>
                                        <p:attrNameLst>
                                          <p:attrName>style.visibility</p:attrName>
                                        </p:attrNameLst>
                                      </p:cBhvr>
                                      <p:to>
                                        <p:strVal val="visible"/>
                                      </p:to>
                                    </p:set>
                                    <p:animEffect transition="in" filter="wipe(up)">
                                      <p:cBhvr>
                                        <p:cTn id="11" dur="1000"/>
                                        <p:tgtEl>
                                          <p:spTgt spid="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36"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uadroTexto 6">
            <a:extLst>
              <a:ext uri="{FF2B5EF4-FFF2-40B4-BE49-F238E27FC236}">
                <a16:creationId xmlns:a16="http://schemas.microsoft.com/office/drawing/2014/main" id="{B3245438-2EFA-4DBF-85CF-60E0A78BBF68}"/>
              </a:ext>
            </a:extLst>
          </p:cNvPr>
          <p:cNvSpPr txBox="1"/>
          <p:nvPr/>
        </p:nvSpPr>
        <p:spPr>
          <a:xfrm>
            <a:off x="783284" y="1015311"/>
            <a:ext cx="11284785" cy="1597260"/>
          </a:xfrm>
          <a:prstGeom prst="rect">
            <a:avLst/>
          </a:prstGeom>
          <a:solidFill>
            <a:schemeClr val="accent5">
              <a:lumMod val="20000"/>
              <a:lumOff val="80000"/>
            </a:schemeClr>
          </a:solidFill>
          <a:scene3d>
            <a:camera prst="orthographicFront"/>
            <a:lightRig rig="flat" dir="t"/>
          </a:scene3d>
          <a:sp3d/>
        </p:spPr>
        <p:style>
          <a:lnRef idx="0">
            <a:scrgbClr r="0" g="0" b="0"/>
          </a:lnRef>
          <a:fillRef idx="0">
            <a:scrgbClr r="0" g="0" b="0"/>
          </a:fillRef>
          <a:effectRef idx="0">
            <a:scrgbClr r="0" g="0" b="0"/>
          </a:effectRef>
          <a:fontRef idx="minor">
            <a:schemeClr val="dk1"/>
          </a:fontRef>
        </p:style>
        <p:txBody>
          <a:bodyPr spcFirstLastPara="0" vert="horz" wrap="square" lIns="121920" tIns="121920" rIns="121920" bIns="121920" numCol="1" spcCol="1270" anchor="ctr" anchorCtr="0">
            <a:noAutofit/>
          </a:bodyPr>
          <a:lstStyle>
            <a:defPPr>
              <a:defRPr lang="es-CO"/>
            </a:defPPr>
            <a:lvl1pPr algn="just">
              <a:defRPr sz="2400">
                <a:solidFill>
                  <a:schemeClr val="tx1"/>
                </a:solidFill>
              </a:defRPr>
            </a:lvl1pPr>
          </a:lstStyle>
          <a:p>
            <a:r>
              <a:rPr lang="es-CO" dirty="0"/>
              <a:t>También podría darse el caso de combinar arreglos unidimensionales (vectores) con bidimensionales (matrices), por ejemplo, en el caso donde se requiera almacenar la información de un estudiante, con las notas de 5 materias y su definitiva. Además, almacenar el nombre de cada una. </a:t>
            </a:r>
            <a:endParaRPr lang="es-MX" dirty="0"/>
          </a:p>
        </p:txBody>
      </p:sp>
      <p:sp>
        <p:nvSpPr>
          <p:cNvPr id="6" name="Título 1">
            <a:extLst>
              <a:ext uri="{FF2B5EF4-FFF2-40B4-BE49-F238E27FC236}">
                <a16:creationId xmlns:a16="http://schemas.microsoft.com/office/drawing/2014/main" id="{641536DB-22AF-43E4-B2DB-DB464E118EC6}"/>
              </a:ext>
            </a:extLst>
          </p:cNvPr>
          <p:cNvSpPr>
            <a:spLocks noGrp="1"/>
          </p:cNvSpPr>
          <p:nvPr>
            <p:ph type="title"/>
          </p:nvPr>
        </p:nvSpPr>
        <p:spPr>
          <a:xfrm>
            <a:off x="989994" y="0"/>
            <a:ext cx="10229386" cy="914400"/>
          </a:xfrm>
        </p:spPr>
        <p:txBody>
          <a:bodyPr vert="horz" lIns="91440" tIns="45720" rIns="91440" bIns="45720" rtlCol="0" anchor="ctr">
            <a:noAutofit/>
          </a:bodyPr>
          <a:lstStyle/>
          <a:p>
            <a:pPr algn="ctr"/>
            <a:r>
              <a:rPr lang="es-CO" sz="3800" b="1" dirty="0">
                <a:latin typeface="Bahnschrift Light SemiCondensed" panose="020B0502040204020203" pitchFamily="34" charset="0"/>
              </a:rPr>
              <a:t>“COMBINACIÓN DE ARREGLOS EN C++”</a:t>
            </a:r>
          </a:p>
        </p:txBody>
      </p:sp>
      <p:graphicFrame>
        <p:nvGraphicFramePr>
          <p:cNvPr id="52" name="Tabla 51"/>
          <p:cNvGraphicFramePr>
            <a:graphicFrameLocks noGrp="1"/>
          </p:cNvGraphicFramePr>
          <p:nvPr>
            <p:extLst>
              <p:ext uri="{D42A27DB-BD31-4B8C-83A1-F6EECF244321}">
                <p14:modId xmlns:p14="http://schemas.microsoft.com/office/powerpoint/2010/main" val="1091312057"/>
              </p:ext>
            </p:extLst>
          </p:nvPr>
        </p:nvGraphicFramePr>
        <p:xfrm>
          <a:off x="4383429" y="3001514"/>
          <a:ext cx="5293717" cy="370840"/>
        </p:xfrm>
        <a:graphic>
          <a:graphicData uri="http://schemas.openxmlformats.org/drawingml/2006/table">
            <a:tbl>
              <a:tblPr firstRow="1" bandRow="1"/>
              <a:tblGrid>
                <a:gridCol w="1033856">
                  <a:extLst>
                    <a:ext uri="{9D8B030D-6E8A-4147-A177-3AD203B41FA5}">
                      <a16:colId xmlns:a16="http://schemas.microsoft.com/office/drawing/2014/main" val="20000"/>
                    </a:ext>
                  </a:extLst>
                </a:gridCol>
                <a:gridCol w="1033856">
                  <a:extLst>
                    <a:ext uri="{9D8B030D-6E8A-4147-A177-3AD203B41FA5}">
                      <a16:colId xmlns:a16="http://schemas.microsoft.com/office/drawing/2014/main" val="20001"/>
                    </a:ext>
                  </a:extLst>
                </a:gridCol>
                <a:gridCol w="1108947">
                  <a:extLst>
                    <a:ext uri="{9D8B030D-6E8A-4147-A177-3AD203B41FA5}">
                      <a16:colId xmlns:a16="http://schemas.microsoft.com/office/drawing/2014/main" val="20002"/>
                    </a:ext>
                  </a:extLst>
                </a:gridCol>
                <a:gridCol w="1024383">
                  <a:extLst>
                    <a:ext uri="{9D8B030D-6E8A-4147-A177-3AD203B41FA5}">
                      <a16:colId xmlns:a16="http://schemas.microsoft.com/office/drawing/2014/main" val="20003"/>
                    </a:ext>
                  </a:extLst>
                </a:gridCol>
                <a:gridCol w="1092675">
                  <a:extLst>
                    <a:ext uri="{9D8B030D-6E8A-4147-A177-3AD203B41FA5}">
                      <a16:colId xmlns:a16="http://schemas.microsoft.com/office/drawing/2014/main" val="20004"/>
                    </a:ext>
                  </a:extLst>
                </a:gridCol>
              </a:tblGrid>
              <a:tr h="370840">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algn="ctr"/>
                      <a:r>
                        <a:rPr lang="es-CO" dirty="0">
                          <a:solidFill>
                            <a:schemeClr val="tx1"/>
                          </a:solidFill>
                        </a:rPr>
                        <a:t>JORGE</a:t>
                      </a:r>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algn="ctr"/>
                      <a:r>
                        <a:rPr lang="es-CO" dirty="0">
                          <a:solidFill>
                            <a:schemeClr val="tx1"/>
                          </a:solidFill>
                        </a:rPr>
                        <a:t>JUAN</a:t>
                      </a:r>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algn="ctr"/>
                      <a:r>
                        <a:rPr lang="es-CO" dirty="0">
                          <a:solidFill>
                            <a:schemeClr val="tx1"/>
                          </a:solidFill>
                        </a:rPr>
                        <a:t>CARLOS</a:t>
                      </a:r>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algn="ctr"/>
                      <a:r>
                        <a:rPr lang="es-CO" dirty="0">
                          <a:solidFill>
                            <a:schemeClr val="tx1"/>
                          </a:solidFill>
                        </a:rPr>
                        <a:t>PEDRO</a:t>
                      </a:r>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algn="ctr"/>
                      <a:r>
                        <a:rPr lang="es-CO" dirty="0">
                          <a:solidFill>
                            <a:schemeClr val="tx1"/>
                          </a:solidFill>
                        </a:rPr>
                        <a:t>LUIS</a:t>
                      </a:r>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extLst>
                  <a:ext uri="{0D108BD9-81ED-4DB2-BD59-A6C34878D82A}">
                    <a16:rowId xmlns:a16="http://schemas.microsoft.com/office/drawing/2014/main" val="10000"/>
                  </a:ext>
                </a:extLst>
              </a:tr>
            </a:tbl>
          </a:graphicData>
        </a:graphic>
      </p:graphicFrame>
      <p:sp>
        <p:nvSpPr>
          <p:cNvPr id="53" name="CuadroTexto 52"/>
          <p:cNvSpPr txBox="1"/>
          <p:nvPr/>
        </p:nvSpPr>
        <p:spPr>
          <a:xfrm>
            <a:off x="3703668" y="3001514"/>
            <a:ext cx="694421" cy="369332"/>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s-CO" sz="1800" b="1" i="0" u="none" strike="noStrike" kern="0" cap="none" spc="0" normalizeH="0" baseline="0" noProof="0" dirty="0">
                <a:ln>
                  <a:noFill/>
                </a:ln>
                <a:solidFill>
                  <a:prstClr val="black"/>
                </a:solidFill>
                <a:effectLst/>
                <a:uLnTx/>
                <a:uFillTx/>
              </a:rPr>
              <a:t>NOM</a:t>
            </a:r>
          </a:p>
        </p:txBody>
      </p:sp>
      <p:sp>
        <p:nvSpPr>
          <p:cNvPr id="54" name="CuadroTexto 53"/>
          <p:cNvSpPr txBox="1"/>
          <p:nvPr/>
        </p:nvSpPr>
        <p:spPr>
          <a:xfrm>
            <a:off x="3601743" y="3581435"/>
            <a:ext cx="854721" cy="369332"/>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s-CO" sz="1800" b="1" i="0" u="none" strike="noStrike" kern="0" cap="none" spc="0" normalizeH="0" baseline="0" noProof="0" dirty="0">
                <a:ln>
                  <a:noFill/>
                </a:ln>
                <a:solidFill>
                  <a:prstClr val="black"/>
                </a:solidFill>
                <a:effectLst/>
                <a:uLnTx/>
                <a:uFillTx/>
              </a:rPr>
              <a:t>NOTAS</a:t>
            </a:r>
          </a:p>
        </p:txBody>
      </p:sp>
      <p:sp>
        <p:nvSpPr>
          <p:cNvPr id="55" name="CuadroTexto 54"/>
          <p:cNvSpPr txBox="1"/>
          <p:nvPr/>
        </p:nvSpPr>
        <p:spPr>
          <a:xfrm>
            <a:off x="4758834" y="2683338"/>
            <a:ext cx="4968552" cy="369332"/>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s-CO" sz="1800" b="1" i="0" u="none" strike="noStrike" kern="0" cap="none" spc="0" normalizeH="0" baseline="0" noProof="0" dirty="0">
                <a:ln>
                  <a:noFill/>
                </a:ln>
                <a:solidFill>
                  <a:srgbClr val="0070C0"/>
                </a:solidFill>
                <a:effectLst/>
                <a:uLnTx/>
                <a:uFillTx/>
              </a:rPr>
              <a:t>0                    1 	        2	         3	            4</a:t>
            </a:r>
          </a:p>
        </p:txBody>
      </p:sp>
      <p:graphicFrame>
        <p:nvGraphicFramePr>
          <p:cNvPr id="56" name="Tabla 55"/>
          <p:cNvGraphicFramePr>
            <a:graphicFrameLocks noGrp="1"/>
          </p:cNvGraphicFramePr>
          <p:nvPr>
            <p:extLst>
              <p:ext uri="{D42A27DB-BD31-4B8C-83A1-F6EECF244321}">
                <p14:modId xmlns:p14="http://schemas.microsoft.com/office/powerpoint/2010/main" val="3347794023"/>
              </p:ext>
            </p:extLst>
          </p:nvPr>
        </p:nvGraphicFramePr>
        <p:xfrm>
          <a:off x="4383429" y="3852587"/>
          <a:ext cx="5293715" cy="1854200"/>
        </p:xfrm>
        <a:graphic>
          <a:graphicData uri="http://schemas.openxmlformats.org/drawingml/2006/table">
            <a:tbl>
              <a:tblPr firstRow="1" bandRow="1"/>
              <a:tblGrid>
                <a:gridCol w="1058743">
                  <a:extLst>
                    <a:ext uri="{9D8B030D-6E8A-4147-A177-3AD203B41FA5}">
                      <a16:colId xmlns:a16="http://schemas.microsoft.com/office/drawing/2014/main" val="20000"/>
                    </a:ext>
                  </a:extLst>
                </a:gridCol>
                <a:gridCol w="1058743">
                  <a:extLst>
                    <a:ext uri="{9D8B030D-6E8A-4147-A177-3AD203B41FA5}">
                      <a16:colId xmlns:a16="http://schemas.microsoft.com/office/drawing/2014/main" val="20001"/>
                    </a:ext>
                  </a:extLst>
                </a:gridCol>
                <a:gridCol w="1058743">
                  <a:extLst>
                    <a:ext uri="{9D8B030D-6E8A-4147-A177-3AD203B41FA5}">
                      <a16:colId xmlns:a16="http://schemas.microsoft.com/office/drawing/2014/main" val="20002"/>
                    </a:ext>
                  </a:extLst>
                </a:gridCol>
                <a:gridCol w="1058743">
                  <a:extLst>
                    <a:ext uri="{9D8B030D-6E8A-4147-A177-3AD203B41FA5}">
                      <a16:colId xmlns:a16="http://schemas.microsoft.com/office/drawing/2014/main" val="20003"/>
                    </a:ext>
                  </a:extLst>
                </a:gridCol>
                <a:gridCol w="1058743">
                  <a:extLst>
                    <a:ext uri="{9D8B030D-6E8A-4147-A177-3AD203B41FA5}">
                      <a16:colId xmlns:a16="http://schemas.microsoft.com/office/drawing/2014/main" val="20004"/>
                    </a:ext>
                  </a:extLst>
                </a:gridCol>
              </a:tblGrid>
              <a:tr h="370840">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marL="0" algn="ctr" defTabSz="914400" rtl="0" eaLnBrk="1" latinLnBrk="0" hangingPunct="1"/>
                      <a:r>
                        <a:rPr lang="es-CO" sz="1800" b="1" kern="1200" dirty="0">
                          <a:solidFill>
                            <a:schemeClr val="tx1"/>
                          </a:solidFill>
                          <a:latin typeface="+mn-lt"/>
                          <a:ea typeface="+mn-ea"/>
                          <a:cs typeface="+mn-cs"/>
                        </a:rPr>
                        <a:t>3,2</a:t>
                      </a:r>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marL="0" algn="ctr" defTabSz="914400" rtl="0" eaLnBrk="1" latinLnBrk="0" hangingPunct="1"/>
                      <a:r>
                        <a:rPr lang="es-CO" sz="1800" b="1" kern="1200" dirty="0">
                          <a:solidFill>
                            <a:schemeClr val="tx1"/>
                          </a:solidFill>
                          <a:latin typeface="+mn-lt"/>
                          <a:ea typeface="+mn-ea"/>
                          <a:cs typeface="+mn-cs"/>
                        </a:rPr>
                        <a:t>4,5</a:t>
                      </a:r>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marL="0" algn="ctr" defTabSz="914400" rtl="0" eaLnBrk="1" latinLnBrk="0" hangingPunct="1"/>
                      <a:r>
                        <a:rPr lang="es-CO" sz="1800" b="1" kern="1200" dirty="0">
                          <a:solidFill>
                            <a:schemeClr val="tx1"/>
                          </a:solidFill>
                          <a:latin typeface="+mn-lt"/>
                          <a:ea typeface="+mn-ea"/>
                          <a:cs typeface="+mn-cs"/>
                        </a:rPr>
                        <a:t>5,0</a:t>
                      </a:r>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marL="0" algn="ctr" defTabSz="914400" rtl="0" eaLnBrk="1" latinLnBrk="0" hangingPunct="1"/>
                      <a:r>
                        <a:rPr lang="es-CO" sz="1800" b="1" kern="1200" dirty="0">
                          <a:solidFill>
                            <a:schemeClr val="tx1"/>
                          </a:solidFill>
                          <a:latin typeface="+mn-lt"/>
                          <a:ea typeface="+mn-ea"/>
                          <a:cs typeface="+mn-cs"/>
                        </a:rPr>
                        <a:t>1,8</a:t>
                      </a:r>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marL="0" algn="ctr" defTabSz="914400" rtl="0" eaLnBrk="1" latinLnBrk="0" hangingPunct="1"/>
                      <a:r>
                        <a:rPr lang="es-CO" sz="1800" b="1" kern="1200" dirty="0">
                          <a:solidFill>
                            <a:schemeClr val="tx1"/>
                          </a:solidFill>
                          <a:latin typeface="+mn-lt"/>
                          <a:ea typeface="+mn-ea"/>
                          <a:cs typeface="+mn-cs"/>
                        </a:rPr>
                        <a:t>2,1</a:t>
                      </a:r>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extLst>
                  <a:ext uri="{0D108BD9-81ED-4DB2-BD59-A6C34878D82A}">
                    <a16:rowId xmlns:a16="http://schemas.microsoft.com/office/drawing/2014/main" val="10000"/>
                  </a:ext>
                </a:extLst>
              </a:tr>
              <a:tr h="370840">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marL="0" algn="ctr" defTabSz="914400" rtl="0" eaLnBrk="1" latinLnBrk="0" hangingPunct="1"/>
                      <a:r>
                        <a:rPr lang="es-CO" sz="1800" b="1" kern="1200" dirty="0">
                          <a:solidFill>
                            <a:schemeClr val="tx1"/>
                          </a:solidFill>
                          <a:latin typeface="+mn-lt"/>
                          <a:ea typeface="+mn-ea"/>
                          <a:cs typeface="+mn-cs"/>
                        </a:rPr>
                        <a:t>4,0</a:t>
                      </a:r>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marL="0" algn="ctr" defTabSz="914400" rtl="0" eaLnBrk="1" latinLnBrk="0" hangingPunct="1"/>
                      <a:r>
                        <a:rPr lang="es-CO" sz="1800" b="1" kern="1200" dirty="0">
                          <a:solidFill>
                            <a:schemeClr val="tx1"/>
                          </a:solidFill>
                          <a:latin typeface="+mn-lt"/>
                          <a:ea typeface="+mn-ea"/>
                          <a:cs typeface="+mn-cs"/>
                        </a:rPr>
                        <a:t>3,0</a:t>
                      </a:r>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marL="0" algn="ctr" defTabSz="914400" rtl="0" eaLnBrk="1" latinLnBrk="0" hangingPunct="1"/>
                      <a:r>
                        <a:rPr lang="es-CO" sz="1800" b="1" kern="1200" dirty="0">
                          <a:solidFill>
                            <a:schemeClr val="tx1"/>
                          </a:solidFill>
                          <a:latin typeface="+mn-lt"/>
                          <a:ea typeface="+mn-ea"/>
                          <a:cs typeface="+mn-cs"/>
                        </a:rPr>
                        <a:t>4,8</a:t>
                      </a:r>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marL="0" algn="ctr" defTabSz="914400" rtl="0" eaLnBrk="1" latinLnBrk="0" hangingPunct="1"/>
                      <a:r>
                        <a:rPr lang="es-CO" sz="1800" b="1" kern="1200" dirty="0">
                          <a:solidFill>
                            <a:schemeClr val="tx1"/>
                          </a:solidFill>
                          <a:latin typeface="+mn-lt"/>
                          <a:ea typeface="+mn-ea"/>
                          <a:cs typeface="+mn-cs"/>
                        </a:rPr>
                        <a:t>5,0</a:t>
                      </a:r>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marL="0" algn="ctr" defTabSz="914400" rtl="0" eaLnBrk="1" latinLnBrk="0" hangingPunct="1"/>
                      <a:r>
                        <a:rPr lang="es-CO" sz="1800" b="1" kern="1200" dirty="0">
                          <a:solidFill>
                            <a:schemeClr val="tx1"/>
                          </a:solidFill>
                          <a:latin typeface="+mn-lt"/>
                          <a:ea typeface="+mn-ea"/>
                          <a:cs typeface="+mn-cs"/>
                        </a:rPr>
                        <a:t>3,2</a:t>
                      </a:r>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extLst>
                  <a:ext uri="{0D108BD9-81ED-4DB2-BD59-A6C34878D82A}">
                    <a16:rowId xmlns:a16="http://schemas.microsoft.com/office/drawing/2014/main" val="10001"/>
                  </a:ext>
                </a:extLst>
              </a:tr>
              <a:tr h="370840">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marL="0" algn="ctr" defTabSz="914400" rtl="0" eaLnBrk="1" latinLnBrk="0" hangingPunct="1"/>
                      <a:r>
                        <a:rPr lang="es-CO" sz="1800" b="1" kern="1200" dirty="0">
                          <a:solidFill>
                            <a:schemeClr val="tx1"/>
                          </a:solidFill>
                          <a:latin typeface="+mn-lt"/>
                          <a:ea typeface="+mn-ea"/>
                          <a:cs typeface="+mn-cs"/>
                        </a:rPr>
                        <a:t>1,0</a:t>
                      </a:r>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marL="0" algn="ctr" defTabSz="914400" rtl="0" eaLnBrk="1" latinLnBrk="0" hangingPunct="1"/>
                      <a:r>
                        <a:rPr lang="es-CO" sz="1800" b="1" kern="1200" dirty="0">
                          <a:solidFill>
                            <a:schemeClr val="tx1"/>
                          </a:solidFill>
                          <a:latin typeface="+mn-lt"/>
                          <a:ea typeface="+mn-ea"/>
                          <a:cs typeface="+mn-cs"/>
                        </a:rPr>
                        <a:t>0,0</a:t>
                      </a:r>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marL="0" algn="ctr" defTabSz="914400" rtl="0" eaLnBrk="1" latinLnBrk="0" hangingPunct="1"/>
                      <a:r>
                        <a:rPr lang="es-CO" sz="1800" b="1" kern="1200" dirty="0">
                          <a:solidFill>
                            <a:schemeClr val="tx1"/>
                          </a:solidFill>
                          <a:latin typeface="+mn-lt"/>
                          <a:ea typeface="+mn-ea"/>
                          <a:cs typeface="+mn-cs"/>
                        </a:rPr>
                        <a:t>0,2</a:t>
                      </a:r>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marL="0" algn="ctr" defTabSz="914400" rtl="0" eaLnBrk="1" latinLnBrk="0" hangingPunct="1"/>
                      <a:r>
                        <a:rPr lang="es-CO" sz="1800" b="1" kern="1200" dirty="0">
                          <a:solidFill>
                            <a:schemeClr val="tx1"/>
                          </a:solidFill>
                          <a:latin typeface="+mn-lt"/>
                          <a:ea typeface="+mn-ea"/>
                          <a:cs typeface="+mn-cs"/>
                        </a:rPr>
                        <a:t>1,0</a:t>
                      </a:r>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marL="0" algn="ctr" defTabSz="914400" rtl="0" eaLnBrk="1" latinLnBrk="0" hangingPunct="1"/>
                      <a:r>
                        <a:rPr lang="es-CO" sz="1800" b="1" kern="1200" dirty="0">
                          <a:solidFill>
                            <a:schemeClr val="tx1"/>
                          </a:solidFill>
                          <a:latin typeface="+mn-lt"/>
                          <a:ea typeface="+mn-ea"/>
                          <a:cs typeface="+mn-cs"/>
                        </a:rPr>
                        <a:t>4,0</a:t>
                      </a:r>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extLst>
                  <a:ext uri="{0D108BD9-81ED-4DB2-BD59-A6C34878D82A}">
                    <a16:rowId xmlns:a16="http://schemas.microsoft.com/office/drawing/2014/main" val="10002"/>
                  </a:ext>
                </a:extLst>
              </a:tr>
              <a:tr h="370840">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marL="0" algn="ctr" defTabSz="914400" rtl="0" eaLnBrk="1" latinLnBrk="0" hangingPunct="1"/>
                      <a:r>
                        <a:rPr lang="es-CO" sz="1800" b="1" kern="1200" dirty="0">
                          <a:solidFill>
                            <a:schemeClr val="tx1"/>
                          </a:solidFill>
                          <a:latin typeface="+mn-lt"/>
                          <a:ea typeface="+mn-ea"/>
                          <a:cs typeface="+mn-cs"/>
                        </a:rPr>
                        <a:t>2,0</a:t>
                      </a:r>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marL="0" algn="ctr" defTabSz="914400" rtl="0" eaLnBrk="1" latinLnBrk="0" hangingPunct="1"/>
                      <a:r>
                        <a:rPr lang="es-CO" sz="1800" b="1" kern="1200" dirty="0">
                          <a:solidFill>
                            <a:schemeClr val="tx1"/>
                          </a:solidFill>
                          <a:latin typeface="+mn-lt"/>
                          <a:ea typeface="+mn-ea"/>
                          <a:cs typeface="+mn-cs"/>
                        </a:rPr>
                        <a:t>2,1</a:t>
                      </a:r>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marL="0" algn="ctr" defTabSz="914400" rtl="0" eaLnBrk="1" latinLnBrk="0" hangingPunct="1"/>
                      <a:r>
                        <a:rPr lang="es-CO" sz="1800" b="1" kern="1200" dirty="0">
                          <a:solidFill>
                            <a:schemeClr val="tx1"/>
                          </a:solidFill>
                          <a:latin typeface="+mn-lt"/>
                          <a:ea typeface="+mn-ea"/>
                          <a:cs typeface="+mn-cs"/>
                        </a:rPr>
                        <a:t>4,9</a:t>
                      </a:r>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marL="0" algn="ctr" defTabSz="914400" rtl="0" eaLnBrk="1" latinLnBrk="0" hangingPunct="1"/>
                      <a:r>
                        <a:rPr lang="es-CO" sz="1800" b="1" kern="1200" dirty="0">
                          <a:solidFill>
                            <a:schemeClr val="tx1"/>
                          </a:solidFill>
                          <a:latin typeface="+mn-lt"/>
                          <a:ea typeface="+mn-ea"/>
                          <a:cs typeface="+mn-cs"/>
                        </a:rPr>
                        <a:t>4,8</a:t>
                      </a:r>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marL="0" algn="ctr" defTabSz="914400" rtl="0" eaLnBrk="1" latinLnBrk="0" hangingPunct="1"/>
                      <a:r>
                        <a:rPr lang="es-CO" sz="1800" b="1" kern="1200" dirty="0">
                          <a:solidFill>
                            <a:schemeClr val="tx1"/>
                          </a:solidFill>
                          <a:latin typeface="+mn-lt"/>
                          <a:ea typeface="+mn-ea"/>
                          <a:cs typeface="+mn-cs"/>
                        </a:rPr>
                        <a:t>4,0</a:t>
                      </a:r>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extLst>
                  <a:ext uri="{0D108BD9-81ED-4DB2-BD59-A6C34878D82A}">
                    <a16:rowId xmlns:a16="http://schemas.microsoft.com/office/drawing/2014/main" val="10003"/>
                  </a:ext>
                </a:extLst>
              </a:tr>
              <a:tr h="370840">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marL="0" algn="ctr" defTabSz="914400" rtl="0" eaLnBrk="1" latinLnBrk="0" hangingPunct="1"/>
                      <a:r>
                        <a:rPr lang="es-CO" sz="1800" b="1" kern="1200" dirty="0">
                          <a:solidFill>
                            <a:schemeClr val="tx1"/>
                          </a:solidFill>
                          <a:latin typeface="+mn-lt"/>
                          <a:ea typeface="+mn-ea"/>
                          <a:cs typeface="+mn-cs"/>
                        </a:rPr>
                        <a:t>1,0</a:t>
                      </a:r>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marL="0" algn="ctr" defTabSz="914400" rtl="0" eaLnBrk="1" latinLnBrk="0" hangingPunct="1"/>
                      <a:r>
                        <a:rPr lang="es-CO" sz="1800" b="1" kern="1200" dirty="0">
                          <a:solidFill>
                            <a:schemeClr val="tx1"/>
                          </a:solidFill>
                          <a:latin typeface="+mn-lt"/>
                          <a:ea typeface="+mn-ea"/>
                          <a:cs typeface="+mn-cs"/>
                        </a:rPr>
                        <a:t>0,5</a:t>
                      </a:r>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marL="0" algn="ctr" defTabSz="914400" rtl="0" eaLnBrk="1" latinLnBrk="0" hangingPunct="1"/>
                      <a:r>
                        <a:rPr lang="es-CO" sz="1800" b="1" kern="1200" dirty="0">
                          <a:solidFill>
                            <a:schemeClr val="tx1"/>
                          </a:solidFill>
                          <a:latin typeface="+mn-lt"/>
                          <a:ea typeface="+mn-ea"/>
                          <a:cs typeface="+mn-cs"/>
                        </a:rPr>
                        <a:t>5,0</a:t>
                      </a:r>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marL="0" algn="ctr" defTabSz="914400" rtl="0" eaLnBrk="1" latinLnBrk="0" hangingPunct="1"/>
                      <a:r>
                        <a:rPr lang="es-CO" sz="1800" b="1" kern="1200" dirty="0">
                          <a:solidFill>
                            <a:schemeClr val="tx1"/>
                          </a:solidFill>
                          <a:latin typeface="+mn-lt"/>
                          <a:ea typeface="+mn-ea"/>
                          <a:cs typeface="+mn-cs"/>
                        </a:rPr>
                        <a:t>4,0</a:t>
                      </a:r>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marL="0" algn="ctr" defTabSz="914400" rtl="0" eaLnBrk="1" latinLnBrk="0" hangingPunct="1"/>
                      <a:r>
                        <a:rPr lang="es-CO" sz="1800" b="1" kern="1200" dirty="0">
                          <a:solidFill>
                            <a:schemeClr val="tx1"/>
                          </a:solidFill>
                          <a:latin typeface="+mn-lt"/>
                          <a:ea typeface="+mn-ea"/>
                          <a:cs typeface="+mn-cs"/>
                        </a:rPr>
                        <a:t>3,0</a:t>
                      </a:r>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extLst>
                  <a:ext uri="{0D108BD9-81ED-4DB2-BD59-A6C34878D82A}">
                    <a16:rowId xmlns:a16="http://schemas.microsoft.com/office/drawing/2014/main" val="10004"/>
                  </a:ext>
                </a:extLst>
              </a:tr>
            </a:tbl>
          </a:graphicData>
        </a:graphic>
      </p:graphicFrame>
      <p:sp>
        <p:nvSpPr>
          <p:cNvPr id="57" name="CuadroTexto 56"/>
          <p:cNvSpPr txBox="1"/>
          <p:nvPr/>
        </p:nvSpPr>
        <p:spPr>
          <a:xfrm>
            <a:off x="4758834" y="3519717"/>
            <a:ext cx="4968552" cy="369332"/>
          </a:xfrm>
          <a:prstGeom prst="rect">
            <a:avLst/>
          </a:prstGeom>
          <a:noFill/>
        </p:spPr>
        <p:txBody>
          <a:bodyPr wrap="square" rtlCol="0">
            <a:spAutoFit/>
          </a:bodyPr>
          <a:lstStyle/>
          <a:p>
            <a:pPr lvl="0">
              <a:defRPr/>
            </a:pPr>
            <a:r>
              <a:rPr lang="es-CO" b="1" kern="0" dirty="0">
                <a:solidFill>
                  <a:srgbClr val="0070C0"/>
                </a:solidFill>
              </a:rPr>
              <a:t>0                    1 	        2	         3	            4</a:t>
            </a:r>
          </a:p>
        </p:txBody>
      </p:sp>
      <p:sp>
        <p:nvSpPr>
          <p:cNvPr id="58" name="CuadroTexto 57"/>
          <p:cNvSpPr txBox="1"/>
          <p:nvPr/>
        </p:nvSpPr>
        <p:spPr>
          <a:xfrm>
            <a:off x="4085860" y="3889049"/>
            <a:ext cx="245511" cy="1769715"/>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s-CO" sz="1800" b="1" i="0" u="none" strike="noStrike" kern="0" cap="none" spc="0" normalizeH="0" baseline="0" noProof="0" dirty="0">
                <a:ln>
                  <a:noFill/>
                </a:ln>
                <a:solidFill>
                  <a:srgbClr val="0C77C3"/>
                </a:solidFill>
                <a:effectLst/>
                <a:uLnTx/>
                <a:uFillTx/>
              </a:rPr>
              <a:t>0</a:t>
            </a:r>
          </a:p>
          <a:p>
            <a:pPr marL="0" marR="0" lvl="0" indent="0" defTabSz="914400" eaLnBrk="1" fontAlgn="auto" latinLnBrk="0" hangingPunct="1">
              <a:lnSpc>
                <a:spcPct val="100000"/>
              </a:lnSpc>
              <a:spcBef>
                <a:spcPts val="0"/>
              </a:spcBef>
              <a:spcAft>
                <a:spcPts val="0"/>
              </a:spcAft>
              <a:buClrTx/>
              <a:buSzTx/>
              <a:buFontTx/>
              <a:buNone/>
              <a:tabLst/>
              <a:defRPr/>
            </a:pPr>
            <a:endParaRPr kumimoji="0" lang="es-CO" sz="400" b="1" i="0" u="none" strike="noStrike" kern="0" cap="none" spc="0" normalizeH="0" baseline="0" noProof="0" dirty="0">
              <a:ln>
                <a:noFill/>
              </a:ln>
              <a:solidFill>
                <a:srgbClr val="0C77C3"/>
              </a:solidFill>
              <a:effectLst/>
              <a:uLnTx/>
              <a:uFillTx/>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es-CO" sz="1800" b="1" i="0" u="none" strike="noStrike" kern="0" cap="none" spc="0" normalizeH="0" baseline="0" noProof="0" dirty="0">
                <a:ln>
                  <a:noFill/>
                </a:ln>
                <a:solidFill>
                  <a:srgbClr val="0C77C3"/>
                </a:solidFill>
                <a:effectLst/>
                <a:uLnTx/>
                <a:uFillTx/>
              </a:rPr>
              <a:t>1</a:t>
            </a:r>
          </a:p>
          <a:p>
            <a:endParaRPr lang="es-CO" sz="500" b="1" kern="0" dirty="0">
              <a:solidFill>
                <a:srgbClr val="0C77C3"/>
              </a:solidFill>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es-CO" sz="1800" b="1" i="0" u="none" strike="noStrike" kern="0" cap="none" spc="0" normalizeH="0" baseline="0" noProof="0" dirty="0">
                <a:ln>
                  <a:noFill/>
                </a:ln>
                <a:solidFill>
                  <a:srgbClr val="0C77C3"/>
                </a:solidFill>
                <a:effectLst/>
                <a:uLnTx/>
                <a:uFillTx/>
              </a:rPr>
              <a:t>2</a:t>
            </a:r>
          </a:p>
          <a:p>
            <a:endParaRPr lang="es-CO" sz="500" b="1" kern="0" dirty="0">
              <a:solidFill>
                <a:srgbClr val="0C77C3"/>
              </a:solidFill>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es-CO" sz="1800" b="1" i="0" u="none" strike="noStrike" kern="0" cap="none" spc="0" normalizeH="0" baseline="0" noProof="0" dirty="0">
                <a:ln>
                  <a:noFill/>
                </a:ln>
                <a:solidFill>
                  <a:srgbClr val="0C77C3"/>
                </a:solidFill>
                <a:effectLst/>
                <a:uLnTx/>
                <a:uFillTx/>
              </a:rPr>
              <a:t>3</a:t>
            </a:r>
          </a:p>
          <a:p>
            <a:endParaRPr lang="es-CO" sz="500" b="1" kern="0" dirty="0">
              <a:solidFill>
                <a:srgbClr val="0C77C3"/>
              </a:solidFill>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es-CO" sz="1800" b="1" i="0" u="none" strike="noStrike" kern="0" cap="none" spc="0" normalizeH="0" baseline="0" noProof="0" dirty="0">
                <a:ln>
                  <a:noFill/>
                </a:ln>
                <a:solidFill>
                  <a:srgbClr val="0C77C3"/>
                </a:solidFill>
                <a:effectLst/>
                <a:uLnTx/>
                <a:uFillTx/>
              </a:rPr>
              <a:t>4</a:t>
            </a:r>
          </a:p>
        </p:txBody>
      </p:sp>
      <p:graphicFrame>
        <p:nvGraphicFramePr>
          <p:cNvPr id="59" name="Tabla 58"/>
          <p:cNvGraphicFramePr>
            <a:graphicFrameLocks noGrp="1"/>
          </p:cNvGraphicFramePr>
          <p:nvPr>
            <p:extLst>
              <p:ext uri="{D42A27DB-BD31-4B8C-83A1-F6EECF244321}">
                <p14:modId xmlns:p14="http://schemas.microsoft.com/office/powerpoint/2010/main" val="509017764"/>
              </p:ext>
            </p:extLst>
          </p:nvPr>
        </p:nvGraphicFramePr>
        <p:xfrm>
          <a:off x="2214013" y="3949384"/>
          <a:ext cx="970970" cy="1854200"/>
        </p:xfrm>
        <a:graphic>
          <a:graphicData uri="http://schemas.openxmlformats.org/drawingml/2006/table">
            <a:tbl>
              <a:tblPr firstRow="1" bandRow="1"/>
              <a:tblGrid>
                <a:gridCol w="970970">
                  <a:extLst>
                    <a:ext uri="{9D8B030D-6E8A-4147-A177-3AD203B41FA5}">
                      <a16:colId xmlns:a16="http://schemas.microsoft.com/office/drawing/2014/main" val="20000"/>
                    </a:ext>
                  </a:extLst>
                </a:gridCol>
              </a:tblGrid>
              <a:tr h="370840">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algn="ctr"/>
                      <a:r>
                        <a:rPr lang="es-CO" b="0" dirty="0">
                          <a:solidFill>
                            <a:schemeClr val="tx1"/>
                          </a:solidFill>
                        </a:rPr>
                        <a:t>Inglés</a:t>
                      </a:r>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extLst>
                  <a:ext uri="{0D108BD9-81ED-4DB2-BD59-A6C34878D82A}">
                    <a16:rowId xmlns:a16="http://schemas.microsoft.com/office/drawing/2014/main" val="10000"/>
                  </a:ext>
                </a:extLst>
              </a:tr>
              <a:tr h="370840">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es-CO" b="0" dirty="0">
                          <a:solidFill>
                            <a:schemeClr val="tx1"/>
                          </a:solidFill>
                        </a:rPr>
                        <a:t>Física</a:t>
                      </a:r>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extLst>
                  <a:ext uri="{0D108BD9-81ED-4DB2-BD59-A6C34878D82A}">
                    <a16:rowId xmlns:a16="http://schemas.microsoft.com/office/drawing/2014/main" val="10001"/>
                  </a:ext>
                </a:extLst>
              </a:tr>
              <a:tr h="370840">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es-CO" b="0" dirty="0">
                          <a:solidFill>
                            <a:schemeClr val="tx1"/>
                          </a:solidFill>
                        </a:rPr>
                        <a:t>Ética</a:t>
                      </a:r>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extLst>
                  <a:ext uri="{0D108BD9-81ED-4DB2-BD59-A6C34878D82A}">
                    <a16:rowId xmlns:a16="http://schemas.microsoft.com/office/drawing/2014/main" val="10002"/>
                  </a:ext>
                </a:extLst>
              </a:tr>
              <a:tr h="370840">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es-CO" b="0" dirty="0">
                          <a:solidFill>
                            <a:schemeClr val="tx1"/>
                          </a:solidFill>
                        </a:rPr>
                        <a:t>Religión</a:t>
                      </a:r>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extLst>
                  <a:ext uri="{0D108BD9-81ED-4DB2-BD59-A6C34878D82A}">
                    <a16:rowId xmlns:a16="http://schemas.microsoft.com/office/drawing/2014/main" val="10003"/>
                  </a:ext>
                </a:extLst>
              </a:tr>
              <a:tr h="370840">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es-CO" b="0" dirty="0">
                          <a:solidFill>
                            <a:schemeClr val="tx1"/>
                          </a:solidFill>
                        </a:rPr>
                        <a:t>Química</a:t>
                      </a:r>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extLst>
                  <a:ext uri="{0D108BD9-81ED-4DB2-BD59-A6C34878D82A}">
                    <a16:rowId xmlns:a16="http://schemas.microsoft.com/office/drawing/2014/main" val="10004"/>
                  </a:ext>
                </a:extLst>
              </a:tr>
            </a:tbl>
          </a:graphicData>
        </a:graphic>
      </p:graphicFrame>
      <p:sp>
        <p:nvSpPr>
          <p:cNvPr id="60" name="CuadroTexto 59"/>
          <p:cNvSpPr txBox="1"/>
          <p:nvPr/>
        </p:nvSpPr>
        <p:spPr>
          <a:xfrm>
            <a:off x="1888839" y="3959386"/>
            <a:ext cx="245511" cy="1769715"/>
          </a:xfrm>
          <a:prstGeom prst="rect">
            <a:avLst/>
          </a:prstGeom>
          <a:noFill/>
        </p:spPr>
        <p:txBody>
          <a:bodyPr wrap="square" rtlCol="0">
            <a:spAutoFit/>
          </a:bodyPr>
          <a:lstStyle/>
          <a:p>
            <a:pPr lvl="0">
              <a:defRPr/>
            </a:pPr>
            <a:r>
              <a:rPr lang="es-CO" b="1" kern="0" dirty="0">
                <a:solidFill>
                  <a:srgbClr val="0C77C3"/>
                </a:solidFill>
              </a:rPr>
              <a:t>0</a:t>
            </a:r>
          </a:p>
          <a:p>
            <a:pPr lvl="0">
              <a:defRPr/>
            </a:pPr>
            <a:endParaRPr lang="es-CO" sz="400" b="1" kern="0" dirty="0">
              <a:solidFill>
                <a:srgbClr val="0C77C3"/>
              </a:solidFill>
            </a:endParaRPr>
          </a:p>
          <a:p>
            <a:pPr lvl="0">
              <a:defRPr/>
            </a:pPr>
            <a:r>
              <a:rPr lang="es-CO" b="1" kern="0" dirty="0">
                <a:solidFill>
                  <a:srgbClr val="0C77C3"/>
                </a:solidFill>
              </a:rPr>
              <a:t>1</a:t>
            </a:r>
          </a:p>
          <a:p>
            <a:endParaRPr lang="es-CO" sz="500" b="1" kern="0" dirty="0">
              <a:solidFill>
                <a:srgbClr val="0C77C3"/>
              </a:solidFill>
            </a:endParaRPr>
          </a:p>
          <a:p>
            <a:pPr lvl="0">
              <a:defRPr/>
            </a:pPr>
            <a:r>
              <a:rPr lang="es-CO" b="1" kern="0" dirty="0">
                <a:solidFill>
                  <a:srgbClr val="0C77C3"/>
                </a:solidFill>
              </a:rPr>
              <a:t>2</a:t>
            </a:r>
          </a:p>
          <a:p>
            <a:endParaRPr lang="es-CO" sz="500" b="1" kern="0" dirty="0">
              <a:solidFill>
                <a:srgbClr val="0C77C3"/>
              </a:solidFill>
            </a:endParaRPr>
          </a:p>
          <a:p>
            <a:pPr lvl="0">
              <a:defRPr/>
            </a:pPr>
            <a:r>
              <a:rPr lang="es-CO" b="1" kern="0" dirty="0">
                <a:solidFill>
                  <a:srgbClr val="0C77C3"/>
                </a:solidFill>
              </a:rPr>
              <a:t>3</a:t>
            </a:r>
          </a:p>
          <a:p>
            <a:endParaRPr lang="es-CO" sz="500" b="1" kern="0" dirty="0">
              <a:solidFill>
                <a:srgbClr val="0C77C3"/>
              </a:solidFill>
            </a:endParaRPr>
          </a:p>
          <a:p>
            <a:pPr lvl="0">
              <a:defRPr/>
            </a:pPr>
            <a:r>
              <a:rPr lang="es-CO" b="1" kern="0" dirty="0">
                <a:solidFill>
                  <a:srgbClr val="0C77C3"/>
                </a:solidFill>
              </a:rPr>
              <a:t>4</a:t>
            </a:r>
          </a:p>
        </p:txBody>
      </p:sp>
      <p:sp>
        <p:nvSpPr>
          <p:cNvPr id="61" name="CuadroTexto 60"/>
          <p:cNvSpPr txBox="1"/>
          <p:nvPr/>
        </p:nvSpPr>
        <p:spPr>
          <a:xfrm>
            <a:off x="2176871" y="3497250"/>
            <a:ext cx="1064330" cy="369332"/>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s-CO" sz="1800" b="1" i="0" u="none" strike="noStrike" kern="0" cap="none" spc="0" normalizeH="0" baseline="0" noProof="0" dirty="0">
                <a:ln>
                  <a:noFill/>
                </a:ln>
                <a:solidFill>
                  <a:prstClr val="black"/>
                </a:solidFill>
                <a:effectLst/>
                <a:uLnTx/>
                <a:uFillTx/>
              </a:rPr>
              <a:t>MATERIA</a:t>
            </a:r>
          </a:p>
        </p:txBody>
      </p:sp>
      <p:graphicFrame>
        <p:nvGraphicFramePr>
          <p:cNvPr id="62" name="Tabla 61"/>
          <p:cNvGraphicFramePr>
            <a:graphicFrameLocks noGrp="1"/>
          </p:cNvGraphicFramePr>
          <p:nvPr>
            <p:extLst>
              <p:ext uri="{D42A27DB-BD31-4B8C-83A1-F6EECF244321}">
                <p14:modId xmlns:p14="http://schemas.microsoft.com/office/powerpoint/2010/main" val="2244134255"/>
              </p:ext>
            </p:extLst>
          </p:nvPr>
        </p:nvGraphicFramePr>
        <p:xfrm>
          <a:off x="4401297" y="6189079"/>
          <a:ext cx="5293717" cy="370840"/>
        </p:xfrm>
        <a:graphic>
          <a:graphicData uri="http://schemas.openxmlformats.org/drawingml/2006/table">
            <a:tbl>
              <a:tblPr firstRow="1" bandRow="1"/>
              <a:tblGrid>
                <a:gridCol w="1033856">
                  <a:extLst>
                    <a:ext uri="{9D8B030D-6E8A-4147-A177-3AD203B41FA5}">
                      <a16:colId xmlns:a16="http://schemas.microsoft.com/office/drawing/2014/main" val="20000"/>
                    </a:ext>
                  </a:extLst>
                </a:gridCol>
                <a:gridCol w="1033856">
                  <a:extLst>
                    <a:ext uri="{9D8B030D-6E8A-4147-A177-3AD203B41FA5}">
                      <a16:colId xmlns:a16="http://schemas.microsoft.com/office/drawing/2014/main" val="20001"/>
                    </a:ext>
                  </a:extLst>
                </a:gridCol>
                <a:gridCol w="1108947">
                  <a:extLst>
                    <a:ext uri="{9D8B030D-6E8A-4147-A177-3AD203B41FA5}">
                      <a16:colId xmlns:a16="http://schemas.microsoft.com/office/drawing/2014/main" val="20002"/>
                    </a:ext>
                  </a:extLst>
                </a:gridCol>
                <a:gridCol w="1024383">
                  <a:extLst>
                    <a:ext uri="{9D8B030D-6E8A-4147-A177-3AD203B41FA5}">
                      <a16:colId xmlns:a16="http://schemas.microsoft.com/office/drawing/2014/main" val="20003"/>
                    </a:ext>
                  </a:extLst>
                </a:gridCol>
                <a:gridCol w="1092675">
                  <a:extLst>
                    <a:ext uri="{9D8B030D-6E8A-4147-A177-3AD203B41FA5}">
                      <a16:colId xmlns:a16="http://schemas.microsoft.com/office/drawing/2014/main" val="20004"/>
                    </a:ext>
                  </a:extLst>
                </a:gridCol>
              </a:tblGrid>
              <a:tr h="370840">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marL="0" algn="ctr" defTabSz="914400" rtl="0" eaLnBrk="1" fontAlgn="b" latinLnBrk="0" hangingPunct="1"/>
                      <a:r>
                        <a:rPr lang="es-CO" sz="1800" b="1" kern="1200" dirty="0">
                          <a:solidFill>
                            <a:schemeClr val="tx1"/>
                          </a:solidFill>
                          <a:latin typeface="+mn-lt"/>
                          <a:ea typeface="+mn-ea"/>
                          <a:cs typeface="+mn-cs"/>
                        </a:rPr>
                        <a:t>2,2</a:t>
                      </a:r>
                    </a:p>
                  </a:txBody>
                  <a:tcPr marL="9525" marR="9525" marT="9525" marB="0" anchor="b">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chemeClr val="accent1">
                        <a:lumMod val="40000"/>
                        <a:lumOff val="60000"/>
                      </a:schemeClr>
                    </a:solidFill>
                  </a:tcPr>
                </a:tc>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marL="0" algn="ctr" defTabSz="914400" rtl="0" eaLnBrk="1" fontAlgn="b" latinLnBrk="0" hangingPunct="1"/>
                      <a:r>
                        <a:rPr lang="es-CO" sz="1800" b="1" kern="1200" dirty="0">
                          <a:solidFill>
                            <a:schemeClr val="tx1"/>
                          </a:solidFill>
                          <a:latin typeface="+mn-lt"/>
                          <a:ea typeface="+mn-ea"/>
                          <a:cs typeface="+mn-cs"/>
                        </a:rPr>
                        <a:t>2,0</a:t>
                      </a:r>
                    </a:p>
                  </a:txBody>
                  <a:tcPr marL="9525" marR="9525" marT="9525" marB="0" anchor="b">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chemeClr val="accent1">
                        <a:lumMod val="40000"/>
                        <a:lumOff val="60000"/>
                      </a:schemeClr>
                    </a:solidFill>
                  </a:tcPr>
                </a:tc>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marL="0" algn="ctr" defTabSz="914400" rtl="0" eaLnBrk="1" fontAlgn="b" latinLnBrk="0" hangingPunct="1"/>
                      <a:r>
                        <a:rPr lang="es-CO" sz="1800" b="1" kern="1200" dirty="0">
                          <a:solidFill>
                            <a:schemeClr val="tx1"/>
                          </a:solidFill>
                          <a:latin typeface="+mn-lt"/>
                          <a:ea typeface="+mn-ea"/>
                          <a:cs typeface="+mn-cs"/>
                        </a:rPr>
                        <a:t>4,0</a:t>
                      </a:r>
                    </a:p>
                  </a:txBody>
                  <a:tcPr marL="9525" marR="9525" marT="9525" marB="0" anchor="b">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chemeClr val="accent1">
                        <a:lumMod val="40000"/>
                        <a:lumOff val="60000"/>
                      </a:schemeClr>
                    </a:solidFill>
                  </a:tcPr>
                </a:tc>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marL="0" algn="ctr" defTabSz="914400" rtl="0" eaLnBrk="1" fontAlgn="b" latinLnBrk="0" hangingPunct="1"/>
                      <a:r>
                        <a:rPr lang="es-CO" sz="1800" b="1" kern="1200" dirty="0">
                          <a:solidFill>
                            <a:schemeClr val="tx1"/>
                          </a:solidFill>
                          <a:latin typeface="+mn-lt"/>
                          <a:ea typeface="+mn-ea"/>
                          <a:cs typeface="+mn-cs"/>
                        </a:rPr>
                        <a:t>3,3</a:t>
                      </a:r>
                    </a:p>
                  </a:txBody>
                  <a:tcPr marL="9525" marR="9525" marT="9525" marB="0" anchor="b">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chemeClr val="accent1">
                        <a:lumMod val="40000"/>
                        <a:lumOff val="60000"/>
                      </a:schemeClr>
                    </a:solidFill>
                  </a:tcPr>
                </a:tc>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marL="0" algn="ctr" defTabSz="914400" rtl="0" eaLnBrk="1" fontAlgn="b" latinLnBrk="0" hangingPunct="1"/>
                      <a:r>
                        <a:rPr lang="es-CO" sz="1800" b="1" kern="1200" dirty="0">
                          <a:solidFill>
                            <a:schemeClr val="tx1"/>
                          </a:solidFill>
                          <a:latin typeface="+mn-lt"/>
                          <a:ea typeface="+mn-ea"/>
                          <a:cs typeface="+mn-cs"/>
                        </a:rPr>
                        <a:t>3,3</a:t>
                      </a:r>
                    </a:p>
                  </a:txBody>
                  <a:tcPr marL="9525" marR="9525" marT="9525" marB="0" anchor="b">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chemeClr val="accent1">
                        <a:lumMod val="40000"/>
                        <a:lumOff val="60000"/>
                      </a:schemeClr>
                    </a:solidFill>
                  </a:tcPr>
                </a:tc>
                <a:extLst>
                  <a:ext uri="{0D108BD9-81ED-4DB2-BD59-A6C34878D82A}">
                    <a16:rowId xmlns:a16="http://schemas.microsoft.com/office/drawing/2014/main" val="10000"/>
                  </a:ext>
                </a:extLst>
              </a:tr>
            </a:tbl>
          </a:graphicData>
        </a:graphic>
      </p:graphicFrame>
      <p:sp>
        <p:nvSpPr>
          <p:cNvPr id="63" name="CuadroTexto 62"/>
          <p:cNvSpPr txBox="1"/>
          <p:nvPr/>
        </p:nvSpPr>
        <p:spPr>
          <a:xfrm>
            <a:off x="3777533" y="6189079"/>
            <a:ext cx="548548" cy="369332"/>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s-CO" sz="1800" b="1" i="0" u="none" strike="noStrike" kern="0" cap="none" spc="0" normalizeH="0" baseline="0" noProof="0" dirty="0">
                <a:ln>
                  <a:noFill/>
                </a:ln>
                <a:solidFill>
                  <a:prstClr val="black"/>
                </a:solidFill>
                <a:effectLst/>
                <a:uLnTx/>
                <a:uFillTx/>
              </a:rPr>
              <a:t>DEF</a:t>
            </a:r>
          </a:p>
        </p:txBody>
      </p:sp>
      <p:sp>
        <p:nvSpPr>
          <p:cNvPr id="64" name="CuadroTexto 63"/>
          <p:cNvSpPr txBox="1"/>
          <p:nvPr/>
        </p:nvSpPr>
        <p:spPr>
          <a:xfrm>
            <a:off x="4708594" y="5819747"/>
            <a:ext cx="4968552" cy="369332"/>
          </a:xfrm>
          <a:prstGeom prst="rect">
            <a:avLst/>
          </a:prstGeom>
          <a:noFill/>
        </p:spPr>
        <p:txBody>
          <a:bodyPr wrap="square" rtlCol="0">
            <a:spAutoFit/>
          </a:bodyPr>
          <a:lstStyle/>
          <a:p>
            <a:pPr lvl="0">
              <a:defRPr/>
            </a:pPr>
            <a:r>
              <a:rPr lang="es-CO" b="1" kern="0" dirty="0">
                <a:solidFill>
                  <a:srgbClr val="0070C0"/>
                </a:solidFill>
              </a:rPr>
              <a:t>0                    1 	        2	         3	            4</a:t>
            </a:r>
          </a:p>
        </p:txBody>
      </p:sp>
    </p:spTree>
    <p:extLst>
      <p:ext uri="{BB962C8B-B14F-4D97-AF65-F5344CB8AC3E}">
        <p14:creationId xmlns:p14="http://schemas.microsoft.com/office/powerpoint/2010/main" val="1218505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up)">
                                      <p:cBhvr>
                                        <p:cTn id="7" dur="10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uadroTexto 6">
            <a:extLst>
              <a:ext uri="{FF2B5EF4-FFF2-40B4-BE49-F238E27FC236}">
                <a16:creationId xmlns:a16="http://schemas.microsoft.com/office/drawing/2014/main" id="{B3245438-2EFA-4DBF-85CF-60E0A78BBF68}"/>
              </a:ext>
            </a:extLst>
          </p:cNvPr>
          <p:cNvSpPr txBox="1"/>
          <p:nvPr/>
        </p:nvSpPr>
        <p:spPr>
          <a:xfrm>
            <a:off x="783284" y="1015311"/>
            <a:ext cx="11284785" cy="1858518"/>
          </a:xfrm>
          <a:prstGeom prst="rect">
            <a:avLst/>
          </a:prstGeom>
          <a:solidFill>
            <a:schemeClr val="accent5">
              <a:lumMod val="20000"/>
              <a:lumOff val="80000"/>
            </a:schemeClr>
          </a:solidFill>
          <a:scene3d>
            <a:camera prst="orthographicFront"/>
            <a:lightRig rig="flat" dir="t"/>
          </a:scene3d>
          <a:sp3d/>
        </p:spPr>
        <p:style>
          <a:lnRef idx="0">
            <a:scrgbClr r="0" g="0" b="0"/>
          </a:lnRef>
          <a:fillRef idx="0">
            <a:scrgbClr r="0" g="0" b="0"/>
          </a:fillRef>
          <a:effectRef idx="0">
            <a:scrgbClr r="0" g="0" b="0"/>
          </a:effectRef>
          <a:fontRef idx="minor">
            <a:schemeClr val="dk1"/>
          </a:fontRef>
        </p:style>
        <p:txBody>
          <a:bodyPr spcFirstLastPara="0" vert="horz" wrap="square" lIns="121920" tIns="121920" rIns="121920" bIns="121920" numCol="1" spcCol="1270" anchor="ctr" anchorCtr="0">
            <a:noAutofit/>
          </a:bodyPr>
          <a:lstStyle>
            <a:defPPr>
              <a:defRPr lang="es-CO"/>
            </a:defPPr>
            <a:lvl1pPr algn="just">
              <a:defRPr sz="2400">
                <a:solidFill>
                  <a:schemeClr val="tx1"/>
                </a:solidFill>
              </a:defRPr>
            </a:lvl1pPr>
          </a:lstStyle>
          <a:p>
            <a:r>
              <a:rPr lang="es-CO" dirty="0"/>
              <a:t>Lo anterior puede agruparse de esta manera y hacerse las siguientes lecturas tomando el caso de PEDRO (COLUMNA 4):Nota en Inglés: 1,8; Nota en Física: 5,0; Nota en Ética: 1,0; Nota en Religión: 4,8; Nota en Química: 4,0 y Definitiva:3,3. En caso de pedir información por alguna asignatura, se hace un recorrido por filas </a:t>
            </a:r>
            <a:r>
              <a:rPr lang="es-CO" b="1" dirty="0"/>
              <a:t>(FUNDAMENTAL TENER ESTO CLARO)</a:t>
            </a:r>
            <a:r>
              <a:rPr lang="es-CO" dirty="0"/>
              <a:t>.</a:t>
            </a:r>
            <a:endParaRPr lang="es-MX" dirty="0"/>
          </a:p>
        </p:txBody>
      </p:sp>
      <p:sp>
        <p:nvSpPr>
          <p:cNvPr id="6" name="Título 1">
            <a:extLst>
              <a:ext uri="{FF2B5EF4-FFF2-40B4-BE49-F238E27FC236}">
                <a16:creationId xmlns:a16="http://schemas.microsoft.com/office/drawing/2014/main" id="{641536DB-22AF-43E4-B2DB-DB464E118EC6}"/>
              </a:ext>
            </a:extLst>
          </p:cNvPr>
          <p:cNvSpPr>
            <a:spLocks noGrp="1"/>
          </p:cNvSpPr>
          <p:nvPr>
            <p:ph type="title"/>
          </p:nvPr>
        </p:nvSpPr>
        <p:spPr>
          <a:xfrm>
            <a:off x="989994" y="0"/>
            <a:ext cx="10229386" cy="914400"/>
          </a:xfrm>
        </p:spPr>
        <p:txBody>
          <a:bodyPr vert="horz" lIns="91440" tIns="45720" rIns="91440" bIns="45720" rtlCol="0" anchor="ctr">
            <a:noAutofit/>
          </a:bodyPr>
          <a:lstStyle/>
          <a:p>
            <a:pPr algn="ctr"/>
            <a:r>
              <a:rPr lang="es-CO" sz="3800" b="1" dirty="0">
                <a:latin typeface="Bahnschrift Light SemiCondensed" panose="020B0502040204020203" pitchFamily="34" charset="0"/>
              </a:rPr>
              <a:t>“COMBINACIÓN DE ARREGLOS EN C++”</a:t>
            </a:r>
          </a:p>
        </p:txBody>
      </p:sp>
      <p:sp>
        <p:nvSpPr>
          <p:cNvPr id="41" name="Flecha abajo 40"/>
          <p:cNvSpPr/>
          <p:nvPr/>
        </p:nvSpPr>
        <p:spPr>
          <a:xfrm>
            <a:off x="7157797" y="3111508"/>
            <a:ext cx="683868" cy="3746492"/>
          </a:xfrm>
          <a:prstGeom prst="downArrow">
            <a:avLst/>
          </a:prstGeom>
        </p:spPr>
        <p:style>
          <a:lnRef idx="1">
            <a:schemeClr val="accent5"/>
          </a:lnRef>
          <a:fillRef idx="2">
            <a:schemeClr val="accent5"/>
          </a:fillRef>
          <a:effectRef idx="1">
            <a:schemeClr val="accent5"/>
          </a:effectRef>
          <a:fontRef idx="minor">
            <a:schemeClr val="dk1"/>
          </a:fontRef>
        </p:style>
        <p:txBody>
          <a:bodyPr rtlCol="0" anchor="ctr"/>
          <a:lstStyle/>
          <a:p>
            <a:pPr algn="ctr"/>
            <a:endParaRPr lang="es-CO" b="1">
              <a:solidFill>
                <a:schemeClr val="dk1"/>
              </a:solidFill>
            </a:endParaRPr>
          </a:p>
        </p:txBody>
      </p:sp>
      <p:sp>
        <p:nvSpPr>
          <p:cNvPr id="42" name="Text Box 15"/>
          <p:cNvSpPr txBox="1">
            <a:spLocks noChangeArrowheads="1"/>
          </p:cNvSpPr>
          <p:nvPr/>
        </p:nvSpPr>
        <p:spPr bwMode="auto">
          <a:xfrm>
            <a:off x="6764250" y="3486475"/>
            <a:ext cx="1841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altLang="es-CO" sz="1800" b="0" i="0" u="none" strike="noStrike" kern="0" cap="none" spc="0" normalizeH="0" baseline="0" noProof="0">
              <a:ln>
                <a:noFill/>
              </a:ln>
              <a:solidFill>
                <a:prstClr val="black"/>
              </a:solidFill>
              <a:effectLst/>
              <a:uLnTx/>
              <a:uFillTx/>
              <a:latin typeface="Arial" charset="0"/>
            </a:endParaRPr>
          </a:p>
        </p:txBody>
      </p:sp>
      <p:graphicFrame>
        <p:nvGraphicFramePr>
          <p:cNvPr id="43" name="Tabla 42"/>
          <p:cNvGraphicFramePr>
            <a:graphicFrameLocks noGrp="1"/>
          </p:cNvGraphicFramePr>
          <p:nvPr>
            <p:extLst>
              <p:ext uri="{D42A27DB-BD31-4B8C-83A1-F6EECF244321}">
                <p14:modId xmlns:p14="http://schemas.microsoft.com/office/powerpoint/2010/main" val="2700591713"/>
              </p:ext>
            </p:extLst>
          </p:nvPr>
        </p:nvGraphicFramePr>
        <p:xfrm>
          <a:off x="3850865" y="3360455"/>
          <a:ext cx="5293717" cy="370840"/>
        </p:xfrm>
        <a:graphic>
          <a:graphicData uri="http://schemas.openxmlformats.org/drawingml/2006/table">
            <a:tbl>
              <a:tblPr firstRow="1" bandRow="1"/>
              <a:tblGrid>
                <a:gridCol w="1033856">
                  <a:extLst>
                    <a:ext uri="{9D8B030D-6E8A-4147-A177-3AD203B41FA5}">
                      <a16:colId xmlns:a16="http://schemas.microsoft.com/office/drawing/2014/main" val="20000"/>
                    </a:ext>
                  </a:extLst>
                </a:gridCol>
                <a:gridCol w="1033856">
                  <a:extLst>
                    <a:ext uri="{9D8B030D-6E8A-4147-A177-3AD203B41FA5}">
                      <a16:colId xmlns:a16="http://schemas.microsoft.com/office/drawing/2014/main" val="20001"/>
                    </a:ext>
                  </a:extLst>
                </a:gridCol>
                <a:gridCol w="1108947">
                  <a:extLst>
                    <a:ext uri="{9D8B030D-6E8A-4147-A177-3AD203B41FA5}">
                      <a16:colId xmlns:a16="http://schemas.microsoft.com/office/drawing/2014/main" val="20002"/>
                    </a:ext>
                  </a:extLst>
                </a:gridCol>
                <a:gridCol w="1024383">
                  <a:extLst>
                    <a:ext uri="{9D8B030D-6E8A-4147-A177-3AD203B41FA5}">
                      <a16:colId xmlns:a16="http://schemas.microsoft.com/office/drawing/2014/main" val="20003"/>
                    </a:ext>
                  </a:extLst>
                </a:gridCol>
                <a:gridCol w="1092675">
                  <a:extLst>
                    <a:ext uri="{9D8B030D-6E8A-4147-A177-3AD203B41FA5}">
                      <a16:colId xmlns:a16="http://schemas.microsoft.com/office/drawing/2014/main" val="20004"/>
                    </a:ext>
                  </a:extLst>
                </a:gridCol>
              </a:tblGrid>
              <a:tr h="370840">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algn="ctr"/>
                      <a:r>
                        <a:rPr lang="es-CO" dirty="0">
                          <a:solidFill>
                            <a:schemeClr val="tx1"/>
                          </a:solidFill>
                        </a:rPr>
                        <a:t>JORGE</a:t>
                      </a:r>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algn="ctr"/>
                      <a:r>
                        <a:rPr lang="es-CO" dirty="0">
                          <a:solidFill>
                            <a:schemeClr val="tx1"/>
                          </a:solidFill>
                        </a:rPr>
                        <a:t>JUAN</a:t>
                      </a:r>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algn="ctr"/>
                      <a:r>
                        <a:rPr lang="es-CO" dirty="0">
                          <a:solidFill>
                            <a:schemeClr val="tx1"/>
                          </a:solidFill>
                        </a:rPr>
                        <a:t>CARLOS</a:t>
                      </a:r>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algn="ctr"/>
                      <a:r>
                        <a:rPr lang="es-CO" dirty="0">
                          <a:solidFill>
                            <a:schemeClr val="tx1"/>
                          </a:solidFill>
                        </a:rPr>
                        <a:t>PEDRO</a:t>
                      </a:r>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algn="ctr"/>
                      <a:r>
                        <a:rPr lang="es-CO" dirty="0">
                          <a:solidFill>
                            <a:schemeClr val="tx1"/>
                          </a:solidFill>
                        </a:rPr>
                        <a:t>LUIS</a:t>
                      </a:r>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extLst>
                  <a:ext uri="{0D108BD9-81ED-4DB2-BD59-A6C34878D82A}">
                    <a16:rowId xmlns:a16="http://schemas.microsoft.com/office/drawing/2014/main" val="10000"/>
                  </a:ext>
                </a:extLst>
              </a:tr>
            </a:tbl>
          </a:graphicData>
        </a:graphic>
      </p:graphicFrame>
      <p:sp>
        <p:nvSpPr>
          <p:cNvPr id="44" name="CuadroTexto 43"/>
          <p:cNvSpPr txBox="1"/>
          <p:nvPr/>
        </p:nvSpPr>
        <p:spPr>
          <a:xfrm>
            <a:off x="3026230" y="3360455"/>
            <a:ext cx="694421" cy="369332"/>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s-CO" sz="1800" b="1" i="0" u="none" strike="noStrike" kern="0" cap="none" spc="0" normalizeH="0" baseline="0" noProof="0" dirty="0">
                <a:ln>
                  <a:noFill/>
                </a:ln>
                <a:solidFill>
                  <a:prstClr val="black"/>
                </a:solidFill>
                <a:effectLst/>
                <a:uLnTx/>
                <a:uFillTx/>
              </a:rPr>
              <a:t>NOM</a:t>
            </a:r>
          </a:p>
        </p:txBody>
      </p:sp>
      <p:sp>
        <p:nvSpPr>
          <p:cNvPr id="45" name="CuadroTexto 44"/>
          <p:cNvSpPr txBox="1"/>
          <p:nvPr/>
        </p:nvSpPr>
        <p:spPr>
          <a:xfrm>
            <a:off x="3021781" y="3669831"/>
            <a:ext cx="854721" cy="369332"/>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s-CO" sz="1800" b="1" i="0" u="none" strike="noStrike" kern="0" cap="none" spc="0" normalizeH="0" baseline="0" noProof="0" dirty="0">
                <a:ln>
                  <a:noFill/>
                </a:ln>
                <a:solidFill>
                  <a:prstClr val="black"/>
                </a:solidFill>
                <a:effectLst/>
                <a:uLnTx/>
                <a:uFillTx/>
              </a:rPr>
              <a:t>NOTAS</a:t>
            </a:r>
          </a:p>
        </p:txBody>
      </p:sp>
      <p:sp>
        <p:nvSpPr>
          <p:cNvPr id="46" name="CuadroTexto 45"/>
          <p:cNvSpPr txBox="1"/>
          <p:nvPr/>
        </p:nvSpPr>
        <p:spPr>
          <a:xfrm>
            <a:off x="4249830" y="3055774"/>
            <a:ext cx="4968552" cy="369332"/>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s-CO" sz="1800" b="0" i="0" u="none" strike="noStrike" kern="0" cap="none" spc="0" normalizeH="0" baseline="0" noProof="0" dirty="0">
                <a:ln>
                  <a:noFill/>
                </a:ln>
                <a:solidFill>
                  <a:srgbClr val="0C77C3"/>
                </a:solidFill>
                <a:effectLst/>
                <a:uLnTx/>
                <a:uFillTx/>
              </a:rPr>
              <a:t>0	1 	      2	       3	        4</a:t>
            </a:r>
          </a:p>
        </p:txBody>
      </p:sp>
      <p:graphicFrame>
        <p:nvGraphicFramePr>
          <p:cNvPr id="47" name="Tabla 46"/>
          <p:cNvGraphicFramePr>
            <a:graphicFrameLocks noGrp="1"/>
          </p:cNvGraphicFramePr>
          <p:nvPr>
            <p:extLst>
              <p:ext uri="{D42A27DB-BD31-4B8C-83A1-F6EECF244321}">
                <p14:modId xmlns:p14="http://schemas.microsoft.com/office/powerpoint/2010/main" val="1370446518"/>
              </p:ext>
            </p:extLst>
          </p:nvPr>
        </p:nvGraphicFramePr>
        <p:xfrm>
          <a:off x="3824122" y="3844937"/>
          <a:ext cx="5293715" cy="1854200"/>
        </p:xfrm>
        <a:graphic>
          <a:graphicData uri="http://schemas.openxmlformats.org/drawingml/2006/table">
            <a:tbl>
              <a:tblPr firstRow="1" bandRow="1"/>
              <a:tblGrid>
                <a:gridCol w="1058743">
                  <a:extLst>
                    <a:ext uri="{9D8B030D-6E8A-4147-A177-3AD203B41FA5}">
                      <a16:colId xmlns:a16="http://schemas.microsoft.com/office/drawing/2014/main" val="20000"/>
                    </a:ext>
                  </a:extLst>
                </a:gridCol>
                <a:gridCol w="1058743">
                  <a:extLst>
                    <a:ext uri="{9D8B030D-6E8A-4147-A177-3AD203B41FA5}">
                      <a16:colId xmlns:a16="http://schemas.microsoft.com/office/drawing/2014/main" val="20001"/>
                    </a:ext>
                  </a:extLst>
                </a:gridCol>
                <a:gridCol w="1058743">
                  <a:extLst>
                    <a:ext uri="{9D8B030D-6E8A-4147-A177-3AD203B41FA5}">
                      <a16:colId xmlns:a16="http://schemas.microsoft.com/office/drawing/2014/main" val="20002"/>
                    </a:ext>
                  </a:extLst>
                </a:gridCol>
                <a:gridCol w="1058743">
                  <a:extLst>
                    <a:ext uri="{9D8B030D-6E8A-4147-A177-3AD203B41FA5}">
                      <a16:colId xmlns:a16="http://schemas.microsoft.com/office/drawing/2014/main" val="20003"/>
                    </a:ext>
                  </a:extLst>
                </a:gridCol>
                <a:gridCol w="1058743">
                  <a:extLst>
                    <a:ext uri="{9D8B030D-6E8A-4147-A177-3AD203B41FA5}">
                      <a16:colId xmlns:a16="http://schemas.microsoft.com/office/drawing/2014/main" val="20004"/>
                    </a:ext>
                  </a:extLst>
                </a:gridCol>
              </a:tblGrid>
              <a:tr h="370840">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marL="0" algn="ctr" defTabSz="914400" rtl="0" eaLnBrk="1" latinLnBrk="0" hangingPunct="1"/>
                      <a:r>
                        <a:rPr lang="es-CO" sz="1800" b="1" kern="1200" dirty="0">
                          <a:solidFill>
                            <a:schemeClr val="tx1"/>
                          </a:solidFill>
                          <a:latin typeface="+mn-lt"/>
                          <a:ea typeface="+mn-ea"/>
                          <a:cs typeface="+mn-cs"/>
                        </a:rPr>
                        <a:t>3,2</a:t>
                      </a:r>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marL="0" algn="ctr" defTabSz="914400" rtl="0" eaLnBrk="1" latinLnBrk="0" hangingPunct="1"/>
                      <a:r>
                        <a:rPr lang="es-CO" sz="1800" b="1" kern="1200" dirty="0">
                          <a:solidFill>
                            <a:schemeClr val="tx1"/>
                          </a:solidFill>
                          <a:latin typeface="+mn-lt"/>
                          <a:ea typeface="+mn-ea"/>
                          <a:cs typeface="+mn-cs"/>
                        </a:rPr>
                        <a:t>4,5</a:t>
                      </a:r>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marL="0" algn="ctr" defTabSz="914400" rtl="0" eaLnBrk="1" latinLnBrk="0" hangingPunct="1"/>
                      <a:r>
                        <a:rPr lang="es-CO" sz="1800" b="1" kern="1200" dirty="0">
                          <a:solidFill>
                            <a:schemeClr val="tx1"/>
                          </a:solidFill>
                          <a:latin typeface="+mn-lt"/>
                          <a:ea typeface="+mn-ea"/>
                          <a:cs typeface="+mn-cs"/>
                        </a:rPr>
                        <a:t>5,0</a:t>
                      </a:r>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marL="0" algn="ctr" defTabSz="914400" rtl="0" eaLnBrk="1" latinLnBrk="0" hangingPunct="1"/>
                      <a:r>
                        <a:rPr lang="es-CO" sz="1800" b="1" kern="1200" dirty="0">
                          <a:solidFill>
                            <a:schemeClr val="tx1"/>
                          </a:solidFill>
                          <a:latin typeface="+mn-lt"/>
                          <a:ea typeface="+mn-ea"/>
                          <a:cs typeface="+mn-cs"/>
                        </a:rPr>
                        <a:t>1,8</a:t>
                      </a:r>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marL="0" algn="ctr" defTabSz="914400" rtl="0" eaLnBrk="1" latinLnBrk="0" hangingPunct="1"/>
                      <a:r>
                        <a:rPr lang="es-CO" sz="1800" b="1" kern="1200" dirty="0">
                          <a:solidFill>
                            <a:schemeClr val="tx1"/>
                          </a:solidFill>
                          <a:latin typeface="+mn-lt"/>
                          <a:ea typeface="+mn-ea"/>
                          <a:cs typeface="+mn-cs"/>
                        </a:rPr>
                        <a:t>2,1</a:t>
                      </a:r>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extLst>
                  <a:ext uri="{0D108BD9-81ED-4DB2-BD59-A6C34878D82A}">
                    <a16:rowId xmlns:a16="http://schemas.microsoft.com/office/drawing/2014/main" val="10000"/>
                  </a:ext>
                </a:extLst>
              </a:tr>
              <a:tr h="370840">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marL="0" algn="ctr" defTabSz="914400" rtl="0" eaLnBrk="1" latinLnBrk="0" hangingPunct="1"/>
                      <a:r>
                        <a:rPr lang="es-CO" sz="1800" b="1" kern="1200" dirty="0">
                          <a:solidFill>
                            <a:schemeClr val="tx1"/>
                          </a:solidFill>
                          <a:latin typeface="+mn-lt"/>
                          <a:ea typeface="+mn-ea"/>
                          <a:cs typeface="+mn-cs"/>
                        </a:rPr>
                        <a:t>4,0</a:t>
                      </a:r>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marL="0" algn="ctr" defTabSz="914400" rtl="0" eaLnBrk="1" latinLnBrk="0" hangingPunct="1"/>
                      <a:r>
                        <a:rPr lang="es-CO" sz="1800" b="1" kern="1200" dirty="0">
                          <a:solidFill>
                            <a:schemeClr val="tx1"/>
                          </a:solidFill>
                          <a:latin typeface="+mn-lt"/>
                          <a:ea typeface="+mn-ea"/>
                          <a:cs typeface="+mn-cs"/>
                        </a:rPr>
                        <a:t>3,0</a:t>
                      </a:r>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marL="0" algn="ctr" defTabSz="914400" rtl="0" eaLnBrk="1" latinLnBrk="0" hangingPunct="1"/>
                      <a:r>
                        <a:rPr lang="es-CO" sz="1800" b="1" kern="1200" dirty="0">
                          <a:solidFill>
                            <a:schemeClr val="tx1"/>
                          </a:solidFill>
                          <a:latin typeface="+mn-lt"/>
                          <a:ea typeface="+mn-ea"/>
                          <a:cs typeface="+mn-cs"/>
                        </a:rPr>
                        <a:t>4,8</a:t>
                      </a:r>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marL="0" algn="ctr" defTabSz="914400" rtl="0" eaLnBrk="1" latinLnBrk="0" hangingPunct="1"/>
                      <a:r>
                        <a:rPr lang="es-CO" sz="1800" b="1" kern="1200" dirty="0">
                          <a:solidFill>
                            <a:schemeClr val="tx1"/>
                          </a:solidFill>
                          <a:latin typeface="+mn-lt"/>
                          <a:ea typeface="+mn-ea"/>
                          <a:cs typeface="+mn-cs"/>
                        </a:rPr>
                        <a:t>5,0</a:t>
                      </a:r>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marL="0" algn="ctr" defTabSz="914400" rtl="0" eaLnBrk="1" latinLnBrk="0" hangingPunct="1"/>
                      <a:r>
                        <a:rPr lang="es-CO" sz="1800" b="1" kern="1200" dirty="0">
                          <a:solidFill>
                            <a:schemeClr val="tx1"/>
                          </a:solidFill>
                          <a:latin typeface="+mn-lt"/>
                          <a:ea typeface="+mn-ea"/>
                          <a:cs typeface="+mn-cs"/>
                        </a:rPr>
                        <a:t>3,2</a:t>
                      </a:r>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extLst>
                  <a:ext uri="{0D108BD9-81ED-4DB2-BD59-A6C34878D82A}">
                    <a16:rowId xmlns:a16="http://schemas.microsoft.com/office/drawing/2014/main" val="10001"/>
                  </a:ext>
                </a:extLst>
              </a:tr>
              <a:tr h="370840">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marL="0" algn="ctr" defTabSz="914400" rtl="0" eaLnBrk="1" latinLnBrk="0" hangingPunct="1"/>
                      <a:r>
                        <a:rPr lang="es-CO" sz="1800" b="1" kern="1200" dirty="0">
                          <a:solidFill>
                            <a:schemeClr val="tx1"/>
                          </a:solidFill>
                          <a:latin typeface="+mn-lt"/>
                          <a:ea typeface="+mn-ea"/>
                          <a:cs typeface="+mn-cs"/>
                        </a:rPr>
                        <a:t>1,0</a:t>
                      </a:r>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marL="0" algn="ctr" defTabSz="914400" rtl="0" eaLnBrk="1" latinLnBrk="0" hangingPunct="1"/>
                      <a:r>
                        <a:rPr lang="es-CO" sz="1800" b="1" kern="1200" dirty="0">
                          <a:solidFill>
                            <a:schemeClr val="tx1"/>
                          </a:solidFill>
                          <a:latin typeface="+mn-lt"/>
                          <a:ea typeface="+mn-ea"/>
                          <a:cs typeface="+mn-cs"/>
                        </a:rPr>
                        <a:t>0,0</a:t>
                      </a:r>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marL="0" algn="ctr" defTabSz="914400" rtl="0" eaLnBrk="1" latinLnBrk="0" hangingPunct="1"/>
                      <a:r>
                        <a:rPr lang="es-CO" sz="1800" b="1" kern="1200" dirty="0">
                          <a:solidFill>
                            <a:schemeClr val="tx1"/>
                          </a:solidFill>
                          <a:latin typeface="+mn-lt"/>
                          <a:ea typeface="+mn-ea"/>
                          <a:cs typeface="+mn-cs"/>
                        </a:rPr>
                        <a:t>0,2</a:t>
                      </a:r>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marL="0" algn="ctr" defTabSz="914400" rtl="0" eaLnBrk="1" latinLnBrk="0" hangingPunct="1"/>
                      <a:r>
                        <a:rPr lang="es-CO" sz="1800" b="1" kern="1200" dirty="0">
                          <a:solidFill>
                            <a:schemeClr val="tx1"/>
                          </a:solidFill>
                          <a:latin typeface="+mn-lt"/>
                          <a:ea typeface="+mn-ea"/>
                          <a:cs typeface="+mn-cs"/>
                        </a:rPr>
                        <a:t>1,0</a:t>
                      </a:r>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marL="0" algn="ctr" defTabSz="914400" rtl="0" eaLnBrk="1" latinLnBrk="0" hangingPunct="1"/>
                      <a:r>
                        <a:rPr lang="es-CO" sz="1800" b="1" kern="1200" dirty="0">
                          <a:solidFill>
                            <a:schemeClr val="tx1"/>
                          </a:solidFill>
                          <a:latin typeface="+mn-lt"/>
                          <a:ea typeface="+mn-ea"/>
                          <a:cs typeface="+mn-cs"/>
                        </a:rPr>
                        <a:t>4,0</a:t>
                      </a:r>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extLst>
                  <a:ext uri="{0D108BD9-81ED-4DB2-BD59-A6C34878D82A}">
                    <a16:rowId xmlns:a16="http://schemas.microsoft.com/office/drawing/2014/main" val="10002"/>
                  </a:ext>
                </a:extLst>
              </a:tr>
              <a:tr h="370840">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marL="0" algn="ctr" defTabSz="914400" rtl="0" eaLnBrk="1" latinLnBrk="0" hangingPunct="1"/>
                      <a:r>
                        <a:rPr lang="es-CO" sz="1800" b="1" kern="1200" dirty="0">
                          <a:solidFill>
                            <a:schemeClr val="tx1"/>
                          </a:solidFill>
                          <a:latin typeface="+mn-lt"/>
                          <a:ea typeface="+mn-ea"/>
                          <a:cs typeface="+mn-cs"/>
                        </a:rPr>
                        <a:t>2,0</a:t>
                      </a:r>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marL="0" algn="ctr" defTabSz="914400" rtl="0" eaLnBrk="1" latinLnBrk="0" hangingPunct="1"/>
                      <a:r>
                        <a:rPr lang="es-CO" sz="1800" b="1" kern="1200" dirty="0">
                          <a:solidFill>
                            <a:schemeClr val="tx1"/>
                          </a:solidFill>
                          <a:latin typeface="+mn-lt"/>
                          <a:ea typeface="+mn-ea"/>
                          <a:cs typeface="+mn-cs"/>
                        </a:rPr>
                        <a:t>2,1</a:t>
                      </a:r>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marL="0" algn="ctr" defTabSz="914400" rtl="0" eaLnBrk="1" latinLnBrk="0" hangingPunct="1"/>
                      <a:r>
                        <a:rPr lang="es-CO" sz="1800" b="1" kern="1200" dirty="0">
                          <a:solidFill>
                            <a:schemeClr val="tx1"/>
                          </a:solidFill>
                          <a:latin typeface="+mn-lt"/>
                          <a:ea typeface="+mn-ea"/>
                          <a:cs typeface="+mn-cs"/>
                        </a:rPr>
                        <a:t>4,9</a:t>
                      </a:r>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marL="0" algn="ctr" defTabSz="914400" rtl="0" eaLnBrk="1" latinLnBrk="0" hangingPunct="1"/>
                      <a:r>
                        <a:rPr lang="es-CO" sz="1800" b="1" kern="1200" dirty="0">
                          <a:solidFill>
                            <a:schemeClr val="tx1"/>
                          </a:solidFill>
                          <a:latin typeface="+mn-lt"/>
                          <a:ea typeface="+mn-ea"/>
                          <a:cs typeface="+mn-cs"/>
                        </a:rPr>
                        <a:t>4,8</a:t>
                      </a:r>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marL="0" algn="ctr" defTabSz="914400" rtl="0" eaLnBrk="1" latinLnBrk="0" hangingPunct="1"/>
                      <a:r>
                        <a:rPr lang="es-CO" sz="1800" b="1" kern="1200" dirty="0">
                          <a:solidFill>
                            <a:schemeClr val="tx1"/>
                          </a:solidFill>
                          <a:latin typeface="+mn-lt"/>
                          <a:ea typeface="+mn-ea"/>
                          <a:cs typeface="+mn-cs"/>
                        </a:rPr>
                        <a:t>4,0</a:t>
                      </a:r>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extLst>
                  <a:ext uri="{0D108BD9-81ED-4DB2-BD59-A6C34878D82A}">
                    <a16:rowId xmlns:a16="http://schemas.microsoft.com/office/drawing/2014/main" val="10003"/>
                  </a:ext>
                </a:extLst>
              </a:tr>
              <a:tr h="370840">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marL="0" algn="ctr" defTabSz="914400" rtl="0" eaLnBrk="1" latinLnBrk="0" hangingPunct="1"/>
                      <a:r>
                        <a:rPr lang="es-CO" sz="1800" b="1" kern="1200" dirty="0">
                          <a:solidFill>
                            <a:schemeClr val="tx1"/>
                          </a:solidFill>
                          <a:latin typeface="+mn-lt"/>
                          <a:ea typeface="+mn-ea"/>
                          <a:cs typeface="+mn-cs"/>
                        </a:rPr>
                        <a:t>1,0</a:t>
                      </a:r>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marL="0" algn="ctr" defTabSz="914400" rtl="0" eaLnBrk="1" latinLnBrk="0" hangingPunct="1"/>
                      <a:r>
                        <a:rPr lang="es-CO" sz="1800" b="1" kern="1200" dirty="0">
                          <a:solidFill>
                            <a:schemeClr val="tx1"/>
                          </a:solidFill>
                          <a:latin typeface="+mn-lt"/>
                          <a:ea typeface="+mn-ea"/>
                          <a:cs typeface="+mn-cs"/>
                        </a:rPr>
                        <a:t>0,5</a:t>
                      </a:r>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marL="0" algn="ctr" defTabSz="914400" rtl="0" eaLnBrk="1" latinLnBrk="0" hangingPunct="1"/>
                      <a:r>
                        <a:rPr lang="es-CO" sz="1800" b="1" kern="1200" dirty="0">
                          <a:solidFill>
                            <a:schemeClr val="tx1"/>
                          </a:solidFill>
                          <a:latin typeface="+mn-lt"/>
                          <a:ea typeface="+mn-ea"/>
                          <a:cs typeface="+mn-cs"/>
                        </a:rPr>
                        <a:t>5,0</a:t>
                      </a:r>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marL="0" algn="ctr" defTabSz="914400" rtl="0" eaLnBrk="1" latinLnBrk="0" hangingPunct="1"/>
                      <a:r>
                        <a:rPr lang="es-CO" sz="1800" b="1" kern="1200" dirty="0">
                          <a:solidFill>
                            <a:schemeClr val="tx1"/>
                          </a:solidFill>
                          <a:latin typeface="+mn-lt"/>
                          <a:ea typeface="+mn-ea"/>
                          <a:cs typeface="+mn-cs"/>
                        </a:rPr>
                        <a:t>4,0</a:t>
                      </a:r>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marL="0" algn="ctr" defTabSz="914400" rtl="0" eaLnBrk="1" latinLnBrk="0" hangingPunct="1"/>
                      <a:r>
                        <a:rPr lang="es-CO" sz="1800" b="1" kern="1200" dirty="0">
                          <a:solidFill>
                            <a:schemeClr val="tx1"/>
                          </a:solidFill>
                          <a:latin typeface="+mn-lt"/>
                          <a:ea typeface="+mn-ea"/>
                          <a:cs typeface="+mn-cs"/>
                        </a:rPr>
                        <a:t>3,0</a:t>
                      </a:r>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extLst>
                  <a:ext uri="{0D108BD9-81ED-4DB2-BD59-A6C34878D82A}">
                    <a16:rowId xmlns:a16="http://schemas.microsoft.com/office/drawing/2014/main" val="10004"/>
                  </a:ext>
                </a:extLst>
              </a:tr>
            </a:tbl>
          </a:graphicData>
        </a:graphic>
      </p:graphicFrame>
      <p:graphicFrame>
        <p:nvGraphicFramePr>
          <p:cNvPr id="49" name="Tabla 48"/>
          <p:cNvGraphicFramePr>
            <a:graphicFrameLocks noGrp="1"/>
          </p:cNvGraphicFramePr>
          <p:nvPr>
            <p:extLst>
              <p:ext uri="{D42A27DB-BD31-4B8C-83A1-F6EECF244321}">
                <p14:modId xmlns:p14="http://schemas.microsoft.com/office/powerpoint/2010/main" val="911676325"/>
              </p:ext>
            </p:extLst>
          </p:nvPr>
        </p:nvGraphicFramePr>
        <p:xfrm>
          <a:off x="1738590" y="3840281"/>
          <a:ext cx="970970" cy="1854200"/>
        </p:xfrm>
        <a:graphic>
          <a:graphicData uri="http://schemas.openxmlformats.org/drawingml/2006/table">
            <a:tbl>
              <a:tblPr firstRow="1" bandRow="1"/>
              <a:tblGrid>
                <a:gridCol w="970970">
                  <a:extLst>
                    <a:ext uri="{9D8B030D-6E8A-4147-A177-3AD203B41FA5}">
                      <a16:colId xmlns:a16="http://schemas.microsoft.com/office/drawing/2014/main" val="20000"/>
                    </a:ext>
                  </a:extLst>
                </a:gridCol>
              </a:tblGrid>
              <a:tr h="370840">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algn="ctr"/>
                      <a:r>
                        <a:rPr lang="es-CO" b="0" dirty="0">
                          <a:solidFill>
                            <a:schemeClr val="tx1"/>
                          </a:solidFill>
                        </a:rPr>
                        <a:t>Inglés</a:t>
                      </a:r>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extLst>
                  <a:ext uri="{0D108BD9-81ED-4DB2-BD59-A6C34878D82A}">
                    <a16:rowId xmlns:a16="http://schemas.microsoft.com/office/drawing/2014/main" val="10000"/>
                  </a:ext>
                </a:extLst>
              </a:tr>
              <a:tr h="370840">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es-CO" b="0" dirty="0">
                          <a:solidFill>
                            <a:schemeClr val="tx1"/>
                          </a:solidFill>
                        </a:rPr>
                        <a:t>Física</a:t>
                      </a:r>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extLst>
                  <a:ext uri="{0D108BD9-81ED-4DB2-BD59-A6C34878D82A}">
                    <a16:rowId xmlns:a16="http://schemas.microsoft.com/office/drawing/2014/main" val="10001"/>
                  </a:ext>
                </a:extLst>
              </a:tr>
              <a:tr h="370840">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es-CO" b="0" dirty="0">
                          <a:solidFill>
                            <a:schemeClr val="tx1"/>
                          </a:solidFill>
                        </a:rPr>
                        <a:t>Ética</a:t>
                      </a:r>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extLst>
                  <a:ext uri="{0D108BD9-81ED-4DB2-BD59-A6C34878D82A}">
                    <a16:rowId xmlns:a16="http://schemas.microsoft.com/office/drawing/2014/main" val="10002"/>
                  </a:ext>
                </a:extLst>
              </a:tr>
              <a:tr h="370840">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es-CO" b="0" dirty="0">
                          <a:solidFill>
                            <a:schemeClr val="tx1"/>
                          </a:solidFill>
                        </a:rPr>
                        <a:t>Religión</a:t>
                      </a:r>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extLst>
                  <a:ext uri="{0D108BD9-81ED-4DB2-BD59-A6C34878D82A}">
                    <a16:rowId xmlns:a16="http://schemas.microsoft.com/office/drawing/2014/main" val="10003"/>
                  </a:ext>
                </a:extLst>
              </a:tr>
              <a:tr h="370840">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es-CO" b="0" dirty="0">
                          <a:solidFill>
                            <a:schemeClr val="tx1"/>
                          </a:solidFill>
                        </a:rPr>
                        <a:t>Química</a:t>
                      </a:r>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extLst>
                  <a:ext uri="{0D108BD9-81ED-4DB2-BD59-A6C34878D82A}">
                    <a16:rowId xmlns:a16="http://schemas.microsoft.com/office/drawing/2014/main" val="10004"/>
                  </a:ext>
                </a:extLst>
              </a:tr>
            </a:tbl>
          </a:graphicData>
        </a:graphic>
      </p:graphicFrame>
      <p:sp>
        <p:nvSpPr>
          <p:cNvPr id="50" name="CuadroTexto 49"/>
          <p:cNvSpPr txBox="1"/>
          <p:nvPr/>
        </p:nvSpPr>
        <p:spPr>
          <a:xfrm>
            <a:off x="1701019" y="3360455"/>
            <a:ext cx="1064330" cy="369332"/>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s-CO" sz="1800" b="1" i="0" u="none" strike="noStrike" kern="0" cap="none" spc="0" normalizeH="0" baseline="0" noProof="0" dirty="0">
                <a:ln>
                  <a:noFill/>
                </a:ln>
                <a:solidFill>
                  <a:prstClr val="black"/>
                </a:solidFill>
                <a:effectLst/>
                <a:uLnTx/>
                <a:uFillTx/>
              </a:rPr>
              <a:t>MATERIA</a:t>
            </a:r>
          </a:p>
        </p:txBody>
      </p:sp>
      <p:graphicFrame>
        <p:nvGraphicFramePr>
          <p:cNvPr id="51" name="Tabla 50"/>
          <p:cNvGraphicFramePr>
            <a:graphicFrameLocks noGrp="1"/>
          </p:cNvGraphicFramePr>
          <p:nvPr>
            <p:extLst>
              <p:ext uri="{D42A27DB-BD31-4B8C-83A1-F6EECF244321}">
                <p14:modId xmlns:p14="http://schemas.microsoft.com/office/powerpoint/2010/main" val="4045183033"/>
              </p:ext>
            </p:extLst>
          </p:nvPr>
        </p:nvGraphicFramePr>
        <p:xfrm>
          <a:off x="3841990" y="6050806"/>
          <a:ext cx="5293717" cy="370840"/>
        </p:xfrm>
        <a:graphic>
          <a:graphicData uri="http://schemas.openxmlformats.org/drawingml/2006/table">
            <a:tbl>
              <a:tblPr firstRow="1" bandRow="1"/>
              <a:tblGrid>
                <a:gridCol w="1033856">
                  <a:extLst>
                    <a:ext uri="{9D8B030D-6E8A-4147-A177-3AD203B41FA5}">
                      <a16:colId xmlns:a16="http://schemas.microsoft.com/office/drawing/2014/main" val="20000"/>
                    </a:ext>
                  </a:extLst>
                </a:gridCol>
                <a:gridCol w="1033856">
                  <a:extLst>
                    <a:ext uri="{9D8B030D-6E8A-4147-A177-3AD203B41FA5}">
                      <a16:colId xmlns:a16="http://schemas.microsoft.com/office/drawing/2014/main" val="20001"/>
                    </a:ext>
                  </a:extLst>
                </a:gridCol>
                <a:gridCol w="1108947">
                  <a:extLst>
                    <a:ext uri="{9D8B030D-6E8A-4147-A177-3AD203B41FA5}">
                      <a16:colId xmlns:a16="http://schemas.microsoft.com/office/drawing/2014/main" val="20002"/>
                    </a:ext>
                  </a:extLst>
                </a:gridCol>
                <a:gridCol w="1024383">
                  <a:extLst>
                    <a:ext uri="{9D8B030D-6E8A-4147-A177-3AD203B41FA5}">
                      <a16:colId xmlns:a16="http://schemas.microsoft.com/office/drawing/2014/main" val="20003"/>
                    </a:ext>
                  </a:extLst>
                </a:gridCol>
                <a:gridCol w="1092675">
                  <a:extLst>
                    <a:ext uri="{9D8B030D-6E8A-4147-A177-3AD203B41FA5}">
                      <a16:colId xmlns:a16="http://schemas.microsoft.com/office/drawing/2014/main" val="20004"/>
                    </a:ext>
                  </a:extLst>
                </a:gridCol>
              </a:tblGrid>
              <a:tr h="370840">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marL="0" algn="ctr" defTabSz="914400" rtl="0" eaLnBrk="1" fontAlgn="b" latinLnBrk="0" hangingPunct="1"/>
                      <a:r>
                        <a:rPr lang="es-CO" sz="1800" b="1" kern="1200" dirty="0">
                          <a:solidFill>
                            <a:schemeClr val="tx1"/>
                          </a:solidFill>
                          <a:latin typeface="+mn-lt"/>
                          <a:ea typeface="+mn-ea"/>
                          <a:cs typeface="+mn-cs"/>
                        </a:rPr>
                        <a:t>2,2</a:t>
                      </a:r>
                    </a:p>
                  </a:txBody>
                  <a:tcPr marL="9525" marR="9525" marT="9525" marB="0" anchor="b">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marL="0" algn="ctr" defTabSz="914400" rtl="0" eaLnBrk="1" fontAlgn="b" latinLnBrk="0" hangingPunct="1"/>
                      <a:r>
                        <a:rPr lang="es-CO" sz="1800" b="1" kern="1200" dirty="0">
                          <a:solidFill>
                            <a:schemeClr val="tx1"/>
                          </a:solidFill>
                          <a:latin typeface="+mn-lt"/>
                          <a:ea typeface="+mn-ea"/>
                          <a:cs typeface="+mn-cs"/>
                        </a:rPr>
                        <a:t>2,0</a:t>
                      </a:r>
                    </a:p>
                  </a:txBody>
                  <a:tcPr marL="9525" marR="9525" marT="9525" marB="0" anchor="b">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marL="0" algn="ctr" defTabSz="914400" rtl="0" eaLnBrk="1" fontAlgn="b" latinLnBrk="0" hangingPunct="1"/>
                      <a:r>
                        <a:rPr lang="es-CO" sz="1800" b="1" kern="1200" dirty="0">
                          <a:solidFill>
                            <a:schemeClr val="tx1"/>
                          </a:solidFill>
                          <a:latin typeface="+mn-lt"/>
                          <a:ea typeface="+mn-ea"/>
                          <a:cs typeface="+mn-cs"/>
                        </a:rPr>
                        <a:t>4,0</a:t>
                      </a:r>
                    </a:p>
                  </a:txBody>
                  <a:tcPr marL="9525" marR="9525" marT="9525" marB="0" anchor="b">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marL="0" algn="ctr" defTabSz="914400" rtl="0" eaLnBrk="1" fontAlgn="b" latinLnBrk="0" hangingPunct="1"/>
                      <a:r>
                        <a:rPr lang="es-CO" sz="1800" b="1" kern="1200" dirty="0">
                          <a:solidFill>
                            <a:schemeClr val="tx1"/>
                          </a:solidFill>
                          <a:latin typeface="+mn-lt"/>
                          <a:ea typeface="+mn-ea"/>
                          <a:cs typeface="+mn-cs"/>
                        </a:rPr>
                        <a:t>3,3</a:t>
                      </a:r>
                    </a:p>
                  </a:txBody>
                  <a:tcPr marL="9525" marR="9525" marT="9525" marB="0" anchor="b">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marL="0" algn="ctr" defTabSz="914400" rtl="0" eaLnBrk="1" fontAlgn="b" latinLnBrk="0" hangingPunct="1"/>
                      <a:r>
                        <a:rPr lang="es-CO" sz="1800" b="1" kern="1200" dirty="0">
                          <a:solidFill>
                            <a:schemeClr val="tx1"/>
                          </a:solidFill>
                          <a:latin typeface="+mn-lt"/>
                          <a:ea typeface="+mn-ea"/>
                          <a:cs typeface="+mn-cs"/>
                        </a:rPr>
                        <a:t>3,3</a:t>
                      </a:r>
                    </a:p>
                  </a:txBody>
                  <a:tcPr marL="9525" marR="9525" marT="9525" marB="0" anchor="b">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extLst>
                  <a:ext uri="{0D108BD9-81ED-4DB2-BD59-A6C34878D82A}">
                    <a16:rowId xmlns:a16="http://schemas.microsoft.com/office/drawing/2014/main" val="10000"/>
                  </a:ext>
                </a:extLst>
              </a:tr>
            </a:tbl>
          </a:graphicData>
        </a:graphic>
      </p:graphicFrame>
      <p:sp>
        <p:nvSpPr>
          <p:cNvPr id="65" name="CuadroTexto 64"/>
          <p:cNvSpPr txBox="1"/>
          <p:nvPr/>
        </p:nvSpPr>
        <p:spPr>
          <a:xfrm>
            <a:off x="3017355" y="6050806"/>
            <a:ext cx="548548" cy="369332"/>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s-CO" sz="1800" b="1" i="0" u="none" strike="noStrike" kern="0" cap="none" spc="0" normalizeH="0" baseline="0" noProof="0" dirty="0">
                <a:ln>
                  <a:noFill/>
                </a:ln>
                <a:solidFill>
                  <a:prstClr val="black"/>
                </a:solidFill>
                <a:effectLst/>
                <a:uLnTx/>
                <a:uFillTx/>
              </a:rPr>
              <a:t>DEF</a:t>
            </a:r>
          </a:p>
        </p:txBody>
      </p:sp>
      <p:sp>
        <p:nvSpPr>
          <p:cNvPr id="66" name="CuadroTexto 65"/>
          <p:cNvSpPr txBox="1"/>
          <p:nvPr/>
        </p:nvSpPr>
        <p:spPr>
          <a:xfrm>
            <a:off x="1423301" y="3893379"/>
            <a:ext cx="245511" cy="1769715"/>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s-CO" sz="1800" b="1" i="0" u="none" strike="noStrike" kern="0" cap="none" spc="0" normalizeH="0" baseline="0" noProof="0" dirty="0">
                <a:ln>
                  <a:noFill/>
                </a:ln>
                <a:solidFill>
                  <a:srgbClr val="0C77C3"/>
                </a:solidFill>
                <a:effectLst/>
                <a:uLnTx/>
                <a:uFillTx/>
              </a:rPr>
              <a:t>0</a:t>
            </a:r>
          </a:p>
          <a:p>
            <a:pPr marL="0" marR="0" lvl="0" indent="0" defTabSz="914400" eaLnBrk="1" fontAlgn="auto" latinLnBrk="0" hangingPunct="1">
              <a:lnSpc>
                <a:spcPct val="100000"/>
              </a:lnSpc>
              <a:spcBef>
                <a:spcPts val="0"/>
              </a:spcBef>
              <a:spcAft>
                <a:spcPts val="0"/>
              </a:spcAft>
              <a:buClrTx/>
              <a:buSzTx/>
              <a:buFontTx/>
              <a:buNone/>
              <a:tabLst/>
              <a:defRPr/>
            </a:pPr>
            <a:endParaRPr kumimoji="0" lang="es-CO" sz="400" b="1" i="0" u="none" strike="noStrike" kern="0" cap="none" spc="0" normalizeH="0" baseline="0" noProof="0" dirty="0">
              <a:ln>
                <a:noFill/>
              </a:ln>
              <a:solidFill>
                <a:srgbClr val="0C77C3"/>
              </a:solidFill>
              <a:effectLst/>
              <a:uLnTx/>
              <a:uFillTx/>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es-CO" sz="1800" b="1" i="0" u="none" strike="noStrike" kern="0" cap="none" spc="0" normalizeH="0" baseline="0" noProof="0" dirty="0">
                <a:ln>
                  <a:noFill/>
                </a:ln>
                <a:solidFill>
                  <a:srgbClr val="0C77C3"/>
                </a:solidFill>
                <a:effectLst/>
                <a:uLnTx/>
                <a:uFillTx/>
              </a:rPr>
              <a:t>1</a:t>
            </a:r>
          </a:p>
          <a:p>
            <a:endParaRPr lang="es-CO" sz="500" b="1" kern="0" dirty="0">
              <a:solidFill>
                <a:srgbClr val="0C77C3"/>
              </a:solidFill>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es-CO" sz="1800" b="1" i="0" u="none" strike="noStrike" kern="0" cap="none" spc="0" normalizeH="0" baseline="0" noProof="0" dirty="0">
                <a:ln>
                  <a:noFill/>
                </a:ln>
                <a:solidFill>
                  <a:srgbClr val="0C77C3"/>
                </a:solidFill>
                <a:effectLst/>
                <a:uLnTx/>
                <a:uFillTx/>
              </a:rPr>
              <a:t>2</a:t>
            </a:r>
          </a:p>
          <a:p>
            <a:endParaRPr lang="es-CO" sz="500" b="1" kern="0" dirty="0">
              <a:solidFill>
                <a:srgbClr val="0C77C3"/>
              </a:solidFill>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es-CO" sz="1800" b="1" i="0" u="none" strike="noStrike" kern="0" cap="none" spc="0" normalizeH="0" baseline="0" noProof="0" dirty="0">
                <a:ln>
                  <a:noFill/>
                </a:ln>
                <a:solidFill>
                  <a:srgbClr val="0C77C3"/>
                </a:solidFill>
                <a:effectLst/>
                <a:uLnTx/>
                <a:uFillTx/>
              </a:rPr>
              <a:t>3</a:t>
            </a:r>
          </a:p>
          <a:p>
            <a:endParaRPr lang="es-CO" sz="500" b="1" kern="0" dirty="0">
              <a:solidFill>
                <a:srgbClr val="0C77C3"/>
              </a:solidFill>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es-CO" sz="1800" b="1" i="0" u="none" strike="noStrike" kern="0" cap="none" spc="0" normalizeH="0" baseline="0" noProof="0" dirty="0">
                <a:ln>
                  <a:noFill/>
                </a:ln>
                <a:solidFill>
                  <a:srgbClr val="0C77C3"/>
                </a:solidFill>
                <a:effectLst/>
                <a:uLnTx/>
                <a:uFillTx/>
              </a:rPr>
              <a:t>4</a:t>
            </a:r>
          </a:p>
        </p:txBody>
      </p:sp>
      <p:sp>
        <p:nvSpPr>
          <p:cNvPr id="67" name="CuadroTexto 66"/>
          <p:cNvSpPr txBox="1"/>
          <p:nvPr/>
        </p:nvSpPr>
        <p:spPr>
          <a:xfrm>
            <a:off x="3552667" y="3893379"/>
            <a:ext cx="245511" cy="1769715"/>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s-CO" sz="1800" b="1" i="0" u="none" strike="noStrike" kern="0" cap="none" spc="0" normalizeH="0" baseline="0" noProof="0" dirty="0">
                <a:ln>
                  <a:noFill/>
                </a:ln>
                <a:solidFill>
                  <a:srgbClr val="0C77C3"/>
                </a:solidFill>
                <a:effectLst/>
                <a:uLnTx/>
                <a:uFillTx/>
              </a:rPr>
              <a:t>0</a:t>
            </a:r>
          </a:p>
          <a:p>
            <a:pPr marL="0" marR="0" lvl="0" indent="0" defTabSz="914400" eaLnBrk="1" fontAlgn="auto" latinLnBrk="0" hangingPunct="1">
              <a:lnSpc>
                <a:spcPct val="100000"/>
              </a:lnSpc>
              <a:spcBef>
                <a:spcPts val="0"/>
              </a:spcBef>
              <a:spcAft>
                <a:spcPts val="0"/>
              </a:spcAft>
              <a:buClrTx/>
              <a:buSzTx/>
              <a:buFontTx/>
              <a:buNone/>
              <a:tabLst/>
              <a:defRPr/>
            </a:pPr>
            <a:endParaRPr kumimoji="0" lang="es-CO" sz="400" b="1" i="0" u="none" strike="noStrike" kern="0" cap="none" spc="0" normalizeH="0" baseline="0" noProof="0" dirty="0">
              <a:ln>
                <a:noFill/>
              </a:ln>
              <a:solidFill>
                <a:srgbClr val="0C77C3"/>
              </a:solidFill>
              <a:effectLst/>
              <a:uLnTx/>
              <a:uFillTx/>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es-CO" sz="1800" b="1" i="0" u="none" strike="noStrike" kern="0" cap="none" spc="0" normalizeH="0" baseline="0" noProof="0" dirty="0">
                <a:ln>
                  <a:noFill/>
                </a:ln>
                <a:solidFill>
                  <a:srgbClr val="0C77C3"/>
                </a:solidFill>
                <a:effectLst/>
                <a:uLnTx/>
                <a:uFillTx/>
              </a:rPr>
              <a:t>1</a:t>
            </a:r>
          </a:p>
          <a:p>
            <a:endParaRPr lang="es-CO" sz="500" b="1" kern="0" dirty="0">
              <a:solidFill>
                <a:srgbClr val="0C77C3"/>
              </a:solidFill>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es-CO" sz="1800" b="1" i="0" u="none" strike="noStrike" kern="0" cap="none" spc="0" normalizeH="0" baseline="0" noProof="0" dirty="0">
                <a:ln>
                  <a:noFill/>
                </a:ln>
                <a:solidFill>
                  <a:srgbClr val="0C77C3"/>
                </a:solidFill>
                <a:effectLst/>
                <a:uLnTx/>
                <a:uFillTx/>
              </a:rPr>
              <a:t>2</a:t>
            </a:r>
          </a:p>
          <a:p>
            <a:endParaRPr lang="es-CO" sz="500" b="1" kern="0" dirty="0">
              <a:solidFill>
                <a:srgbClr val="0C77C3"/>
              </a:solidFill>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es-CO" sz="1800" b="1" i="0" u="none" strike="noStrike" kern="0" cap="none" spc="0" normalizeH="0" baseline="0" noProof="0" dirty="0">
                <a:ln>
                  <a:noFill/>
                </a:ln>
                <a:solidFill>
                  <a:srgbClr val="0C77C3"/>
                </a:solidFill>
                <a:effectLst/>
                <a:uLnTx/>
                <a:uFillTx/>
              </a:rPr>
              <a:t>3</a:t>
            </a:r>
          </a:p>
          <a:p>
            <a:endParaRPr lang="es-CO" sz="500" b="1" kern="0" dirty="0">
              <a:solidFill>
                <a:srgbClr val="0C77C3"/>
              </a:solidFill>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es-CO" sz="1800" b="1" i="0" u="none" strike="noStrike" kern="0" cap="none" spc="0" normalizeH="0" baseline="0" noProof="0" dirty="0">
                <a:ln>
                  <a:noFill/>
                </a:ln>
                <a:solidFill>
                  <a:srgbClr val="0C77C3"/>
                </a:solidFill>
                <a:effectLst/>
                <a:uLnTx/>
                <a:uFillTx/>
              </a:rPr>
              <a:t>4</a:t>
            </a:r>
          </a:p>
        </p:txBody>
      </p:sp>
      <p:sp>
        <p:nvSpPr>
          <p:cNvPr id="68" name="CuadroTexto 67"/>
          <p:cNvSpPr txBox="1"/>
          <p:nvPr/>
        </p:nvSpPr>
        <p:spPr>
          <a:xfrm>
            <a:off x="4214974" y="5706441"/>
            <a:ext cx="4968552" cy="369332"/>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s-CO" sz="1800" b="0" i="0" u="none" strike="noStrike" kern="0" cap="none" spc="0" normalizeH="0" baseline="0" noProof="0" dirty="0">
                <a:ln>
                  <a:noFill/>
                </a:ln>
                <a:solidFill>
                  <a:srgbClr val="0C77C3"/>
                </a:solidFill>
                <a:effectLst/>
                <a:uLnTx/>
                <a:uFillTx/>
              </a:rPr>
              <a:t>0	1 	      2	       3	        4</a:t>
            </a:r>
          </a:p>
        </p:txBody>
      </p:sp>
    </p:spTree>
    <p:extLst>
      <p:ext uri="{BB962C8B-B14F-4D97-AF65-F5344CB8AC3E}">
        <p14:creationId xmlns:p14="http://schemas.microsoft.com/office/powerpoint/2010/main" val="41216139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up)">
                                      <p:cBhvr>
                                        <p:cTn id="7" dur="10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uadroTexto 6">
            <a:extLst>
              <a:ext uri="{FF2B5EF4-FFF2-40B4-BE49-F238E27FC236}">
                <a16:creationId xmlns:a16="http://schemas.microsoft.com/office/drawing/2014/main" id="{B3245438-2EFA-4DBF-85CF-60E0A78BBF68}"/>
              </a:ext>
            </a:extLst>
          </p:cNvPr>
          <p:cNvSpPr txBox="1"/>
          <p:nvPr/>
        </p:nvSpPr>
        <p:spPr>
          <a:xfrm>
            <a:off x="783285" y="1015310"/>
            <a:ext cx="9636856" cy="5485973"/>
          </a:xfrm>
          <a:prstGeom prst="rect">
            <a:avLst/>
          </a:prstGeom>
          <a:solidFill>
            <a:schemeClr val="accent5">
              <a:lumMod val="20000"/>
              <a:lumOff val="80000"/>
            </a:schemeClr>
          </a:solidFill>
          <a:scene3d>
            <a:camera prst="orthographicFront"/>
            <a:lightRig rig="flat" dir="t"/>
          </a:scene3d>
          <a:sp3d/>
        </p:spPr>
        <p:style>
          <a:lnRef idx="0">
            <a:scrgbClr r="0" g="0" b="0"/>
          </a:lnRef>
          <a:fillRef idx="0">
            <a:scrgbClr r="0" g="0" b="0"/>
          </a:fillRef>
          <a:effectRef idx="0">
            <a:scrgbClr r="0" g="0" b="0"/>
          </a:effectRef>
          <a:fontRef idx="minor">
            <a:schemeClr val="dk1"/>
          </a:fontRef>
        </p:style>
        <p:txBody>
          <a:bodyPr spcFirstLastPara="0" vert="horz" wrap="square" lIns="121920" tIns="121920" rIns="121920" bIns="121920" numCol="1" spcCol="1270" anchor="ctr" anchorCtr="0">
            <a:noAutofit/>
          </a:bodyPr>
          <a:lstStyle>
            <a:defPPr>
              <a:defRPr lang="es-CO"/>
            </a:defPPr>
            <a:lvl1pPr algn="just">
              <a:defRPr sz="2400">
                <a:solidFill>
                  <a:schemeClr val="tx1"/>
                </a:solidFill>
              </a:defRPr>
            </a:lvl1pPr>
          </a:lstStyle>
          <a:p>
            <a:pPr marL="342900" indent="-342900">
              <a:buFont typeface="Arial" panose="020B0604020202020204" pitchFamily="34" charset="0"/>
              <a:buChar char="•"/>
            </a:pPr>
            <a:r>
              <a:rPr lang="es-CO" dirty="0"/>
              <a:t>Definir los vectores y matrices.</a:t>
            </a:r>
          </a:p>
          <a:p>
            <a:pPr marL="342900" indent="-342900">
              <a:buFont typeface="Arial" panose="020B0604020202020204" pitchFamily="34" charset="0"/>
              <a:buChar char="•"/>
            </a:pPr>
            <a:r>
              <a:rPr lang="es-CO" dirty="0"/>
              <a:t>Llenar la información de los arreglos originales o base (parte izquierda y superior).</a:t>
            </a:r>
          </a:p>
          <a:p>
            <a:pPr marL="342900" indent="-342900">
              <a:buFont typeface="Arial" panose="020B0604020202020204" pitchFamily="34" charset="0"/>
              <a:buChar char="•"/>
            </a:pPr>
            <a:r>
              <a:rPr lang="es-CO" dirty="0"/>
              <a:t>Identificar la forma de recorrer la matriz (por fila o por columnas) y </a:t>
            </a:r>
            <a:r>
              <a:rPr lang="es-CO" b="1" dirty="0"/>
              <a:t>realizar ese primer ciclo con esa variable</a:t>
            </a:r>
            <a:r>
              <a:rPr lang="es-CO" dirty="0"/>
              <a:t>.</a:t>
            </a:r>
          </a:p>
          <a:p>
            <a:pPr marL="342900" indent="-342900">
              <a:buFont typeface="Arial" panose="020B0604020202020204" pitchFamily="34" charset="0"/>
              <a:buChar char="•"/>
            </a:pPr>
            <a:r>
              <a:rPr lang="es-CO" dirty="0"/>
              <a:t>Inicializar acumuladores, contadores, mayores, menores y demás variables.</a:t>
            </a:r>
          </a:p>
          <a:p>
            <a:pPr marL="342900" indent="-342900">
              <a:buFont typeface="Arial" panose="020B0604020202020204" pitchFamily="34" charset="0"/>
              <a:buChar char="•"/>
            </a:pPr>
            <a:r>
              <a:rPr lang="es-CO" b="1" dirty="0"/>
              <a:t>Realizar el siguiente ciclo con la otra variable.</a:t>
            </a:r>
          </a:p>
          <a:p>
            <a:pPr marL="342900" indent="-342900">
              <a:buFont typeface="Arial" panose="020B0604020202020204" pitchFamily="34" charset="0"/>
              <a:buChar char="•"/>
            </a:pPr>
            <a:r>
              <a:rPr lang="es-CO" dirty="0"/>
              <a:t>Realizar condiciones y/o cálculos de cada una de las variables solicitadas (acumuladores, contadores…)</a:t>
            </a:r>
          </a:p>
          <a:p>
            <a:pPr marL="342900" indent="-342900">
              <a:buFont typeface="Arial" panose="020B0604020202020204" pitchFamily="34" charset="0"/>
              <a:buChar char="•"/>
            </a:pPr>
            <a:r>
              <a:rPr lang="es-CO" b="1" dirty="0"/>
              <a:t>Cerrar el ciclo más interno.</a:t>
            </a:r>
          </a:p>
          <a:p>
            <a:pPr marL="342900" indent="-342900">
              <a:buFont typeface="Arial" panose="020B0604020202020204" pitchFamily="34" charset="0"/>
              <a:buChar char="•"/>
            </a:pPr>
            <a:r>
              <a:rPr lang="es-CO" b="1" dirty="0"/>
              <a:t>LLEVAR A LOS VECTORES LOS CÁLCULOS O VARIABLES TENIENDO CUENTA USAR LA VARIABLE DEL PRIMER CICLO</a:t>
            </a:r>
            <a:r>
              <a:rPr lang="es-CO" dirty="0"/>
              <a:t>.</a:t>
            </a:r>
          </a:p>
          <a:p>
            <a:pPr marL="342900" indent="-342900">
              <a:buFont typeface="Arial" panose="020B0604020202020204" pitchFamily="34" charset="0"/>
              <a:buChar char="•"/>
            </a:pPr>
            <a:r>
              <a:rPr lang="es-CO" b="1" dirty="0"/>
              <a:t>Cerrar el ciclo más externo.</a:t>
            </a:r>
          </a:p>
          <a:p>
            <a:pPr marL="342900" indent="-342900">
              <a:buFont typeface="Arial" panose="020B0604020202020204" pitchFamily="34" charset="0"/>
              <a:buChar char="•"/>
            </a:pPr>
            <a:r>
              <a:rPr lang="es-CO" dirty="0"/>
              <a:t>Realizar operaciones con los vectores resultantes.</a:t>
            </a:r>
          </a:p>
        </p:txBody>
      </p:sp>
      <p:sp>
        <p:nvSpPr>
          <p:cNvPr id="6" name="Título 1">
            <a:extLst>
              <a:ext uri="{FF2B5EF4-FFF2-40B4-BE49-F238E27FC236}">
                <a16:creationId xmlns:a16="http://schemas.microsoft.com/office/drawing/2014/main" id="{641536DB-22AF-43E4-B2DB-DB464E118EC6}"/>
              </a:ext>
            </a:extLst>
          </p:cNvPr>
          <p:cNvSpPr>
            <a:spLocks noGrp="1"/>
          </p:cNvSpPr>
          <p:nvPr>
            <p:ph type="title"/>
          </p:nvPr>
        </p:nvSpPr>
        <p:spPr>
          <a:xfrm>
            <a:off x="989994" y="0"/>
            <a:ext cx="10229386" cy="914400"/>
          </a:xfrm>
        </p:spPr>
        <p:txBody>
          <a:bodyPr vert="horz" lIns="91440" tIns="45720" rIns="91440" bIns="45720" rtlCol="0" anchor="ctr">
            <a:noAutofit/>
          </a:bodyPr>
          <a:lstStyle/>
          <a:p>
            <a:pPr algn="ctr"/>
            <a:r>
              <a:rPr lang="es-CO" sz="3800" b="1" dirty="0">
                <a:latin typeface="Bahnschrift Light SemiCondensed" panose="020B0502040204020203" pitchFamily="34" charset="0"/>
              </a:rPr>
              <a:t>“PASOS PARA COMBINACIÓN DE ARREGLOS EN C++”</a:t>
            </a:r>
          </a:p>
        </p:txBody>
      </p:sp>
    </p:spTree>
    <p:extLst>
      <p:ext uri="{BB962C8B-B14F-4D97-AF65-F5344CB8AC3E}">
        <p14:creationId xmlns:p14="http://schemas.microsoft.com/office/powerpoint/2010/main" val="25963141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up)">
                                      <p:cBhvr>
                                        <p:cTn id="7" dur="10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uadroTexto 6">
            <a:extLst>
              <a:ext uri="{FF2B5EF4-FFF2-40B4-BE49-F238E27FC236}">
                <a16:creationId xmlns:a16="http://schemas.microsoft.com/office/drawing/2014/main" id="{B3245438-2EFA-4DBF-85CF-60E0A78BBF68}"/>
              </a:ext>
            </a:extLst>
          </p:cNvPr>
          <p:cNvSpPr txBox="1"/>
          <p:nvPr/>
        </p:nvSpPr>
        <p:spPr>
          <a:xfrm>
            <a:off x="783285" y="1015310"/>
            <a:ext cx="9636856" cy="1024505"/>
          </a:xfrm>
          <a:prstGeom prst="rect">
            <a:avLst/>
          </a:prstGeom>
          <a:solidFill>
            <a:schemeClr val="accent5">
              <a:lumMod val="20000"/>
              <a:lumOff val="80000"/>
            </a:schemeClr>
          </a:solidFill>
          <a:scene3d>
            <a:camera prst="orthographicFront"/>
            <a:lightRig rig="flat" dir="t"/>
          </a:scene3d>
          <a:sp3d/>
        </p:spPr>
        <p:style>
          <a:lnRef idx="0">
            <a:scrgbClr r="0" g="0" b="0"/>
          </a:lnRef>
          <a:fillRef idx="0">
            <a:scrgbClr r="0" g="0" b="0"/>
          </a:fillRef>
          <a:effectRef idx="0">
            <a:scrgbClr r="0" g="0" b="0"/>
          </a:effectRef>
          <a:fontRef idx="minor">
            <a:schemeClr val="dk1"/>
          </a:fontRef>
        </p:style>
        <p:txBody>
          <a:bodyPr spcFirstLastPara="0" vert="horz" wrap="square" lIns="121920" tIns="121920" rIns="121920" bIns="121920" numCol="1" spcCol="1270" anchor="ctr" anchorCtr="0">
            <a:noAutofit/>
          </a:bodyPr>
          <a:lstStyle>
            <a:defPPr>
              <a:defRPr lang="es-CO"/>
            </a:defPPr>
            <a:lvl1pPr algn="just">
              <a:defRPr sz="2400">
                <a:solidFill>
                  <a:schemeClr val="tx1"/>
                </a:solidFill>
              </a:defRPr>
            </a:lvl1pPr>
          </a:lstStyle>
          <a:p>
            <a:r>
              <a:rPr lang="es-CO" dirty="0"/>
              <a:t>En este ejemplo, se pide la </a:t>
            </a:r>
            <a:r>
              <a:rPr lang="es-CO" b="1" u="sng" dirty="0"/>
              <a:t>NOTA PROMEDIO GENERAL</a:t>
            </a:r>
            <a:r>
              <a:rPr lang="es-CO" dirty="0"/>
              <a:t> de esos 5 estudiantes en 5 asignaturas, para lo cual se hace lo siguiente:</a:t>
            </a:r>
          </a:p>
        </p:txBody>
      </p:sp>
      <p:sp>
        <p:nvSpPr>
          <p:cNvPr id="6" name="Título 1">
            <a:extLst>
              <a:ext uri="{FF2B5EF4-FFF2-40B4-BE49-F238E27FC236}">
                <a16:creationId xmlns:a16="http://schemas.microsoft.com/office/drawing/2014/main" id="{641536DB-22AF-43E4-B2DB-DB464E118EC6}"/>
              </a:ext>
            </a:extLst>
          </p:cNvPr>
          <p:cNvSpPr>
            <a:spLocks noGrp="1"/>
          </p:cNvSpPr>
          <p:nvPr>
            <p:ph type="title"/>
          </p:nvPr>
        </p:nvSpPr>
        <p:spPr>
          <a:xfrm>
            <a:off x="989994" y="0"/>
            <a:ext cx="10229386" cy="914400"/>
          </a:xfrm>
        </p:spPr>
        <p:txBody>
          <a:bodyPr vert="horz" lIns="91440" tIns="45720" rIns="91440" bIns="45720" rtlCol="0" anchor="ctr">
            <a:noAutofit/>
          </a:bodyPr>
          <a:lstStyle/>
          <a:p>
            <a:pPr algn="ctr"/>
            <a:r>
              <a:rPr lang="es-CO" sz="3800" b="1" dirty="0">
                <a:latin typeface="Bahnschrift Light SemiCondensed" panose="020B0502040204020203" pitchFamily="34" charset="0"/>
              </a:rPr>
              <a:t>“COMBINACIÓN DE ARREGLOS EN C++”</a:t>
            </a:r>
          </a:p>
        </p:txBody>
      </p:sp>
      <p:pic>
        <p:nvPicPr>
          <p:cNvPr id="3" name="Imagen 2"/>
          <p:cNvPicPr>
            <a:picLocks noChangeAspect="1"/>
          </p:cNvPicPr>
          <p:nvPr/>
        </p:nvPicPr>
        <p:blipFill>
          <a:blip r:embed="rId3"/>
          <a:stretch>
            <a:fillRect/>
          </a:stretch>
        </p:blipFill>
        <p:spPr>
          <a:xfrm>
            <a:off x="1870031" y="2140725"/>
            <a:ext cx="5542922" cy="4395719"/>
          </a:xfrm>
          <a:prstGeom prst="rect">
            <a:avLst/>
          </a:prstGeom>
        </p:spPr>
      </p:pic>
      <p:pic>
        <p:nvPicPr>
          <p:cNvPr id="4" name="Imagen 3"/>
          <p:cNvPicPr>
            <a:picLocks noChangeAspect="1"/>
          </p:cNvPicPr>
          <p:nvPr/>
        </p:nvPicPr>
        <p:blipFill>
          <a:blip r:embed="rId4"/>
          <a:stretch>
            <a:fillRect/>
          </a:stretch>
        </p:blipFill>
        <p:spPr>
          <a:xfrm>
            <a:off x="5799302" y="3095624"/>
            <a:ext cx="3714750" cy="866775"/>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5411415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up)">
                                      <p:cBhvr>
                                        <p:cTn id="7" dur="10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ítulo 1">
            <a:extLst>
              <a:ext uri="{FF2B5EF4-FFF2-40B4-BE49-F238E27FC236}">
                <a16:creationId xmlns:a16="http://schemas.microsoft.com/office/drawing/2014/main" id="{641536DB-22AF-43E4-B2DB-DB464E118EC6}"/>
              </a:ext>
            </a:extLst>
          </p:cNvPr>
          <p:cNvSpPr>
            <a:spLocks noGrp="1"/>
          </p:cNvSpPr>
          <p:nvPr>
            <p:ph type="title"/>
          </p:nvPr>
        </p:nvSpPr>
        <p:spPr>
          <a:xfrm>
            <a:off x="989994" y="0"/>
            <a:ext cx="10229386" cy="914400"/>
          </a:xfrm>
        </p:spPr>
        <p:txBody>
          <a:bodyPr vert="horz" lIns="91440" tIns="45720" rIns="91440" bIns="45720" rtlCol="0" anchor="ctr">
            <a:noAutofit/>
          </a:bodyPr>
          <a:lstStyle/>
          <a:p>
            <a:pPr algn="ctr"/>
            <a:r>
              <a:rPr lang="es-CO" sz="3800" b="1" dirty="0">
                <a:latin typeface="Bahnschrift Light SemiCondensed" panose="020B0502040204020203" pitchFamily="34" charset="0"/>
              </a:rPr>
              <a:t>“COMBINACIÓN DE ARREGLOS EN C++”</a:t>
            </a:r>
          </a:p>
        </p:txBody>
      </p:sp>
      <p:sp>
        <p:nvSpPr>
          <p:cNvPr id="14" name="Rectangle 2"/>
          <p:cNvSpPr txBox="1">
            <a:spLocks noChangeArrowheads="1"/>
          </p:cNvSpPr>
          <p:nvPr/>
        </p:nvSpPr>
        <p:spPr>
          <a:xfrm>
            <a:off x="1972100" y="1495956"/>
            <a:ext cx="9165053" cy="4804630"/>
          </a:xfrm>
          <a:prstGeom prst="rect">
            <a:avLst/>
          </a:prstGeom>
          <a:noFill/>
        </p:spPr>
        <p:txBody>
          <a:bodyPr vert="horz" lIns="0" tIns="45720" rIns="0" bIns="0" rtlCol="0" anchor="b" anchorCtr="0">
            <a:noAutofit/>
          </a:bodyPr>
          <a:lstStyle>
            <a:lvl1pPr algn="l" defTabSz="914400" rtl="0" eaLnBrk="1" latinLnBrk="0" hangingPunct="1">
              <a:spcBef>
                <a:spcPct val="0"/>
              </a:spcBef>
              <a:buNone/>
              <a:defRPr sz="4200" kern="1200" baseline="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gn="just"/>
            <a:r>
              <a:rPr lang="es-CO" altLang="es-CO" sz="2800" dirty="0">
                <a:solidFill>
                  <a:schemeClr val="tx1"/>
                </a:solidFill>
              </a:rPr>
              <a:t>	</a:t>
            </a:r>
            <a:r>
              <a:rPr lang="es-CO" altLang="es-CO" sz="2800" dirty="0" err="1">
                <a:solidFill>
                  <a:schemeClr val="tx1"/>
                </a:solidFill>
              </a:rPr>
              <a:t>double</a:t>
            </a:r>
            <a:r>
              <a:rPr lang="es-CO" altLang="es-CO" sz="2800" dirty="0">
                <a:solidFill>
                  <a:schemeClr val="tx1"/>
                </a:solidFill>
              </a:rPr>
              <a:t> NOTAS[5][5];</a:t>
            </a:r>
          </a:p>
          <a:p>
            <a:pPr algn="just"/>
            <a:endParaRPr lang="es-CO" altLang="es-CO" sz="2800" dirty="0">
              <a:solidFill>
                <a:schemeClr val="tx1"/>
              </a:solidFill>
            </a:endParaRPr>
          </a:p>
          <a:p>
            <a:pPr algn="just"/>
            <a:r>
              <a:rPr lang="es-CO" altLang="es-CO" sz="2800" dirty="0">
                <a:solidFill>
                  <a:schemeClr val="tx1"/>
                </a:solidFill>
              </a:rPr>
              <a:t>	</a:t>
            </a:r>
            <a:r>
              <a:rPr lang="nn-NO" altLang="es-CO" sz="2800" dirty="0">
                <a:solidFill>
                  <a:schemeClr val="tx1"/>
                </a:solidFill>
              </a:rPr>
              <a:t>for (int i = 0; i &lt; 5; i++)</a:t>
            </a:r>
          </a:p>
          <a:p>
            <a:pPr algn="just"/>
            <a:r>
              <a:rPr lang="nn-NO" altLang="es-CO" sz="2800" dirty="0">
                <a:solidFill>
                  <a:schemeClr val="tx1"/>
                </a:solidFill>
              </a:rPr>
              <a:t>	{</a:t>
            </a:r>
          </a:p>
          <a:p>
            <a:pPr algn="just"/>
            <a:endParaRPr lang="nn-NO" altLang="es-CO" sz="2800" dirty="0">
              <a:solidFill>
                <a:schemeClr val="tx1"/>
              </a:solidFill>
            </a:endParaRPr>
          </a:p>
          <a:p>
            <a:pPr algn="just"/>
            <a:r>
              <a:rPr lang="nn-NO" altLang="es-CO" sz="2800" dirty="0">
                <a:solidFill>
                  <a:schemeClr val="tx1"/>
                </a:solidFill>
              </a:rPr>
              <a:t>		for (int j = 0; j &lt; 5; j++)</a:t>
            </a:r>
          </a:p>
          <a:p>
            <a:pPr algn="just"/>
            <a:r>
              <a:rPr lang="nn-NO" altLang="es-CO" sz="2800" dirty="0">
                <a:solidFill>
                  <a:schemeClr val="tx1"/>
                </a:solidFill>
              </a:rPr>
              <a:t>		{</a:t>
            </a:r>
          </a:p>
          <a:p>
            <a:pPr algn="just"/>
            <a:r>
              <a:rPr lang="nn-NO" altLang="es-CO" sz="2800" dirty="0">
                <a:solidFill>
                  <a:schemeClr val="tx1"/>
                </a:solidFill>
              </a:rPr>
              <a:t>			NOTAS[i][j] = rand()%5+rand()%10/10;</a:t>
            </a:r>
          </a:p>
          <a:p>
            <a:pPr algn="just"/>
            <a:r>
              <a:rPr lang="nn-NO" altLang="es-CO" sz="2800" dirty="0">
                <a:solidFill>
                  <a:schemeClr val="tx1"/>
                </a:solidFill>
              </a:rPr>
              <a:t>			suma += NOTAS[i][j];</a:t>
            </a:r>
          </a:p>
          <a:p>
            <a:pPr algn="just"/>
            <a:r>
              <a:rPr lang="nn-NO" altLang="es-CO" sz="2800" dirty="0">
                <a:solidFill>
                  <a:schemeClr val="tx1"/>
                </a:solidFill>
              </a:rPr>
              <a:t>		}	</a:t>
            </a:r>
          </a:p>
          <a:p>
            <a:pPr algn="just"/>
            <a:r>
              <a:rPr lang="nn-NO" altLang="es-CO" sz="2800" dirty="0">
                <a:solidFill>
                  <a:schemeClr val="tx1"/>
                </a:solidFill>
              </a:rPr>
              <a:t>	</a:t>
            </a:r>
          </a:p>
          <a:p>
            <a:pPr algn="just"/>
            <a:r>
              <a:rPr lang="nn-NO" altLang="es-CO" sz="2800" dirty="0">
                <a:solidFill>
                  <a:schemeClr val="tx1"/>
                </a:solidFill>
              </a:rPr>
              <a:t>	} </a:t>
            </a:r>
            <a:r>
              <a:rPr lang="es-CO" altLang="es-CO" sz="2800" dirty="0">
                <a:solidFill>
                  <a:schemeClr val="tx1"/>
                </a:solidFill>
              </a:rPr>
              <a:t>	</a:t>
            </a:r>
          </a:p>
          <a:p>
            <a:pPr algn="just"/>
            <a:endParaRPr lang="es-CO" altLang="es-CO" sz="2800" dirty="0">
              <a:solidFill>
                <a:schemeClr val="tx1"/>
              </a:solidFill>
            </a:endParaRPr>
          </a:p>
        </p:txBody>
      </p:sp>
      <p:sp>
        <p:nvSpPr>
          <p:cNvPr id="15" name="CuadroTexto 14"/>
          <p:cNvSpPr txBox="1"/>
          <p:nvPr/>
        </p:nvSpPr>
        <p:spPr>
          <a:xfrm>
            <a:off x="2793932" y="1100697"/>
            <a:ext cx="2636024" cy="523220"/>
          </a:xfrm>
          <a:prstGeom prst="rect">
            <a:avLst/>
          </a:prstGeom>
          <a:noFill/>
        </p:spPr>
        <p:txBody>
          <a:bodyPr wrap="square" rtlCol="0">
            <a:spAutoFit/>
          </a:bodyPr>
          <a:lstStyle/>
          <a:p>
            <a:r>
              <a:rPr lang="es-CO" altLang="es-CO" sz="2800" b="1" dirty="0" err="1">
                <a:solidFill>
                  <a:srgbClr val="0070C0"/>
                </a:solidFill>
              </a:rPr>
              <a:t>double</a:t>
            </a:r>
            <a:r>
              <a:rPr lang="es-CO" altLang="es-CO" sz="2800" b="1" dirty="0">
                <a:solidFill>
                  <a:srgbClr val="0070C0"/>
                </a:solidFill>
              </a:rPr>
              <a:t> suma=0;</a:t>
            </a:r>
            <a:endParaRPr lang="es-CO" sz="2800" b="1" dirty="0">
              <a:solidFill>
                <a:srgbClr val="0070C0"/>
              </a:solidFill>
            </a:endParaRPr>
          </a:p>
        </p:txBody>
      </p:sp>
      <p:sp>
        <p:nvSpPr>
          <p:cNvPr id="16" name="CuadroTexto 15"/>
          <p:cNvSpPr txBox="1"/>
          <p:nvPr/>
        </p:nvSpPr>
        <p:spPr>
          <a:xfrm>
            <a:off x="2793932" y="5902447"/>
            <a:ext cx="8425448" cy="523220"/>
          </a:xfrm>
          <a:prstGeom prst="rect">
            <a:avLst/>
          </a:prstGeom>
          <a:noFill/>
        </p:spPr>
        <p:txBody>
          <a:bodyPr wrap="square" rtlCol="0">
            <a:spAutoFit/>
          </a:bodyPr>
          <a:lstStyle>
            <a:defPPr>
              <a:defRPr lang="es-CO"/>
            </a:defPPr>
            <a:lvl1pPr>
              <a:defRPr sz="2800">
                <a:solidFill>
                  <a:srgbClr val="0070C0"/>
                </a:solidFill>
              </a:defRPr>
            </a:lvl1pPr>
          </a:lstStyle>
          <a:p>
            <a:r>
              <a:rPr lang="es-CO" b="1" dirty="0" err="1"/>
              <a:t>cout</a:t>
            </a:r>
            <a:r>
              <a:rPr lang="es-CO" b="1" dirty="0"/>
              <a:t> &lt;&lt; "\</a:t>
            </a:r>
            <a:r>
              <a:rPr lang="es-CO" b="1" dirty="0" err="1"/>
              <a:t>nNOTA</a:t>
            </a:r>
            <a:r>
              <a:rPr lang="es-CO" b="1" dirty="0"/>
              <a:t> PROMEDIO : " &lt;&lt; suma / 25;</a:t>
            </a:r>
          </a:p>
        </p:txBody>
      </p:sp>
      <p:sp>
        <p:nvSpPr>
          <p:cNvPr id="17" name="CuadroTexto 16"/>
          <p:cNvSpPr txBox="1"/>
          <p:nvPr/>
        </p:nvSpPr>
        <p:spPr>
          <a:xfrm>
            <a:off x="10015115" y="4989349"/>
            <a:ext cx="574668" cy="523220"/>
          </a:xfrm>
          <a:prstGeom prst="rect">
            <a:avLst/>
          </a:prstGeom>
          <a:solidFill>
            <a:schemeClr val="bg1"/>
          </a:solidFill>
        </p:spPr>
        <p:txBody>
          <a:bodyPr wrap="square" rtlCol="0">
            <a:spAutoFit/>
          </a:bodyPr>
          <a:lstStyle>
            <a:defPPr>
              <a:defRPr lang="es-CO"/>
            </a:defPPr>
            <a:lvl1pPr>
              <a:defRPr sz="2800" b="1">
                <a:solidFill>
                  <a:srgbClr val="0070C0"/>
                </a:solidFill>
              </a:defRPr>
            </a:lvl1pPr>
          </a:lstStyle>
          <a:p>
            <a:r>
              <a:rPr lang="es-CO" altLang="es-CO" dirty="0"/>
              <a:t>5;</a:t>
            </a:r>
            <a:endParaRPr lang="es-CO" dirty="0"/>
          </a:p>
        </p:txBody>
      </p:sp>
      <p:sp>
        <p:nvSpPr>
          <p:cNvPr id="18" name="Flecha derecha 17"/>
          <p:cNvSpPr/>
          <p:nvPr/>
        </p:nvSpPr>
        <p:spPr>
          <a:xfrm>
            <a:off x="1772930" y="1098990"/>
            <a:ext cx="1062729" cy="576064"/>
          </a:xfrm>
          <a:prstGeom prst="rightArrow">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es-CO" b="1" dirty="0">
                <a:solidFill>
                  <a:schemeClr val="dk1"/>
                </a:solidFill>
              </a:rPr>
              <a:t>MOVER</a:t>
            </a:r>
          </a:p>
        </p:txBody>
      </p:sp>
      <p:sp>
        <p:nvSpPr>
          <p:cNvPr id="19" name="Flecha derecha 18"/>
          <p:cNvSpPr/>
          <p:nvPr/>
        </p:nvSpPr>
        <p:spPr>
          <a:xfrm>
            <a:off x="1772930" y="5894759"/>
            <a:ext cx="1062729" cy="576064"/>
          </a:xfrm>
          <a:prstGeom prst="rightArrow">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es-CO" b="1" dirty="0">
                <a:solidFill>
                  <a:schemeClr val="dk1"/>
                </a:solidFill>
              </a:rPr>
              <a:t>MOVER</a:t>
            </a:r>
          </a:p>
        </p:txBody>
      </p:sp>
      <p:sp>
        <p:nvSpPr>
          <p:cNvPr id="20" name="Flecha derecha 19"/>
          <p:cNvSpPr/>
          <p:nvPr/>
        </p:nvSpPr>
        <p:spPr>
          <a:xfrm rot="17485553">
            <a:off x="9344684" y="5774398"/>
            <a:ext cx="1340861" cy="708486"/>
          </a:xfrm>
          <a:prstGeom prst="rightArrow">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es-CO" b="1" dirty="0">
                <a:solidFill>
                  <a:schemeClr val="dk1"/>
                </a:solidFill>
              </a:rPr>
              <a:t>CAMBIAR</a:t>
            </a:r>
          </a:p>
        </p:txBody>
      </p:sp>
      <p:sp>
        <p:nvSpPr>
          <p:cNvPr id="21" name="CuadroTexto 20">
            <a:extLst>
              <a:ext uri="{FF2B5EF4-FFF2-40B4-BE49-F238E27FC236}">
                <a16:creationId xmlns:a16="http://schemas.microsoft.com/office/drawing/2014/main" id="{B3245438-2EFA-4DBF-85CF-60E0A78BBF68}"/>
              </a:ext>
            </a:extLst>
          </p:cNvPr>
          <p:cNvSpPr txBox="1"/>
          <p:nvPr/>
        </p:nvSpPr>
        <p:spPr>
          <a:xfrm>
            <a:off x="6400801" y="814851"/>
            <a:ext cx="5493422" cy="1262306"/>
          </a:xfrm>
          <a:prstGeom prst="rect">
            <a:avLst/>
          </a:prstGeom>
          <a:solidFill>
            <a:schemeClr val="accent5">
              <a:lumMod val="20000"/>
              <a:lumOff val="80000"/>
            </a:schemeClr>
          </a:solidFill>
          <a:scene3d>
            <a:camera prst="orthographicFront"/>
            <a:lightRig rig="flat" dir="t"/>
          </a:scene3d>
          <a:sp3d/>
        </p:spPr>
        <p:style>
          <a:lnRef idx="0">
            <a:scrgbClr r="0" g="0" b="0"/>
          </a:lnRef>
          <a:fillRef idx="0">
            <a:scrgbClr r="0" g="0" b="0"/>
          </a:fillRef>
          <a:effectRef idx="0">
            <a:scrgbClr r="0" g="0" b="0"/>
          </a:effectRef>
          <a:fontRef idx="minor">
            <a:schemeClr val="dk1"/>
          </a:fontRef>
        </p:style>
        <p:txBody>
          <a:bodyPr spcFirstLastPara="0" vert="horz" wrap="square" lIns="121920" tIns="121920" rIns="121920" bIns="121920" numCol="1" spcCol="1270" anchor="ctr" anchorCtr="0">
            <a:noAutofit/>
          </a:bodyPr>
          <a:lstStyle>
            <a:defPPr>
              <a:defRPr lang="es-CO"/>
            </a:defPPr>
            <a:lvl1pPr algn="just">
              <a:defRPr sz="2400">
                <a:solidFill>
                  <a:schemeClr val="tx1"/>
                </a:solidFill>
              </a:defRPr>
            </a:lvl1pPr>
          </a:lstStyle>
          <a:p>
            <a:r>
              <a:rPr lang="es-CO" dirty="0"/>
              <a:t>Si el ejemplo, pidiese calcular la </a:t>
            </a:r>
            <a:r>
              <a:rPr lang="es-CO" b="1" u="sng" dirty="0"/>
              <a:t>NOTA PROMEDIO POR MATERIA</a:t>
            </a:r>
            <a:r>
              <a:rPr lang="es-CO" dirty="0"/>
              <a:t> se realizarían las siguientes modificaciones:</a:t>
            </a:r>
          </a:p>
        </p:txBody>
      </p:sp>
    </p:spTree>
    <p:extLst>
      <p:ext uri="{BB962C8B-B14F-4D97-AF65-F5344CB8AC3E}">
        <p14:creationId xmlns:p14="http://schemas.microsoft.com/office/powerpoint/2010/main" val="18427658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wipe(up)">
                                      <p:cBhvr>
                                        <p:cTn id="7" dur="1000"/>
                                        <p:tgtEl>
                                          <p:spTgt spid="21"/>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18"/>
                                        </p:tgtEl>
                                        <p:attrNameLst>
                                          <p:attrName>style.visibility</p:attrName>
                                        </p:attrNameLst>
                                      </p:cBhvr>
                                      <p:to>
                                        <p:strVal val="visible"/>
                                      </p:to>
                                    </p:set>
                                    <p:animEffect transition="in" filter="wipe(down)">
                                      <p:cBhvr>
                                        <p:cTn id="12" dur="500"/>
                                        <p:tgtEl>
                                          <p:spTgt spid="18"/>
                                        </p:tgtEl>
                                      </p:cBhvr>
                                    </p:animEffect>
                                  </p:childTnLst>
                                </p:cTn>
                              </p:par>
                            </p:childTnLst>
                          </p:cTn>
                        </p:par>
                        <p:par>
                          <p:cTn id="13" fill="hold">
                            <p:stCondLst>
                              <p:cond delay="500"/>
                            </p:stCondLst>
                            <p:childTnLst>
                              <p:par>
                                <p:cTn id="14" presetID="36" presetClass="path" presetSubtype="0" accel="50000" decel="50000" fill="hold" grpId="0" nodeType="afterEffect">
                                  <p:stCondLst>
                                    <p:cond delay="1000"/>
                                  </p:stCondLst>
                                  <p:childTnLst>
                                    <p:animMotion origin="layout" path="M 4.16667E-7 -1.11111E-6 L 4.16667E-7 0.08889 C 4.16667E-7 0.12847 0.01927 0.17824 0.0349 0.17824 L 0.07005 0.17824 " pathEditMode="relative" rAng="0" ptsTypes="AAAA">
                                      <p:cBhvr>
                                        <p:cTn id="15" dur="2000" fill="hold"/>
                                        <p:tgtEl>
                                          <p:spTgt spid="15"/>
                                        </p:tgtEl>
                                        <p:attrNameLst>
                                          <p:attrName>ppt_x</p:attrName>
                                          <p:attrName>ppt_y</p:attrName>
                                        </p:attrNameLst>
                                      </p:cBhvr>
                                      <p:rCtr x="3503" y="8912"/>
                                    </p:animMotion>
                                  </p:childTnLst>
                                </p:cTn>
                              </p:par>
                              <p:par>
                                <p:cTn id="16" presetID="10" presetClass="exit" presetSubtype="0" fill="hold" grpId="1" nodeType="withEffect">
                                  <p:stCondLst>
                                    <p:cond delay="1000"/>
                                  </p:stCondLst>
                                  <p:childTnLst>
                                    <p:animEffect transition="out" filter="fade">
                                      <p:cBhvr>
                                        <p:cTn id="17" dur="500"/>
                                        <p:tgtEl>
                                          <p:spTgt spid="18"/>
                                        </p:tgtEl>
                                      </p:cBhvr>
                                    </p:animEffect>
                                    <p:set>
                                      <p:cBhvr>
                                        <p:cTn id="18" dur="1" fill="hold">
                                          <p:stCondLst>
                                            <p:cond delay="499"/>
                                          </p:stCondLst>
                                        </p:cTn>
                                        <p:tgtEl>
                                          <p:spTgt spid="18"/>
                                        </p:tgtEl>
                                        <p:attrNameLst>
                                          <p:attrName>style.visibility</p:attrName>
                                        </p:attrNameLst>
                                      </p:cBhvr>
                                      <p:to>
                                        <p:strVal val="hidden"/>
                                      </p:to>
                                    </p:set>
                                  </p:childTnLst>
                                </p:cTn>
                              </p:par>
                            </p:childTnLst>
                          </p:cTn>
                        </p:par>
                        <p:par>
                          <p:cTn id="19" fill="hold">
                            <p:stCondLst>
                              <p:cond delay="3500"/>
                            </p:stCondLst>
                            <p:childTnLst>
                              <p:par>
                                <p:cTn id="20" presetID="22" presetClass="entr" presetSubtype="4" fill="hold" grpId="0" nodeType="afterEffect">
                                  <p:stCondLst>
                                    <p:cond delay="0"/>
                                  </p:stCondLst>
                                  <p:childTnLst>
                                    <p:set>
                                      <p:cBhvr>
                                        <p:cTn id="21" dur="1" fill="hold">
                                          <p:stCondLst>
                                            <p:cond delay="0"/>
                                          </p:stCondLst>
                                        </p:cTn>
                                        <p:tgtEl>
                                          <p:spTgt spid="19"/>
                                        </p:tgtEl>
                                        <p:attrNameLst>
                                          <p:attrName>style.visibility</p:attrName>
                                        </p:attrNameLst>
                                      </p:cBhvr>
                                      <p:to>
                                        <p:strVal val="visible"/>
                                      </p:to>
                                    </p:set>
                                    <p:animEffect transition="in" filter="wipe(down)">
                                      <p:cBhvr>
                                        <p:cTn id="22" dur="500"/>
                                        <p:tgtEl>
                                          <p:spTgt spid="19"/>
                                        </p:tgtEl>
                                      </p:cBhvr>
                                    </p:animEffect>
                                  </p:childTnLst>
                                </p:cTn>
                              </p:par>
                            </p:childTnLst>
                          </p:cTn>
                        </p:par>
                        <p:par>
                          <p:cTn id="23" fill="hold">
                            <p:stCondLst>
                              <p:cond delay="4000"/>
                            </p:stCondLst>
                            <p:childTnLst>
                              <p:par>
                                <p:cTn id="24" presetID="57" presetClass="path" presetSubtype="0" accel="50000" decel="50000" fill="hold" grpId="0" nodeType="afterEffect">
                                  <p:stCondLst>
                                    <p:cond delay="1000"/>
                                  </p:stCondLst>
                                  <p:childTnLst>
                                    <p:animMotion origin="layout" path="M 6.25E-7 -2.59259E-6 L 6.25E-7 -0.0669 C 6.25E-7 -0.09699 0.01992 -0.13333 0.0362 -0.13333 L 0.07266 -0.13333 " pathEditMode="relative" rAng="0" ptsTypes="AAAA">
                                      <p:cBhvr>
                                        <p:cTn id="25" dur="2000" fill="hold"/>
                                        <p:tgtEl>
                                          <p:spTgt spid="16"/>
                                        </p:tgtEl>
                                        <p:attrNameLst>
                                          <p:attrName>ppt_x</p:attrName>
                                          <p:attrName>ppt_y</p:attrName>
                                        </p:attrNameLst>
                                      </p:cBhvr>
                                      <p:rCtr x="3633" y="-6667"/>
                                    </p:animMotion>
                                  </p:childTnLst>
                                </p:cTn>
                              </p:par>
                              <p:par>
                                <p:cTn id="26" presetID="10" presetClass="exit" presetSubtype="0" fill="hold" grpId="1" nodeType="withEffect">
                                  <p:stCondLst>
                                    <p:cond delay="1000"/>
                                  </p:stCondLst>
                                  <p:childTnLst>
                                    <p:animEffect transition="out" filter="fade">
                                      <p:cBhvr>
                                        <p:cTn id="27" dur="500"/>
                                        <p:tgtEl>
                                          <p:spTgt spid="19"/>
                                        </p:tgtEl>
                                      </p:cBhvr>
                                    </p:animEffect>
                                    <p:set>
                                      <p:cBhvr>
                                        <p:cTn id="28" dur="1" fill="hold">
                                          <p:stCondLst>
                                            <p:cond delay="499"/>
                                          </p:stCondLst>
                                        </p:cTn>
                                        <p:tgtEl>
                                          <p:spTgt spid="19"/>
                                        </p:tgtEl>
                                        <p:attrNameLst>
                                          <p:attrName>style.visibility</p:attrName>
                                        </p:attrNameLst>
                                      </p:cBhvr>
                                      <p:to>
                                        <p:strVal val="hidden"/>
                                      </p:to>
                                    </p:set>
                                  </p:childTnLst>
                                </p:cTn>
                              </p:par>
                            </p:childTnLst>
                          </p:cTn>
                        </p:par>
                        <p:par>
                          <p:cTn id="29" fill="hold">
                            <p:stCondLst>
                              <p:cond delay="7000"/>
                            </p:stCondLst>
                            <p:childTnLst>
                              <p:par>
                                <p:cTn id="30" presetID="22" presetClass="entr" presetSubtype="4" fill="hold" grpId="0" nodeType="afterEffect">
                                  <p:stCondLst>
                                    <p:cond delay="0"/>
                                  </p:stCondLst>
                                  <p:childTnLst>
                                    <p:set>
                                      <p:cBhvr>
                                        <p:cTn id="31" dur="1" fill="hold">
                                          <p:stCondLst>
                                            <p:cond delay="0"/>
                                          </p:stCondLst>
                                        </p:cTn>
                                        <p:tgtEl>
                                          <p:spTgt spid="20"/>
                                        </p:tgtEl>
                                        <p:attrNameLst>
                                          <p:attrName>style.visibility</p:attrName>
                                        </p:attrNameLst>
                                      </p:cBhvr>
                                      <p:to>
                                        <p:strVal val="visible"/>
                                      </p:to>
                                    </p:set>
                                    <p:animEffect transition="in" filter="wipe(down)">
                                      <p:cBhvr>
                                        <p:cTn id="32" dur="500"/>
                                        <p:tgtEl>
                                          <p:spTgt spid="20"/>
                                        </p:tgtEl>
                                      </p:cBhvr>
                                    </p:animEffect>
                                  </p:childTnLst>
                                </p:cTn>
                              </p:par>
                            </p:childTnLst>
                          </p:cTn>
                        </p:par>
                        <p:par>
                          <p:cTn id="33" fill="hold">
                            <p:stCondLst>
                              <p:cond delay="7500"/>
                            </p:stCondLst>
                            <p:childTnLst>
                              <p:par>
                                <p:cTn id="34" presetID="53" presetClass="entr" presetSubtype="16" fill="hold" grpId="0" nodeType="afterEffect">
                                  <p:stCondLst>
                                    <p:cond delay="1000"/>
                                  </p:stCondLst>
                                  <p:childTnLst>
                                    <p:set>
                                      <p:cBhvr>
                                        <p:cTn id="35" dur="1" fill="hold">
                                          <p:stCondLst>
                                            <p:cond delay="0"/>
                                          </p:stCondLst>
                                        </p:cTn>
                                        <p:tgtEl>
                                          <p:spTgt spid="17"/>
                                        </p:tgtEl>
                                        <p:attrNameLst>
                                          <p:attrName>style.visibility</p:attrName>
                                        </p:attrNameLst>
                                      </p:cBhvr>
                                      <p:to>
                                        <p:strVal val="visible"/>
                                      </p:to>
                                    </p:set>
                                    <p:anim calcmode="lin" valueType="num">
                                      <p:cBhvr>
                                        <p:cTn id="36" dur="500" fill="hold"/>
                                        <p:tgtEl>
                                          <p:spTgt spid="17"/>
                                        </p:tgtEl>
                                        <p:attrNameLst>
                                          <p:attrName>ppt_w</p:attrName>
                                        </p:attrNameLst>
                                      </p:cBhvr>
                                      <p:tavLst>
                                        <p:tav tm="0">
                                          <p:val>
                                            <p:fltVal val="0"/>
                                          </p:val>
                                        </p:tav>
                                        <p:tav tm="100000">
                                          <p:val>
                                            <p:strVal val="#ppt_w"/>
                                          </p:val>
                                        </p:tav>
                                      </p:tavLst>
                                    </p:anim>
                                    <p:anim calcmode="lin" valueType="num">
                                      <p:cBhvr>
                                        <p:cTn id="37" dur="500" fill="hold"/>
                                        <p:tgtEl>
                                          <p:spTgt spid="17"/>
                                        </p:tgtEl>
                                        <p:attrNameLst>
                                          <p:attrName>ppt_h</p:attrName>
                                        </p:attrNameLst>
                                      </p:cBhvr>
                                      <p:tavLst>
                                        <p:tav tm="0">
                                          <p:val>
                                            <p:fltVal val="0"/>
                                          </p:val>
                                        </p:tav>
                                        <p:tav tm="100000">
                                          <p:val>
                                            <p:strVal val="#ppt_h"/>
                                          </p:val>
                                        </p:tav>
                                      </p:tavLst>
                                    </p:anim>
                                    <p:animEffect transition="in" filter="fade">
                                      <p:cBhvr>
                                        <p:cTn id="38" dur="500"/>
                                        <p:tgtEl>
                                          <p:spTgt spid="17"/>
                                        </p:tgtEl>
                                      </p:cBhvr>
                                    </p:animEffect>
                                  </p:childTnLst>
                                </p:cTn>
                              </p:par>
                              <p:par>
                                <p:cTn id="39" presetID="10" presetClass="exit" presetSubtype="0" fill="hold" grpId="1" nodeType="withEffect">
                                  <p:stCondLst>
                                    <p:cond delay="1000"/>
                                  </p:stCondLst>
                                  <p:childTnLst>
                                    <p:animEffect transition="out" filter="fade">
                                      <p:cBhvr>
                                        <p:cTn id="40" dur="500"/>
                                        <p:tgtEl>
                                          <p:spTgt spid="20"/>
                                        </p:tgtEl>
                                      </p:cBhvr>
                                    </p:animEffect>
                                    <p:set>
                                      <p:cBhvr>
                                        <p:cTn id="41" dur="1" fill="hold">
                                          <p:stCondLst>
                                            <p:cond delay="499"/>
                                          </p:stCondLst>
                                        </p:cTn>
                                        <p:tgtEl>
                                          <p:spTgt spid="20"/>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16" grpId="0"/>
      <p:bldP spid="17" grpId="0" animBg="1"/>
      <p:bldP spid="18" grpId="0" animBg="1"/>
      <p:bldP spid="18" grpId="1" animBg="1"/>
      <p:bldP spid="19" grpId="0" animBg="1"/>
      <p:bldP spid="19" grpId="1" animBg="1"/>
      <p:bldP spid="20" grpId="0" animBg="1"/>
      <p:bldP spid="20" grpId="1" animBg="1"/>
      <p:bldP spid="21"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Imagen 8"/>
          <p:cNvPicPr>
            <a:picLocks noChangeAspect="1"/>
          </p:cNvPicPr>
          <p:nvPr/>
        </p:nvPicPr>
        <p:blipFill>
          <a:blip r:embed="rId3"/>
          <a:stretch>
            <a:fillRect/>
          </a:stretch>
        </p:blipFill>
        <p:spPr>
          <a:xfrm>
            <a:off x="783284" y="1783116"/>
            <a:ext cx="7220537" cy="4911096"/>
          </a:xfrm>
          <a:prstGeom prst="rect">
            <a:avLst/>
          </a:prstGeom>
        </p:spPr>
      </p:pic>
      <p:sp>
        <p:nvSpPr>
          <p:cNvPr id="7" name="CuadroTexto 6">
            <a:extLst>
              <a:ext uri="{FF2B5EF4-FFF2-40B4-BE49-F238E27FC236}">
                <a16:creationId xmlns:a16="http://schemas.microsoft.com/office/drawing/2014/main" id="{B3245438-2EFA-4DBF-85CF-60E0A78BBF68}"/>
              </a:ext>
            </a:extLst>
          </p:cNvPr>
          <p:cNvSpPr txBox="1"/>
          <p:nvPr/>
        </p:nvSpPr>
        <p:spPr>
          <a:xfrm>
            <a:off x="783285" y="1015310"/>
            <a:ext cx="5324004" cy="497401"/>
          </a:xfrm>
          <a:prstGeom prst="rect">
            <a:avLst/>
          </a:prstGeom>
          <a:solidFill>
            <a:schemeClr val="accent5">
              <a:lumMod val="20000"/>
              <a:lumOff val="80000"/>
            </a:schemeClr>
          </a:solidFill>
          <a:scene3d>
            <a:camera prst="orthographicFront"/>
            <a:lightRig rig="flat" dir="t"/>
          </a:scene3d>
          <a:sp3d/>
        </p:spPr>
        <p:style>
          <a:lnRef idx="0">
            <a:scrgbClr r="0" g="0" b="0"/>
          </a:lnRef>
          <a:fillRef idx="0">
            <a:scrgbClr r="0" g="0" b="0"/>
          </a:fillRef>
          <a:effectRef idx="0">
            <a:scrgbClr r="0" g="0" b="0"/>
          </a:effectRef>
          <a:fontRef idx="minor">
            <a:schemeClr val="dk1"/>
          </a:fontRef>
        </p:style>
        <p:txBody>
          <a:bodyPr spcFirstLastPara="0" vert="horz" wrap="square" lIns="121920" tIns="121920" rIns="121920" bIns="121920" numCol="1" spcCol="1270" anchor="ctr" anchorCtr="0">
            <a:noAutofit/>
          </a:bodyPr>
          <a:lstStyle>
            <a:defPPr>
              <a:defRPr lang="es-CO"/>
            </a:defPPr>
            <a:lvl1pPr algn="just">
              <a:defRPr sz="2400">
                <a:solidFill>
                  <a:schemeClr val="tx1"/>
                </a:solidFill>
              </a:defRPr>
            </a:lvl1pPr>
          </a:lstStyle>
          <a:p>
            <a:pPr algn="ctr"/>
            <a:r>
              <a:rPr lang="es-CO" b="1" u="sng" dirty="0"/>
              <a:t>NOTA PROMEDIO POR MATERIA</a:t>
            </a:r>
            <a:endParaRPr lang="es-CO" dirty="0"/>
          </a:p>
        </p:txBody>
      </p:sp>
      <p:sp>
        <p:nvSpPr>
          <p:cNvPr id="6" name="Título 1">
            <a:extLst>
              <a:ext uri="{FF2B5EF4-FFF2-40B4-BE49-F238E27FC236}">
                <a16:creationId xmlns:a16="http://schemas.microsoft.com/office/drawing/2014/main" id="{641536DB-22AF-43E4-B2DB-DB464E118EC6}"/>
              </a:ext>
            </a:extLst>
          </p:cNvPr>
          <p:cNvSpPr>
            <a:spLocks noGrp="1"/>
          </p:cNvSpPr>
          <p:nvPr>
            <p:ph type="title"/>
          </p:nvPr>
        </p:nvSpPr>
        <p:spPr>
          <a:xfrm>
            <a:off x="989994" y="0"/>
            <a:ext cx="10229386" cy="914400"/>
          </a:xfrm>
        </p:spPr>
        <p:txBody>
          <a:bodyPr vert="horz" lIns="91440" tIns="45720" rIns="91440" bIns="45720" rtlCol="0" anchor="ctr">
            <a:noAutofit/>
          </a:bodyPr>
          <a:lstStyle/>
          <a:p>
            <a:pPr algn="ctr"/>
            <a:r>
              <a:rPr lang="es-CO" sz="3800" b="1" dirty="0">
                <a:latin typeface="Bahnschrift Light SemiCondensed" panose="020B0502040204020203" pitchFamily="34" charset="0"/>
              </a:rPr>
              <a:t>“COMBINACIÓN DE ARREGLOS EN C++”</a:t>
            </a:r>
          </a:p>
        </p:txBody>
      </p:sp>
      <p:pic>
        <p:nvPicPr>
          <p:cNvPr id="8" name="Imagen 7"/>
          <p:cNvPicPr>
            <a:picLocks noChangeAspect="1"/>
          </p:cNvPicPr>
          <p:nvPr/>
        </p:nvPicPr>
        <p:blipFill>
          <a:blip r:embed="rId4"/>
          <a:stretch>
            <a:fillRect/>
          </a:stretch>
        </p:blipFill>
        <p:spPr>
          <a:xfrm>
            <a:off x="6196965" y="2625548"/>
            <a:ext cx="3613712" cy="2352853"/>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23748130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up)">
                                      <p:cBhvr>
                                        <p:cTn id="7" dur="10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ítulo 1">
            <a:extLst>
              <a:ext uri="{FF2B5EF4-FFF2-40B4-BE49-F238E27FC236}">
                <a16:creationId xmlns:a16="http://schemas.microsoft.com/office/drawing/2014/main" id="{641536DB-22AF-43E4-B2DB-DB464E118EC6}"/>
              </a:ext>
            </a:extLst>
          </p:cNvPr>
          <p:cNvSpPr>
            <a:spLocks noGrp="1"/>
          </p:cNvSpPr>
          <p:nvPr>
            <p:ph type="title"/>
          </p:nvPr>
        </p:nvSpPr>
        <p:spPr>
          <a:xfrm>
            <a:off x="989994" y="0"/>
            <a:ext cx="10229386" cy="914400"/>
          </a:xfrm>
        </p:spPr>
        <p:txBody>
          <a:bodyPr vert="horz" lIns="91440" tIns="45720" rIns="91440" bIns="45720" rtlCol="0" anchor="ctr">
            <a:noAutofit/>
          </a:bodyPr>
          <a:lstStyle/>
          <a:p>
            <a:pPr algn="ctr"/>
            <a:r>
              <a:rPr lang="es-CO" sz="3800" b="1" dirty="0">
                <a:latin typeface="Bahnschrift Light SemiCondensed" panose="020B0502040204020203" pitchFamily="34" charset="0"/>
              </a:rPr>
              <a:t>“COMBINACIÓN DE ARREGLOS EN C++”</a:t>
            </a:r>
          </a:p>
        </p:txBody>
      </p:sp>
      <p:sp>
        <p:nvSpPr>
          <p:cNvPr id="14" name="Rectangle 2"/>
          <p:cNvSpPr txBox="1">
            <a:spLocks noChangeArrowheads="1"/>
          </p:cNvSpPr>
          <p:nvPr/>
        </p:nvSpPr>
        <p:spPr>
          <a:xfrm>
            <a:off x="1972100" y="1495956"/>
            <a:ext cx="9165053" cy="4804630"/>
          </a:xfrm>
          <a:prstGeom prst="rect">
            <a:avLst/>
          </a:prstGeom>
          <a:noFill/>
        </p:spPr>
        <p:txBody>
          <a:bodyPr vert="horz" lIns="0" tIns="45720" rIns="0" bIns="0" rtlCol="0" anchor="b" anchorCtr="0">
            <a:noAutofit/>
          </a:bodyPr>
          <a:lstStyle>
            <a:lvl1pPr algn="l" defTabSz="914400" rtl="0" eaLnBrk="1" latinLnBrk="0" hangingPunct="1">
              <a:spcBef>
                <a:spcPct val="0"/>
              </a:spcBef>
              <a:buNone/>
              <a:defRPr sz="4200" kern="1200" baseline="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gn="just"/>
            <a:r>
              <a:rPr lang="es-CO" altLang="es-CO" sz="2800" dirty="0">
                <a:solidFill>
                  <a:schemeClr val="tx1"/>
                </a:solidFill>
              </a:rPr>
              <a:t>	</a:t>
            </a:r>
            <a:r>
              <a:rPr lang="es-CO" altLang="es-CO" sz="2800" dirty="0" err="1">
                <a:solidFill>
                  <a:schemeClr val="tx1"/>
                </a:solidFill>
              </a:rPr>
              <a:t>double</a:t>
            </a:r>
            <a:r>
              <a:rPr lang="es-CO" altLang="es-CO" sz="2800" dirty="0">
                <a:solidFill>
                  <a:schemeClr val="tx1"/>
                </a:solidFill>
              </a:rPr>
              <a:t> NOTAS[5][5];</a:t>
            </a:r>
          </a:p>
          <a:p>
            <a:pPr algn="just"/>
            <a:endParaRPr lang="es-CO" altLang="es-CO" sz="2800" dirty="0">
              <a:solidFill>
                <a:schemeClr val="tx1"/>
              </a:solidFill>
            </a:endParaRPr>
          </a:p>
          <a:p>
            <a:pPr algn="just"/>
            <a:endParaRPr lang="nn-NO" altLang="es-CO" sz="2800" dirty="0">
              <a:solidFill>
                <a:schemeClr val="tx1"/>
              </a:solidFill>
            </a:endParaRPr>
          </a:p>
          <a:p>
            <a:pPr algn="just"/>
            <a:r>
              <a:rPr lang="nn-NO" altLang="es-CO" sz="2800" dirty="0">
                <a:solidFill>
                  <a:schemeClr val="tx1"/>
                </a:solidFill>
              </a:rPr>
              <a:t>	{</a:t>
            </a:r>
          </a:p>
          <a:p>
            <a:pPr algn="just"/>
            <a:endParaRPr lang="nn-NO" altLang="es-CO" sz="2800" dirty="0">
              <a:solidFill>
                <a:schemeClr val="tx1"/>
              </a:solidFill>
            </a:endParaRPr>
          </a:p>
          <a:p>
            <a:pPr algn="just"/>
            <a:r>
              <a:rPr lang="nn-NO" altLang="es-CO" sz="2800" dirty="0">
                <a:solidFill>
                  <a:schemeClr val="tx1"/>
                </a:solidFill>
              </a:rPr>
              <a:t>		</a:t>
            </a:r>
          </a:p>
          <a:p>
            <a:pPr algn="just"/>
            <a:r>
              <a:rPr lang="nn-NO" altLang="es-CO" sz="2800" dirty="0">
                <a:solidFill>
                  <a:schemeClr val="tx1"/>
                </a:solidFill>
              </a:rPr>
              <a:t>		{</a:t>
            </a:r>
          </a:p>
          <a:p>
            <a:pPr algn="just"/>
            <a:r>
              <a:rPr lang="nn-NO" altLang="es-CO" sz="2800" dirty="0">
                <a:solidFill>
                  <a:schemeClr val="tx1"/>
                </a:solidFill>
              </a:rPr>
              <a:t>			NOTAS[i][j] = rand()%5+rand()%10/10;</a:t>
            </a:r>
          </a:p>
          <a:p>
            <a:pPr algn="just"/>
            <a:r>
              <a:rPr lang="nn-NO" altLang="es-CO" sz="2800" dirty="0">
                <a:solidFill>
                  <a:schemeClr val="tx1"/>
                </a:solidFill>
              </a:rPr>
              <a:t>			suma += NOTAS[i][j];</a:t>
            </a:r>
          </a:p>
          <a:p>
            <a:pPr algn="just"/>
            <a:r>
              <a:rPr lang="nn-NO" altLang="es-CO" sz="2800" dirty="0">
                <a:solidFill>
                  <a:schemeClr val="tx1"/>
                </a:solidFill>
              </a:rPr>
              <a:t>		}	</a:t>
            </a:r>
          </a:p>
          <a:p>
            <a:pPr algn="just"/>
            <a:r>
              <a:rPr lang="nn-NO" altLang="es-CO" sz="2800" dirty="0">
                <a:solidFill>
                  <a:schemeClr val="tx1"/>
                </a:solidFill>
              </a:rPr>
              <a:t>	</a:t>
            </a:r>
          </a:p>
          <a:p>
            <a:pPr algn="just"/>
            <a:r>
              <a:rPr lang="nn-NO" altLang="es-CO" sz="2800" dirty="0">
                <a:solidFill>
                  <a:schemeClr val="tx1"/>
                </a:solidFill>
              </a:rPr>
              <a:t>	} </a:t>
            </a:r>
            <a:r>
              <a:rPr lang="es-CO" altLang="es-CO" sz="2800" dirty="0">
                <a:solidFill>
                  <a:schemeClr val="tx1"/>
                </a:solidFill>
              </a:rPr>
              <a:t>	</a:t>
            </a:r>
          </a:p>
          <a:p>
            <a:pPr algn="just"/>
            <a:endParaRPr lang="es-CO" altLang="es-CO" sz="2800" dirty="0">
              <a:solidFill>
                <a:schemeClr val="tx1"/>
              </a:solidFill>
            </a:endParaRPr>
          </a:p>
        </p:txBody>
      </p:sp>
      <p:sp>
        <p:nvSpPr>
          <p:cNvPr id="15" name="CuadroTexto 14"/>
          <p:cNvSpPr txBox="1"/>
          <p:nvPr/>
        </p:nvSpPr>
        <p:spPr>
          <a:xfrm>
            <a:off x="2793932" y="1100697"/>
            <a:ext cx="2636024" cy="523220"/>
          </a:xfrm>
          <a:prstGeom prst="rect">
            <a:avLst/>
          </a:prstGeom>
          <a:noFill/>
        </p:spPr>
        <p:txBody>
          <a:bodyPr wrap="square" rtlCol="0">
            <a:spAutoFit/>
          </a:bodyPr>
          <a:lstStyle/>
          <a:p>
            <a:r>
              <a:rPr lang="es-CO" altLang="es-CO" sz="2800" b="1" dirty="0" err="1">
                <a:solidFill>
                  <a:srgbClr val="0070C0"/>
                </a:solidFill>
              </a:rPr>
              <a:t>double</a:t>
            </a:r>
            <a:r>
              <a:rPr lang="es-CO" altLang="es-CO" sz="2800" b="1" dirty="0">
                <a:solidFill>
                  <a:srgbClr val="0070C0"/>
                </a:solidFill>
              </a:rPr>
              <a:t> suma=0;</a:t>
            </a:r>
            <a:endParaRPr lang="es-CO" sz="2800" b="1" dirty="0">
              <a:solidFill>
                <a:srgbClr val="0070C0"/>
              </a:solidFill>
            </a:endParaRPr>
          </a:p>
        </p:txBody>
      </p:sp>
      <p:sp>
        <p:nvSpPr>
          <p:cNvPr id="16" name="CuadroTexto 15"/>
          <p:cNvSpPr txBox="1"/>
          <p:nvPr/>
        </p:nvSpPr>
        <p:spPr>
          <a:xfrm>
            <a:off x="2793932" y="5902447"/>
            <a:ext cx="8425448" cy="523220"/>
          </a:xfrm>
          <a:prstGeom prst="rect">
            <a:avLst/>
          </a:prstGeom>
          <a:noFill/>
        </p:spPr>
        <p:txBody>
          <a:bodyPr wrap="square" rtlCol="0">
            <a:spAutoFit/>
          </a:bodyPr>
          <a:lstStyle>
            <a:defPPr>
              <a:defRPr lang="es-CO"/>
            </a:defPPr>
            <a:lvl1pPr>
              <a:defRPr sz="2800">
                <a:solidFill>
                  <a:srgbClr val="0070C0"/>
                </a:solidFill>
              </a:defRPr>
            </a:lvl1pPr>
          </a:lstStyle>
          <a:p>
            <a:r>
              <a:rPr lang="es-CO" b="1" dirty="0" err="1"/>
              <a:t>cout</a:t>
            </a:r>
            <a:r>
              <a:rPr lang="es-CO" b="1" dirty="0"/>
              <a:t> &lt;&lt; "\</a:t>
            </a:r>
            <a:r>
              <a:rPr lang="es-CO" b="1" dirty="0" err="1"/>
              <a:t>nNOTA</a:t>
            </a:r>
            <a:r>
              <a:rPr lang="es-CO" b="1" dirty="0"/>
              <a:t> PROMEDIO : " &lt;&lt; suma / 25;</a:t>
            </a:r>
          </a:p>
        </p:txBody>
      </p:sp>
      <p:sp>
        <p:nvSpPr>
          <p:cNvPr id="17" name="CuadroTexto 16"/>
          <p:cNvSpPr txBox="1"/>
          <p:nvPr/>
        </p:nvSpPr>
        <p:spPr>
          <a:xfrm>
            <a:off x="10015115" y="4989349"/>
            <a:ext cx="574668" cy="523220"/>
          </a:xfrm>
          <a:prstGeom prst="rect">
            <a:avLst/>
          </a:prstGeom>
          <a:solidFill>
            <a:schemeClr val="bg1"/>
          </a:solidFill>
        </p:spPr>
        <p:txBody>
          <a:bodyPr wrap="square" rtlCol="0">
            <a:spAutoFit/>
          </a:bodyPr>
          <a:lstStyle>
            <a:defPPr>
              <a:defRPr lang="es-CO"/>
            </a:defPPr>
            <a:lvl1pPr>
              <a:defRPr sz="2800" b="1">
                <a:solidFill>
                  <a:srgbClr val="0070C0"/>
                </a:solidFill>
              </a:defRPr>
            </a:lvl1pPr>
          </a:lstStyle>
          <a:p>
            <a:r>
              <a:rPr lang="es-CO" altLang="es-CO" dirty="0"/>
              <a:t>5;</a:t>
            </a:r>
            <a:endParaRPr lang="es-CO" dirty="0"/>
          </a:p>
        </p:txBody>
      </p:sp>
      <p:sp>
        <p:nvSpPr>
          <p:cNvPr id="18" name="Flecha derecha 17"/>
          <p:cNvSpPr/>
          <p:nvPr/>
        </p:nvSpPr>
        <p:spPr>
          <a:xfrm>
            <a:off x="1772930" y="1098990"/>
            <a:ext cx="1062729" cy="576064"/>
          </a:xfrm>
          <a:prstGeom prst="rightArrow">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es-CO" b="1" dirty="0">
                <a:solidFill>
                  <a:schemeClr val="dk1"/>
                </a:solidFill>
              </a:rPr>
              <a:t>MOVER</a:t>
            </a:r>
          </a:p>
        </p:txBody>
      </p:sp>
      <p:sp>
        <p:nvSpPr>
          <p:cNvPr id="19" name="Flecha derecha 18"/>
          <p:cNvSpPr/>
          <p:nvPr/>
        </p:nvSpPr>
        <p:spPr>
          <a:xfrm>
            <a:off x="1772930" y="5894759"/>
            <a:ext cx="1062729" cy="576064"/>
          </a:xfrm>
          <a:prstGeom prst="rightArrow">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es-CO" b="1" dirty="0">
                <a:solidFill>
                  <a:schemeClr val="dk1"/>
                </a:solidFill>
              </a:rPr>
              <a:t>MOVER</a:t>
            </a:r>
          </a:p>
        </p:txBody>
      </p:sp>
      <p:sp>
        <p:nvSpPr>
          <p:cNvPr id="20" name="Flecha derecha 19"/>
          <p:cNvSpPr/>
          <p:nvPr/>
        </p:nvSpPr>
        <p:spPr>
          <a:xfrm rot="17485553">
            <a:off x="9344684" y="5774398"/>
            <a:ext cx="1340861" cy="708486"/>
          </a:xfrm>
          <a:prstGeom prst="rightArrow">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es-CO" b="1" dirty="0">
                <a:solidFill>
                  <a:schemeClr val="dk1"/>
                </a:solidFill>
              </a:rPr>
              <a:t>CAMBIAR</a:t>
            </a:r>
          </a:p>
        </p:txBody>
      </p:sp>
      <p:sp>
        <p:nvSpPr>
          <p:cNvPr id="21" name="CuadroTexto 20">
            <a:extLst>
              <a:ext uri="{FF2B5EF4-FFF2-40B4-BE49-F238E27FC236}">
                <a16:creationId xmlns:a16="http://schemas.microsoft.com/office/drawing/2014/main" id="{B3245438-2EFA-4DBF-85CF-60E0A78BBF68}"/>
              </a:ext>
            </a:extLst>
          </p:cNvPr>
          <p:cNvSpPr txBox="1"/>
          <p:nvPr/>
        </p:nvSpPr>
        <p:spPr>
          <a:xfrm>
            <a:off x="6400801" y="814851"/>
            <a:ext cx="5493422" cy="1691282"/>
          </a:xfrm>
          <a:prstGeom prst="rect">
            <a:avLst/>
          </a:prstGeom>
          <a:solidFill>
            <a:schemeClr val="accent5">
              <a:lumMod val="20000"/>
              <a:lumOff val="80000"/>
            </a:schemeClr>
          </a:solidFill>
          <a:scene3d>
            <a:camera prst="orthographicFront"/>
            <a:lightRig rig="flat" dir="t"/>
          </a:scene3d>
          <a:sp3d/>
        </p:spPr>
        <p:style>
          <a:lnRef idx="0">
            <a:scrgbClr r="0" g="0" b="0"/>
          </a:lnRef>
          <a:fillRef idx="0">
            <a:scrgbClr r="0" g="0" b="0"/>
          </a:fillRef>
          <a:effectRef idx="0">
            <a:scrgbClr r="0" g="0" b="0"/>
          </a:effectRef>
          <a:fontRef idx="minor">
            <a:schemeClr val="dk1"/>
          </a:fontRef>
        </p:style>
        <p:txBody>
          <a:bodyPr spcFirstLastPara="0" vert="horz" wrap="square" lIns="121920" tIns="121920" rIns="121920" bIns="121920" numCol="1" spcCol="1270" anchor="ctr" anchorCtr="0">
            <a:noAutofit/>
          </a:bodyPr>
          <a:lstStyle>
            <a:defPPr>
              <a:defRPr lang="es-CO"/>
            </a:defPPr>
            <a:lvl1pPr algn="just">
              <a:defRPr sz="2400">
                <a:solidFill>
                  <a:schemeClr val="tx1"/>
                </a:solidFill>
              </a:defRPr>
            </a:lvl1pPr>
          </a:lstStyle>
          <a:p>
            <a:r>
              <a:rPr lang="es-CO" dirty="0"/>
              <a:t>Si el ejemplo, pidiese calcular la </a:t>
            </a:r>
            <a:r>
              <a:rPr lang="es-CO" b="1" u="sng" dirty="0"/>
              <a:t>NOTA PROMEDIO POR ESTUDIANTE</a:t>
            </a:r>
            <a:r>
              <a:rPr lang="es-CO" dirty="0"/>
              <a:t> se realizarían las siguientes modificaciones:</a:t>
            </a:r>
          </a:p>
        </p:txBody>
      </p:sp>
      <p:sp>
        <p:nvSpPr>
          <p:cNvPr id="11" name="CuadroTexto 10"/>
          <p:cNvSpPr txBox="1"/>
          <p:nvPr/>
        </p:nvSpPr>
        <p:spPr>
          <a:xfrm>
            <a:off x="2793932" y="1590545"/>
            <a:ext cx="4252549" cy="523220"/>
          </a:xfrm>
          <a:prstGeom prst="rect">
            <a:avLst/>
          </a:prstGeom>
          <a:noFill/>
        </p:spPr>
        <p:txBody>
          <a:bodyPr wrap="square" rtlCol="0">
            <a:spAutoFit/>
          </a:bodyPr>
          <a:lstStyle/>
          <a:p>
            <a:r>
              <a:rPr lang="nn-NO" altLang="es-CO" sz="2800" b="1" dirty="0">
                <a:solidFill>
                  <a:srgbClr val="0070C0"/>
                </a:solidFill>
              </a:rPr>
              <a:t>for (int i = 0; i &lt; 5; i++)</a:t>
            </a:r>
            <a:r>
              <a:rPr lang="es-CO" altLang="es-CO" sz="2800" b="1" dirty="0">
                <a:solidFill>
                  <a:srgbClr val="0070C0"/>
                </a:solidFill>
              </a:rPr>
              <a:t>;</a:t>
            </a:r>
            <a:endParaRPr lang="es-CO" sz="2800" b="1" dirty="0">
              <a:solidFill>
                <a:srgbClr val="0070C0"/>
              </a:solidFill>
            </a:endParaRPr>
          </a:p>
        </p:txBody>
      </p:sp>
      <p:sp>
        <p:nvSpPr>
          <p:cNvPr id="12" name="CuadroTexto 11"/>
          <p:cNvSpPr txBox="1"/>
          <p:nvPr/>
        </p:nvSpPr>
        <p:spPr>
          <a:xfrm>
            <a:off x="3594271" y="2771831"/>
            <a:ext cx="4252549" cy="523220"/>
          </a:xfrm>
          <a:prstGeom prst="rect">
            <a:avLst/>
          </a:prstGeom>
          <a:noFill/>
        </p:spPr>
        <p:txBody>
          <a:bodyPr wrap="square" rtlCol="0">
            <a:spAutoFit/>
          </a:bodyPr>
          <a:lstStyle/>
          <a:p>
            <a:r>
              <a:rPr lang="nn-NO" altLang="es-CO" sz="2800" b="1" dirty="0">
                <a:solidFill>
                  <a:schemeClr val="accent6"/>
                </a:solidFill>
              </a:rPr>
              <a:t>for (int j = 0; j &lt; 5; j++)</a:t>
            </a:r>
            <a:r>
              <a:rPr lang="es-CO" altLang="es-CO" sz="2800" b="1" dirty="0">
                <a:solidFill>
                  <a:schemeClr val="accent6"/>
                </a:solidFill>
              </a:rPr>
              <a:t>;</a:t>
            </a:r>
            <a:endParaRPr lang="es-CO" sz="2800" b="1" dirty="0">
              <a:solidFill>
                <a:schemeClr val="accent6"/>
              </a:solidFill>
            </a:endParaRPr>
          </a:p>
        </p:txBody>
      </p:sp>
      <p:sp>
        <p:nvSpPr>
          <p:cNvPr id="13" name="Flecha derecha 12"/>
          <p:cNvSpPr/>
          <p:nvPr/>
        </p:nvSpPr>
        <p:spPr>
          <a:xfrm>
            <a:off x="801511" y="1571116"/>
            <a:ext cx="2044011" cy="576064"/>
          </a:xfrm>
          <a:prstGeom prst="rightArrow">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es-CO" b="1" dirty="0">
                <a:solidFill>
                  <a:schemeClr val="dk1"/>
                </a:solidFill>
              </a:rPr>
              <a:t>INTERCAMBIAR</a:t>
            </a:r>
          </a:p>
        </p:txBody>
      </p:sp>
      <p:sp>
        <p:nvSpPr>
          <p:cNvPr id="22" name="Flecha derecha 21"/>
          <p:cNvSpPr/>
          <p:nvPr/>
        </p:nvSpPr>
        <p:spPr>
          <a:xfrm>
            <a:off x="1520307" y="2781932"/>
            <a:ext cx="2044011" cy="576064"/>
          </a:xfrm>
          <a:prstGeom prst="rightArrow">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es-CO" b="1" dirty="0">
                <a:solidFill>
                  <a:schemeClr val="dk1"/>
                </a:solidFill>
              </a:rPr>
              <a:t>INTERCAMBIAR</a:t>
            </a:r>
          </a:p>
        </p:txBody>
      </p:sp>
    </p:spTree>
    <p:extLst>
      <p:ext uri="{BB962C8B-B14F-4D97-AF65-F5344CB8AC3E}">
        <p14:creationId xmlns:p14="http://schemas.microsoft.com/office/powerpoint/2010/main" val="40804175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wipe(up)">
                                      <p:cBhvr>
                                        <p:cTn id="7" dur="1000"/>
                                        <p:tgtEl>
                                          <p:spTgt spid="21"/>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13"/>
                                        </p:tgtEl>
                                        <p:attrNameLst>
                                          <p:attrName>style.visibility</p:attrName>
                                        </p:attrNameLst>
                                      </p:cBhvr>
                                      <p:to>
                                        <p:strVal val="visible"/>
                                      </p:to>
                                    </p:set>
                                    <p:animEffect transition="in" filter="wipe(down)">
                                      <p:cBhvr>
                                        <p:cTn id="12" dur="500"/>
                                        <p:tgtEl>
                                          <p:spTgt spid="13"/>
                                        </p:tgtEl>
                                      </p:cBhvr>
                                    </p:animEffect>
                                  </p:childTnLst>
                                </p:cTn>
                              </p:par>
                              <p:par>
                                <p:cTn id="13" presetID="22" presetClass="entr" presetSubtype="4" fill="hold" grpId="0" nodeType="withEffect">
                                  <p:stCondLst>
                                    <p:cond delay="0"/>
                                  </p:stCondLst>
                                  <p:childTnLst>
                                    <p:set>
                                      <p:cBhvr>
                                        <p:cTn id="14" dur="1" fill="hold">
                                          <p:stCondLst>
                                            <p:cond delay="0"/>
                                          </p:stCondLst>
                                        </p:cTn>
                                        <p:tgtEl>
                                          <p:spTgt spid="22"/>
                                        </p:tgtEl>
                                        <p:attrNameLst>
                                          <p:attrName>style.visibility</p:attrName>
                                        </p:attrNameLst>
                                      </p:cBhvr>
                                      <p:to>
                                        <p:strVal val="visible"/>
                                      </p:to>
                                    </p:set>
                                    <p:animEffect transition="in" filter="wipe(down)">
                                      <p:cBhvr>
                                        <p:cTn id="15" dur="500"/>
                                        <p:tgtEl>
                                          <p:spTgt spid="22"/>
                                        </p:tgtEl>
                                      </p:cBhvr>
                                    </p:animEffect>
                                  </p:childTnLst>
                                </p:cTn>
                              </p:par>
                            </p:childTnLst>
                          </p:cTn>
                        </p:par>
                        <p:par>
                          <p:cTn id="16" fill="hold">
                            <p:stCondLst>
                              <p:cond delay="500"/>
                            </p:stCondLst>
                            <p:childTnLst>
                              <p:par>
                                <p:cTn id="17" presetID="36" presetClass="path" presetSubtype="0" accel="50000" decel="50000" fill="hold" grpId="0" nodeType="afterEffect">
                                  <p:stCondLst>
                                    <p:cond delay="0"/>
                                  </p:stCondLst>
                                  <p:childTnLst>
                                    <p:animMotion origin="layout" path="M 4.375E-6 1.11111E-6 L 4.375E-6 0.08889 C 4.375E-6 0.12847 0.01927 0.17824 0.03489 0.17824 L 0.07005 0.17824 " pathEditMode="relative" rAng="0" ptsTypes="AAAA">
                                      <p:cBhvr>
                                        <p:cTn id="18" dur="2000" fill="hold"/>
                                        <p:tgtEl>
                                          <p:spTgt spid="11"/>
                                        </p:tgtEl>
                                        <p:attrNameLst>
                                          <p:attrName>ppt_x</p:attrName>
                                          <p:attrName>ppt_y</p:attrName>
                                        </p:attrNameLst>
                                      </p:cBhvr>
                                      <p:rCtr x="3503" y="8912"/>
                                    </p:animMotion>
                                  </p:childTnLst>
                                </p:cTn>
                              </p:par>
                              <p:par>
                                <p:cTn id="19" presetID="36" presetClass="path" presetSubtype="0" accel="50000" decel="50000" fill="hold" grpId="0" nodeType="withEffect">
                                  <p:stCondLst>
                                    <p:cond delay="0"/>
                                  </p:stCondLst>
                                  <p:childTnLst>
                                    <p:animMotion origin="layout" path="M 0.00443 0.00602 L 0.00443 -0.0831 C 0.00443 -0.12268 -0.01393 -0.17245 -0.02877 -0.17245 L -0.06198 -0.17245 " pathEditMode="relative" rAng="0" ptsTypes="AAAA">
                                      <p:cBhvr>
                                        <p:cTn id="20" dur="2000" fill="hold"/>
                                        <p:tgtEl>
                                          <p:spTgt spid="12"/>
                                        </p:tgtEl>
                                        <p:attrNameLst>
                                          <p:attrName>ppt_x</p:attrName>
                                          <p:attrName>ppt_y</p:attrName>
                                        </p:attrNameLst>
                                      </p:cBhvr>
                                      <p:rCtr x="-3320" y="-8935"/>
                                    </p:animMotion>
                                  </p:childTnLst>
                                </p:cTn>
                              </p:par>
                            </p:childTnLst>
                          </p:cTn>
                        </p:par>
                        <p:par>
                          <p:cTn id="21" fill="hold">
                            <p:stCondLst>
                              <p:cond delay="2500"/>
                            </p:stCondLst>
                            <p:childTnLst>
                              <p:par>
                                <p:cTn id="22" presetID="10" presetClass="exit" presetSubtype="0" fill="hold" grpId="1" nodeType="afterEffect">
                                  <p:stCondLst>
                                    <p:cond delay="0"/>
                                  </p:stCondLst>
                                  <p:childTnLst>
                                    <p:animEffect transition="out" filter="fade">
                                      <p:cBhvr>
                                        <p:cTn id="23" dur="500"/>
                                        <p:tgtEl>
                                          <p:spTgt spid="22"/>
                                        </p:tgtEl>
                                      </p:cBhvr>
                                    </p:animEffect>
                                    <p:set>
                                      <p:cBhvr>
                                        <p:cTn id="24" dur="1" fill="hold">
                                          <p:stCondLst>
                                            <p:cond delay="499"/>
                                          </p:stCondLst>
                                        </p:cTn>
                                        <p:tgtEl>
                                          <p:spTgt spid="22"/>
                                        </p:tgtEl>
                                        <p:attrNameLst>
                                          <p:attrName>style.visibility</p:attrName>
                                        </p:attrNameLst>
                                      </p:cBhvr>
                                      <p:to>
                                        <p:strVal val="hidden"/>
                                      </p:to>
                                    </p:set>
                                  </p:childTnLst>
                                </p:cTn>
                              </p:par>
                              <p:par>
                                <p:cTn id="25" presetID="10" presetClass="exit" presetSubtype="0" fill="hold" grpId="1" nodeType="withEffect">
                                  <p:stCondLst>
                                    <p:cond delay="0"/>
                                  </p:stCondLst>
                                  <p:childTnLst>
                                    <p:animEffect transition="out" filter="fade">
                                      <p:cBhvr>
                                        <p:cTn id="26" dur="500"/>
                                        <p:tgtEl>
                                          <p:spTgt spid="13"/>
                                        </p:tgtEl>
                                      </p:cBhvr>
                                    </p:animEffect>
                                    <p:set>
                                      <p:cBhvr>
                                        <p:cTn id="27" dur="1" fill="hold">
                                          <p:stCondLst>
                                            <p:cond delay="499"/>
                                          </p:stCondLst>
                                        </p:cTn>
                                        <p:tgtEl>
                                          <p:spTgt spid="13"/>
                                        </p:tgtEl>
                                        <p:attrNameLst>
                                          <p:attrName>style.visibility</p:attrName>
                                        </p:attrNameLst>
                                      </p:cBhvr>
                                      <p:to>
                                        <p:strVal val="hidden"/>
                                      </p:to>
                                    </p:set>
                                  </p:childTnLst>
                                </p:cTn>
                              </p:par>
                            </p:childTnLst>
                          </p:cTn>
                        </p:par>
                        <p:par>
                          <p:cTn id="28" fill="hold">
                            <p:stCondLst>
                              <p:cond delay="3000"/>
                            </p:stCondLst>
                            <p:childTnLst>
                              <p:par>
                                <p:cTn id="29" presetID="22" presetClass="entr" presetSubtype="4" fill="hold" grpId="0" nodeType="afterEffect">
                                  <p:stCondLst>
                                    <p:cond delay="0"/>
                                  </p:stCondLst>
                                  <p:childTnLst>
                                    <p:set>
                                      <p:cBhvr>
                                        <p:cTn id="30" dur="1" fill="hold">
                                          <p:stCondLst>
                                            <p:cond delay="0"/>
                                          </p:stCondLst>
                                        </p:cTn>
                                        <p:tgtEl>
                                          <p:spTgt spid="18"/>
                                        </p:tgtEl>
                                        <p:attrNameLst>
                                          <p:attrName>style.visibility</p:attrName>
                                        </p:attrNameLst>
                                      </p:cBhvr>
                                      <p:to>
                                        <p:strVal val="visible"/>
                                      </p:to>
                                    </p:set>
                                    <p:animEffect transition="in" filter="wipe(down)">
                                      <p:cBhvr>
                                        <p:cTn id="31" dur="500"/>
                                        <p:tgtEl>
                                          <p:spTgt spid="18"/>
                                        </p:tgtEl>
                                      </p:cBhvr>
                                    </p:animEffect>
                                  </p:childTnLst>
                                </p:cTn>
                              </p:par>
                            </p:childTnLst>
                          </p:cTn>
                        </p:par>
                        <p:par>
                          <p:cTn id="32" fill="hold">
                            <p:stCondLst>
                              <p:cond delay="3500"/>
                            </p:stCondLst>
                            <p:childTnLst>
                              <p:par>
                                <p:cTn id="33" presetID="36" presetClass="path" presetSubtype="0" accel="50000" decel="50000" fill="hold" grpId="0" nodeType="afterEffect">
                                  <p:stCondLst>
                                    <p:cond delay="1000"/>
                                  </p:stCondLst>
                                  <p:childTnLst>
                                    <p:animMotion origin="layout" path="M 4.16667E-7 -1.11111E-6 L 4.16667E-7 0.08889 C 4.16667E-7 0.12847 0.01927 0.17824 0.0349 0.17824 L 0.07005 0.17824 " pathEditMode="relative" rAng="0" ptsTypes="AAAA">
                                      <p:cBhvr>
                                        <p:cTn id="34" dur="2000" fill="hold"/>
                                        <p:tgtEl>
                                          <p:spTgt spid="15"/>
                                        </p:tgtEl>
                                        <p:attrNameLst>
                                          <p:attrName>ppt_x</p:attrName>
                                          <p:attrName>ppt_y</p:attrName>
                                        </p:attrNameLst>
                                      </p:cBhvr>
                                      <p:rCtr x="3503" y="8912"/>
                                    </p:animMotion>
                                  </p:childTnLst>
                                </p:cTn>
                              </p:par>
                              <p:par>
                                <p:cTn id="35" presetID="10" presetClass="exit" presetSubtype="0" fill="hold" grpId="1" nodeType="withEffect">
                                  <p:stCondLst>
                                    <p:cond delay="1000"/>
                                  </p:stCondLst>
                                  <p:childTnLst>
                                    <p:animEffect transition="out" filter="fade">
                                      <p:cBhvr>
                                        <p:cTn id="36" dur="500"/>
                                        <p:tgtEl>
                                          <p:spTgt spid="18"/>
                                        </p:tgtEl>
                                      </p:cBhvr>
                                    </p:animEffect>
                                    <p:set>
                                      <p:cBhvr>
                                        <p:cTn id="37" dur="1" fill="hold">
                                          <p:stCondLst>
                                            <p:cond delay="499"/>
                                          </p:stCondLst>
                                        </p:cTn>
                                        <p:tgtEl>
                                          <p:spTgt spid="18"/>
                                        </p:tgtEl>
                                        <p:attrNameLst>
                                          <p:attrName>style.visibility</p:attrName>
                                        </p:attrNameLst>
                                      </p:cBhvr>
                                      <p:to>
                                        <p:strVal val="hidden"/>
                                      </p:to>
                                    </p:set>
                                  </p:childTnLst>
                                </p:cTn>
                              </p:par>
                            </p:childTnLst>
                          </p:cTn>
                        </p:par>
                        <p:par>
                          <p:cTn id="38" fill="hold">
                            <p:stCondLst>
                              <p:cond delay="6500"/>
                            </p:stCondLst>
                            <p:childTnLst>
                              <p:par>
                                <p:cTn id="39" presetID="22" presetClass="entr" presetSubtype="4" fill="hold" grpId="0" nodeType="afterEffect">
                                  <p:stCondLst>
                                    <p:cond delay="0"/>
                                  </p:stCondLst>
                                  <p:childTnLst>
                                    <p:set>
                                      <p:cBhvr>
                                        <p:cTn id="40" dur="1" fill="hold">
                                          <p:stCondLst>
                                            <p:cond delay="0"/>
                                          </p:stCondLst>
                                        </p:cTn>
                                        <p:tgtEl>
                                          <p:spTgt spid="19"/>
                                        </p:tgtEl>
                                        <p:attrNameLst>
                                          <p:attrName>style.visibility</p:attrName>
                                        </p:attrNameLst>
                                      </p:cBhvr>
                                      <p:to>
                                        <p:strVal val="visible"/>
                                      </p:to>
                                    </p:set>
                                    <p:animEffect transition="in" filter="wipe(down)">
                                      <p:cBhvr>
                                        <p:cTn id="41" dur="500"/>
                                        <p:tgtEl>
                                          <p:spTgt spid="19"/>
                                        </p:tgtEl>
                                      </p:cBhvr>
                                    </p:animEffect>
                                  </p:childTnLst>
                                </p:cTn>
                              </p:par>
                            </p:childTnLst>
                          </p:cTn>
                        </p:par>
                        <p:par>
                          <p:cTn id="42" fill="hold">
                            <p:stCondLst>
                              <p:cond delay="7000"/>
                            </p:stCondLst>
                            <p:childTnLst>
                              <p:par>
                                <p:cTn id="43" presetID="57" presetClass="path" presetSubtype="0" accel="50000" decel="50000" fill="hold" grpId="0" nodeType="afterEffect">
                                  <p:stCondLst>
                                    <p:cond delay="1000"/>
                                  </p:stCondLst>
                                  <p:childTnLst>
                                    <p:animMotion origin="layout" path="M 6.25E-7 -2.59259E-6 L 6.25E-7 -0.0669 C 6.25E-7 -0.09699 0.01992 -0.13333 0.0362 -0.13333 L 0.07266 -0.13333 " pathEditMode="relative" rAng="0" ptsTypes="AAAA">
                                      <p:cBhvr>
                                        <p:cTn id="44" dur="2000" fill="hold"/>
                                        <p:tgtEl>
                                          <p:spTgt spid="16"/>
                                        </p:tgtEl>
                                        <p:attrNameLst>
                                          <p:attrName>ppt_x</p:attrName>
                                          <p:attrName>ppt_y</p:attrName>
                                        </p:attrNameLst>
                                      </p:cBhvr>
                                      <p:rCtr x="3633" y="-6667"/>
                                    </p:animMotion>
                                  </p:childTnLst>
                                </p:cTn>
                              </p:par>
                              <p:par>
                                <p:cTn id="45" presetID="10" presetClass="exit" presetSubtype="0" fill="hold" grpId="1" nodeType="withEffect">
                                  <p:stCondLst>
                                    <p:cond delay="1000"/>
                                  </p:stCondLst>
                                  <p:childTnLst>
                                    <p:animEffect transition="out" filter="fade">
                                      <p:cBhvr>
                                        <p:cTn id="46" dur="500"/>
                                        <p:tgtEl>
                                          <p:spTgt spid="19"/>
                                        </p:tgtEl>
                                      </p:cBhvr>
                                    </p:animEffect>
                                    <p:set>
                                      <p:cBhvr>
                                        <p:cTn id="47" dur="1" fill="hold">
                                          <p:stCondLst>
                                            <p:cond delay="499"/>
                                          </p:stCondLst>
                                        </p:cTn>
                                        <p:tgtEl>
                                          <p:spTgt spid="19"/>
                                        </p:tgtEl>
                                        <p:attrNameLst>
                                          <p:attrName>style.visibility</p:attrName>
                                        </p:attrNameLst>
                                      </p:cBhvr>
                                      <p:to>
                                        <p:strVal val="hidden"/>
                                      </p:to>
                                    </p:set>
                                  </p:childTnLst>
                                </p:cTn>
                              </p:par>
                            </p:childTnLst>
                          </p:cTn>
                        </p:par>
                        <p:par>
                          <p:cTn id="48" fill="hold">
                            <p:stCondLst>
                              <p:cond delay="10000"/>
                            </p:stCondLst>
                            <p:childTnLst>
                              <p:par>
                                <p:cTn id="49" presetID="22" presetClass="entr" presetSubtype="4" fill="hold" grpId="0" nodeType="afterEffect">
                                  <p:stCondLst>
                                    <p:cond delay="0"/>
                                  </p:stCondLst>
                                  <p:childTnLst>
                                    <p:set>
                                      <p:cBhvr>
                                        <p:cTn id="50" dur="1" fill="hold">
                                          <p:stCondLst>
                                            <p:cond delay="0"/>
                                          </p:stCondLst>
                                        </p:cTn>
                                        <p:tgtEl>
                                          <p:spTgt spid="20"/>
                                        </p:tgtEl>
                                        <p:attrNameLst>
                                          <p:attrName>style.visibility</p:attrName>
                                        </p:attrNameLst>
                                      </p:cBhvr>
                                      <p:to>
                                        <p:strVal val="visible"/>
                                      </p:to>
                                    </p:set>
                                    <p:animEffect transition="in" filter="wipe(down)">
                                      <p:cBhvr>
                                        <p:cTn id="51" dur="500"/>
                                        <p:tgtEl>
                                          <p:spTgt spid="20"/>
                                        </p:tgtEl>
                                      </p:cBhvr>
                                    </p:animEffect>
                                  </p:childTnLst>
                                </p:cTn>
                              </p:par>
                            </p:childTnLst>
                          </p:cTn>
                        </p:par>
                        <p:par>
                          <p:cTn id="52" fill="hold">
                            <p:stCondLst>
                              <p:cond delay="10500"/>
                            </p:stCondLst>
                            <p:childTnLst>
                              <p:par>
                                <p:cTn id="53" presetID="53" presetClass="entr" presetSubtype="16" fill="hold" grpId="0" nodeType="afterEffect">
                                  <p:stCondLst>
                                    <p:cond delay="1000"/>
                                  </p:stCondLst>
                                  <p:childTnLst>
                                    <p:set>
                                      <p:cBhvr>
                                        <p:cTn id="54" dur="1" fill="hold">
                                          <p:stCondLst>
                                            <p:cond delay="0"/>
                                          </p:stCondLst>
                                        </p:cTn>
                                        <p:tgtEl>
                                          <p:spTgt spid="17"/>
                                        </p:tgtEl>
                                        <p:attrNameLst>
                                          <p:attrName>style.visibility</p:attrName>
                                        </p:attrNameLst>
                                      </p:cBhvr>
                                      <p:to>
                                        <p:strVal val="visible"/>
                                      </p:to>
                                    </p:set>
                                    <p:anim calcmode="lin" valueType="num">
                                      <p:cBhvr>
                                        <p:cTn id="55" dur="500" fill="hold"/>
                                        <p:tgtEl>
                                          <p:spTgt spid="17"/>
                                        </p:tgtEl>
                                        <p:attrNameLst>
                                          <p:attrName>ppt_w</p:attrName>
                                        </p:attrNameLst>
                                      </p:cBhvr>
                                      <p:tavLst>
                                        <p:tav tm="0">
                                          <p:val>
                                            <p:fltVal val="0"/>
                                          </p:val>
                                        </p:tav>
                                        <p:tav tm="100000">
                                          <p:val>
                                            <p:strVal val="#ppt_w"/>
                                          </p:val>
                                        </p:tav>
                                      </p:tavLst>
                                    </p:anim>
                                    <p:anim calcmode="lin" valueType="num">
                                      <p:cBhvr>
                                        <p:cTn id="56" dur="500" fill="hold"/>
                                        <p:tgtEl>
                                          <p:spTgt spid="17"/>
                                        </p:tgtEl>
                                        <p:attrNameLst>
                                          <p:attrName>ppt_h</p:attrName>
                                        </p:attrNameLst>
                                      </p:cBhvr>
                                      <p:tavLst>
                                        <p:tav tm="0">
                                          <p:val>
                                            <p:fltVal val="0"/>
                                          </p:val>
                                        </p:tav>
                                        <p:tav tm="100000">
                                          <p:val>
                                            <p:strVal val="#ppt_h"/>
                                          </p:val>
                                        </p:tav>
                                      </p:tavLst>
                                    </p:anim>
                                    <p:animEffect transition="in" filter="fade">
                                      <p:cBhvr>
                                        <p:cTn id="57" dur="500"/>
                                        <p:tgtEl>
                                          <p:spTgt spid="17"/>
                                        </p:tgtEl>
                                      </p:cBhvr>
                                    </p:animEffect>
                                  </p:childTnLst>
                                </p:cTn>
                              </p:par>
                              <p:par>
                                <p:cTn id="58" presetID="10" presetClass="exit" presetSubtype="0" fill="hold" grpId="1" nodeType="withEffect">
                                  <p:stCondLst>
                                    <p:cond delay="1000"/>
                                  </p:stCondLst>
                                  <p:childTnLst>
                                    <p:animEffect transition="out" filter="fade">
                                      <p:cBhvr>
                                        <p:cTn id="59" dur="500"/>
                                        <p:tgtEl>
                                          <p:spTgt spid="20"/>
                                        </p:tgtEl>
                                      </p:cBhvr>
                                    </p:animEffect>
                                    <p:set>
                                      <p:cBhvr>
                                        <p:cTn id="60" dur="1" fill="hold">
                                          <p:stCondLst>
                                            <p:cond delay="499"/>
                                          </p:stCondLst>
                                        </p:cTn>
                                        <p:tgtEl>
                                          <p:spTgt spid="20"/>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16" grpId="0"/>
      <p:bldP spid="17" grpId="0" animBg="1"/>
      <p:bldP spid="18" grpId="0" animBg="1"/>
      <p:bldP spid="18" grpId="1" animBg="1"/>
      <p:bldP spid="19" grpId="0" animBg="1"/>
      <p:bldP spid="19" grpId="1" animBg="1"/>
      <p:bldP spid="20" grpId="0" animBg="1"/>
      <p:bldP spid="20" grpId="1" animBg="1"/>
      <p:bldP spid="21" grpId="0" animBg="1"/>
      <p:bldP spid="11" grpId="0"/>
      <p:bldP spid="12" grpId="0"/>
      <p:bldP spid="13" grpId="0" animBg="1"/>
      <p:bldP spid="13" grpId="1" animBg="1"/>
      <p:bldP spid="22" grpId="0" animBg="1"/>
      <p:bldP spid="22" grpId="1"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uadroTexto 6">
            <a:extLst>
              <a:ext uri="{FF2B5EF4-FFF2-40B4-BE49-F238E27FC236}">
                <a16:creationId xmlns:a16="http://schemas.microsoft.com/office/drawing/2014/main" id="{B3245438-2EFA-4DBF-85CF-60E0A78BBF68}"/>
              </a:ext>
            </a:extLst>
          </p:cNvPr>
          <p:cNvSpPr txBox="1"/>
          <p:nvPr/>
        </p:nvSpPr>
        <p:spPr>
          <a:xfrm>
            <a:off x="783285" y="1015310"/>
            <a:ext cx="5324004" cy="497401"/>
          </a:xfrm>
          <a:prstGeom prst="rect">
            <a:avLst/>
          </a:prstGeom>
          <a:solidFill>
            <a:schemeClr val="accent5">
              <a:lumMod val="20000"/>
              <a:lumOff val="80000"/>
            </a:schemeClr>
          </a:solidFill>
          <a:scene3d>
            <a:camera prst="orthographicFront"/>
            <a:lightRig rig="flat" dir="t"/>
          </a:scene3d>
          <a:sp3d/>
        </p:spPr>
        <p:style>
          <a:lnRef idx="0">
            <a:scrgbClr r="0" g="0" b="0"/>
          </a:lnRef>
          <a:fillRef idx="0">
            <a:scrgbClr r="0" g="0" b="0"/>
          </a:fillRef>
          <a:effectRef idx="0">
            <a:scrgbClr r="0" g="0" b="0"/>
          </a:effectRef>
          <a:fontRef idx="minor">
            <a:schemeClr val="dk1"/>
          </a:fontRef>
        </p:style>
        <p:txBody>
          <a:bodyPr spcFirstLastPara="0" vert="horz" wrap="square" lIns="121920" tIns="121920" rIns="121920" bIns="121920" numCol="1" spcCol="1270" anchor="ctr" anchorCtr="0">
            <a:noAutofit/>
          </a:bodyPr>
          <a:lstStyle>
            <a:defPPr>
              <a:defRPr lang="es-CO"/>
            </a:defPPr>
            <a:lvl1pPr algn="just">
              <a:defRPr sz="2400">
                <a:solidFill>
                  <a:schemeClr val="tx1"/>
                </a:solidFill>
              </a:defRPr>
            </a:lvl1pPr>
          </a:lstStyle>
          <a:p>
            <a:pPr algn="ctr"/>
            <a:r>
              <a:rPr lang="es-CO" b="1" u="sng" dirty="0"/>
              <a:t>NOTA PROMEDIO POR ESTUDIANTE</a:t>
            </a:r>
            <a:endParaRPr lang="es-CO" dirty="0"/>
          </a:p>
        </p:txBody>
      </p:sp>
      <p:sp>
        <p:nvSpPr>
          <p:cNvPr id="6" name="Título 1">
            <a:extLst>
              <a:ext uri="{FF2B5EF4-FFF2-40B4-BE49-F238E27FC236}">
                <a16:creationId xmlns:a16="http://schemas.microsoft.com/office/drawing/2014/main" id="{641536DB-22AF-43E4-B2DB-DB464E118EC6}"/>
              </a:ext>
            </a:extLst>
          </p:cNvPr>
          <p:cNvSpPr>
            <a:spLocks noGrp="1"/>
          </p:cNvSpPr>
          <p:nvPr>
            <p:ph type="title"/>
          </p:nvPr>
        </p:nvSpPr>
        <p:spPr>
          <a:xfrm>
            <a:off x="989994" y="0"/>
            <a:ext cx="10229386" cy="914400"/>
          </a:xfrm>
        </p:spPr>
        <p:txBody>
          <a:bodyPr vert="horz" lIns="91440" tIns="45720" rIns="91440" bIns="45720" rtlCol="0" anchor="ctr">
            <a:noAutofit/>
          </a:bodyPr>
          <a:lstStyle/>
          <a:p>
            <a:pPr algn="ctr"/>
            <a:r>
              <a:rPr lang="es-CO" sz="3800" b="1" dirty="0">
                <a:latin typeface="Bahnschrift Light SemiCondensed" panose="020B0502040204020203" pitchFamily="34" charset="0"/>
              </a:rPr>
              <a:t>“COMBINACIÓN DE ARREGLOS EN C++”</a:t>
            </a:r>
          </a:p>
        </p:txBody>
      </p:sp>
      <p:pic>
        <p:nvPicPr>
          <p:cNvPr id="2" name="Imagen 1"/>
          <p:cNvPicPr>
            <a:picLocks noChangeAspect="1"/>
          </p:cNvPicPr>
          <p:nvPr/>
        </p:nvPicPr>
        <p:blipFill>
          <a:blip r:embed="rId3"/>
          <a:stretch>
            <a:fillRect/>
          </a:stretch>
        </p:blipFill>
        <p:spPr>
          <a:xfrm>
            <a:off x="783285" y="1613621"/>
            <a:ext cx="7486650" cy="4962525"/>
          </a:xfrm>
          <a:prstGeom prst="rect">
            <a:avLst/>
          </a:prstGeom>
        </p:spPr>
      </p:pic>
      <p:pic>
        <p:nvPicPr>
          <p:cNvPr id="3" name="Imagen 2"/>
          <p:cNvPicPr>
            <a:picLocks noChangeAspect="1"/>
          </p:cNvPicPr>
          <p:nvPr/>
        </p:nvPicPr>
        <p:blipFill>
          <a:blip r:embed="rId4"/>
          <a:stretch>
            <a:fillRect/>
          </a:stretch>
        </p:blipFill>
        <p:spPr>
          <a:xfrm>
            <a:off x="5767210" y="2431343"/>
            <a:ext cx="4361519" cy="2535767"/>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27513220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up)">
                                      <p:cBhvr>
                                        <p:cTn id="7" dur="10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ítulo 1">
            <a:extLst>
              <a:ext uri="{FF2B5EF4-FFF2-40B4-BE49-F238E27FC236}">
                <a16:creationId xmlns:a16="http://schemas.microsoft.com/office/drawing/2014/main" id="{641536DB-22AF-43E4-B2DB-DB464E118EC6}"/>
              </a:ext>
            </a:extLst>
          </p:cNvPr>
          <p:cNvSpPr>
            <a:spLocks noGrp="1"/>
          </p:cNvSpPr>
          <p:nvPr>
            <p:ph type="title"/>
          </p:nvPr>
        </p:nvSpPr>
        <p:spPr>
          <a:xfrm>
            <a:off x="989994" y="0"/>
            <a:ext cx="10229386" cy="914400"/>
          </a:xfrm>
        </p:spPr>
        <p:txBody>
          <a:bodyPr vert="horz" lIns="91440" tIns="45720" rIns="91440" bIns="45720" rtlCol="0" anchor="ctr">
            <a:noAutofit/>
          </a:bodyPr>
          <a:lstStyle/>
          <a:p>
            <a:pPr algn="ctr"/>
            <a:r>
              <a:rPr lang="es-CO" sz="3800" b="1" dirty="0">
                <a:latin typeface="Bahnschrift Light SemiCondensed" panose="020B0502040204020203" pitchFamily="34" charset="0"/>
              </a:rPr>
              <a:t>“COMBINACIÓN DE ARREGLOS EN C++”</a:t>
            </a:r>
          </a:p>
        </p:txBody>
      </p:sp>
      <p:sp>
        <p:nvSpPr>
          <p:cNvPr id="14" name="Rectangle 2"/>
          <p:cNvSpPr txBox="1">
            <a:spLocks noChangeArrowheads="1"/>
          </p:cNvSpPr>
          <p:nvPr/>
        </p:nvSpPr>
        <p:spPr>
          <a:xfrm>
            <a:off x="1972100" y="1495956"/>
            <a:ext cx="9165053" cy="4804630"/>
          </a:xfrm>
          <a:prstGeom prst="rect">
            <a:avLst/>
          </a:prstGeom>
          <a:noFill/>
        </p:spPr>
        <p:txBody>
          <a:bodyPr vert="horz" lIns="0" tIns="45720" rIns="0" bIns="0" rtlCol="0" anchor="b" anchorCtr="0">
            <a:noAutofit/>
          </a:bodyPr>
          <a:lstStyle>
            <a:lvl1pPr algn="l" defTabSz="914400" rtl="0" eaLnBrk="1" latinLnBrk="0" hangingPunct="1">
              <a:spcBef>
                <a:spcPct val="0"/>
              </a:spcBef>
              <a:buNone/>
              <a:defRPr sz="4200" kern="1200" baseline="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gn="just"/>
            <a:r>
              <a:rPr lang="es-CO" altLang="es-CO" sz="2800" dirty="0">
                <a:solidFill>
                  <a:schemeClr val="tx1"/>
                </a:solidFill>
              </a:rPr>
              <a:t>	</a:t>
            </a:r>
            <a:r>
              <a:rPr lang="es-CO" altLang="es-CO" sz="2800" dirty="0" err="1">
                <a:solidFill>
                  <a:schemeClr val="tx1"/>
                </a:solidFill>
              </a:rPr>
              <a:t>double</a:t>
            </a:r>
            <a:r>
              <a:rPr lang="es-CO" altLang="es-CO" sz="2800" dirty="0">
                <a:solidFill>
                  <a:schemeClr val="tx1"/>
                </a:solidFill>
              </a:rPr>
              <a:t> NOTAS[5][5];</a:t>
            </a:r>
          </a:p>
          <a:p>
            <a:pPr algn="just"/>
            <a:endParaRPr lang="nn-NO" altLang="es-CO" sz="2800" dirty="0">
              <a:solidFill>
                <a:schemeClr val="tx1"/>
              </a:solidFill>
            </a:endParaRPr>
          </a:p>
          <a:p>
            <a:pPr algn="just"/>
            <a:r>
              <a:rPr lang="nn-NO" altLang="es-CO" sz="2800" dirty="0">
                <a:solidFill>
                  <a:schemeClr val="tx1"/>
                </a:solidFill>
              </a:rPr>
              <a:t> 	for (int i = 0; i &lt; 5; i++);</a:t>
            </a:r>
          </a:p>
          <a:p>
            <a:pPr algn="just"/>
            <a:r>
              <a:rPr lang="nn-NO" altLang="es-CO" sz="2800" dirty="0">
                <a:solidFill>
                  <a:schemeClr val="tx1"/>
                </a:solidFill>
              </a:rPr>
              <a:t>	{</a:t>
            </a:r>
          </a:p>
          <a:p>
            <a:pPr algn="just"/>
            <a:endParaRPr lang="nn-NO" altLang="es-CO" sz="2800" dirty="0">
              <a:solidFill>
                <a:schemeClr val="tx1"/>
              </a:solidFill>
            </a:endParaRPr>
          </a:p>
          <a:p>
            <a:pPr algn="just"/>
            <a:r>
              <a:rPr lang="nn-NO" altLang="es-CO" sz="2800" dirty="0">
                <a:solidFill>
                  <a:schemeClr val="tx1"/>
                </a:solidFill>
              </a:rPr>
              <a:t>		for (int j = 0; j &lt; 5; j++);</a:t>
            </a:r>
          </a:p>
          <a:p>
            <a:pPr algn="just"/>
            <a:r>
              <a:rPr lang="nn-NO" altLang="es-CO" sz="2800" dirty="0">
                <a:solidFill>
                  <a:schemeClr val="tx1"/>
                </a:solidFill>
              </a:rPr>
              <a:t>		{</a:t>
            </a:r>
          </a:p>
          <a:p>
            <a:pPr algn="just"/>
            <a:r>
              <a:rPr lang="nn-NO" altLang="es-CO" sz="2800" dirty="0">
                <a:solidFill>
                  <a:schemeClr val="tx1"/>
                </a:solidFill>
              </a:rPr>
              <a:t>			NOTAS[i][j] = rand()%5+rand()%10/10;</a:t>
            </a:r>
          </a:p>
          <a:p>
            <a:pPr algn="just"/>
            <a:endParaRPr lang="nn-NO" altLang="es-CO" sz="2800" dirty="0">
              <a:solidFill>
                <a:schemeClr val="tx1"/>
              </a:solidFill>
            </a:endParaRPr>
          </a:p>
          <a:p>
            <a:pPr algn="just"/>
            <a:r>
              <a:rPr lang="nn-NO" altLang="es-CO" sz="2800" dirty="0">
                <a:solidFill>
                  <a:schemeClr val="tx1"/>
                </a:solidFill>
              </a:rPr>
              <a:t>		}	</a:t>
            </a:r>
          </a:p>
          <a:p>
            <a:pPr algn="just"/>
            <a:r>
              <a:rPr lang="nn-NO" altLang="es-CO" sz="2800" dirty="0">
                <a:solidFill>
                  <a:schemeClr val="tx1"/>
                </a:solidFill>
              </a:rPr>
              <a:t>	</a:t>
            </a:r>
          </a:p>
          <a:p>
            <a:pPr algn="just"/>
            <a:r>
              <a:rPr lang="nn-NO" altLang="es-CO" sz="2800" dirty="0">
                <a:solidFill>
                  <a:schemeClr val="tx1"/>
                </a:solidFill>
              </a:rPr>
              <a:t>	} </a:t>
            </a:r>
            <a:r>
              <a:rPr lang="es-CO" altLang="es-CO" sz="2800" dirty="0">
                <a:solidFill>
                  <a:schemeClr val="tx1"/>
                </a:solidFill>
              </a:rPr>
              <a:t>	</a:t>
            </a:r>
          </a:p>
          <a:p>
            <a:pPr algn="just"/>
            <a:endParaRPr lang="es-CO" altLang="es-CO" sz="2800" dirty="0">
              <a:solidFill>
                <a:schemeClr val="tx1"/>
              </a:solidFill>
            </a:endParaRPr>
          </a:p>
        </p:txBody>
      </p:sp>
      <p:sp>
        <p:nvSpPr>
          <p:cNvPr id="21" name="CuadroTexto 20">
            <a:extLst>
              <a:ext uri="{FF2B5EF4-FFF2-40B4-BE49-F238E27FC236}">
                <a16:creationId xmlns:a16="http://schemas.microsoft.com/office/drawing/2014/main" id="{B3245438-2EFA-4DBF-85CF-60E0A78BBF68}"/>
              </a:ext>
            </a:extLst>
          </p:cNvPr>
          <p:cNvSpPr txBox="1"/>
          <p:nvPr/>
        </p:nvSpPr>
        <p:spPr>
          <a:xfrm>
            <a:off x="6400801" y="814851"/>
            <a:ext cx="5493422" cy="1691282"/>
          </a:xfrm>
          <a:prstGeom prst="rect">
            <a:avLst/>
          </a:prstGeom>
          <a:solidFill>
            <a:schemeClr val="accent5">
              <a:lumMod val="20000"/>
              <a:lumOff val="80000"/>
            </a:schemeClr>
          </a:solidFill>
          <a:scene3d>
            <a:camera prst="orthographicFront"/>
            <a:lightRig rig="flat" dir="t"/>
          </a:scene3d>
          <a:sp3d/>
        </p:spPr>
        <p:style>
          <a:lnRef idx="0">
            <a:scrgbClr r="0" g="0" b="0"/>
          </a:lnRef>
          <a:fillRef idx="0">
            <a:scrgbClr r="0" g="0" b="0"/>
          </a:fillRef>
          <a:effectRef idx="0">
            <a:scrgbClr r="0" g="0" b="0"/>
          </a:effectRef>
          <a:fontRef idx="minor">
            <a:schemeClr val="dk1"/>
          </a:fontRef>
        </p:style>
        <p:txBody>
          <a:bodyPr spcFirstLastPara="0" vert="horz" wrap="square" lIns="121920" tIns="121920" rIns="121920" bIns="121920" numCol="1" spcCol="1270" anchor="ctr" anchorCtr="0">
            <a:noAutofit/>
          </a:bodyPr>
          <a:lstStyle>
            <a:defPPr>
              <a:defRPr lang="es-CO"/>
            </a:defPPr>
            <a:lvl1pPr algn="just">
              <a:defRPr sz="2400">
                <a:solidFill>
                  <a:schemeClr val="tx1"/>
                </a:solidFill>
              </a:defRPr>
            </a:lvl1pPr>
          </a:lstStyle>
          <a:p>
            <a:r>
              <a:rPr lang="es-CO" dirty="0"/>
              <a:t>Si el ejemplo, pidiese almacenar en un vector la </a:t>
            </a:r>
            <a:r>
              <a:rPr lang="es-CO" b="1" u="sng" dirty="0"/>
              <a:t>NOTA PROMEDIO POR MATERIA</a:t>
            </a:r>
            <a:r>
              <a:rPr lang="es-CO" dirty="0"/>
              <a:t> </a:t>
            </a:r>
            <a:r>
              <a:rPr lang="es-CO" b="1" dirty="0"/>
              <a:t>(Primer ciclo de fila) </a:t>
            </a:r>
            <a:r>
              <a:rPr lang="es-CO" dirty="0"/>
              <a:t>se realizarían las siguientes modificaciones:</a:t>
            </a:r>
          </a:p>
        </p:txBody>
      </p:sp>
      <p:sp>
        <p:nvSpPr>
          <p:cNvPr id="23" name="Flecha derecha 22"/>
          <p:cNvSpPr/>
          <p:nvPr/>
        </p:nvSpPr>
        <p:spPr>
          <a:xfrm>
            <a:off x="794667" y="922088"/>
            <a:ext cx="2071443" cy="954242"/>
          </a:xfrm>
          <a:prstGeom prst="rightArrow">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es-CO" b="1" dirty="0">
                <a:solidFill>
                  <a:schemeClr val="dk1"/>
                </a:solidFill>
              </a:rPr>
              <a:t>DIMENSIONAR VECTOR</a:t>
            </a:r>
          </a:p>
        </p:txBody>
      </p:sp>
      <p:sp>
        <p:nvSpPr>
          <p:cNvPr id="2" name="CuadroTexto 1"/>
          <p:cNvSpPr txBox="1"/>
          <p:nvPr/>
        </p:nvSpPr>
        <p:spPr>
          <a:xfrm>
            <a:off x="2783565" y="1109265"/>
            <a:ext cx="3247982" cy="523220"/>
          </a:xfrm>
          <a:prstGeom prst="rect">
            <a:avLst/>
          </a:prstGeom>
          <a:noFill/>
        </p:spPr>
        <p:txBody>
          <a:bodyPr wrap="square" rtlCol="0">
            <a:spAutoFit/>
          </a:bodyPr>
          <a:lstStyle>
            <a:defPPr>
              <a:defRPr lang="es-CO"/>
            </a:defPPr>
            <a:lvl1pPr>
              <a:defRPr sz="2800" b="1">
                <a:solidFill>
                  <a:srgbClr val="0070C0"/>
                </a:solidFill>
              </a:defRPr>
            </a:lvl1pPr>
          </a:lstStyle>
          <a:p>
            <a:r>
              <a:rPr lang="es-CO" dirty="0" err="1"/>
              <a:t>double</a:t>
            </a:r>
            <a:r>
              <a:rPr lang="es-CO" dirty="0"/>
              <a:t> VECTOR[5];</a:t>
            </a:r>
          </a:p>
        </p:txBody>
      </p:sp>
      <p:sp>
        <p:nvSpPr>
          <p:cNvPr id="24" name="Flecha derecha 23"/>
          <p:cNvSpPr/>
          <p:nvPr/>
        </p:nvSpPr>
        <p:spPr>
          <a:xfrm>
            <a:off x="1298223" y="2231996"/>
            <a:ext cx="2451684" cy="954242"/>
          </a:xfrm>
          <a:prstGeom prst="rightArrow">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es-CO" b="1" dirty="0">
                <a:solidFill>
                  <a:schemeClr val="dk1"/>
                </a:solidFill>
              </a:rPr>
              <a:t>INICIALIZAR ENTRE LOS CICLOS</a:t>
            </a:r>
          </a:p>
        </p:txBody>
      </p:sp>
      <p:sp>
        <p:nvSpPr>
          <p:cNvPr id="25" name="CuadroTexto 24"/>
          <p:cNvSpPr txBox="1"/>
          <p:nvPr/>
        </p:nvSpPr>
        <p:spPr>
          <a:xfrm>
            <a:off x="3706689" y="2419173"/>
            <a:ext cx="2761846" cy="523220"/>
          </a:xfrm>
          <a:prstGeom prst="rect">
            <a:avLst/>
          </a:prstGeom>
          <a:noFill/>
        </p:spPr>
        <p:txBody>
          <a:bodyPr wrap="square" rtlCol="0">
            <a:spAutoFit/>
          </a:bodyPr>
          <a:lstStyle>
            <a:defPPr>
              <a:defRPr lang="es-CO"/>
            </a:defPPr>
            <a:lvl1pPr>
              <a:defRPr sz="2800" b="1">
                <a:solidFill>
                  <a:srgbClr val="0070C0"/>
                </a:solidFill>
              </a:defRPr>
            </a:lvl1pPr>
          </a:lstStyle>
          <a:p>
            <a:r>
              <a:rPr lang="es-CO" dirty="0" err="1"/>
              <a:t>double</a:t>
            </a:r>
            <a:r>
              <a:rPr lang="es-CO" dirty="0"/>
              <a:t> suma = 0;</a:t>
            </a:r>
          </a:p>
        </p:txBody>
      </p:sp>
      <p:sp>
        <p:nvSpPr>
          <p:cNvPr id="26" name="Flecha derecha 25"/>
          <p:cNvSpPr/>
          <p:nvPr/>
        </p:nvSpPr>
        <p:spPr>
          <a:xfrm>
            <a:off x="1972100" y="3865610"/>
            <a:ext cx="2692207" cy="954242"/>
          </a:xfrm>
          <a:prstGeom prst="rightArrow">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es-CO" b="1" dirty="0">
                <a:solidFill>
                  <a:schemeClr val="dk1"/>
                </a:solidFill>
              </a:rPr>
              <a:t>CALCULAR OPERACIÓN</a:t>
            </a:r>
          </a:p>
        </p:txBody>
      </p:sp>
      <p:sp>
        <p:nvSpPr>
          <p:cNvPr id="27" name="CuadroTexto 26"/>
          <p:cNvSpPr txBox="1"/>
          <p:nvPr/>
        </p:nvSpPr>
        <p:spPr>
          <a:xfrm>
            <a:off x="4621089" y="4052787"/>
            <a:ext cx="3495622" cy="523220"/>
          </a:xfrm>
          <a:prstGeom prst="rect">
            <a:avLst/>
          </a:prstGeom>
          <a:noFill/>
        </p:spPr>
        <p:txBody>
          <a:bodyPr wrap="square" rtlCol="0">
            <a:spAutoFit/>
          </a:bodyPr>
          <a:lstStyle>
            <a:defPPr>
              <a:defRPr lang="es-CO"/>
            </a:defPPr>
            <a:lvl1pPr>
              <a:defRPr sz="2800" b="1">
                <a:solidFill>
                  <a:srgbClr val="0070C0"/>
                </a:solidFill>
              </a:defRPr>
            </a:lvl1pPr>
          </a:lstStyle>
          <a:p>
            <a:r>
              <a:rPr lang="es-CO" dirty="0"/>
              <a:t>suma +=NOTAS[i][j];</a:t>
            </a:r>
          </a:p>
        </p:txBody>
      </p:sp>
      <p:sp>
        <p:nvSpPr>
          <p:cNvPr id="28" name="Flecha derecha 27"/>
          <p:cNvSpPr/>
          <p:nvPr/>
        </p:nvSpPr>
        <p:spPr>
          <a:xfrm>
            <a:off x="237068" y="4788827"/>
            <a:ext cx="3512840" cy="954242"/>
          </a:xfrm>
          <a:prstGeom prst="rightArrow">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es-CO" b="1" dirty="0">
                <a:solidFill>
                  <a:schemeClr val="dk1"/>
                </a:solidFill>
              </a:rPr>
              <a:t>LLEVAR AL VECTOR USANDO VARIABLE DEL 1er. CICLO</a:t>
            </a:r>
          </a:p>
        </p:txBody>
      </p:sp>
      <p:sp>
        <p:nvSpPr>
          <p:cNvPr id="29" name="CuadroTexto 28"/>
          <p:cNvSpPr txBox="1"/>
          <p:nvPr/>
        </p:nvSpPr>
        <p:spPr>
          <a:xfrm>
            <a:off x="3706689" y="4976004"/>
            <a:ext cx="3495622" cy="523220"/>
          </a:xfrm>
          <a:prstGeom prst="rect">
            <a:avLst/>
          </a:prstGeom>
          <a:noFill/>
        </p:spPr>
        <p:txBody>
          <a:bodyPr wrap="square" rtlCol="0">
            <a:spAutoFit/>
          </a:bodyPr>
          <a:lstStyle>
            <a:defPPr>
              <a:defRPr lang="es-CO"/>
            </a:defPPr>
            <a:lvl1pPr>
              <a:defRPr sz="2800" b="1">
                <a:solidFill>
                  <a:srgbClr val="0070C0"/>
                </a:solidFill>
              </a:defRPr>
            </a:lvl1pPr>
          </a:lstStyle>
          <a:p>
            <a:r>
              <a:rPr lang="es-CO" dirty="0"/>
              <a:t>VECTOR[i] = suma/5;</a:t>
            </a:r>
          </a:p>
        </p:txBody>
      </p:sp>
      <p:cxnSp>
        <p:nvCxnSpPr>
          <p:cNvPr id="30" name="Conector angular 29"/>
          <p:cNvCxnSpPr/>
          <p:nvPr/>
        </p:nvCxnSpPr>
        <p:spPr>
          <a:xfrm rot="16200000" flipH="1">
            <a:off x="2819606" y="2757028"/>
            <a:ext cx="2992552" cy="1543460"/>
          </a:xfrm>
          <a:prstGeom prst="bentConnector3">
            <a:avLst>
              <a:gd name="adj1" fmla="val 100172"/>
            </a:avLst>
          </a:prstGeom>
          <a:ln w="38100">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415328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wipe(up)">
                                      <p:cBhvr>
                                        <p:cTn id="7" dur="1000"/>
                                        <p:tgtEl>
                                          <p:spTgt spid="21"/>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23"/>
                                        </p:tgtEl>
                                        <p:attrNameLst>
                                          <p:attrName>style.visibility</p:attrName>
                                        </p:attrNameLst>
                                      </p:cBhvr>
                                      <p:to>
                                        <p:strVal val="visible"/>
                                      </p:to>
                                    </p:set>
                                    <p:animEffect transition="in" filter="wipe(down)">
                                      <p:cBhvr>
                                        <p:cTn id="12" dur="500"/>
                                        <p:tgtEl>
                                          <p:spTgt spid="23"/>
                                        </p:tgtEl>
                                      </p:cBhvr>
                                    </p:animEffect>
                                  </p:childTnLst>
                                </p:cTn>
                              </p:par>
                            </p:childTnLst>
                          </p:cTn>
                        </p:par>
                        <p:par>
                          <p:cTn id="13" fill="hold">
                            <p:stCondLst>
                              <p:cond delay="500"/>
                            </p:stCondLst>
                            <p:childTnLst>
                              <p:par>
                                <p:cTn id="14" presetID="22" presetClass="entr" presetSubtype="8" fill="hold" grpId="0" nodeType="afterEffect">
                                  <p:stCondLst>
                                    <p:cond delay="0"/>
                                  </p:stCondLst>
                                  <p:childTnLst>
                                    <p:set>
                                      <p:cBhvr>
                                        <p:cTn id="15" dur="1" fill="hold">
                                          <p:stCondLst>
                                            <p:cond delay="0"/>
                                          </p:stCondLst>
                                        </p:cTn>
                                        <p:tgtEl>
                                          <p:spTgt spid="2"/>
                                        </p:tgtEl>
                                        <p:attrNameLst>
                                          <p:attrName>style.visibility</p:attrName>
                                        </p:attrNameLst>
                                      </p:cBhvr>
                                      <p:to>
                                        <p:strVal val="visible"/>
                                      </p:to>
                                    </p:set>
                                    <p:animEffect transition="in" filter="wipe(left)">
                                      <p:cBhvr>
                                        <p:cTn id="16" dur="2000"/>
                                        <p:tgtEl>
                                          <p:spTgt spid="2"/>
                                        </p:tgtEl>
                                      </p:cBhvr>
                                    </p:animEffect>
                                  </p:childTnLst>
                                </p:cTn>
                              </p:par>
                              <p:par>
                                <p:cTn id="17" presetID="10" presetClass="exit" presetSubtype="0" fill="hold" grpId="1" nodeType="withEffect">
                                  <p:stCondLst>
                                    <p:cond delay="3000"/>
                                  </p:stCondLst>
                                  <p:childTnLst>
                                    <p:animEffect transition="out" filter="fade">
                                      <p:cBhvr>
                                        <p:cTn id="18" dur="3000"/>
                                        <p:tgtEl>
                                          <p:spTgt spid="23"/>
                                        </p:tgtEl>
                                      </p:cBhvr>
                                    </p:animEffect>
                                    <p:set>
                                      <p:cBhvr>
                                        <p:cTn id="19" dur="1" fill="hold">
                                          <p:stCondLst>
                                            <p:cond delay="2999"/>
                                          </p:stCondLst>
                                        </p:cTn>
                                        <p:tgtEl>
                                          <p:spTgt spid="23"/>
                                        </p:tgtEl>
                                        <p:attrNameLst>
                                          <p:attrName>style.visibility</p:attrName>
                                        </p:attrNameLst>
                                      </p:cBhvr>
                                      <p:to>
                                        <p:strVal val="hidden"/>
                                      </p:to>
                                    </p:set>
                                  </p:childTnLst>
                                </p:cTn>
                              </p:par>
                            </p:childTnLst>
                          </p:cTn>
                        </p:par>
                      </p:childTnLst>
                    </p:cTn>
                  </p:par>
                  <p:par>
                    <p:cTn id="20" fill="hold">
                      <p:stCondLst>
                        <p:cond delay="indefinite"/>
                      </p:stCondLst>
                      <p:childTnLst>
                        <p:par>
                          <p:cTn id="21" fill="hold">
                            <p:stCondLst>
                              <p:cond delay="0"/>
                            </p:stCondLst>
                            <p:childTnLst>
                              <p:par>
                                <p:cTn id="22" presetID="22" presetClass="entr" presetSubtype="4" fill="hold" grpId="0" nodeType="clickEffect">
                                  <p:stCondLst>
                                    <p:cond delay="0"/>
                                  </p:stCondLst>
                                  <p:childTnLst>
                                    <p:set>
                                      <p:cBhvr>
                                        <p:cTn id="23" dur="1" fill="hold">
                                          <p:stCondLst>
                                            <p:cond delay="0"/>
                                          </p:stCondLst>
                                        </p:cTn>
                                        <p:tgtEl>
                                          <p:spTgt spid="24"/>
                                        </p:tgtEl>
                                        <p:attrNameLst>
                                          <p:attrName>style.visibility</p:attrName>
                                        </p:attrNameLst>
                                      </p:cBhvr>
                                      <p:to>
                                        <p:strVal val="visible"/>
                                      </p:to>
                                    </p:set>
                                    <p:animEffect transition="in" filter="wipe(down)">
                                      <p:cBhvr>
                                        <p:cTn id="24" dur="500"/>
                                        <p:tgtEl>
                                          <p:spTgt spid="24"/>
                                        </p:tgtEl>
                                      </p:cBhvr>
                                    </p:animEffect>
                                  </p:childTnLst>
                                </p:cTn>
                              </p:par>
                            </p:childTnLst>
                          </p:cTn>
                        </p:par>
                        <p:par>
                          <p:cTn id="25" fill="hold">
                            <p:stCondLst>
                              <p:cond delay="500"/>
                            </p:stCondLst>
                            <p:childTnLst>
                              <p:par>
                                <p:cTn id="26" presetID="22" presetClass="entr" presetSubtype="8" fill="hold" grpId="0" nodeType="afterEffect">
                                  <p:stCondLst>
                                    <p:cond delay="0"/>
                                  </p:stCondLst>
                                  <p:childTnLst>
                                    <p:set>
                                      <p:cBhvr>
                                        <p:cTn id="27" dur="1" fill="hold">
                                          <p:stCondLst>
                                            <p:cond delay="0"/>
                                          </p:stCondLst>
                                        </p:cTn>
                                        <p:tgtEl>
                                          <p:spTgt spid="25"/>
                                        </p:tgtEl>
                                        <p:attrNameLst>
                                          <p:attrName>style.visibility</p:attrName>
                                        </p:attrNameLst>
                                      </p:cBhvr>
                                      <p:to>
                                        <p:strVal val="visible"/>
                                      </p:to>
                                    </p:set>
                                    <p:animEffect transition="in" filter="wipe(left)">
                                      <p:cBhvr>
                                        <p:cTn id="28" dur="2000"/>
                                        <p:tgtEl>
                                          <p:spTgt spid="25"/>
                                        </p:tgtEl>
                                      </p:cBhvr>
                                    </p:animEffect>
                                  </p:childTnLst>
                                </p:cTn>
                              </p:par>
                              <p:par>
                                <p:cTn id="29" presetID="10" presetClass="exit" presetSubtype="0" fill="hold" grpId="1" nodeType="withEffect">
                                  <p:stCondLst>
                                    <p:cond delay="3000"/>
                                  </p:stCondLst>
                                  <p:childTnLst>
                                    <p:animEffect transition="out" filter="fade">
                                      <p:cBhvr>
                                        <p:cTn id="30" dur="3000"/>
                                        <p:tgtEl>
                                          <p:spTgt spid="24"/>
                                        </p:tgtEl>
                                      </p:cBhvr>
                                    </p:animEffect>
                                    <p:set>
                                      <p:cBhvr>
                                        <p:cTn id="31" dur="1" fill="hold">
                                          <p:stCondLst>
                                            <p:cond delay="2999"/>
                                          </p:stCondLst>
                                        </p:cTn>
                                        <p:tgtEl>
                                          <p:spTgt spid="24"/>
                                        </p:tgtEl>
                                        <p:attrNameLst>
                                          <p:attrName>style.visibility</p:attrName>
                                        </p:attrNameLst>
                                      </p:cBhvr>
                                      <p:to>
                                        <p:strVal val="hidden"/>
                                      </p:to>
                                    </p:set>
                                  </p:childTnLst>
                                </p:cTn>
                              </p:par>
                            </p:childTnLst>
                          </p:cTn>
                        </p:par>
                      </p:childTnLst>
                    </p:cTn>
                  </p:par>
                  <p:par>
                    <p:cTn id="32" fill="hold">
                      <p:stCondLst>
                        <p:cond delay="indefinite"/>
                      </p:stCondLst>
                      <p:childTnLst>
                        <p:par>
                          <p:cTn id="33" fill="hold">
                            <p:stCondLst>
                              <p:cond delay="0"/>
                            </p:stCondLst>
                            <p:childTnLst>
                              <p:par>
                                <p:cTn id="34" presetID="22" presetClass="entr" presetSubtype="4" fill="hold" grpId="0" nodeType="clickEffect">
                                  <p:stCondLst>
                                    <p:cond delay="0"/>
                                  </p:stCondLst>
                                  <p:childTnLst>
                                    <p:set>
                                      <p:cBhvr>
                                        <p:cTn id="35" dur="1" fill="hold">
                                          <p:stCondLst>
                                            <p:cond delay="0"/>
                                          </p:stCondLst>
                                        </p:cTn>
                                        <p:tgtEl>
                                          <p:spTgt spid="26"/>
                                        </p:tgtEl>
                                        <p:attrNameLst>
                                          <p:attrName>style.visibility</p:attrName>
                                        </p:attrNameLst>
                                      </p:cBhvr>
                                      <p:to>
                                        <p:strVal val="visible"/>
                                      </p:to>
                                    </p:set>
                                    <p:animEffect transition="in" filter="wipe(down)">
                                      <p:cBhvr>
                                        <p:cTn id="36" dur="500"/>
                                        <p:tgtEl>
                                          <p:spTgt spid="26"/>
                                        </p:tgtEl>
                                      </p:cBhvr>
                                    </p:animEffect>
                                  </p:childTnLst>
                                </p:cTn>
                              </p:par>
                            </p:childTnLst>
                          </p:cTn>
                        </p:par>
                        <p:par>
                          <p:cTn id="37" fill="hold">
                            <p:stCondLst>
                              <p:cond delay="500"/>
                            </p:stCondLst>
                            <p:childTnLst>
                              <p:par>
                                <p:cTn id="38" presetID="22" presetClass="entr" presetSubtype="8" fill="hold" grpId="0" nodeType="afterEffect">
                                  <p:stCondLst>
                                    <p:cond delay="0"/>
                                  </p:stCondLst>
                                  <p:childTnLst>
                                    <p:set>
                                      <p:cBhvr>
                                        <p:cTn id="39" dur="1" fill="hold">
                                          <p:stCondLst>
                                            <p:cond delay="0"/>
                                          </p:stCondLst>
                                        </p:cTn>
                                        <p:tgtEl>
                                          <p:spTgt spid="27"/>
                                        </p:tgtEl>
                                        <p:attrNameLst>
                                          <p:attrName>style.visibility</p:attrName>
                                        </p:attrNameLst>
                                      </p:cBhvr>
                                      <p:to>
                                        <p:strVal val="visible"/>
                                      </p:to>
                                    </p:set>
                                    <p:animEffect transition="in" filter="wipe(left)">
                                      <p:cBhvr>
                                        <p:cTn id="40" dur="2000"/>
                                        <p:tgtEl>
                                          <p:spTgt spid="27"/>
                                        </p:tgtEl>
                                      </p:cBhvr>
                                    </p:animEffect>
                                  </p:childTnLst>
                                </p:cTn>
                              </p:par>
                              <p:par>
                                <p:cTn id="41" presetID="10" presetClass="exit" presetSubtype="0" fill="hold" grpId="1" nodeType="withEffect">
                                  <p:stCondLst>
                                    <p:cond delay="3000"/>
                                  </p:stCondLst>
                                  <p:childTnLst>
                                    <p:animEffect transition="out" filter="fade">
                                      <p:cBhvr>
                                        <p:cTn id="42" dur="3000"/>
                                        <p:tgtEl>
                                          <p:spTgt spid="26"/>
                                        </p:tgtEl>
                                      </p:cBhvr>
                                    </p:animEffect>
                                    <p:set>
                                      <p:cBhvr>
                                        <p:cTn id="43" dur="1" fill="hold">
                                          <p:stCondLst>
                                            <p:cond delay="2999"/>
                                          </p:stCondLst>
                                        </p:cTn>
                                        <p:tgtEl>
                                          <p:spTgt spid="26"/>
                                        </p:tgtEl>
                                        <p:attrNameLst>
                                          <p:attrName>style.visibility</p:attrName>
                                        </p:attrNameLst>
                                      </p:cBhvr>
                                      <p:to>
                                        <p:strVal val="hidden"/>
                                      </p:to>
                                    </p:set>
                                  </p:childTnLst>
                                </p:cTn>
                              </p:par>
                            </p:childTnLst>
                          </p:cTn>
                        </p:par>
                      </p:childTnLst>
                    </p:cTn>
                  </p:par>
                  <p:par>
                    <p:cTn id="44" fill="hold">
                      <p:stCondLst>
                        <p:cond delay="indefinite"/>
                      </p:stCondLst>
                      <p:childTnLst>
                        <p:par>
                          <p:cTn id="45" fill="hold">
                            <p:stCondLst>
                              <p:cond delay="0"/>
                            </p:stCondLst>
                            <p:childTnLst>
                              <p:par>
                                <p:cTn id="46" presetID="22" presetClass="entr" presetSubtype="4" fill="hold" grpId="0" nodeType="clickEffect">
                                  <p:stCondLst>
                                    <p:cond delay="0"/>
                                  </p:stCondLst>
                                  <p:childTnLst>
                                    <p:set>
                                      <p:cBhvr>
                                        <p:cTn id="47" dur="1" fill="hold">
                                          <p:stCondLst>
                                            <p:cond delay="0"/>
                                          </p:stCondLst>
                                        </p:cTn>
                                        <p:tgtEl>
                                          <p:spTgt spid="28"/>
                                        </p:tgtEl>
                                        <p:attrNameLst>
                                          <p:attrName>style.visibility</p:attrName>
                                        </p:attrNameLst>
                                      </p:cBhvr>
                                      <p:to>
                                        <p:strVal val="visible"/>
                                      </p:to>
                                    </p:set>
                                    <p:animEffect transition="in" filter="wipe(down)">
                                      <p:cBhvr>
                                        <p:cTn id="48" dur="500"/>
                                        <p:tgtEl>
                                          <p:spTgt spid="28"/>
                                        </p:tgtEl>
                                      </p:cBhvr>
                                    </p:animEffect>
                                  </p:childTnLst>
                                </p:cTn>
                              </p:par>
                            </p:childTnLst>
                          </p:cTn>
                        </p:par>
                        <p:par>
                          <p:cTn id="49" fill="hold">
                            <p:stCondLst>
                              <p:cond delay="500"/>
                            </p:stCondLst>
                            <p:childTnLst>
                              <p:par>
                                <p:cTn id="50" presetID="22" presetClass="entr" presetSubtype="8" fill="hold" grpId="0" nodeType="afterEffect">
                                  <p:stCondLst>
                                    <p:cond delay="0"/>
                                  </p:stCondLst>
                                  <p:childTnLst>
                                    <p:set>
                                      <p:cBhvr>
                                        <p:cTn id="51" dur="1" fill="hold">
                                          <p:stCondLst>
                                            <p:cond delay="0"/>
                                          </p:stCondLst>
                                        </p:cTn>
                                        <p:tgtEl>
                                          <p:spTgt spid="29"/>
                                        </p:tgtEl>
                                        <p:attrNameLst>
                                          <p:attrName>style.visibility</p:attrName>
                                        </p:attrNameLst>
                                      </p:cBhvr>
                                      <p:to>
                                        <p:strVal val="visible"/>
                                      </p:to>
                                    </p:set>
                                    <p:animEffect transition="in" filter="wipe(left)">
                                      <p:cBhvr>
                                        <p:cTn id="52" dur="2000"/>
                                        <p:tgtEl>
                                          <p:spTgt spid="29"/>
                                        </p:tgtEl>
                                      </p:cBhvr>
                                    </p:animEffect>
                                  </p:childTnLst>
                                </p:cTn>
                              </p:par>
                              <p:par>
                                <p:cTn id="53" presetID="10" presetClass="exit" presetSubtype="0" fill="hold" grpId="1" nodeType="withEffect">
                                  <p:stCondLst>
                                    <p:cond delay="3000"/>
                                  </p:stCondLst>
                                  <p:childTnLst>
                                    <p:animEffect transition="out" filter="fade">
                                      <p:cBhvr>
                                        <p:cTn id="54" dur="3000"/>
                                        <p:tgtEl>
                                          <p:spTgt spid="28"/>
                                        </p:tgtEl>
                                      </p:cBhvr>
                                    </p:animEffect>
                                    <p:set>
                                      <p:cBhvr>
                                        <p:cTn id="55" dur="1" fill="hold">
                                          <p:stCondLst>
                                            <p:cond delay="2999"/>
                                          </p:stCondLst>
                                        </p:cTn>
                                        <p:tgtEl>
                                          <p:spTgt spid="28"/>
                                        </p:tgtEl>
                                        <p:attrNameLst>
                                          <p:attrName>style.visibility</p:attrName>
                                        </p:attrNameLst>
                                      </p:cBhvr>
                                      <p:to>
                                        <p:strVal val="hidden"/>
                                      </p:to>
                                    </p:set>
                                  </p:childTnLst>
                                </p:cTn>
                              </p:par>
                              <p:par>
                                <p:cTn id="56" presetID="21" presetClass="entr" presetSubtype="1" fill="hold" nodeType="withEffect">
                                  <p:stCondLst>
                                    <p:cond delay="3000"/>
                                  </p:stCondLst>
                                  <p:childTnLst>
                                    <p:set>
                                      <p:cBhvr>
                                        <p:cTn id="57" dur="1" fill="hold">
                                          <p:stCondLst>
                                            <p:cond delay="0"/>
                                          </p:stCondLst>
                                        </p:cTn>
                                        <p:tgtEl>
                                          <p:spTgt spid="30"/>
                                        </p:tgtEl>
                                        <p:attrNameLst>
                                          <p:attrName>style.visibility</p:attrName>
                                        </p:attrNameLst>
                                      </p:cBhvr>
                                      <p:to>
                                        <p:strVal val="visible"/>
                                      </p:to>
                                    </p:set>
                                    <p:animEffect transition="in" filter="wheel(1)">
                                      <p:cBhvr>
                                        <p:cTn id="58" dur="20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animBg="1"/>
      <p:bldP spid="23" grpId="0" animBg="1"/>
      <p:bldP spid="23" grpId="1" animBg="1"/>
      <p:bldP spid="2" grpId="0"/>
      <p:bldP spid="24" grpId="0" animBg="1"/>
      <p:bldP spid="24" grpId="1" animBg="1"/>
      <p:bldP spid="25" grpId="0"/>
      <p:bldP spid="26" grpId="0" animBg="1"/>
      <p:bldP spid="26" grpId="1" animBg="1"/>
      <p:bldP spid="27" grpId="0"/>
      <p:bldP spid="28" grpId="0" animBg="1"/>
      <p:bldP spid="28" grpId="1" animBg="1"/>
      <p:bldP spid="29"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Imagen 7"/>
          <p:cNvPicPr>
            <a:picLocks noChangeAspect="1"/>
          </p:cNvPicPr>
          <p:nvPr/>
        </p:nvPicPr>
        <p:blipFill>
          <a:blip r:embed="rId3"/>
          <a:stretch>
            <a:fillRect/>
          </a:stretch>
        </p:blipFill>
        <p:spPr>
          <a:xfrm>
            <a:off x="783284" y="1690510"/>
            <a:ext cx="8620359" cy="4997974"/>
          </a:xfrm>
          <a:prstGeom prst="rect">
            <a:avLst/>
          </a:prstGeom>
        </p:spPr>
      </p:pic>
      <p:sp>
        <p:nvSpPr>
          <p:cNvPr id="7" name="CuadroTexto 6">
            <a:extLst>
              <a:ext uri="{FF2B5EF4-FFF2-40B4-BE49-F238E27FC236}">
                <a16:creationId xmlns:a16="http://schemas.microsoft.com/office/drawing/2014/main" id="{B3245438-2EFA-4DBF-85CF-60E0A78BBF68}"/>
              </a:ext>
            </a:extLst>
          </p:cNvPr>
          <p:cNvSpPr txBox="1"/>
          <p:nvPr/>
        </p:nvSpPr>
        <p:spPr>
          <a:xfrm>
            <a:off x="783285" y="1015310"/>
            <a:ext cx="5324004" cy="497401"/>
          </a:xfrm>
          <a:prstGeom prst="rect">
            <a:avLst/>
          </a:prstGeom>
          <a:solidFill>
            <a:schemeClr val="accent5">
              <a:lumMod val="20000"/>
              <a:lumOff val="80000"/>
            </a:schemeClr>
          </a:solidFill>
          <a:scene3d>
            <a:camera prst="orthographicFront"/>
            <a:lightRig rig="flat" dir="t"/>
          </a:scene3d>
          <a:sp3d/>
        </p:spPr>
        <p:style>
          <a:lnRef idx="0">
            <a:scrgbClr r="0" g="0" b="0"/>
          </a:lnRef>
          <a:fillRef idx="0">
            <a:scrgbClr r="0" g="0" b="0"/>
          </a:fillRef>
          <a:effectRef idx="0">
            <a:scrgbClr r="0" g="0" b="0"/>
          </a:effectRef>
          <a:fontRef idx="minor">
            <a:schemeClr val="dk1"/>
          </a:fontRef>
        </p:style>
        <p:txBody>
          <a:bodyPr spcFirstLastPara="0" vert="horz" wrap="square" lIns="121920" tIns="121920" rIns="121920" bIns="121920" numCol="1" spcCol="1270" anchor="ctr" anchorCtr="0">
            <a:noAutofit/>
          </a:bodyPr>
          <a:lstStyle>
            <a:defPPr>
              <a:defRPr lang="es-CO"/>
            </a:defPPr>
            <a:lvl1pPr algn="just">
              <a:defRPr sz="2400">
                <a:solidFill>
                  <a:schemeClr val="tx1"/>
                </a:solidFill>
              </a:defRPr>
            </a:lvl1pPr>
          </a:lstStyle>
          <a:p>
            <a:pPr algn="ctr"/>
            <a:r>
              <a:rPr lang="es-CO" b="1" u="sng" dirty="0"/>
              <a:t>NOTA PROMEDIO POR MATERIA</a:t>
            </a:r>
            <a:endParaRPr lang="es-CO" dirty="0"/>
          </a:p>
        </p:txBody>
      </p:sp>
      <p:sp>
        <p:nvSpPr>
          <p:cNvPr id="6" name="Título 1">
            <a:extLst>
              <a:ext uri="{FF2B5EF4-FFF2-40B4-BE49-F238E27FC236}">
                <a16:creationId xmlns:a16="http://schemas.microsoft.com/office/drawing/2014/main" id="{641536DB-22AF-43E4-B2DB-DB464E118EC6}"/>
              </a:ext>
            </a:extLst>
          </p:cNvPr>
          <p:cNvSpPr>
            <a:spLocks noGrp="1"/>
          </p:cNvSpPr>
          <p:nvPr>
            <p:ph type="title"/>
          </p:nvPr>
        </p:nvSpPr>
        <p:spPr>
          <a:xfrm>
            <a:off x="989994" y="0"/>
            <a:ext cx="10229386" cy="914400"/>
          </a:xfrm>
        </p:spPr>
        <p:txBody>
          <a:bodyPr vert="horz" lIns="91440" tIns="45720" rIns="91440" bIns="45720" rtlCol="0" anchor="ctr">
            <a:noAutofit/>
          </a:bodyPr>
          <a:lstStyle/>
          <a:p>
            <a:pPr algn="ctr"/>
            <a:r>
              <a:rPr lang="es-CO" sz="3800" b="1" dirty="0">
                <a:latin typeface="Bahnschrift Light SemiCondensed" panose="020B0502040204020203" pitchFamily="34" charset="0"/>
              </a:rPr>
              <a:t>“COMBINACIÓN DE ARREGLOS EN C++”</a:t>
            </a:r>
          </a:p>
        </p:txBody>
      </p:sp>
      <p:pic>
        <p:nvPicPr>
          <p:cNvPr id="9" name="Imagen 8"/>
          <p:cNvPicPr>
            <a:picLocks noChangeAspect="1"/>
          </p:cNvPicPr>
          <p:nvPr/>
        </p:nvPicPr>
        <p:blipFill>
          <a:blip r:embed="rId4"/>
          <a:stretch>
            <a:fillRect/>
          </a:stretch>
        </p:blipFill>
        <p:spPr>
          <a:xfrm>
            <a:off x="6943372" y="2663648"/>
            <a:ext cx="3979443" cy="2596974"/>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1273384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up)">
                                      <p:cBhvr>
                                        <p:cTn id="7" dur="10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ítulo 1">
            <a:extLst>
              <a:ext uri="{FF2B5EF4-FFF2-40B4-BE49-F238E27FC236}">
                <a16:creationId xmlns:a16="http://schemas.microsoft.com/office/drawing/2014/main" id="{641536DB-22AF-43E4-B2DB-DB464E118EC6}"/>
              </a:ext>
            </a:extLst>
          </p:cNvPr>
          <p:cNvSpPr>
            <a:spLocks noGrp="1"/>
          </p:cNvSpPr>
          <p:nvPr>
            <p:ph type="title"/>
          </p:nvPr>
        </p:nvSpPr>
        <p:spPr>
          <a:xfrm>
            <a:off x="989994" y="0"/>
            <a:ext cx="10229386" cy="914400"/>
          </a:xfrm>
        </p:spPr>
        <p:txBody>
          <a:bodyPr vert="horz" lIns="91440" tIns="45720" rIns="91440" bIns="45720" rtlCol="0" anchor="ctr">
            <a:noAutofit/>
          </a:bodyPr>
          <a:lstStyle/>
          <a:p>
            <a:pPr algn="ctr"/>
            <a:r>
              <a:rPr lang="es-CO" sz="3800" b="1" dirty="0">
                <a:latin typeface="Bahnschrift Light SemiCondensed" panose="020B0502040204020203" pitchFamily="34" charset="0"/>
              </a:rPr>
              <a:t>“COMBINACIÓN DE ARREGLOS EN C++”</a:t>
            </a:r>
          </a:p>
        </p:txBody>
      </p:sp>
      <p:sp>
        <p:nvSpPr>
          <p:cNvPr id="14" name="Rectangle 2"/>
          <p:cNvSpPr txBox="1">
            <a:spLocks noChangeArrowheads="1"/>
          </p:cNvSpPr>
          <p:nvPr/>
        </p:nvSpPr>
        <p:spPr>
          <a:xfrm>
            <a:off x="1972100" y="1495956"/>
            <a:ext cx="9165053" cy="4804630"/>
          </a:xfrm>
          <a:prstGeom prst="rect">
            <a:avLst/>
          </a:prstGeom>
          <a:noFill/>
        </p:spPr>
        <p:txBody>
          <a:bodyPr vert="horz" lIns="0" tIns="45720" rIns="0" bIns="0" rtlCol="0" anchor="b" anchorCtr="0">
            <a:noAutofit/>
          </a:bodyPr>
          <a:lstStyle>
            <a:lvl1pPr algn="l" defTabSz="914400" rtl="0" eaLnBrk="1" latinLnBrk="0" hangingPunct="1">
              <a:spcBef>
                <a:spcPct val="0"/>
              </a:spcBef>
              <a:buNone/>
              <a:defRPr sz="4200" kern="1200" baseline="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gn="just"/>
            <a:r>
              <a:rPr lang="es-CO" altLang="es-CO" sz="2800" dirty="0">
                <a:solidFill>
                  <a:schemeClr val="tx1"/>
                </a:solidFill>
              </a:rPr>
              <a:t>	</a:t>
            </a:r>
            <a:r>
              <a:rPr lang="es-CO" altLang="es-CO" sz="2800" dirty="0" err="1">
                <a:solidFill>
                  <a:schemeClr val="tx1"/>
                </a:solidFill>
              </a:rPr>
              <a:t>double</a:t>
            </a:r>
            <a:r>
              <a:rPr lang="es-CO" altLang="es-CO" sz="2800" dirty="0">
                <a:solidFill>
                  <a:schemeClr val="tx1"/>
                </a:solidFill>
              </a:rPr>
              <a:t> NOTAS[5][5];</a:t>
            </a:r>
          </a:p>
          <a:p>
            <a:pPr algn="just"/>
            <a:endParaRPr lang="nn-NO" altLang="es-CO" sz="2800" dirty="0">
              <a:solidFill>
                <a:schemeClr val="tx1"/>
              </a:solidFill>
            </a:endParaRPr>
          </a:p>
          <a:p>
            <a:pPr algn="just"/>
            <a:r>
              <a:rPr lang="nn-NO" altLang="es-CO" sz="2800" dirty="0">
                <a:solidFill>
                  <a:schemeClr val="tx1"/>
                </a:solidFill>
              </a:rPr>
              <a:t> 	for (int j = 0; j &lt; 5; j++);</a:t>
            </a:r>
          </a:p>
          <a:p>
            <a:pPr algn="just"/>
            <a:r>
              <a:rPr lang="nn-NO" altLang="es-CO" sz="2800" dirty="0">
                <a:solidFill>
                  <a:schemeClr val="tx1"/>
                </a:solidFill>
              </a:rPr>
              <a:t>	{</a:t>
            </a:r>
          </a:p>
          <a:p>
            <a:pPr algn="just"/>
            <a:endParaRPr lang="nn-NO" altLang="es-CO" sz="2800" dirty="0">
              <a:solidFill>
                <a:schemeClr val="tx1"/>
              </a:solidFill>
            </a:endParaRPr>
          </a:p>
          <a:p>
            <a:pPr algn="just"/>
            <a:r>
              <a:rPr lang="nn-NO" altLang="es-CO" sz="2800" dirty="0">
                <a:solidFill>
                  <a:schemeClr val="tx1"/>
                </a:solidFill>
              </a:rPr>
              <a:t>		for (int i = 0; i &lt; 5; i++);</a:t>
            </a:r>
          </a:p>
          <a:p>
            <a:pPr algn="just"/>
            <a:r>
              <a:rPr lang="nn-NO" altLang="es-CO" sz="2800" dirty="0">
                <a:solidFill>
                  <a:schemeClr val="tx1"/>
                </a:solidFill>
              </a:rPr>
              <a:t>		{</a:t>
            </a:r>
          </a:p>
          <a:p>
            <a:pPr algn="just"/>
            <a:r>
              <a:rPr lang="nn-NO" altLang="es-CO" sz="2800" dirty="0">
                <a:solidFill>
                  <a:schemeClr val="tx1"/>
                </a:solidFill>
              </a:rPr>
              <a:t>			NOTAS[i][j] = rand()%5+rand()%10/10;</a:t>
            </a:r>
          </a:p>
          <a:p>
            <a:pPr algn="just"/>
            <a:endParaRPr lang="nn-NO" altLang="es-CO" sz="2800" dirty="0">
              <a:solidFill>
                <a:schemeClr val="tx1"/>
              </a:solidFill>
            </a:endParaRPr>
          </a:p>
          <a:p>
            <a:pPr algn="just"/>
            <a:r>
              <a:rPr lang="nn-NO" altLang="es-CO" sz="2800" dirty="0">
                <a:solidFill>
                  <a:schemeClr val="tx1"/>
                </a:solidFill>
              </a:rPr>
              <a:t>		}	</a:t>
            </a:r>
          </a:p>
          <a:p>
            <a:pPr algn="just"/>
            <a:r>
              <a:rPr lang="nn-NO" altLang="es-CO" sz="2800" dirty="0">
                <a:solidFill>
                  <a:schemeClr val="tx1"/>
                </a:solidFill>
              </a:rPr>
              <a:t>	</a:t>
            </a:r>
          </a:p>
          <a:p>
            <a:pPr algn="just"/>
            <a:r>
              <a:rPr lang="nn-NO" altLang="es-CO" sz="2800" dirty="0">
                <a:solidFill>
                  <a:schemeClr val="tx1"/>
                </a:solidFill>
              </a:rPr>
              <a:t>	} </a:t>
            </a:r>
            <a:r>
              <a:rPr lang="es-CO" altLang="es-CO" sz="2800" dirty="0">
                <a:solidFill>
                  <a:schemeClr val="tx1"/>
                </a:solidFill>
              </a:rPr>
              <a:t>	</a:t>
            </a:r>
          </a:p>
          <a:p>
            <a:pPr algn="just"/>
            <a:endParaRPr lang="es-CO" altLang="es-CO" sz="2800" dirty="0">
              <a:solidFill>
                <a:schemeClr val="tx1"/>
              </a:solidFill>
            </a:endParaRPr>
          </a:p>
        </p:txBody>
      </p:sp>
      <p:sp>
        <p:nvSpPr>
          <p:cNvPr id="21" name="CuadroTexto 20">
            <a:extLst>
              <a:ext uri="{FF2B5EF4-FFF2-40B4-BE49-F238E27FC236}">
                <a16:creationId xmlns:a16="http://schemas.microsoft.com/office/drawing/2014/main" id="{B3245438-2EFA-4DBF-85CF-60E0A78BBF68}"/>
              </a:ext>
            </a:extLst>
          </p:cNvPr>
          <p:cNvSpPr txBox="1"/>
          <p:nvPr/>
        </p:nvSpPr>
        <p:spPr>
          <a:xfrm>
            <a:off x="6400801" y="814851"/>
            <a:ext cx="5493422" cy="1691282"/>
          </a:xfrm>
          <a:prstGeom prst="rect">
            <a:avLst/>
          </a:prstGeom>
          <a:solidFill>
            <a:schemeClr val="accent5">
              <a:lumMod val="20000"/>
              <a:lumOff val="80000"/>
            </a:schemeClr>
          </a:solidFill>
          <a:scene3d>
            <a:camera prst="orthographicFront"/>
            <a:lightRig rig="flat" dir="t"/>
          </a:scene3d>
          <a:sp3d/>
        </p:spPr>
        <p:style>
          <a:lnRef idx="0">
            <a:scrgbClr r="0" g="0" b="0"/>
          </a:lnRef>
          <a:fillRef idx="0">
            <a:scrgbClr r="0" g="0" b="0"/>
          </a:fillRef>
          <a:effectRef idx="0">
            <a:scrgbClr r="0" g="0" b="0"/>
          </a:effectRef>
          <a:fontRef idx="minor">
            <a:schemeClr val="dk1"/>
          </a:fontRef>
        </p:style>
        <p:txBody>
          <a:bodyPr spcFirstLastPara="0" vert="horz" wrap="square" lIns="121920" tIns="121920" rIns="121920" bIns="121920" numCol="1" spcCol="1270" anchor="ctr" anchorCtr="0">
            <a:noAutofit/>
          </a:bodyPr>
          <a:lstStyle>
            <a:defPPr>
              <a:defRPr lang="es-CO"/>
            </a:defPPr>
            <a:lvl1pPr algn="just">
              <a:defRPr sz="2400">
                <a:solidFill>
                  <a:schemeClr val="tx1"/>
                </a:solidFill>
              </a:defRPr>
            </a:lvl1pPr>
          </a:lstStyle>
          <a:p>
            <a:r>
              <a:rPr lang="es-CO" dirty="0"/>
              <a:t>Si el ejemplo, pidiese almacenar en un vector la </a:t>
            </a:r>
            <a:r>
              <a:rPr lang="es-CO" b="1" u="sng" dirty="0"/>
              <a:t>NOTA PROMEDIO POR ESTUDIANTE</a:t>
            </a:r>
            <a:r>
              <a:rPr lang="es-CO" dirty="0"/>
              <a:t> </a:t>
            </a:r>
            <a:r>
              <a:rPr lang="es-CO" b="1" dirty="0"/>
              <a:t>(Primer ciclo de columna) </a:t>
            </a:r>
            <a:r>
              <a:rPr lang="es-CO" dirty="0"/>
              <a:t>se realizarían las siguientes modificaciones:</a:t>
            </a:r>
          </a:p>
        </p:txBody>
      </p:sp>
      <p:sp>
        <p:nvSpPr>
          <p:cNvPr id="23" name="Flecha derecha 22"/>
          <p:cNvSpPr/>
          <p:nvPr/>
        </p:nvSpPr>
        <p:spPr>
          <a:xfrm>
            <a:off x="755339" y="922088"/>
            <a:ext cx="2071443" cy="954242"/>
          </a:xfrm>
          <a:prstGeom prst="rightArrow">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es-CO" b="1" dirty="0">
                <a:solidFill>
                  <a:schemeClr val="dk1"/>
                </a:solidFill>
              </a:rPr>
              <a:t>DIMENSIONAR VECTOR</a:t>
            </a:r>
          </a:p>
        </p:txBody>
      </p:sp>
      <p:sp>
        <p:nvSpPr>
          <p:cNvPr id="2" name="CuadroTexto 1"/>
          <p:cNvSpPr txBox="1"/>
          <p:nvPr/>
        </p:nvSpPr>
        <p:spPr>
          <a:xfrm>
            <a:off x="2783565" y="1109265"/>
            <a:ext cx="3247982" cy="523220"/>
          </a:xfrm>
          <a:prstGeom prst="rect">
            <a:avLst/>
          </a:prstGeom>
          <a:noFill/>
        </p:spPr>
        <p:txBody>
          <a:bodyPr wrap="square" rtlCol="0">
            <a:spAutoFit/>
          </a:bodyPr>
          <a:lstStyle>
            <a:defPPr>
              <a:defRPr lang="es-CO"/>
            </a:defPPr>
            <a:lvl1pPr>
              <a:defRPr sz="2800" b="1">
                <a:solidFill>
                  <a:srgbClr val="0070C0"/>
                </a:solidFill>
              </a:defRPr>
            </a:lvl1pPr>
          </a:lstStyle>
          <a:p>
            <a:r>
              <a:rPr lang="es-CO" dirty="0" err="1"/>
              <a:t>double</a:t>
            </a:r>
            <a:r>
              <a:rPr lang="es-CO" dirty="0"/>
              <a:t> VECTOR[5];</a:t>
            </a:r>
          </a:p>
        </p:txBody>
      </p:sp>
      <p:sp>
        <p:nvSpPr>
          <p:cNvPr id="24" name="Flecha derecha 23"/>
          <p:cNvSpPr/>
          <p:nvPr/>
        </p:nvSpPr>
        <p:spPr>
          <a:xfrm>
            <a:off x="1298223" y="2231996"/>
            <a:ext cx="2451684" cy="954242"/>
          </a:xfrm>
          <a:prstGeom prst="rightArrow">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es-CO" b="1" dirty="0">
                <a:solidFill>
                  <a:schemeClr val="dk1"/>
                </a:solidFill>
              </a:rPr>
              <a:t>INICIALIZAR ENTRE LOS CICLOS</a:t>
            </a:r>
          </a:p>
        </p:txBody>
      </p:sp>
      <p:sp>
        <p:nvSpPr>
          <p:cNvPr id="25" name="CuadroTexto 24"/>
          <p:cNvSpPr txBox="1"/>
          <p:nvPr/>
        </p:nvSpPr>
        <p:spPr>
          <a:xfrm>
            <a:off x="3706689" y="2419173"/>
            <a:ext cx="2761846" cy="523220"/>
          </a:xfrm>
          <a:prstGeom prst="rect">
            <a:avLst/>
          </a:prstGeom>
          <a:noFill/>
        </p:spPr>
        <p:txBody>
          <a:bodyPr wrap="square" rtlCol="0">
            <a:spAutoFit/>
          </a:bodyPr>
          <a:lstStyle>
            <a:defPPr>
              <a:defRPr lang="es-CO"/>
            </a:defPPr>
            <a:lvl1pPr>
              <a:defRPr sz="2800" b="1">
                <a:solidFill>
                  <a:srgbClr val="0070C0"/>
                </a:solidFill>
              </a:defRPr>
            </a:lvl1pPr>
          </a:lstStyle>
          <a:p>
            <a:r>
              <a:rPr lang="es-CO" dirty="0" err="1"/>
              <a:t>double</a:t>
            </a:r>
            <a:r>
              <a:rPr lang="es-CO" dirty="0"/>
              <a:t> suma = 0;</a:t>
            </a:r>
          </a:p>
        </p:txBody>
      </p:sp>
      <p:sp>
        <p:nvSpPr>
          <p:cNvPr id="26" name="Flecha derecha 25"/>
          <p:cNvSpPr/>
          <p:nvPr/>
        </p:nvSpPr>
        <p:spPr>
          <a:xfrm>
            <a:off x="1972100" y="3865610"/>
            <a:ext cx="2692207" cy="954242"/>
          </a:xfrm>
          <a:prstGeom prst="rightArrow">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es-CO" b="1" dirty="0">
                <a:solidFill>
                  <a:schemeClr val="dk1"/>
                </a:solidFill>
              </a:rPr>
              <a:t>CALCULAR OPERACIÓN</a:t>
            </a:r>
          </a:p>
        </p:txBody>
      </p:sp>
      <p:sp>
        <p:nvSpPr>
          <p:cNvPr id="27" name="CuadroTexto 26"/>
          <p:cNvSpPr txBox="1"/>
          <p:nvPr/>
        </p:nvSpPr>
        <p:spPr>
          <a:xfrm>
            <a:off x="4621089" y="4052787"/>
            <a:ext cx="3495622" cy="523220"/>
          </a:xfrm>
          <a:prstGeom prst="rect">
            <a:avLst/>
          </a:prstGeom>
          <a:noFill/>
        </p:spPr>
        <p:txBody>
          <a:bodyPr wrap="square" rtlCol="0">
            <a:spAutoFit/>
          </a:bodyPr>
          <a:lstStyle>
            <a:defPPr>
              <a:defRPr lang="es-CO"/>
            </a:defPPr>
            <a:lvl1pPr>
              <a:defRPr sz="2800" b="1">
                <a:solidFill>
                  <a:srgbClr val="0070C0"/>
                </a:solidFill>
              </a:defRPr>
            </a:lvl1pPr>
          </a:lstStyle>
          <a:p>
            <a:r>
              <a:rPr lang="es-CO" dirty="0"/>
              <a:t>suma += NOTAS[i][j];</a:t>
            </a:r>
          </a:p>
        </p:txBody>
      </p:sp>
      <p:sp>
        <p:nvSpPr>
          <p:cNvPr id="28" name="Flecha derecha 27"/>
          <p:cNvSpPr/>
          <p:nvPr/>
        </p:nvSpPr>
        <p:spPr>
          <a:xfrm>
            <a:off x="237068" y="4788827"/>
            <a:ext cx="3512840" cy="954242"/>
          </a:xfrm>
          <a:prstGeom prst="rightArrow">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es-CO" b="1" dirty="0">
                <a:solidFill>
                  <a:schemeClr val="dk1"/>
                </a:solidFill>
              </a:rPr>
              <a:t>LLEVAR AL VECTOR USANDO VARIABLE DEL 1er. CICLO</a:t>
            </a:r>
          </a:p>
        </p:txBody>
      </p:sp>
      <p:sp>
        <p:nvSpPr>
          <p:cNvPr id="29" name="CuadroTexto 28"/>
          <p:cNvSpPr txBox="1"/>
          <p:nvPr/>
        </p:nvSpPr>
        <p:spPr>
          <a:xfrm>
            <a:off x="3706689" y="4976004"/>
            <a:ext cx="3495622" cy="523220"/>
          </a:xfrm>
          <a:prstGeom prst="rect">
            <a:avLst/>
          </a:prstGeom>
          <a:noFill/>
        </p:spPr>
        <p:txBody>
          <a:bodyPr wrap="square" rtlCol="0">
            <a:spAutoFit/>
          </a:bodyPr>
          <a:lstStyle>
            <a:defPPr>
              <a:defRPr lang="es-CO"/>
            </a:defPPr>
            <a:lvl1pPr>
              <a:defRPr sz="2800" b="1">
                <a:solidFill>
                  <a:srgbClr val="0070C0"/>
                </a:solidFill>
              </a:defRPr>
            </a:lvl1pPr>
          </a:lstStyle>
          <a:p>
            <a:r>
              <a:rPr lang="es-CO" dirty="0"/>
              <a:t>VECTOR[j] = suma / 5;</a:t>
            </a:r>
          </a:p>
        </p:txBody>
      </p:sp>
      <p:cxnSp>
        <p:nvCxnSpPr>
          <p:cNvPr id="30" name="Conector angular 29"/>
          <p:cNvCxnSpPr/>
          <p:nvPr/>
        </p:nvCxnSpPr>
        <p:spPr>
          <a:xfrm rot="16200000" flipH="1">
            <a:off x="2819606" y="2757028"/>
            <a:ext cx="2992552" cy="1543460"/>
          </a:xfrm>
          <a:prstGeom prst="bentConnector3">
            <a:avLst>
              <a:gd name="adj1" fmla="val 100172"/>
            </a:avLst>
          </a:prstGeom>
          <a:ln w="38100">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053825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wipe(up)">
                                      <p:cBhvr>
                                        <p:cTn id="7" dur="1000"/>
                                        <p:tgtEl>
                                          <p:spTgt spid="21"/>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23"/>
                                        </p:tgtEl>
                                        <p:attrNameLst>
                                          <p:attrName>style.visibility</p:attrName>
                                        </p:attrNameLst>
                                      </p:cBhvr>
                                      <p:to>
                                        <p:strVal val="visible"/>
                                      </p:to>
                                    </p:set>
                                    <p:animEffect transition="in" filter="wipe(down)">
                                      <p:cBhvr>
                                        <p:cTn id="12" dur="500"/>
                                        <p:tgtEl>
                                          <p:spTgt spid="23"/>
                                        </p:tgtEl>
                                      </p:cBhvr>
                                    </p:animEffect>
                                  </p:childTnLst>
                                </p:cTn>
                              </p:par>
                            </p:childTnLst>
                          </p:cTn>
                        </p:par>
                        <p:par>
                          <p:cTn id="13" fill="hold">
                            <p:stCondLst>
                              <p:cond delay="500"/>
                            </p:stCondLst>
                            <p:childTnLst>
                              <p:par>
                                <p:cTn id="14" presetID="22" presetClass="entr" presetSubtype="8" fill="hold" grpId="0" nodeType="afterEffect">
                                  <p:stCondLst>
                                    <p:cond delay="0"/>
                                  </p:stCondLst>
                                  <p:childTnLst>
                                    <p:set>
                                      <p:cBhvr>
                                        <p:cTn id="15" dur="1" fill="hold">
                                          <p:stCondLst>
                                            <p:cond delay="0"/>
                                          </p:stCondLst>
                                        </p:cTn>
                                        <p:tgtEl>
                                          <p:spTgt spid="2"/>
                                        </p:tgtEl>
                                        <p:attrNameLst>
                                          <p:attrName>style.visibility</p:attrName>
                                        </p:attrNameLst>
                                      </p:cBhvr>
                                      <p:to>
                                        <p:strVal val="visible"/>
                                      </p:to>
                                    </p:set>
                                    <p:animEffect transition="in" filter="wipe(left)">
                                      <p:cBhvr>
                                        <p:cTn id="16" dur="2000"/>
                                        <p:tgtEl>
                                          <p:spTgt spid="2"/>
                                        </p:tgtEl>
                                      </p:cBhvr>
                                    </p:animEffect>
                                  </p:childTnLst>
                                </p:cTn>
                              </p:par>
                              <p:par>
                                <p:cTn id="17" presetID="10" presetClass="exit" presetSubtype="0" fill="hold" grpId="1" nodeType="withEffect">
                                  <p:stCondLst>
                                    <p:cond delay="3000"/>
                                  </p:stCondLst>
                                  <p:childTnLst>
                                    <p:animEffect transition="out" filter="fade">
                                      <p:cBhvr>
                                        <p:cTn id="18" dur="3000"/>
                                        <p:tgtEl>
                                          <p:spTgt spid="23"/>
                                        </p:tgtEl>
                                      </p:cBhvr>
                                    </p:animEffect>
                                    <p:set>
                                      <p:cBhvr>
                                        <p:cTn id="19" dur="1" fill="hold">
                                          <p:stCondLst>
                                            <p:cond delay="2999"/>
                                          </p:stCondLst>
                                        </p:cTn>
                                        <p:tgtEl>
                                          <p:spTgt spid="23"/>
                                        </p:tgtEl>
                                        <p:attrNameLst>
                                          <p:attrName>style.visibility</p:attrName>
                                        </p:attrNameLst>
                                      </p:cBhvr>
                                      <p:to>
                                        <p:strVal val="hidden"/>
                                      </p:to>
                                    </p:set>
                                  </p:childTnLst>
                                </p:cTn>
                              </p:par>
                            </p:childTnLst>
                          </p:cTn>
                        </p:par>
                      </p:childTnLst>
                    </p:cTn>
                  </p:par>
                  <p:par>
                    <p:cTn id="20" fill="hold">
                      <p:stCondLst>
                        <p:cond delay="indefinite"/>
                      </p:stCondLst>
                      <p:childTnLst>
                        <p:par>
                          <p:cTn id="21" fill="hold">
                            <p:stCondLst>
                              <p:cond delay="0"/>
                            </p:stCondLst>
                            <p:childTnLst>
                              <p:par>
                                <p:cTn id="22" presetID="22" presetClass="entr" presetSubtype="4" fill="hold" grpId="0" nodeType="clickEffect">
                                  <p:stCondLst>
                                    <p:cond delay="0"/>
                                  </p:stCondLst>
                                  <p:childTnLst>
                                    <p:set>
                                      <p:cBhvr>
                                        <p:cTn id="23" dur="1" fill="hold">
                                          <p:stCondLst>
                                            <p:cond delay="0"/>
                                          </p:stCondLst>
                                        </p:cTn>
                                        <p:tgtEl>
                                          <p:spTgt spid="24"/>
                                        </p:tgtEl>
                                        <p:attrNameLst>
                                          <p:attrName>style.visibility</p:attrName>
                                        </p:attrNameLst>
                                      </p:cBhvr>
                                      <p:to>
                                        <p:strVal val="visible"/>
                                      </p:to>
                                    </p:set>
                                    <p:animEffect transition="in" filter="wipe(down)">
                                      <p:cBhvr>
                                        <p:cTn id="24" dur="500"/>
                                        <p:tgtEl>
                                          <p:spTgt spid="24"/>
                                        </p:tgtEl>
                                      </p:cBhvr>
                                    </p:animEffect>
                                  </p:childTnLst>
                                </p:cTn>
                              </p:par>
                            </p:childTnLst>
                          </p:cTn>
                        </p:par>
                        <p:par>
                          <p:cTn id="25" fill="hold">
                            <p:stCondLst>
                              <p:cond delay="500"/>
                            </p:stCondLst>
                            <p:childTnLst>
                              <p:par>
                                <p:cTn id="26" presetID="22" presetClass="entr" presetSubtype="8" fill="hold" grpId="0" nodeType="afterEffect">
                                  <p:stCondLst>
                                    <p:cond delay="0"/>
                                  </p:stCondLst>
                                  <p:childTnLst>
                                    <p:set>
                                      <p:cBhvr>
                                        <p:cTn id="27" dur="1" fill="hold">
                                          <p:stCondLst>
                                            <p:cond delay="0"/>
                                          </p:stCondLst>
                                        </p:cTn>
                                        <p:tgtEl>
                                          <p:spTgt spid="25"/>
                                        </p:tgtEl>
                                        <p:attrNameLst>
                                          <p:attrName>style.visibility</p:attrName>
                                        </p:attrNameLst>
                                      </p:cBhvr>
                                      <p:to>
                                        <p:strVal val="visible"/>
                                      </p:to>
                                    </p:set>
                                    <p:animEffect transition="in" filter="wipe(left)">
                                      <p:cBhvr>
                                        <p:cTn id="28" dur="2000"/>
                                        <p:tgtEl>
                                          <p:spTgt spid="25"/>
                                        </p:tgtEl>
                                      </p:cBhvr>
                                    </p:animEffect>
                                  </p:childTnLst>
                                </p:cTn>
                              </p:par>
                              <p:par>
                                <p:cTn id="29" presetID="10" presetClass="exit" presetSubtype="0" fill="hold" grpId="1" nodeType="withEffect">
                                  <p:stCondLst>
                                    <p:cond delay="3000"/>
                                  </p:stCondLst>
                                  <p:childTnLst>
                                    <p:animEffect transition="out" filter="fade">
                                      <p:cBhvr>
                                        <p:cTn id="30" dur="3000"/>
                                        <p:tgtEl>
                                          <p:spTgt spid="24"/>
                                        </p:tgtEl>
                                      </p:cBhvr>
                                    </p:animEffect>
                                    <p:set>
                                      <p:cBhvr>
                                        <p:cTn id="31" dur="1" fill="hold">
                                          <p:stCondLst>
                                            <p:cond delay="2999"/>
                                          </p:stCondLst>
                                        </p:cTn>
                                        <p:tgtEl>
                                          <p:spTgt spid="24"/>
                                        </p:tgtEl>
                                        <p:attrNameLst>
                                          <p:attrName>style.visibility</p:attrName>
                                        </p:attrNameLst>
                                      </p:cBhvr>
                                      <p:to>
                                        <p:strVal val="hidden"/>
                                      </p:to>
                                    </p:set>
                                  </p:childTnLst>
                                </p:cTn>
                              </p:par>
                            </p:childTnLst>
                          </p:cTn>
                        </p:par>
                      </p:childTnLst>
                    </p:cTn>
                  </p:par>
                  <p:par>
                    <p:cTn id="32" fill="hold">
                      <p:stCondLst>
                        <p:cond delay="indefinite"/>
                      </p:stCondLst>
                      <p:childTnLst>
                        <p:par>
                          <p:cTn id="33" fill="hold">
                            <p:stCondLst>
                              <p:cond delay="0"/>
                            </p:stCondLst>
                            <p:childTnLst>
                              <p:par>
                                <p:cTn id="34" presetID="22" presetClass="entr" presetSubtype="4" fill="hold" grpId="0" nodeType="clickEffect">
                                  <p:stCondLst>
                                    <p:cond delay="0"/>
                                  </p:stCondLst>
                                  <p:childTnLst>
                                    <p:set>
                                      <p:cBhvr>
                                        <p:cTn id="35" dur="1" fill="hold">
                                          <p:stCondLst>
                                            <p:cond delay="0"/>
                                          </p:stCondLst>
                                        </p:cTn>
                                        <p:tgtEl>
                                          <p:spTgt spid="26"/>
                                        </p:tgtEl>
                                        <p:attrNameLst>
                                          <p:attrName>style.visibility</p:attrName>
                                        </p:attrNameLst>
                                      </p:cBhvr>
                                      <p:to>
                                        <p:strVal val="visible"/>
                                      </p:to>
                                    </p:set>
                                    <p:animEffect transition="in" filter="wipe(down)">
                                      <p:cBhvr>
                                        <p:cTn id="36" dur="500"/>
                                        <p:tgtEl>
                                          <p:spTgt spid="26"/>
                                        </p:tgtEl>
                                      </p:cBhvr>
                                    </p:animEffect>
                                  </p:childTnLst>
                                </p:cTn>
                              </p:par>
                            </p:childTnLst>
                          </p:cTn>
                        </p:par>
                        <p:par>
                          <p:cTn id="37" fill="hold">
                            <p:stCondLst>
                              <p:cond delay="500"/>
                            </p:stCondLst>
                            <p:childTnLst>
                              <p:par>
                                <p:cTn id="38" presetID="22" presetClass="entr" presetSubtype="8" fill="hold" grpId="0" nodeType="afterEffect">
                                  <p:stCondLst>
                                    <p:cond delay="0"/>
                                  </p:stCondLst>
                                  <p:childTnLst>
                                    <p:set>
                                      <p:cBhvr>
                                        <p:cTn id="39" dur="1" fill="hold">
                                          <p:stCondLst>
                                            <p:cond delay="0"/>
                                          </p:stCondLst>
                                        </p:cTn>
                                        <p:tgtEl>
                                          <p:spTgt spid="27"/>
                                        </p:tgtEl>
                                        <p:attrNameLst>
                                          <p:attrName>style.visibility</p:attrName>
                                        </p:attrNameLst>
                                      </p:cBhvr>
                                      <p:to>
                                        <p:strVal val="visible"/>
                                      </p:to>
                                    </p:set>
                                    <p:animEffect transition="in" filter="wipe(left)">
                                      <p:cBhvr>
                                        <p:cTn id="40" dur="2000"/>
                                        <p:tgtEl>
                                          <p:spTgt spid="27"/>
                                        </p:tgtEl>
                                      </p:cBhvr>
                                    </p:animEffect>
                                  </p:childTnLst>
                                </p:cTn>
                              </p:par>
                              <p:par>
                                <p:cTn id="41" presetID="10" presetClass="exit" presetSubtype="0" fill="hold" grpId="1" nodeType="withEffect">
                                  <p:stCondLst>
                                    <p:cond delay="3000"/>
                                  </p:stCondLst>
                                  <p:childTnLst>
                                    <p:animEffect transition="out" filter="fade">
                                      <p:cBhvr>
                                        <p:cTn id="42" dur="3000"/>
                                        <p:tgtEl>
                                          <p:spTgt spid="26"/>
                                        </p:tgtEl>
                                      </p:cBhvr>
                                    </p:animEffect>
                                    <p:set>
                                      <p:cBhvr>
                                        <p:cTn id="43" dur="1" fill="hold">
                                          <p:stCondLst>
                                            <p:cond delay="2999"/>
                                          </p:stCondLst>
                                        </p:cTn>
                                        <p:tgtEl>
                                          <p:spTgt spid="26"/>
                                        </p:tgtEl>
                                        <p:attrNameLst>
                                          <p:attrName>style.visibility</p:attrName>
                                        </p:attrNameLst>
                                      </p:cBhvr>
                                      <p:to>
                                        <p:strVal val="hidden"/>
                                      </p:to>
                                    </p:set>
                                  </p:childTnLst>
                                </p:cTn>
                              </p:par>
                            </p:childTnLst>
                          </p:cTn>
                        </p:par>
                      </p:childTnLst>
                    </p:cTn>
                  </p:par>
                  <p:par>
                    <p:cTn id="44" fill="hold">
                      <p:stCondLst>
                        <p:cond delay="indefinite"/>
                      </p:stCondLst>
                      <p:childTnLst>
                        <p:par>
                          <p:cTn id="45" fill="hold">
                            <p:stCondLst>
                              <p:cond delay="0"/>
                            </p:stCondLst>
                            <p:childTnLst>
                              <p:par>
                                <p:cTn id="46" presetID="22" presetClass="entr" presetSubtype="4" fill="hold" grpId="0" nodeType="clickEffect">
                                  <p:stCondLst>
                                    <p:cond delay="0"/>
                                  </p:stCondLst>
                                  <p:childTnLst>
                                    <p:set>
                                      <p:cBhvr>
                                        <p:cTn id="47" dur="1" fill="hold">
                                          <p:stCondLst>
                                            <p:cond delay="0"/>
                                          </p:stCondLst>
                                        </p:cTn>
                                        <p:tgtEl>
                                          <p:spTgt spid="28"/>
                                        </p:tgtEl>
                                        <p:attrNameLst>
                                          <p:attrName>style.visibility</p:attrName>
                                        </p:attrNameLst>
                                      </p:cBhvr>
                                      <p:to>
                                        <p:strVal val="visible"/>
                                      </p:to>
                                    </p:set>
                                    <p:animEffect transition="in" filter="wipe(down)">
                                      <p:cBhvr>
                                        <p:cTn id="48" dur="500"/>
                                        <p:tgtEl>
                                          <p:spTgt spid="28"/>
                                        </p:tgtEl>
                                      </p:cBhvr>
                                    </p:animEffect>
                                  </p:childTnLst>
                                </p:cTn>
                              </p:par>
                            </p:childTnLst>
                          </p:cTn>
                        </p:par>
                        <p:par>
                          <p:cTn id="49" fill="hold">
                            <p:stCondLst>
                              <p:cond delay="500"/>
                            </p:stCondLst>
                            <p:childTnLst>
                              <p:par>
                                <p:cTn id="50" presetID="22" presetClass="entr" presetSubtype="8" fill="hold" grpId="0" nodeType="afterEffect">
                                  <p:stCondLst>
                                    <p:cond delay="0"/>
                                  </p:stCondLst>
                                  <p:childTnLst>
                                    <p:set>
                                      <p:cBhvr>
                                        <p:cTn id="51" dur="1" fill="hold">
                                          <p:stCondLst>
                                            <p:cond delay="0"/>
                                          </p:stCondLst>
                                        </p:cTn>
                                        <p:tgtEl>
                                          <p:spTgt spid="29"/>
                                        </p:tgtEl>
                                        <p:attrNameLst>
                                          <p:attrName>style.visibility</p:attrName>
                                        </p:attrNameLst>
                                      </p:cBhvr>
                                      <p:to>
                                        <p:strVal val="visible"/>
                                      </p:to>
                                    </p:set>
                                    <p:animEffect transition="in" filter="wipe(left)">
                                      <p:cBhvr>
                                        <p:cTn id="52" dur="2000"/>
                                        <p:tgtEl>
                                          <p:spTgt spid="29"/>
                                        </p:tgtEl>
                                      </p:cBhvr>
                                    </p:animEffect>
                                  </p:childTnLst>
                                </p:cTn>
                              </p:par>
                              <p:par>
                                <p:cTn id="53" presetID="10" presetClass="exit" presetSubtype="0" fill="hold" grpId="1" nodeType="withEffect">
                                  <p:stCondLst>
                                    <p:cond delay="3000"/>
                                  </p:stCondLst>
                                  <p:childTnLst>
                                    <p:animEffect transition="out" filter="fade">
                                      <p:cBhvr>
                                        <p:cTn id="54" dur="3000"/>
                                        <p:tgtEl>
                                          <p:spTgt spid="28"/>
                                        </p:tgtEl>
                                      </p:cBhvr>
                                    </p:animEffect>
                                    <p:set>
                                      <p:cBhvr>
                                        <p:cTn id="55" dur="1" fill="hold">
                                          <p:stCondLst>
                                            <p:cond delay="2999"/>
                                          </p:stCondLst>
                                        </p:cTn>
                                        <p:tgtEl>
                                          <p:spTgt spid="28"/>
                                        </p:tgtEl>
                                        <p:attrNameLst>
                                          <p:attrName>style.visibility</p:attrName>
                                        </p:attrNameLst>
                                      </p:cBhvr>
                                      <p:to>
                                        <p:strVal val="hidden"/>
                                      </p:to>
                                    </p:set>
                                  </p:childTnLst>
                                </p:cTn>
                              </p:par>
                              <p:par>
                                <p:cTn id="56" presetID="21" presetClass="entr" presetSubtype="1" fill="hold" nodeType="withEffect">
                                  <p:stCondLst>
                                    <p:cond delay="3000"/>
                                  </p:stCondLst>
                                  <p:childTnLst>
                                    <p:set>
                                      <p:cBhvr>
                                        <p:cTn id="57" dur="1" fill="hold">
                                          <p:stCondLst>
                                            <p:cond delay="0"/>
                                          </p:stCondLst>
                                        </p:cTn>
                                        <p:tgtEl>
                                          <p:spTgt spid="30"/>
                                        </p:tgtEl>
                                        <p:attrNameLst>
                                          <p:attrName>style.visibility</p:attrName>
                                        </p:attrNameLst>
                                      </p:cBhvr>
                                      <p:to>
                                        <p:strVal val="visible"/>
                                      </p:to>
                                    </p:set>
                                    <p:animEffect transition="in" filter="wheel(1)">
                                      <p:cBhvr>
                                        <p:cTn id="58" dur="20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animBg="1"/>
      <p:bldP spid="23" grpId="0" animBg="1"/>
      <p:bldP spid="23" grpId="1" animBg="1"/>
      <p:bldP spid="2" grpId="0"/>
      <p:bldP spid="24" grpId="0" animBg="1"/>
      <p:bldP spid="24" grpId="1" animBg="1"/>
      <p:bldP spid="25" grpId="0"/>
      <p:bldP spid="26" grpId="0" animBg="1"/>
      <p:bldP spid="26" grpId="1" animBg="1"/>
      <p:bldP spid="27" grpId="0"/>
      <p:bldP spid="28" grpId="0" animBg="1"/>
      <p:bldP spid="28" grpId="1" animBg="1"/>
      <p:bldP spid="29"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n 1"/>
          <p:cNvPicPr>
            <a:picLocks noChangeAspect="1"/>
          </p:cNvPicPr>
          <p:nvPr/>
        </p:nvPicPr>
        <p:blipFill>
          <a:blip r:embed="rId3"/>
          <a:stretch>
            <a:fillRect/>
          </a:stretch>
        </p:blipFill>
        <p:spPr>
          <a:xfrm>
            <a:off x="783285" y="1709559"/>
            <a:ext cx="8913871" cy="4955975"/>
          </a:xfrm>
          <a:prstGeom prst="rect">
            <a:avLst/>
          </a:prstGeom>
        </p:spPr>
      </p:pic>
      <p:sp>
        <p:nvSpPr>
          <p:cNvPr id="7" name="CuadroTexto 6">
            <a:extLst>
              <a:ext uri="{FF2B5EF4-FFF2-40B4-BE49-F238E27FC236}">
                <a16:creationId xmlns:a16="http://schemas.microsoft.com/office/drawing/2014/main" id="{B3245438-2EFA-4DBF-85CF-60E0A78BBF68}"/>
              </a:ext>
            </a:extLst>
          </p:cNvPr>
          <p:cNvSpPr txBox="1"/>
          <p:nvPr/>
        </p:nvSpPr>
        <p:spPr>
          <a:xfrm>
            <a:off x="783285" y="1015310"/>
            <a:ext cx="5324004" cy="497401"/>
          </a:xfrm>
          <a:prstGeom prst="rect">
            <a:avLst/>
          </a:prstGeom>
          <a:solidFill>
            <a:schemeClr val="accent5">
              <a:lumMod val="20000"/>
              <a:lumOff val="80000"/>
            </a:schemeClr>
          </a:solidFill>
          <a:scene3d>
            <a:camera prst="orthographicFront"/>
            <a:lightRig rig="flat" dir="t"/>
          </a:scene3d>
          <a:sp3d/>
        </p:spPr>
        <p:style>
          <a:lnRef idx="0">
            <a:scrgbClr r="0" g="0" b="0"/>
          </a:lnRef>
          <a:fillRef idx="0">
            <a:scrgbClr r="0" g="0" b="0"/>
          </a:fillRef>
          <a:effectRef idx="0">
            <a:scrgbClr r="0" g="0" b="0"/>
          </a:effectRef>
          <a:fontRef idx="minor">
            <a:schemeClr val="dk1"/>
          </a:fontRef>
        </p:style>
        <p:txBody>
          <a:bodyPr spcFirstLastPara="0" vert="horz" wrap="square" lIns="121920" tIns="121920" rIns="121920" bIns="121920" numCol="1" spcCol="1270" anchor="ctr" anchorCtr="0">
            <a:noAutofit/>
          </a:bodyPr>
          <a:lstStyle>
            <a:defPPr>
              <a:defRPr lang="es-CO"/>
            </a:defPPr>
            <a:lvl1pPr algn="just">
              <a:defRPr sz="2400">
                <a:solidFill>
                  <a:schemeClr val="tx1"/>
                </a:solidFill>
              </a:defRPr>
            </a:lvl1pPr>
          </a:lstStyle>
          <a:p>
            <a:pPr algn="ctr"/>
            <a:r>
              <a:rPr lang="es-CO" b="1" u="sng" dirty="0"/>
              <a:t>NOTA PROMEDIO POR ESTUDIANTE</a:t>
            </a:r>
            <a:endParaRPr lang="es-CO" dirty="0"/>
          </a:p>
        </p:txBody>
      </p:sp>
      <p:sp>
        <p:nvSpPr>
          <p:cNvPr id="6" name="Título 1">
            <a:extLst>
              <a:ext uri="{FF2B5EF4-FFF2-40B4-BE49-F238E27FC236}">
                <a16:creationId xmlns:a16="http://schemas.microsoft.com/office/drawing/2014/main" id="{641536DB-22AF-43E4-B2DB-DB464E118EC6}"/>
              </a:ext>
            </a:extLst>
          </p:cNvPr>
          <p:cNvSpPr>
            <a:spLocks noGrp="1"/>
          </p:cNvSpPr>
          <p:nvPr>
            <p:ph type="title"/>
          </p:nvPr>
        </p:nvSpPr>
        <p:spPr>
          <a:xfrm>
            <a:off x="989994" y="0"/>
            <a:ext cx="10229386" cy="914400"/>
          </a:xfrm>
        </p:spPr>
        <p:txBody>
          <a:bodyPr vert="horz" lIns="91440" tIns="45720" rIns="91440" bIns="45720" rtlCol="0" anchor="ctr">
            <a:noAutofit/>
          </a:bodyPr>
          <a:lstStyle/>
          <a:p>
            <a:pPr algn="ctr"/>
            <a:r>
              <a:rPr lang="es-CO" sz="3800" b="1" dirty="0">
                <a:latin typeface="Bahnschrift Light SemiCondensed" panose="020B0502040204020203" pitchFamily="34" charset="0"/>
              </a:rPr>
              <a:t>“COMBINACIÓN DE ARREGLOS EN C++”</a:t>
            </a:r>
          </a:p>
        </p:txBody>
      </p:sp>
      <p:pic>
        <p:nvPicPr>
          <p:cNvPr id="3" name="Imagen 2"/>
          <p:cNvPicPr>
            <a:picLocks noChangeAspect="1"/>
          </p:cNvPicPr>
          <p:nvPr/>
        </p:nvPicPr>
        <p:blipFill>
          <a:blip r:embed="rId4"/>
          <a:stretch>
            <a:fillRect/>
          </a:stretch>
        </p:blipFill>
        <p:spPr>
          <a:xfrm>
            <a:off x="6534854" y="2499077"/>
            <a:ext cx="4361519" cy="2535767"/>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5875839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up)">
                                      <p:cBhvr>
                                        <p:cTn id="7" dur="10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uadroTexto 6">
            <a:extLst>
              <a:ext uri="{FF2B5EF4-FFF2-40B4-BE49-F238E27FC236}">
                <a16:creationId xmlns:a16="http://schemas.microsoft.com/office/drawing/2014/main" id="{B3245438-2EFA-4DBF-85CF-60E0A78BBF68}"/>
              </a:ext>
            </a:extLst>
          </p:cNvPr>
          <p:cNvSpPr txBox="1"/>
          <p:nvPr/>
        </p:nvSpPr>
        <p:spPr>
          <a:xfrm>
            <a:off x="641992" y="1364135"/>
            <a:ext cx="9160769" cy="5283200"/>
          </a:xfrm>
          <a:prstGeom prst="rect">
            <a:avLst/>
          </a:prstGeom>
          <a:solidFill>
            <a:schemeClr val="accent5">
              <a:lumMod val="20000"/>
              <a:lumOff val="80000"/>
            </a:schemeClr>
          </a:solidFill>
          <a:scene3d>
            <a:camera prst="orthographicFront"/>
            <a:lightRig rig="flat" dir="t"/>
          </a:scene3d>
          <a:sp3d/>
        </p:spPr>
        <p:style>
          <a:lnRef idx="0">
            <a:scrgbClr r="0" g="0" b="0"/>
          </a:lnRef>
          <a:fillRef idx="0">
            <a:scrgbClr r="0" g="0" b="0"/>
          </a:fillRef>
          <a:effectRef idx="0">
            <a:scrgbClr r="0" g="0" b="0"/>
          </a:effectRef>
          <a:fontRef idx="minor">
            <a:schemeClr val="dk1"/>
          </a:fontRef>
        </p:style>
        <p:txBody>
          <a:bodyPr spcFirstLastPara="0" vert="horz" wrap="square" lIns="121920" tIns="121920" rIns="121920" bIns="121920" numCol="1" spcCol="1270" anchor="ctr" anchorCtr="0">
            <a:noAutofit/>
          </a:bodyPr>
          <a:lstStyle>
            <a:defPPr>
              <a:defRPr lang="es-CO"/>
            </a:defPPr>
            <a:lvl1pPr algn="just">
              <a:defRPr sz="2400">
                <a:solidFill>
                  <a:schemeClr val="tx1"/>
                </a:solidFill>
              </a:defRPr>
            </a:lvl1pPr>
          </a:lstStyle>
          <a:p>
            <a:r>
              <a:rPr lang="es-CO" sz="3600" dirty="0"/>
              <a:t>Así como se determinó la nota promedio general, la nota promedio por estudiante y la nota promedio por materias, a continuación, te invito a que determines la sumatoria de notas, la mayor nota, la menor nota, la cantidad de notas ganadas por estudiante y estos mismos resultados por materia. Imprimir el nombre de la materia y el nombre del estudiante en cada reporte de manera fácil. Ver siguiente diapositiva para entender lo </a:t>
            </a:r>
            <a:r>
              <a:rPr lang="es-CO" sz="3600" dirty="0" err="1"/>
              <a:t>solictado</a:t>
            </a:r>
            <a:r>
              <a:rPr lang="es-CO" sz="3600" dirty="0"/>
              <a:t>.</a:t>
            </a:r>
          </a:p>
        </p:txBody>
      </p:sp>
      <p:sp>
        <p:nvSpPr>
          <p:cNvPr id="6" name="Título 1">
            <a:extLst>
              <a:ext uri="{FF2B5EF4-FFF2-40B4-BE49-F238E27FC236}">
                <a16:creationId xmlns:a16="http://schemas.microsoft.com/office/drawing/2014/main" id="{641536DB-22AF-43E4-B2DB-DB464E118EC6}"/>
              </a:ext>
            </a:extLst>
          </p:cNvPr>
          <p:cNvSpPr>
            <a:spLocks noGrp="1"/>
          </p:cNvSpPr>
          <p:nvPr>
            <p:ph type="title"/>
          </p:nvPr>
        </p:nvSpPr>
        <p:spPr>
          <a:xfrm>
            <a:off x="989994" y="0"/>
            <a:ext cx="10229386" cy="914400"/>
          </a:xfrm>
        </p:spPr>
        <p:txBody>
          <a:bodyPr vert="horz" lIns="91440" tIns="45720" rIns="91440" bIns="45720" rtlCol="0" anchor="ctr">
            <a:noAutofit/>
          </a:bodyPr>
          <a:lstStyle/>
          <a:p>
            <a:pPr algn="ctr"/>
            <a:r>
              <a:rPr lang="es-CO" sz="3800" b="1" dirty="0">
                <a:latin typeface="Bahnschrift Light SemiCondensed" panose="020B0502040204020203" pitchFamily="34" charset="0"/>
              </a:rPr>
              <a:t>“COMBINACIÓN DE ARREGLOS EN C++”</a:t>
            </a:r>
          </a:p>
        </p:txBody>
      </p:sp>
      <p:pic>
        <p:nvPicPr>
          <p:cNvPr id="1028" name="Picture 4" descr="Icono estudiante, notas, nota, educación"/>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893762" y="2324815"/>
            <a:ext cx="2208369" cy="220837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02862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up)">
                                      <p:cBhvr>
                                        <p:cTn id="7" dur="10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ítulo 1">
            <a:extLst>
              <a:ext uri="{FF2B5EF4-FFF2-40B4-BE49-F238E27FC236}">
                <a16:creationId xmlns:a16="http://schemas.microsoft.com/office/drawing/2014/main" id="{641536DB-22AF-43E4-B2DB-DB464E118EC6}"/>
              </a:ext>
            </a:extLst>
          </p:cNvPr>
          <p:cNvSpPr>
            <a:spLocks noGrp="1"/>
          </p:cNvSpPr>
          <p:nvPr>
            <p:ph type="title"/>
          </p:nvPr>
        </p:nvSpPr>
        <p:spPr>
          <a:xfrm>
            <a:off x="989994" y="0"/>
            <a:ext cx="10229386" cy="914400"/>
          </a:xfrm>
        </p:spPr>
        <p:txBody>
          <a:bodyPr vert="horz" lIns="91440" tIns="45720" rIns="91440" bIns="45720" rtlCol="0" anchor="ctr">
            <a:noAutofit/>
          </a:bodyPr>
          <a:lstStyle/>
          <a:p>
            <a:pPr algn="ctr"/>
            <a:r>
              <a:rPr lang="es-CO" sz="3800" b="1" dirty="0">
                <a:latin typeface="Bahnschrift Light SemiCondensed" panose="020B0502040204020203" pitchFamily="34" charset="0"/>
              </a:rPr>
              <a:t>“COMBINACIÓN DE ARREGLOS EN C++”</a:t>
            </a:r>
          </a:p>
        </p:txBody>
      </p:sp>
      <p:pic>
        <p:nvPicPr>
          <p:cNvPr id="3" name="Imagen 2">
            <a:extLst>
              <a:ext uri="{FF2B5EF4-FFF2-40B4-BE49-F238E27FC236}">
                <a16:creationId xmlns:a16="http://schemas.microsoft.com/office/drawing/2014/main" id="{599B3CEC-1BFD-E969-2DCA-DC652E2DF99F}"/>
              </a:ext>
            </a:extLst>
          </p:cNvPr>
          <p:cNvPicPr>
            <a:picLocks noChangeAspect="1"/>
          </p:cNvPicPr>
          <p:nvPr/>
        </p:nvPicPr>
        <p:blipFill>
          <a:blip r:embed="rId3"/>
          <a:stretch>
            <a:fillRect/>
          </a:stretch>
        </p:blipFill>
        <p:spPr>
          <a:xfrm>
            <a:off x="989994" y="780836"/>
            <a:ext cx="10566569" cy="4874459"/>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5" name="CuadroTexto 4">
            <a:extLst>
              <a:ext uri="{FF2B5EF4-FFF2-40B4-BE49-F238E27FC236}">
                <a16:creationId xmlns:a16="http://schemas.microsoft.com/office/drawing/2014/main" id="{E36C39C4-E21A-9ADB-041F-3822CC694EF5}"/>
              </a:ext>
            </a:extLst>
          </p:cNvPr>
          <p:cNvSpPr txBox="1"/>
          <p:nvPr/>
        </p:nvSpPr>
        <p:spPr>
          <a:xfrm>
            <a:off x="7099748" y="3872383"/>
            <a:ext cx="4286008" cy="1477328"/>
          </a:xfrm>
          <a:prstGeom prst="rect">
            <a:avLst/>
          </a:prstGeom>
          <a:noFill/>
          <a:ln>
            <a:solidFill>
              <a:schemeClr val="tx1"/>
            </a:solidFill>
          </a:ln>
        </p:spPr>
        <p:txBody>
          <a:bodyPr wrap="square">
            <a:spAutoFit/>
          </a:bodyPr>
          <a:lstStyle/>
          <a:p>
            <a:pPr algn="ctr"/>
            <a:r>
              <a:rPr lang="fr-FR" sz="1000" b="1" dirty="0">
                <a:effectLst>
                  <a:outerShdw blurRad="38100" dist="38100" dir="2700000" algn="tl">
                    <a:srgbClr val="000000">
                      <a:alpha val="43137"/>
                    </a:srgbClr>
                  </a:outerShdw>
                </a:effectLst>
                <a:latin typeface="Cascadia Mono" panose="020B0609020000020004" pitchFamily="49" charset="0"/>
              </a:rPr>
              <a:t>//USAR ESTOS DATOS PARA QUEMAR LOS DATOS.</a:t>
            </a:r>
          </a:p>
          <a:p>
            <a:r>
              <a:rPr lang="fr-FR" sz="1000" dirty="0">
                <a:solidFill>
                  <a:srgbClr val="0000FF"/>
                </a:solidFill>
                <a:latin typeface="Cascadia Mono" panose="020B0609020000020004" pitchFamily="49" charset="0"/>
              </a:rPr>
              <a:t>double</a:t>
            </a:r>
            <a:r>
              <a:rPr lang="fr-FR" sz="1000" dirty="0">
                <a:solidFill>
                  <a:srgbClr val="000000"/>
                </a:solidFill>
                <a:latin typeface="Cascadia Mono" panose="020B0609020000020004" pitchFamily="49" charset="0"/>
              </a:rPr>
              <a:t> NOTAS[5][5] = { {3.2, 4.5, 5.0, 1.8, 2.10},</a:t>
            </a:r>
          </a:p>
          <a:p>
            <a:r>
              <a:rPr lang="es-CO" sz="1000" dirty="0">
                <a:solidFill>
                  <a:srgbClr val="000000"/>
                </a:solidFill>
                <a:latin typeface="Cascadia Mono" panose="020B0609020000020004" pitchFamily="49" charset="0"/>
              </a:rPr>
              <a:t>{4.0, 3.0, 4.8, 5.0, 3.2}, {1.0, 0.0, 0.2, 1.0, 4.0},</a:t>
            </a:r>
          </a:p>
          <a:p>
            <a:r>
              <a:rPr lang="es-CO" sz="1000" dirty="0">
                <a:solidFill>
                  <a:srgbClr val="000000"/>
                </a:solidFill>
                <a:latin typeface="Cascadia Mono" panose="020B0609020000020004" pitchFamily="49" charset="0"/>
              </a:rPr>
              <a:t>{2.0, 2.1, 4.9, 4.8, 4.0}, {1.0, 0.5, 5.0, 4.0, 3.0}</a:t>
            </a:r>
          </a:p>
          <a:p>
            <a:r>
              <a:rPr lang="es-CO" sz="1000" dirty="0">
                <a:solidFill>
                  <a:srgbClr val="000000"/>
                </a:solidFill>
                <a:latin typeface="Cascadia Mono" panose="020B0609020000020004" pitchFamily="49" charset="0"/>
              </a:rPr>
              <a:t>};</a:t>
            </a:r>
          </a:p>
          <a:p>
            <a:r>
              <a:rPr lang="es-CO" sz="1000" dirty="0" err="1">
                <a:solidFill>
                  <a:srgbClr val="2B91AF"/>
                </a:solidFill>
                <a:latin typeface="Cascadia Mono" panose="020B0609020000020004" pitchFamily="49" charset="0"/>
              </a:rPr>
              <a:t>string</a:t>
            </a:r>
            <a:r>
              <a:rPr lang="es-CO" sz="1000" dirty="0">
                <a:solidFill>
                  <a:srgbClr val="000000"/>
                </a:solidFill>
                <a:latin typeface="Cascadia Mono" panose="020B0609020000020004" pitchFamily="49" charset="0"/>
              </a:rPr>
              <a:t> MATERIAS[5] = { </a:t>
            </a:r>
            <a:r>
              <a:rPr lang="es-CO" sz="1000" dirty="0">
                <a:solidFill>
                  <a:srgbClr val="A31515"/>
                </a:solidFill>
                <a:latin typeface="Cascadia Mono" panose="020B0609020000020004" pitchFamily="49" charset="0"/>
              </a:rPr>
              <a:t>"Inglés"</a:t>
            </a:r>
            <a:r>
              <a:rPr lang="es-CO" sz="1000" dirty="0">
                <a:solidFill>
                  <a:srgbClr val="000000"/>
                </a:solidFill>
                <a:latin typeface="Cascadia Mono" panose="020B0609020000020004" pitchFamily="49" charset="0"/>
              </a:rPr>
              <a:t>, </a:t>
            </a:r>
            <a:r>
              <a:rPr lang="es-CO" sz="1000" dirty="0">
                <a:solidFill>
                  <a:srgbClr val="A31515"/>
                </a:solidFill>
                <a:latin typeface="Cascadia Mono" panose="020B0609020000020004" pitchFamily="49" charset="0"/>
              </a:rPr>
              <a:t>"Física"</a:t>
            </a:r>
            <a:r>
              <a:rPr lang="es-CO" sz="1000" dirty="0">
                <a:solidFill>
                  <a:srgbClr val="000000"/>
                </a:solidFill>
                <a:latin typeface="Cascadia Mono" panose="020B0609020000020004" pitchFamily="49" charset="0"/>
              </a:rPr>
              <a:t>, </a:t>
            </a:r>
            <a:r>
              <a:rPr lang="es-CO" sz="1000" dirty="0">
                <a:solidFill>
                  <a:srgbClr val="A31515"/>
                </a:solidFill>
                <a:latin typeface="Cascadia Mono" panose="020B0609020000020004" pitchFamily="49" charset="0"/>
              </a:rPr>
              <a:t>"Ética"</a:t>
            </a:r>
            <a:r>
              <a:rPr lang="es-CO" sz="1000" dirty="0">
                <a:solidFill>
                  <a:srgbClr val="000000"/>
                </a:solidFill>
                <a:latin typeface="Cascadia Mono" panose="020B0609020000020004" pitchFamily="49" charset="0"/>
              </a:rPr>
              <a:t>, </a:t>
            </a:r>
            <a:r>
              <a:rPr lang="es-CO" sz="1000" dirty="0">
                <a:solidFill>
                  <a:srgbClr val="A31515"/>
                </a:solidFill>
                <a:latin typeface="Cascadia Mono" panose="020B0609020000020004" pitchFamily="49" charset="0"/>
              </a:rPr>
              <a:t>"Religió"</a:t>
            </a:r>
            <a:r>
              <a:rPr lang="es-CO" sz="1000" dirty="0">
                <a:solidFill>
                  <a:srgbClr val="000000"/>
                </a:solidFill>
                <a:latin typeface="Cascadia Mono" panose="020B0609020000020004" pitchFamily="49" charset="0"/>
              </a:rPr>
              <a:t>, </a:t>
            </a:r>
            <a:r>
              <a:rPr lang="es-CO" sz="1000" dirty="0">
                <a:solidFill>
                  <a:srgbClr val="A31515"/>
                </a:solidFill>
                <a:latin typeface="Cascadia Mono" panose="020B0609020000020004" pitchFamily="49" charset="0"/>
              </a:rPr>
              <a:t>"Química"</a:t>
            </a:r>
            <a:r>
              <a:rPr lang="es-CO" sz="1000" dirty="0">
                <a:solidFill>
                  <a:srgbClr val="000000"/>
                </a:solidFill>
                <a:latin typeface="Cascadia Mono" panose="020B0609020000020004" pitchFamily="49" charset="0"/>
              </a:rPr>
              <a:t> };</a:t>
            </a:r>
          </a:p>
          <a:p>
            <a:r>
              <a:rPr lang="es-CO" sz="1000" dirty="0" err="1">
                <a:solidFill>
                  <a:srgbClr val="2B91AF"/>
                </a:solidFill>
                <a:latin typeface="Cascadia Mono" panose="020B0609020000020004" pitchFamily="49" charset="0"/>
              </a:rPr>
              <a:t>string</a:t>
            </a:r>
            <a:r>
              <a:rPr lang="es-CO" sz="1000" dirty="0">
                <a:solidFill>
                  <a:srgbClr val="000000"/>
                </a:solidFill>
                <a:latin typeface="Cascadia Mono" panose="020B0609020000020004" pitchFamily="49" charset="0"/>
              </a:rPr>
              <a:t> ESTUDIANTES[5]{ </a:t>
            </a:r>
            <a:r>
              <a:rPr lang="es-CO" sz="1000" dirty="0">
                <a:solidFill>
                  <a:srgbClr val="A31515"/>
                </a:solidFill>
                <a:latin typeface="Cascadia Mono" panose="020B0609020000020004" pitchFamily="49" charset="0"/>
              </a:rPr>
              <a:t>"Jorge"</a:t>
            </a:r>
            <a:r>
              <a:rPr lang="es-CO" sz="1000" dirty="0">
                <a:solidFill>
                  <a:srgbClr val="000000"/>
                </a:solidFill>
                <a:latin typeface="Cascadia Mono" panose="020B0609020000020004" pitchFamily="49" charset="0"/>
              </a:rPr>
              <a:t>, </a:t>
            </a:r>
            <a:r>
              <a:rPr lang="es-CO" sz="1000" dirty="0">
                <a:solidFill>
                  <a:srgbClr val="A31515"/>
                </a:solidFill>
                <a:latin typeface="Cascadia Mono" panose="020B0609020000020004" pitchFamily="49" charset="0"/>
              </a:rPr>
              <a:t>"Juan"</a:t>
            </a:r>
            <a:r>
              <a:rPr lang="es-CO" sz="1000" dirty="0">
                <a:solidFill>
                  <a:srgbClr val="000000"/>
                </a:solidFill>
                <a:latin typeface="Cascadia Mono" panose="020B0609020000020004" pitchFamily="49" charset="0"/>
              </a:rPr>
              <a:t>, </a:t>
            </a:r>
            <a:r>
              <a:rPr lang="es-CO" sz="1000" dirty="0">
                <a:solidFill>
                  <a:srgbClr val="A31515"/>
                </a:solidFill>
                <a:latin typeface="Cascadia Mono" panose="020B0609020000020004" pitchFamily="49" charset="0"/>
              </a:rPr>
              <a:t>"Carlos"</a:t>
            </a:r>
            <a:r>
              <a:rPr lang="es-CO" sz="1000" dirty="0">
                <a:solidFill>
                  <a:srgbClr val="000000"/>
                </a:solidFill>
                <a:latin typeface="Cascadia Mono" panose="020B0609020000020004" pitchFamily="49" charset="0"/>
              </a:rPr>
              <a:t>, </a:t>
            </a:r>
            <a:r>
              <a:rPr lang="es-CO" sz="1000" dirty="0">
                <a:solidFill>
                  <a:srgbClr val="A31515"/>
                </a:solidFill>
                <a:latin typeface="Cascadia Mono" panose="020B0609020000020004" pitchFamily="49" charset="0"/>
              </a:rPr>
              <a:t>"Pedro"</a:t>
            </a:r>
            <a:r>
              <a:rPr lang="es-CO" sz="1000" dirty="0">
                <a:solidFill>
                  <a:srgbClr val="000000"/>
                </a:solidFill>
                <a:latin typeface="Cascadia Mono" panose="020B0609020000020004" pitchFamily="49" charset="0"/>
              </a:rPr>
              <a:t>, </a:t>
            </a:r>
            <a:r>
              <a:rPr lang="es-CO" sz="1000" dirty="0">
                <a:solidFill>
                  <a:srgbClr val="A31515"/>
                </a:solidFill>
                <a:latin typeface="Cascadia Mono" panose="020B0609020000020004" pitchFamily="49" charset="0"/>
              </a:rPr>
              <a:t>"Luis"</a:t>
            </a:r>
            <a:r>
              <a:rPr lang="es-CO" sz="1000" dirty="0">
                <a:solidFill>
                  <a:srgbClr val="000000"/>
                </a:solidFill>
                <a:latin typeface="Cascadia Mono" panose="020B0609020000020004" pitchFamily="49" charset="0"/>
              </a:rPr>
              <a:t> };</a:t>
            </a:r>
            <a:endParaRPr lang="es-CO" sz="1000" dirty="0"/>
          </a:p>
        </p:txBody>
      </p:sp>
    </p:spTree>
    <p:extLst>
      <p:ext uri="{BB962C8B-B14F-4D97-AF65-F5344CB8AC3E}">
        <p14:creationId xmlns:p14="http://schemas.microsoft.com/office/powerpoint/2010/main" val="23742391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2000" b="-2000"/>
          </a:stretch>
        </a:blip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999B393-37E8-4E11-8EB2-C863ACB85223}"/>
              </a:ext>
            </a:extLst>
          </p:cNvPr>
          <p:cNvSpPr txBox="1">
            <a:spLocks/>
          </p:cNvSpPr>
          <p:nvPr/>
        </p:nvSpPr>
        <p:spPr>
          <a:xfrm>
            <a:off x="884689" y="1308683"/>
            <a:ext cx="10943788" cy="1197553"/>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s-CO" b="1" dirty="0">
                <a:solidFill>
                  <a:prstClr val="black"/>
                </a:solidFill>
                <a:latin typeface="Bahnschrift Light SemiCondensed" panose="020B0502040204020203" pitchFamily="34" charset="0"/>
              </a:rPr>
              <a:t>“COMBINACIÓN DE ARREGLOS EN C++”</a:t>
            </a:r>
          </a:p>
        </p:txBody>
      </p:sp>
      <p:sp>
        <p:nvSpPr>
          <p:cNvPr id="5" name="Rectángulo 4">
            <a:extLst>
              <a:ext uri="{FF2B5EF4-FFF2-40B4-BE49-F238E27FC236}">
                <a16:creationId xmlns:a16="http://schemas.microsoft.com/office/drawing/2014/main" id="{161F265C-6D74-4338-8944-0FD73F7598E6}"/>
              </a:ext>
            </a:extLst>
          </p:cNvPr>
          <p:cNvSpPr/>
          <p:nvPr/>
        </p:nvSpPr>
        <p:spPr>
          <a:xfrm>
            <a:off x="1798040" y="5362689"/>
            <a:ext cx="8595920" cy="684772"/>
          </a:xfrm>
          <a:prstGeom prst="rect">
            <a:avLst/>
          </a:prstGeom>
          <a:solidFill>
            <a:srgbClr val="0070C0"/>
          </a:solidFill>
          <a:ln>
            <a:noFill/>
          </a:ln>
          <a:effectLst>
            <a:outerShdw blurRad="107950" dist="12700" dir="5400000" algn="ctr">
              <a:srgbClr val="000000"/>
            </a:outerShdw>
          </a:effectLst>
          <a:scene3d>
            <a:camera prst="isometricTopUp">
              <a:rot lat="21594000" lon="21594000" rev="0"/>
            </a:camera>
            <a:lightRig rig="soft" dir="t">
              <a:rot lat="0" lon="0" rev="0"/>
            </a:lightRig>
          </a:scene3d>
          <a:sp3d contourW="44450" prstMaterial="matte">
            <a:bevelT w="63500" h="63500" prst="artDeco"/>
            <a:contourClr>
              <a:srgbClr val="FFFFFF"/>
            </a:contourClr>
          </a:sp3d>
        </p:spPr>
        <p:style>
          <a:lnRef idx="2">
            <a:schemeClr val="accent1">
              <a:shade val="50000"/>
            </a:schemeClr>
          </a:lnRef>
          <a:fillRef idx="1">
            <a:schemeClr val="accent1"/>
          </a:fillRef>
          <a:effectRef idx="0">
            <a:schemeClr val="accent1"/>
          </a:effectRef>
          <a:fontRef idx="minor">
            <a:schemeClr val="lt1"/>
          </a:fontRef>
        </p:style>
        <p:txBody>
          <a:bodyPr rtlCol="0" anchor="ctr">
            <a:scene3d>
              <a:camera prst="orthographicFront"/>
              <a:lightRig rig="harsh" dir="t"/>
            </a:scene3d>
            <a:sp3d extrusionH="57150" prstMaterial="matte">
              <a:bevelT w="63500" h="12700" prst="angle"/>
              <a:contourClr>
                <a:schemeClr val="bg1">
                  <a:lumMod val="65000"/>
                </a:schemeClr>
              </a:contourClr>
            </a:sp3d>
          </a:bodyPr>
          <a:lstStyle/>
          <a:p>
            <a:pPr algn="ctr">
              <a:defRPr/>
            </a:pPr>
            <a:r>
              <a:rPr lang="es-CO" sz="2000" b="1" dirty="0">
                <a:ln/>
                <a:solidFill>
                  <a:prstClr val="white"/>
                </a:solidFill>
                <a:effectLst>
                  <a:outerShdw blurRad="38100" dist="38100" dir="2700000" algn="tl">
                    <a:srgbClr val="000000">
                      <a:alpha val="43137"/>
                    </a:srgbClr>
                  </a:outerShdw>
                </a:effectLst>
              </a:rPr>
              <a:t>CURSO: </a:t>
            </a:r>
            <a:r>
              <a:rPr lang="es-CO" sz="2000" dirty="0">
                <a:solidFill>
                  <a:prstClr val="white"/>
                </a:solidFill>
                <a:latin typeface="Bahnschrift Light SemiCondensed" panose="020B0502040204020203" pitchFamily="34" charset="0"/>
              </a:rPr>
              <a:t>“ALGORITMOS Y </a:t>
            </a:r>
            <a:r>
              <a:rPr lang="es-CO" sz="2000" b="1" dirty="0">
                <a:solidFill>
                  <a:prstClr val="white"/>
                </a:solidFill>
                <a:latin typeface="Bahnschrift Light SemiCondensed" panose="020B0502040204020203" pitchFamily="34" charset="0"/>
              </a:rPr>
              <a:t>PROGRAMACIÓN </a:t>
            </a:r>
            <a:r>
              <a:rPr lang="es-CO" sz="2000" dirty="0">
                <a:solidFill>
                  <a:prstClr val="white"/>
                </a:solidFill>
                <a:latin typeface="Bahnschrift Light SemiCondensed" panose="020B0502040204020203" pitchFamily="34" charset="0"/>
              </a:rPr>
              <a:t>"</a:t>
            </a:r>
          </a:p>
          <a:p>
            <a:pPr algn="ctr">
              <a:defRPr/>
            </a:pPr>
            <a:r>
              <a:rPr lang="es-CO" sz="2000" b="1" dirty="0">
                <a:ln/>
                <a:solidFill>
                  <a:prstClr val="white"/>
                </a:solidFill>
                <a:effectLst>
                  <a:outerShdw blurRad="38100" dist="38100" dir="2700000" algn="tl">
                    <a:srgbClr val="000000">
                      <a:alpha val="43137"/>
                    </a:srgbClr>
                  </a:outerShdw>
                </a:effectLst>
              </a:rPr>
              <a:t>DOCENTE: </a:t>
            </a:r>
            <a:r>
              <a:rPr lang="es-CO" sz="2000" b="1" dirty="0">
                <a:solidFill>
                  <a:prstClr val="white"/>
                </a:solidFill>
                <a:latin typeface="Bahnschrift Light SemiCondensed" panose="020B0502040204020203" pitchFamily="34" charset="0"/>
              </a:rPr>
              <a:t>JAIRO HERNANDO RAMÍREZ MARÍN</a:t>
            </a:r>
          </a:p>
        </p:txBody>
      </p:sp>
    </p:spTree>
    <p:extLst>
      <p:ext uri="{BB962C8B-B14F-4D97-AF65-F5344CB8AC3E}">
        <p14:creationId xmlns:p14="http://schemas.microsoft.com/office/powerpoint/2010/main" val="23972836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0" presetClass="entr" presetSubtype="0"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800" decel="100000"/>
                                        <p:tgtEl>
                                          <p:spTgt spid="5"/>
                                        </p:tgtEl>
                                      </p:cBhvr>
                                    </p:animEffect>
                                    <p:anim calcmode="lin" valueType="num">
                                      <p:cBhvr>
                                        <p:cTn id="8" dur="800" decel="100000" fill="hold"/>
                                        <p:tgtEl>
                                          <p:spTgt spid="5"/>
                                        </p:tgtEl>
                                        <p:attrNameLst>
                                          <p:attrName>style.rotation</p:attrName>
                                        </p:attrNameLst>
                                      </p:cBhvr>
                                      <p:tavLst>
                                        <p:tav tm="0">
                                          <p:val>
                                            <p:fltVal val="-90"/>
                                          </p:val>
                                        </p:tav>
                                        <p:tav tm="100000">
                                          <p:val>
                                            <p:fltVal val="0"/>
                                          </p:val>
                                        </p:tav>
                                      </p:tavLst>
                                    </p:anim>
                                    <p:anim calcmode="lin" valueType="num">
                                      <p:cBhvr>
                                        <p:cTn id="9" dur="800" decel="100000" fill="hold"/>
                                        <p:tgtEl>
                                          <p:spTgt spid="5"/>
                                        </p:tgtEl>
                                        <p:attrNameLst>
                                          <p:attrName>ppt_x</p:attrName>
                                        </p:attrNameLst>
                                      </p:cBhvr>
                                      <p:tavLst>
                                        <p:tav tm="0">
                                          <p:val>
                                            <p:strVal val="#ppt_x+0.4"/>
                                          </p:val>
                                        </p:tav>
                                        <p:tav tm="100000">
                                          <p:val>
                                            <p:strVal val="#ppt_x-0.05"/>
                                          </p:val>
                                        </p:tav>
                                      </p:tavLst>
                                    </p:anim>
                                    <p:anim calcmode="lin" valueType="num">
                                      <p:cBhvr>
                                        <p:cTn id="10" dur="800" decel="100000" fill="hold"/>
                                        <p:tgtEl>
                                          <p:spTgt spid="5"/>
                                        </p:tgtEl>
                                        <p:attrNameLst>
                                          <p:attrName>ppt_y</p:attrName>
                                        </p:attrNameLst>
                                      </p:cBhvr>
                                      <p:tavLst>
                                        <p:tav tm="0">
                                          <p:val>
                                            <p:strVal val="#ppt_y-0.4"/>
                                          </p:val>
                                        </p:tav>
                                        <p:tav tm="100000">
                                          <p:val>
                                            <p:strVal val="#ppt_y+0.1"/>
                                          </p:val>
                                        </p:tav>
                                      </p:tavLst>
                                    </p:anim>
                                    <p:anim calcmode="lin" valueType="num">
                                      <p:cBhvr>
                                        <p:cTn id="11" dur="200" accel="100000" fill="hold">
                                          <p:stCondLst>
                                            <p:cond delay="800"/>
                                          </p:stCondLst>
                                        </p:cTn>
                                        <p:tgtEl>
                                          <p:spTgt spid="5"/>
                                        </p:tgtEl>
                                        <p:attrNameLst>
                                          <p:attrName>ppt_x</p:attrName>
                                        </p:attrNameLst>
                                      </p:cBhvr>
                                      <p:tavLst>
                                        <p:tav tm="0">
                                          <p:val>
                                            <p:strVal val="#ppt_x-0.05"/>
                                          </p:val>
                                        </p:tav>
                                        <p:tav tm="100000">
                                          <p:val>
                                            <p:strVal val="#ppt_x"/>
                                          </p:val>
                                        </p:tav>
                                      </p:tavLst>
                                    </p:anim>
                                    <p:anim calcmode="lin" valueType="num">
                                      <p:cBhvr>
                                        <p:cTn id="12" dur="200" accel="100000" fill="hold">
                                          <p:stCondLst>
                                            <p:cond delay="800"/>
                                          </p:stCondLst>
                                        </p:cTn>
                                        <p:tgtEl>
                                          <p:spTgt spid="5"/>
                                        </p:tgtEl>
                                        <p:attrNameLst>
                                          <p:attrName>ppt_y</p:attrName>
                                        </p:attrNameLst>
                                      </p:cBhvr>
                                      <p:tavLst>
                                        <p:tav tm="0">
                                          <p:val>
                                            <p:strVal val="#ppt_y+0.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2471</TotalTime>
  <Words>3180</Words>
  <Application>Microsoft Office PowerPoint</Application>
  <PresentationFormat>Panorámica</PresentationFormat>
  <Paragraphs>515</Paragraphs>
  <Slides>18</Slides>
  <Notes>10</Notes>
  <HiddenSlides>0</HiddenSlides>
  <MMClips>0</MMClips>
  <ScaleCrop>false</ScaleCrop>
  <HeadingPairs>
    <vt:vector size="6" baseType="variant">
      <vt:variant>
        <vt:lpstr>Fuentes usadas</vt:lpstr>
      </vt:variant>
      <vt:variant>
        <vt:i4>6</vt:i4>
      </vt:variant>
      <vt:variant>
        <vt:lpstr>Tema</vt:lpstr>
      </vt:variant>
      <vt:variant>
        <vt:i4>1</vt:i4>
      </vt:variant>
      <vt:variant>
        <vt:lpstr>Títulos de diapositiva</vt:lpstr>
      </vt:variant>
      <vt:variant>
        <vt:i4>18</vt:i4>
      </vt:variant>
    </vt:vector>
  </HeadingPairs>
  <TitlesOfParts>
    <vt:vector size="25" baseType="lpstr">
      <vt:lpstr>Arial</vt:lpstr>
      <vt:lpstr>Arial Narrow</vt:lpstr>
      <vt:lpstr>Bahnschrift Light SemiCondensed</vt:lpstr>
      <vt:lpstr>Calibri</vt:lpstr>
      <vt:lpstr>Calibri Light</vt:lpstr>
      <vt:lpstr>Cascadia Mono</vt:lpstr>
      <vt:lpstr>Tema de Office</vt:lpstr>
      <vt:lpstr>Presentación de PowerPoint</vt:lpstr>
      <vt:lpstr>“COMBINACIÓN DE ARREGLOS EN C++”</vt:lpstr>
      <vt:lpstr>“COMBINACIÓN DE ARREGLOS EN C++”</vt:lpstr>
      <vt:lpstr>“COMBINACIÓN DE ARREGLOS EN C++”</vt:lpstr>
      <vt:lpstr>“COMBINACIÓN DE ARREGLOS EN C++”</vt:lpstr>
      <vt:lpstr>“PASOS PARA COMBINACIÓN DE ARREGLOS EN C++”</vt:lpstr>
      <vt:lpstr>“COMBINACIÓN DE ARREGLOS EN C++”</vt:lpstr>
      <vt:lpstr>“COMBINACIÓN DE ARREGLOS EN C++”</vt:lpstr>
      <vt:lpstr>“COMBINACIÓN DE ARREGLOS EN C++”</vt:lpstr>
      <vt:lpstr>“COMBINACIÓN DE ARREGLOS EN C++”</vt:lpstr>
      <vt:lpstr>“COMBINACIÓN DE ARREGLOS EN C++”</vt:lpstr>
      <vt:lpstr>“COMBINACIÓN DE ARREGLOS EN C++”</vt:lpstr>
      <vt:lpstr>“COMBINACIÓN DE ARREGLOS EN C++”</vt:lpstr>
      <vt:lpstr>“COMBINACIÓN DE ARREGLOS EN C++”</vt:lpstr>
      <vt:lpstr>“COMBINACIÓN DE ARREGLOS EN C++”</vt:lpstr>
      <vt:lpstr>“COMBINACIÓN DE ARREGLOS EN C++”</vt:lpstr>
      <vt:lpstr>“COMBINACIÓN DE ARREGLOS EN C++”</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JAIRO HERNANDO RAMIREZ MARIN</dc:creator>
  <cp:lastModifiedBy>LUIS FERNANDO QUIROGA PELAEZ</cp:lastModifiedBy>
  <cp:revision>244</cp:revision>
  <dcterms:created xsi:type="dcterms:W3CDTF">2020-08-20T10:34:44Z</dcterms:created>
  <dcterms:modified xsi:type="dcterms:W3CDTF">2024-10-12T13:20:25Z</dcterms:modified>
</cp:coreProperties>
</file>