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comment1.xml" ContentType="application/vnd.openxmlformats-officedocument.presentationml.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308" r:id="rId3"/>
    <p:sldId id="335" r:id="rId4"/>
    <p:sldId id="334" r:id="rId5"/>
    <p:sldId id="336" r:id="rId6"/>
    <p:sldId id="415" r:id="rId7"/>
    <p:sldId id="332" r:id="rId8"/>
    <p:sldId id="347" r:id="rId9"/>
    <p:sldId id="348" r:id="rId10"/>
    <p:sldId id="417" r:id="rId11"/>
    <p:sldId id="418" r:id="rId12"/>
    <p:sldId id="419" r:id="rId13"/>
    <p:sldId id="420" r:id="rId14"/>
    <p:sldId id="421" r:id="rId15"/>
    <p:sldId id="423" r:id="rId16"/>
    <p:sldId id="424" r:id="rId17"/>
    <p:sldId id="340" r:id="rId18"/>
    <p:sldId id="373" r:id="rId19"/>
    <p:sldId id="378" r:id="rId20"/>
    <p:sldId id="375" r:id="rId21"/>
    <p:sldId id="422" r:id="rId22"/>
    <p:sldId id="410" r:id="rId23"/>
    <p:sldId id="376" r:id="rId24"/>
    <p:sldId id="377" r:id="rId25"/>
    <p:sldId id="416" r:id="rId26"/>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IRO HERNANDO RAMIREZ MARIN" initials="JHRM" lastIdx="1" clrIdx="0">
    <p:extLst>
      <p:ext uri="{19B8F6BF-5375-455C-9EA6-DF929625EA0E}">
        <p15:presenceInfo xmlns:p15="http://schemas.microsoft.com/office/powerpoint/2012/main" userId="S::jairo.ramirez@comunidad.iush.edu.co::683be6fa-ee44-4f01-ad3d-b1c13e4348d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62AB"/>
    <a:srgbClr val="265D92"/>
    <a:srgbClr val="194581"/>
    <a:srgbClr val="974BA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361" autoAdjust="0"/>
    <p:restoredTop sz="84136" autoAdjust="0"/>
  </p:normalViewPr>
  <p:slideViewPr>
    <p:cSldViewPr snapToGrid="0">
      <p:cViewPr varScale="1">
        <p:scale>
          <a:sx n="93" d="100"/>
          <a:sy n="93" d="100"/>
        </p:scale>
        <p:origin x="186" y="120"/>
      </p:cViewPr>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0-11-05T11:12:44.730" idx="1">
    <p:pos x="10" y="10"/>
    <p:text/>
    <p:extLst>
      <p:ext uri="{C676402C-5697-4E1C-873F-D02D1690AC5C}">
        <p15:threadingInfo xmlns:p15="http://schemas.microsoft.com/office/powerpoint/2012/main" timeZoneBias="300"/>
      </p:ext>
    </p:extLst>
  </p:cm>
</p:cmLst>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23D8A6F-3A4B-4348-A2BA-B61A86EEA1AA}" type="doc">
      <dgm:prSet loTypeId="urn:microsoft.com/office/officeart/2005/8/layout/list1" loCatId="list" qsTypeId="urn:microsoft.com/office/officeart/2005/8/quickstyle/simple1" qsCatId="simple" csTypeId="urn:microsoft.com/office/officeart/2005/8/colors/accent0_1" csCatId="mainScheme" phldr="1"/>
      <dgm:spPr/>
      <dgm:t>
        <a:bodyPr/>
        <a:lstStyle/>
        <a:p>
          <a:endParaRPr lang="es-CO"/>
        </a:p>
      </dgm:t>
    </dgm:pt>
    <dgm:pt modelId="{9A27441B-8268-4651-8282-D85CE1FA907E}">
      <dgm:prSet phldrT="[Texto]" custT="1"/>
      <dgm:spPr/>
      <dgm:t>
        <a:bodyPr/>
        <a:lstStyle/>
        <a:p>
          <a:r>
            <a:rPr lang="es-CO" sz="2400" b="1" dirty="0"/>
            <a:t>Arreglos unidimensionales (VECTORES)</a:t>
          </a:r>
        </a:p>
      </dgm:t>
    </dgm:pt>
    <dgm:pt modelId="{78C5616D-53F0-4869-9FD0-14A94F761295}" type="parTrans" cxnId="{07AE63DD-C600-4470-B814-F2132D2BDBA4}">
      <dgm:prSet/>
      <dgm:spPr/>
      <dgm:t>
        <a:bodyPr/>
        <a:lstStyle/>
        <a:p>
          <a:endParaRPr lang="es-CO" sz="1100" b="1"/>
        </a:p>
      </dgm:t>
    </dgm:pt>
    <dgm:pt modelId="{13BB6554-F867-405F-88FA-DFEE3B837DB3}" type="sibTrans" cxnId="{07AE63DD-C600-4470-B814-F2132D2BDBA4}">
      <dgm:prSet/>
      <dgm:spPr/>
      <dgm:t>
        <a:bodyPr/>
        <a:lstStyle/>
        <a:p>
          <a:endParaRPr lang="es-CO" sz="1100" b="1"/>
        </a:p>
      </dgm:t>
    </dgm:pt>
    <dgm:pt modelId="{32DBC353-0BE3-4902-B95C-4919BACD30BC}">
      <dgm:prSet phldrT="[Texto]" custT="1"/>
      <dgm:spPr/>
      <dgm:t>
        <a:bodyPr/>
        <a:lstStyle/>
        <a:p>
          <a:r>
            <a:rPr lang="es-CO" sz="2400" b="1" dirty="0"/>
            <a:t>Arreglo Bidimensionales (MATRICES)</a:t>
          </a:r>
        </a:p>
      </dgm:t>
    </dgm:pt>
    <dgm:pt modelId="{B71DD494-94D7-4D03-8F7F-D8E0CA6BBF6B}" type="parTrans" cxnId="{93440BF8-9006-4662-99B2-D715CDBE27D5}">
      <dgm:prSet/>
      <dgm:spPr/>
      <dgm:t>
        <a:bodyPr/>
        <a:lstStyle/>
        <a:p>
          <a:endParaRPr lang="es-CO"/>
        </a:p>
      </dgm:t>
    </dgm:pt>
    <dgm:pt modelId="{DCBA7C75-CF34-47BE-B4AC-7CEB6FA6F5FD}" type="sibTrans" cxnId="{93440BF8-9006-4662-99B2-D715CDBE27D5}">
      <dgm:prSet/>
      <dgm:spPr/>
      <dgm:t>
        <a:bodyPr/>
        <a:lstStyle/>
        <a:p>
          <a:endParaRPr lang="es-CO"/>
        </a:p>
      </dgm:t>
    </dgm:pt>
    <dgm:pt modelId="{52AD1C59-8115-4D51-8E39-7FDCC5076438}">
      <dgm:prSet phldrT="[Texto]" custT="1"/>
      <dgm:spPr/>
      <dgm:t>
        <a:bodyPr/>
        <a:lstStyle/>
        <a:p>
          <a:r>
            <a:rPr lang="es-CO" sz="2400" b="1" dirty="0"/>
            <a:t>Arreglo multidimensional (MATRICES 3D)</a:t>
          </a:r>
        </a:p>
      </dgm:t>
    </dgm:pt>
    <dgm:pt modelId="{7D056473-EDD2-41E2-8495-8D1F4BF9D804}" type="parTrans" cxnId="{3E10405B-D070-4DEC-88C0-95210C66F5F2}">
      <dgm:prSet/>
      <dgm:spPr/>
      <dgm:t>
        <a:bodyPr/>
        <a:lstStyle/>
        <a:p>
          <a:endParaRPr lang="es-CO"/>
        </a:p>
      </dgm:t>
    </dgm:pt>
    <dgm:pt modelId="{CEA1BB97-31AB-4B12-AC27-88E7ADADF2E3}" type="sibTrans" cxnId="{3E10405B-D070-4DEC-88C0-95210C66F5F2}">
      <dgm:prSet/>
      <dgm:spPr/>
      <dgm:t>
        <a:bodyPr/>
        <a:lstStyle/>
        <a:p>
          <a:endParaRPr lang="es-CO"/>
        </a:p>
      </dgm:t>
    </dgm:pt>
    <dgm:pt modelId="{BB7B3CA3-17EE-4AAE-8669-125959876F28}" type="pres">
      <dgm:prSet presAssocID="{C23D8A6F-3A4B-4348-A2BA-B61A86EEA1AA}" presName="linear" presStyleCnt="0">
        <dgm:presLayoutVars>
          <dgm:dir/>
          <dgm:animLvl val="lvl"/>
          <dgm:resizeHandles val="exact"/>
        </dgm:presLayoutVars>
      </dgm:prSet>
      <dgm:spPr/>
    </dgm:pt>
    <dgm:pt modelId="{9E8B8606-6B82-4E82-9BEF-51C88DABA0E9}" type="pres">
      <dgm:prSet presAssocID="{9A27441B-8268-4651-8282-D85CE1FA907E}" presName="parentLin" presStyleCnt="0"/>
      <dgm:spPr/>
    </dgm:pt>
    <dgm:pt modelId="{94947C6D-B038-4BE5-A7CA-5BC7B1D2AAB5}" type="pres">
      <dgm:prSet presAssocID="{9A27441B-8268-4651-8282-D85CE1FA907E}" presName="parentLeftMargin" presStyleLbl="node1" presStyleIdx="0" presStyleCnt="3"/>
      <dgm:spPr/>
    </dgm:pt>
    <dgm:pt modelId="{8CBEB6B3-EC1F-43F4-AACD-00CA1D2B8BE3}" type="pres">
      <dgm:prSet presAssocID="{9A27441B-8268-4651-8282-D85CE1FA907E}" presName="parentText" presStyleLbl="node1" presStyleIdx="0" presStyleCnt="3" custScaleX="119333">
        <dgm:presLayoutVars>
          <dgm:chMax val="0"/>
          <dgm:bulletEnabled val="1"/>
        </dgm:presLayoutVars>
      </dgm:prSet>
      <dgm:spPr/>
    </dgm:pt>
    <dgm:pt modelId="{90930B99-0FB7-4ACD-94DD-375153C5C816}" type="pres">
      <dgm:prSet presAssocID="{9A27441B-8268-4651-8282-D85CE1FA907E}" presName="negativeSpace" presStyleCnt="0"/>
      <dgm:spPr/>
    </dgm:pt>
    <dgm:pt modelId="{9747D3BE-FAF1-45BE-A96C-452DA0EED34A}" type="pres">
      <dgm:prSet presAssocID="{9A27441B-8268-4651-8282-D85CE1FA907E}" presName="childText" presStyleLbl="conFgAcc1" presStyleIdx="0" presStyleCnt="3">
        <dgm:presLayoutVars>
          <dgm:bulletEnabled val="1"/>
        </dgm:presLayoutVars>
      </dgm:prSet>
      <dgm:spPr/>
    </dgm:pt>
    <dgm:pt modelId="{EDB2C0FB-D41B-4396-8CE5-35211E2E4A25}" type="pres">
      <dgm:prSet presAssocID="{13BB6554-F867-405F-88FA-DFEE3B837DB3}" presName="spaceBetweenRectangles" presStyleCnt="0"/>
      <dgm:spPr/>
    </dgm:pt>
    <dgm:pt modelId="{356479EA-CE73-4C7C-A2F5-F65EE5866EFB}" type="pres">
      <dgm:prSet presAssocID="{32DBC353-0BE3-4902-B95C-4919BACD30BC}" presName="parentLin" presStyleCnt="0"/>
      <dgm:spPr/>
    </dgm:pt>
    <dgm:pt modelId="{7472298A-9479-4DE3-B874-22C77C4A41A3}" type="pres">
      <dgm:prSet presAssocID="{32DBC353-0BE3-4902-B95C-4919BACD30BC}" presName="parentLeftMargin" presStyleLbl="node1" presStyleIdx="0" presStyleCnt="3"/>
      <dgm:spPr/>
    </dgm:pt>
    <dgm:pt modelId="{94E9CD55-1F66-4C85-B2E0-87E8C2AB8571}" type="pres">
      <dgm:prSet presAssocID="{32DBC353-0BE3-4902-B95C-4919BACD30BC}" presName="parentText" presStyleLbl="node1" presStyleIdx="1" presStyleCnt="3">
        <dgm:presLayoutVars>
          <dgm:chMax val="0"/>
          <dgm:bulletEnabled val="1"/>
        </dgm:presLayoutVars>
      </dgm:prSet>
      <dgm:spPr/>
    </dgm:pt>
    <dgm:pt modelId="{CD3EA5A7-4F7A-406F-A6A9-780D60779C79}" type="pres">
      <dgm:prSet presAssocID="{32DBC353-0BE3-4902-B95C-4919BACD30BC}" presName="negativeSpace" presStyleCnt="0"/>
      <dgm:spPr/>
    </dgm:pt>
    <dgm:pt modelId="{BEB971BD-F855-4A46-9265-5F062F04621B}" type="pres">
      <dgm:prSet presAssocID="{32DBC353-0BE3-4902-B95C-4919BACD30BC}" presName="childText" presStyleLbl="conFgAcc1" presStyleIdx="1" presStyleCnt="3">
        <dgm:presLayoutVars>
          <dgm:bulletEnabled val="1"/>
        </dgm:presLayoutVars>
      </dgm:prSet>
      <dgm:spPr/>
    </dgm:pt>
    <dgm:pt modelId="{79F7C810-454E-4A6E-A275-9472825031B2}" type="pres">
      <dgm:prSet presAssocID="{DCBA7C75-CF34-47BE-B4AC-7CEB6FA6F5FD}" presName="spaceBetweenRectangles" presStyleCnt="0"/>
      <dgm:spPr/>
    </dgm:pt>
    <dgm:pt modelId="{690373AB-984C-4B4C-A481-3ED1CC82075B}" type="pres">
      <dgm:prSet presAssocID="{52AD1C59-8115-4D51-8E39-7FDCC5076438}" presName="parentLin" presStyleCnt="0"/>
      <dgm:spPr/>
    </dgm:pt>
    <dgm:pt modelId="{CF0BE513-CE2C-4B73-953D-34E6CE975BAD}" type="pres">
      <dgm:prSet presAssocID="{52AD1C59-8115-4D51-8E39-7FDCC5076438}" presName="parentLeftMargin" presStyleLbl="node1" presStyleIdx="1" presStyleCnt="3"/>
      <dgm:spPr/>
    </dgm:pt>
    <dgm:pt modelId="{5171EF55-A346-4EEB-8812-6FC5738BB45B}" type="pres">
      <dgm:prSet presAssocID="{52AD1C59-8115-4D51-8E39-7FDCC5076438}" presName="parentText" presStyleLbl="node1" presStyleIdx="2" presStyleCnt="3">
        <dgm:presLayoutVars>
          <dgm:chMax val="0"/>
          <dgm:bulletEnabled val="1"/>
        </dgm:presLayoutVars>
      </dgm:prSet>
      <dgm:spPr/>
    </dgm:pt>
    <dgm:pt modelId="{0AE6E444-C3FA-4D84-86C8-5BF5314160FA}" type="pres">
      <dgm:prSet presAssocID="{52AD1C59-8115-4D51-8E39-7FDCC5076438}" presName="negativeSpace" presStyleCnt="0"/>
      <dgm:spPr/>
    </dgm:pt>
    <dgm:pt modelId="{E1993BD4-3F78-4CF2-BE3A-3BFCD33180E7}" type="pres">
      <dgm:prSet presAssocID="{52AD1C59-8115-4D51-8E39-7FDCC5076438}" presName="childText" presStyleLbl="conFgAcc1" presStyleIdx="2" presStyleCnt="3">
        <dgm:presLayoutVars>
          <dgm:bulletEnabled val="1"/>
        </dgm:presLayoutVars>
      </dgm:prSet>
      <dgm:spPr/>
    </dgm:pt>
  </dgm:ptLst>
  <dgm:cxnLst>
    <dgm:cxn modelId="{7AB76A18-3F0B-4B10-8DE0-37FD4F30BECD}" type="presOf" srcId="{32DBC353-0BE3-4902-B95C-4919BACD30BC}" destId="{94E9CD55-1F66-4C85-B2E0-87E8C2AB8571}" srcOrd="1" destOrd="0" presId="urn:microsoft.com/office/officeart/2005/8/layout/list1"/>
    <dgm:cxn modelId="{3E10405B-D070-4DEC-88C0-95210C66F5F2}" srcId="{C23D8A6F-3A4B-4348-A2BA-B61A86EEA1AA}" destId="{52AD1C59-8115-4D51-8E39-7FDCC5076438}" srcOrd="2" destOrd="0" parTransId="{7D056473-EDD2-41E2-8495-8D1F4BF9D804}" sibTransId="{CEA1BB97-31AB-4B12-AC27-88E7ADADF2E3}"/>
    <dgm:cxn modelId="{A782AE5C-5FB9-4F58-BE19-6461309DCC5D}" type="presOf" srcId="{9A27441B-8268-4651-8282-D85CE1FA907E}" destId="{8CBEB6B3-EC1F-43F4-AACD-00CA1D2B8BE3}" srcOrd="1" destOrd="0" presId="urn:microsoft.com/office/officeart/2005/8/layout/list1"/>
    <dgm:cxn modelId="{8851E75F-D462-4F75-8B36-08710285FD9A}" type="presOf" srcId="{C23D8A6F-3A4B-4348-A2BA-B61A86EEA1AA}" destId="{BB7B3CA3-17EE-4AAE-8669-125959876F28}" srcOrd="0" destOrd="0" presId="urn:microsoft.com/office/officeart/2005/8/layout/list1"/>
    <dgm:cxn modelId="{C1AC6566-AB05-42FC-BA48-AEA6AE1BB82B}" type="presOf" srcId="{9A27441B-8268-4651-8282-D85CE1FA907E}" destId="{94947C6D-B038-4BE5-A7CA-5BC7B1D2AAB5}" srcOrd="0" destOrd="0" presId="urn:microsoft.com/office/officeart/2005/8/layout/list1"/>
    <dgm:cxn modelId="{6023C94C-7398-4A99-A9E1-2462622573B4}" type="presOf" srcId="{32DBC353-0BE3-4902-B95C-4919BACD30BC}" destId="{7472298A-9479-4DE3-B874-22C77C4A41A3}" srcOrd="0" destOrd="0" presId="urn:microsoft.com/office/officeart/2005/8/layout/list1"/>
    <dgm:cxn modelId="{20739D9C-34D2-486C-908F-7D4A7FB2004B}" type="presOf" srcId="{52AD1C59-8115-4D51-8E39-7FDCC5076438}" destId="{5171EF55-A346-4EEB-8812-6FC5738BB45B}" srcOrd="1" destOrd="0" presId="urn:microsoft.com/office/officeart/2005/8/layout/list1"/>
    <dgm:cxn modelId="{C890C4B2-98DC-4C85-BD36-6499DE6C5831}" type="presOf" srcId="{52AD1C59-8115-4D51-8E39-7FDCC5076438}" destId="{CF0BE513-CE2C-4B73-953D-34E6CE975BAD}" srcOrd="0" destOrd="0" presId="urn:microsoft.com/office/officeart/2005/8/layout/list1"/>
    <dgm:cxn modelId="{07AE63DD-C600-4470-B814-F2132D2BDBA4}" srcId="{C23D8A6F-3A4B-4348-A2BA-B61A86EEA1AA}" destId="{9A27441B-8268-4651-8282-D85CE1FA907E}" srcOrd="0" destOrd="0" parTransId="{78C5616D-53F0-4869-9FD0-14A94F761295}" sibTransId="{13BB6554-F867-405F-88FA-DFEE3B837DB3}"/>
    <dgm:cxn modelId="{93440BF8-9006-4662-99B2-D715CDBE27D5}" srcId="{C23D8A6F-3A4B-4348-A2BA-B61A86EEA1AA}" destId="{32DBC353-0BE3-4902-B95C-4919BACD30BC}" srcOrd="1" destOrd="0" parTransId="{B71DD494-94D7-4D03-8F7F-D8E0CA6BBF6B}" sibTransId="{DCBA7C75-CF34-47BE-B4AC-7CEB6FA6F5FD}"/>
    <dgm:cxn modelId="{DC5E6B94-B195-4EA7-ADEF-48317923BEF5}" type="presParOf" srcId="{BB7B3CA3-17EE-4AAE-8669-125959876F28}" destId="{9E8B8606-6B82-4E82-9BEF-51C88DABA0E9}" srcOrd="0" destOrd="0" presId="urn:microsoft.com/office/officeart/2005/8/layout/list1"/>
    <dgm:cxn modelId="{4F3F44FF-F363-4CC5-94B3-DAAC229450B8}" type="presParOf" srcId="{9E8B8606-6B82-4E82-9BEF-51C88DABA0E9}" destId="{94947C6D-B038-4BE5-A7CA-5BC7B1D2AAB5}" srcOrd="0" destOrd="0" presId="urn:microsoft.com/office/officeart/2005/8/layout/list1"/>
    <dgm:cxn modelId="{107699FF-7120-48BC-80E5-7880A639406F}" type="presParOf" srcId="{9E8B8606-6B82-4E82-9BEF-51C88DABA0E9}" destId="{8CBEB6B3-EC1F-43F4-AACD-00CA1D2B8BE3}" srcOrd="1" destOrd="0" presId="urn:microsoft.com/office/officeart/2005/8/layout/list1"/>
    <dgm:cxn modelId="{8F72C99B-7FCD-4672-BA5A-7159798B79CB}" type="presParOf" srcId="{BB7B3CA3-17EE-4AAE-8669-125959876F28}" destId="{90930B99-0FB7-4ACD-94DD-375153C5C816}" srcOrd="1" destOrd="0" presId="urn:microsoft.com/office/officeart/2005/8/layout/list1"/>
    <dgm:cxn modelId="{6326C915-25ED-42FC-A29F-A43FF8C58143}" type="presParOf" srcId="{BB7B3CA3-17EE-4AAE-8669-125959876F28}" destId="{9747D3BE-FAF1-45BE-A96C-452DA0EED34A}" srcOrd="2" destOrd="0" presId="urn:microsoft.com/office/officeart/2005/8/layout/list1"/>
    <dgm:cxn modelId="{BFC7E2A9-8729-480F-B27F-8C2460810862}" type="presParOf" srcId="{BB7B3CA3-17EE-4AAE-8669-125959876F28}" destId="{EDB2C0FB-D41B-4396-8CE5-35211E2E4A25}" srcOrd="3" destOrd="0" presId="urn:microsoft.com/office/officeart/2005/8/layout/list1"/>
    <dgm:cxn modelId="{B72C6A97-C68B-4CA6-9318-C54AD6B382AF}" type="presParOf" srcId="{BB7B3CA3-17EE-4AAE-8669-125959876F28}" destId="{356479EA-CE73-4C7C-A2F5-F65EE5866EFB}" srcOrd="4" destOrd="0" presId="urn:microsoft.com/office/officeart/2005/8/layout/list1"/>
    <dgm:cxn modelId="{5F167E32-4A76-45E0-8514-176FCE5E3272}" type="presParOf" srcId="{356479EA-CE73-4C7C-A2F5-F65EE5866EFB}" destId="{7472298A-9479-4DE3-B874-22C77C4A41A3}" srcOrd="0" destOrd="0" presId="urn:microsoft.com/office/officeart/2005/8/layout/list1"/>
    <dgm:cxn modelId="{D05DB337-32D5-4659-8D9E-6618F288D7C8}" type="presParOf" srcId="{356479EA-CE73-4C7C-A2F5-F65EE5866EFB}" destId="{94E9CD55-1F66-4C85-B2E0-87E8C2AB8571}" srcOrd="1" destOrd="0" presId="urn:microsoft.com/office/officeart/2005/8/layout/list1"/>
    <dgm:cxn modelId="{9E4DEB8E-9754-4938-A5F8-3E362EC48638}" type="presParOf" srcId="{BB7B3CA3-17EE-4AAE-8669-125959876F28}" destId="{CD3EA5A7-4F7A-406F-A6A9-780D60779C79}" srcOrd="5" destOrd="0" presId="urn:microsoft.com/office/officeart/2005/8/layout/list1"/>
    <dgm:cxn modelId="{0413D552-3281-4DBC-B8DA-DE10C6C6E6E2}" type="presParOf" srcId="{BB7B3CA3-17EE-4AAE-8669-125959876F28}" destId="{BEB971BD-F855-4A46-9265-5F062F04621B}" srcOrd="6" destOrd="0" presId="urn:microsoft.com/office/officeart/2005/8/layout/list1"/>
    <dgm:cxn modelId="{CE9C831C-9FE8-4538-8251-A5F14B0BB851}" type="presParOf" srcId="{BB7B3CA3-17EE-4AAE-8669-125959876F28}" destId="{79F7C810-454E-4A6E-A275-9472825031B2}" srcOrd="7" destOrd="0" presId="urn:microsoft.com/office/officeart/2005/8/layout/list1"/>
    <dgm:cxn modelId="{E1B047E3-01D8-4244-8715-084935C39FA7}" type="presParOf" srcId="{BB7B3CA3-17EE-4AAE-8669-125959876F28}" destId="{690373AB-984C-4B4C-A481-3ED1CC82075B}" srcOrd="8" destOrd="0" presId="urn:microsoft.com/office/officeart/2005/8/layout/list1"/>
    <dgm:cxn modelId="{E5004B2D-29A6-4287-B334-12E91BE2CE72}" type="presParOf" srcId="{690373AB-984C-4B4C-A481-3ED1CC82075B}" destId="{CF0BE513-CE2C-4B73-953D-34E6CE975BAD}" srcOrd="0" destOrd="0" presId="urn:microsoft.com/office/officeart/2005/8/layout/list1"/>
    <dgm:cxn modelId="{5F2859ED-441C-45A4-AC36-68B79F1E82F0}" type="presParOf" srcId="{690373AB-984C-4B4C-A481-3ED1CC82075B}" destId="{5171EF55-A346-4EEB-8812-6FC5738BB45B}" srcOrd="1" destOrd="0" presId="urn:microsoft.com/office/officeart/2005/8/layout/list1"/>
    <dgm:cxn modelId="{6715F469-C404-4693-839C-2F20799A9070}" type="presParOf" srcId="{BB7B3CA3-17EE-4AAE-8669-125959876F28}" destId="{0AE6E444-C3FA-4D84-86C8-5BF5314160FA}" srcOrd="9" destOrd="0" presId="urn:microsoft.com/office/officeart/2005/8/layout/list1"/>
    <dgm:cxn modelId="{AEC1AB44-9920-4B6C-89F0-FC6E948D549C}" type="presParOf" srcId="{BB7B3CA3-17EE-4AAE-8669-125959876F28}" destId="{E1993BD4-3F78-4CF2-BE3A-3BFCD33180E7}"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47D3BE-FAF1-45BE-A96C-452DA0EED34A}">
      <dsp:nvSpPr>
        <dsp:cNvPr id="0" name=""/>
        <dsp:cNvSpPr/>
      </dsp:nvSpPr>
      <dsp:spPr>
        <a:xfrm>
          <a:off x="0" y="484497"/>
          <a:ext cx="8724958" cy="756000"/>
        </a:xfrm>
        <a:prstGeom prst="rect">
          <a:avLst/>
        </a:prstGeom>
        <a:solidFill>
          <a:schemeClr val="dk1">
            <a:alpha val="90000"/>
            <a:tint val="40000"/>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CBEB6B3-EC1F-43F4-AACD-00CA1D2B8BE3}">
      <dsp:nvSpPr>
        <dsp:cNvPr id="0" name=""/>
        <dsp:cNvSpPr/>
      </dsp:nvSpPr>
      <dsp:spPr>
        <a:xfrm>
          <a:off x="436247" y="41697"/>
          <a:ext cx="7288227" cy="885600"/>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30848" tIns="0" rIns="230848" bIns="0" numCol="1" spcCol="1270" anchor="ctr" anchorCtr="0">
          <a:noAutofit/>
        </a:bodyPr>
        <a:lstStyle/>
        <a:p>
          <a:pPr marL="0" lvl="0" indent="0" algn="l" defTabSz="1066800">
            <a:lnSpc>
              <a:spcPct val="90000"/>
            </a:lnSpc>
            <a:spcBef>
              <a:spcPct val="0"/>
            </a:spcBef>
            <a:spcAft>
              <a:spcPct val="35000"/>
            </a:spcAft>
            <a:buNone/>
          </a:pPr>
          <a:r>
            <a:rPr lang="es-CO" sz="2400" b="1" kern="1200" dirty="0"/>
            <a:t>Arreglos unidimensionales (VECTORES)</a:t>
          </a:r>
        </a:p>
      </dsp:txBody>
      <dsp:txXfrm>
        <a:off x="479478" y="84928"/>
        <a:ext cx="7201765" cy="799138"/>
      </dsp:txXfrm>
    </dsp:sp>
    <dsp:sp modelId="{BEB971BD-F855-4A46-9265-5F062F04621B}">
      <dsp:nvSpPr>
        <dsp:cNvPr id="0" name=""/>
        <dsp:cNvSpPr/>
      </dsp:nvSpPr>
      <dsp:spPr>
        <a:xfrm>
          <a:off x="0" y="1845297"/>
          <a:ext cx="8724958" cy="756000"/>
        </a:xfrm>
        <a:prstGeom prst="rect">
          <a:avLst/>
        </a:prstGeom>
        <a:solidFill>
          <a:schemeClr val="dk1">
            <a:alpha val="90000"/>
            <a:tint val="40000"/>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4E9CD55-1F66-4C85-B2E0-87E8C2AB8571}">
      <dsp:nvSpPr>
        <dsp:cNvPr id="0" name=""/>
        <dsp:cNvSpPr/>
      </dsp:nvSpPr>
      <dsp:spPr>
        <a:xfrm>
          <a:off x="436247" y="1402497"/>
          <a:ext cx="6107470" cy="885600"/>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30848" tIns="0" rIns="230848" bIns="0" numCol="1" spcCol="1270" anchor="ctr" anchorCtr="0">
          <a:noAutofit/>
        </a:bodyPr>
        <a:lstStyle/>
        <a:p>
          <a:pPr marL="0" lvl="0" indent="0" algn="l" defTabSz="1066800">
            <a:lnSpc>
              <a:spcPct val="90000"/>
            </a:lnSpc>
            <a:spcBef>
              <a:spcPct val="0"/>
            </a:spcBef>
            <a:spcAft>
              <a:spcPct val="35000"/>
            </a:spcAft>
            <a:buNone/>
          </a:pPr>
          <a:r>
            <a:rPr lang="es-CO" sz="2400" b="1" kern="1200" dirty="0"/>
            <a:t>Arreglo Bidimensionales (MATRICES)</a:t>
          </a:r>
        </a:p>
      </dsp:txBody>
      <dsp:txXfrm>
        <a:off x="479478" y="1445728"/>
        <a:ext cx="6021008" cy="799138"/>
      </dsp:txXfrm>
    </dsp:sp>
    <dsp:sp modelId="{E1993BD4-3F78-4CF2-BE3A-3BFCD33180E7}">
      <dsp:nvSpPr>
        <dsp:cNvPr id="0" name=""/>
        <dsp:cNvSpPr/>
      </dsp:nvSpPr>
      <dsp:spPr>
        <a:xfrm>
          <a:off x="0" y="3206097"/>
          <a:ext cx="8724958" cy="756000"/>
        </a:xfrm>
        <a:prstGeom prst="rect">
          <a:avLst/>
        </a:prstGeom>
        <a:solidFill>
          <a:schemeClr val="dk1">
            <a:alpha val="90000"/>
            <a:tint val="40000"/>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171EF55-A346-4EEB-8812-6FC5738BB45B}">
      <dsp:nvSpPr>
        <dsp:cNvPr id="0" name=""/>
        <dsp:cNvSpPr/>
      </dsp:nvSpPr>
      <dsp:spPr>
        <a:xfrm>
          <a:off x="436247" y="2763297"/>
          <a:ext cx="6107470" cy="885600"/>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30848" tIns="0" rIns="230848" bIns="0" numCol="1" spcCol="1270" anchor="ctr" anchorCtr="0">
          <a:noAutofit/>
        </a:bodyPr>
        <a:lstStyle/>
        <a:p>
          <a:pPr marL="0" lvl="0" indent="0" algn="l" defTabSz="1066800">
            <a:lnSpc>
              <a:spcPct val="90000"/>
            </a:lnSpc>
            <a:spcBef>
              <a:spcPct val="0"/>
            </a:spcBef>
            <a:spcAft>
              <a:spcPct val="35000"/>
            </a:spcAft>
            <a:buNone/>
          </a:pPr>
          <a:r>
            <a:rPr lang="es-CO" sz="2400" b="1" kern="1200" dirty="0"/>
            <a:t>Arreglo multidimensional (MATRICES 3D)</a:t>
          </a:r>
        </a:p>
      </dsp:txBody>
      <dsp:txXfrm>
        <a:off x="479478" y="2806528"/>
        <a:ext cx="6021008" cy="799138"/>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33B264-95C8-4153-8828-8C36D1236E7F}" type="datetimeFigureOut">
              <a:rPr lang="es-CO" smtClean="0"/>
              <a:t>18/08/2022</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BFF732-773A-4839-B774-230B46601DA8}" type="slidenum">
              <a:rPr lang="es-CO" smtClean="0"/>
              <a:t>‹Nº›</a:t>
            </a:fld>
            <a:endParaRPr lang="es-CO"/>
          </a:p>
        </p:txBody>
      </p:sp>
    </p:spTree>
    <p:extLst>
      <p:ext uri="{BB962C8B-B14F-4D97-AF65-F5344CB8AC3E}">
        <p14:creationId xmlns:p14="http://schemas.microsoft.com/office/powerpoint/2010/main" val="4816006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EBFF732-773A-4839-B774-230B46601DA8}" type="slidenum">
              <a:rPr lang="es-CO" smtClean="0"/>
              <a:t>4</a:t>
            </a:fld>
            <a:endParaRPr lang="es-CO"/>
          </a:p>
        </p:txBody>
      </p:sp>
    </p:spTree>
    <p:extLst>
      <p:ext uri="{BB962C8B-B14F-4D97-AF65-F5344CB8AC3E}">
        <p14:creationId xmlns:p14="http://schemas.microsoft.com/office/powerpoint/2010/main" val="16851332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O" sz="1200" b="1" kern="1200" dirty="0">
                <a:solidFill>
                  <a:schemeClr val="tx1"/>
                </a:solidFill>
                <a:effectLst/>
                <a:latin typeface="+mn-lt"/>
                <a:ea typeface="+mn-ea"/>
                <a:cs typeface="+mn-cs"/>
              </a:rPr>
              <a:t>/*CÓDIGO FUENTE*/</a:t>
            </a:r>
          </a:p>
          <a:p>
            <a:r>
              <a:rPr lang="es-CO" sz="1200" b="0" kern="1200" dirty="0">
                <a:solidFill>
                  <a:schemeClr val="tx1"/>
                </a:solidFill>
                <a:effectLst/>
                <a:latin typeface="+mn-lt"/>
                <a:ea typeface="+mn-ea"/>
                <a:cs typeface="+mn-cs"/>
              </a:rPr>
              <a:t>/*Crear e imprimir 3 arreglos enteros de dimensión 6. </a:t>
            </a:r>
          </a:p>
          <a:p>
            <a:r>
              <a:rPr lang="es-CO" sz="1200" b="0" kern="1200" dirty="0">
                <a:solidFill>
                  <a:schemeClr val="tx1"/>
                </a:solidFill>
                <a:effectLst/>
                <a:latin typeface="+mn-lt"/>
                <a:ea typeface="+mn-ea"/>
                <a:cs typeface="+mn-cs"/>
              </a:rPr>
              <a:t>  Dimensionar el vector A, llenar el vector B con números aleatorios </a:t>
            </a:r>
          </a:p>
          <a:p>
            <a:r>
              <a:rPr lang="es-CO" sz="1200" b="0" kern="1200" dirty="0">
                <a:solidFill>
                  <a:schemeClr val="tx1"/>
                </a:solidFill>
                <a:effectLst/>
                <a:latin typeface="+mn-lt"/>
                <a:ea typeface="+mn-ea"/>
                <a:cs typeface="+mn-cs"/>
              </a:rPr>
              <a:t>  entre 1 y 50 y leer la información del vector C. */</a:t>
            </a:r>
          </a:p>
          <a:p>
            <a:r>
              <a:rPr lang="es-CO" sz="1200" b="0" kern="1200" dirty="0">
                <a:solidFill>
                  <a:schemeClr val="tx1"/>
                </a:solidFill>
                <a:effectLst/>
                <a:latin typeface="+mn-lt"/>
                <a:ea typeface="+mn-ea"/>
                <a:cs typeface="+mn-cs"/>
              </a:rPr>
              <a:t>#</a:t>
            </a:r>
            <a:r>
              <a:rPr lang="es-CO" sz="1200" b="0" kern="1200" dirty="0" err="1">
                <a:solidFill>
                  <a:schemeClr val="tx1"/>
                </a:solidFill>
                <a:effectLst/>
                <a:latin typeface="+mn-lt"/>
                <a:ea typeface="+mn-ea"/>
                <a:cs typeface="+mn-cs"/>
              </a:rPr>
              <a:t>include</a:t>
            </a:r>
            <a:r>
              <a:rPr lang="es-CO" sz="1200" b="0" kern="1200" dirty="0">
                <a:solidFill>
                  <a:schemeClr val="tx1"/>
                </a:solidFill>
                <a:effectLst/>
                <a:latin typeface="+mn-lt"/>
                <a:ea typeface="+mn-ea"/>
                <a:cs typeface="+mn-cs"/>
              </a:rPr>
              <a:t> &lt;iostream&gt;</a:t>
            </a:r>
          </a:p>
          <a:p>
            <a:r>
              <a:rPr lang="es-CO" sz="1200" b="0" kern="1200" dirty="0">
                <a:solidFill>
                  <a:schemeClr val="tx1"/>
                </a:solidFill>
                <a:effectLst/>
                <a:latin typeface="+mn-lt"/>
                <a:ea typeface="+mn-ea"/>
                <a:cs typeface="+mn-cs"/>
              </a:rPr>
              <a:t>#</a:t>
            </a:r>
            <a:r>
              <a:rPr lang="es-CO" sz="1200" b="0" kern="1200" dirty="0" err="1">
                <a:solidFill>
                  <a:schemeClr val="tx1"/>
                </a:solidFill>
                <a:effectLst/>
                <a:latin typeface="+mn-lt"/>
                <a:ea typeface="+mn-ea"/>
                <a:cs typeface="+mn-cs"/>
              </a:rPr>
              <a:t>include</a:t>
            </a:r>
            <a:r>
              <a:rPr lang="es-CO" sz="1200" b="0" kern="1200" dirty="0">
                <a:solidFill>
                  <a:schemeClr val="tx1"/>
                </a:solidFill>
                <a:effectLst/>
                <a:latin typeface="+mn-lt"/>
                <a:ea typeface="+mn-ea"/>
                <a:cs typeface="+mn-cs"/>
              </a:rPr>
              <a:t> &lt;</a:t>
            </a:r>
            <a:r>
              <a:rPr lang="es-CO" sz="1200" b="0" kern="1200" dirty="0" err="1">
                <a:solidFill>
                  <a:schemeClr val="tx1"/>
                </a:solidFill>
                <a:effectLst/>
                <a:latin typeface="+mn-lt"/>
                <a:ea typeface="+mn-ea"/>
                <a:cs typeface="+mn-cs"/>
              </a:rPr>
              <a:t>ctime</a:t>
            </a:r>
            <a:r>
              <a:rPr lang="es-CO" sz="1200" b="0" kern="1200" dirty="0">
                <a:solidFill>
                  <a:schemeClr val="tx1"/>
                </a:solidFill>
                <a:effectLst/>
                <a:latin typeface="+mn-lt"/>
                <a:ea typeface="+mn-ea"/>
                <a:cs typeface="+mn-cs"/>
              </a:rPr>
              <a:t>&gt;</a:t>
            </a:r>
          </a:p>
          <a:p>
            <a:r>
              <a:rPr lang="es-CO" sz="1200" b="0" kern="1200" dirty="0">
                <a:solidFill>
                  <a:schemeClr val="tx1"/>
                </a:solidFill>
                <a:effectLst/>
                <a:latin typeface="+mn-lt"/>
                <a:ea typeface="+mn-ea"/>
                <a:cs typeface="+mn-cs"/>
              </a:rPr>
              <a:t>#</a:t>
            </a:r>
            <a:r>
              <a:rPr lang="es-CO" sz="1200" b="0" kern="1200" dirty="0" err="1">
                <a:solidFill>
                  <a:schemeClr val="tx1"/>
                </a:solidFill>
                <a:effectLst/>
                <a:latin typeface="+mn-lt"/>
                <a:ea typeface="+mn-ea"/>
                <a:cs typeface="+mn-cs"/>
              </a:rPr>
              <a:t>include</a:t>
            </a:r>
            <a:r>
              <a:rPr lang="es-CO" sz="1200" b="0" kern="1200" dirty="0">
                <a:solidFill>
                  <a:schemeClr val="tx1"/>
                </a:solidFill>
                <a:effectLst/>
                <a:latin typeface="+mn-lt"/>
                <a:ea typeface="+mn-ea"/>
                <a:cs typeface="+mn-cs"/>
              </a:rPr>
              <a:t> &lt;</a:t>
            </a:r>
            <a:r>
              <a:rPr lang="es-CO" sz="1200" b="0" kern="1200" dirty="0" err="1">
                <a:solidFill>
                  <a:schemeClr val="tx1"/>
                </a:solidFill>
                <a:effectLst/>
                <a:latin typeface="+mn-lt"/>
                <a:ea typeface="+mn-ea"/>
                <a:cs typeface="+mn-cs"/>
              </a:rPr>
              <a:t>cstdlib</a:t>
            </a:r>
            <a:r>
              <a:rPr lang="es-CO" sz="1200" b="0" kern="1200" dirty="0">
                <a:solidFill>
                  <a:schemeClr val="tx1"/>
                </a:solidFill>
                <a:effectLst/>
                <a:latin typeface="+mn-lt"/>
                <a:ea typeface="+mn-ea"/>
                <a:cs typeface="+mn-cs"/>
              </a:rPr>
              <a:t>&gt;</a:t>
            </a:r>
          </a:p>
          <a:p>
            <a:r>
              <a:rPr lang="es-CO" sz="1200" b="0" kern="1200" dirty="0" err="1">
                <a:solidFill>
                  <a:schemeClr val="tx1"/>
                </a:solidFill>
                <a:effectLst/>
                <a:latin typeface="+mn-lt"/>
                <a:ea typeface="+mn-ea"/>
                <a:cs typeface="+mn-cs"/>
              </a:rPr>
              <a:t>using</a:t>
            </a:r>
            <a:r>
              <a:rPr lang="es-CO" sz="1200" b="0" kern="1200" dirty="0">
                <a:solidFill>
                  <a:schemeClr val="tx1"/>
                </a:solidFill>
                <a:effectLst/>
                <a:latin typeface="+mn-lt"/>
                <a:ea typeface="+mn-ea"/>
                <a:cs typeface="+mn-cs"/>
              </a:rPr>
              <a:t> namespace </a:t>
            </a:r>
            <a:r>
              <a:rPr lang="es-CO" sz="1200" b="0" kern="1200" dirty="0" err="1">
                <a:solidFill>
                  <a:schemeClr val="tx1"/>
                </a:solidFill>
                <a:effectLst/>
                <a:latin typeface="+mn-lt"/>
                <a:ea typeface="+mn-ea"/>
                <a:cs typeface="+mn-cs"/>
              </a:rPr>
              <a:t>std</a:t>
            </a:r>
            <a:r>
              <a:rPr lang="es-CO" sz="1200" b="0" kern="1200" dirty="0">
                <a:solidFill>
                  <a:schemeClr val="tx1"/>
                </a:solidFill>
                <a:effectLst/>
                <a:latin typeface="+mn-lt"/>
                <a:ea typeface="+mn-ea"/>
                <a:cs typeface="+mn-cs"/>
              </a:rPr>
              <a:t>;</a:t>
            </a:r>
          </a:p>
          <a:p>
            <a:endParaRPr lang="es-CO" sz="1200" b="0" kern="1200" dirty="0">
              <a:solidFill>
                <a:schemeClr val="tx1"/>
              </a:solidFill>
              <a:effectLst/>
              <a:latin typeface="+mn-lt"/>
              <a:ea typeface="+mn-ea"/>
              <a:cs typeface="+mn-cs"/>
            </a:endParaRPr>
          </a:p>
          <a:p>
            <a:r>
              <a:rPr lang="es-CO" sz="1200" b="0" kern="1200" dirty="0">
                <a:solidFill>
                  <a:schemeClr val="tx1"/>
                </a:solidFill>
                <a:effectLst/>
                <a:latin typeface="+mn-lt"/>
                <a:ea typeface="+mn-ea"/>
                <a:cs typeface="+mn-cs"/>
              </a:rPr>
              <a:t>int </a:t>
            </a:r>
            <a:r>
              <a:rPr lang="es-CO" sz="1200" b="0" kern="1200" dirty="0" err="1">
                <a:solidFill>
                  <a:schemeClr val="tx1"/>
                </a:solidFill>
                <a:effectLst/>
                <a:latin typeface="+mn-lt"/>
                <a:ea typeface="+mn-ea"/>
                <a:cs typeface="+mn-cs"/>
              </a:rPr>
              <a:t>main</a:t>
            </a:r>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srand</a:t>
            </a:r>
            <a:r>
              <a:rPr lang="es-CO" sz="1200" b="0" kern="1200" dirty="0">
                <a:solidFill>
                  <a:schemeClr val="tx1"/>
                </a:solidFill>
                <a:effectLst/>
                <a:latin typeface="+mn-lt"/>
                <a:ea typeface="+mn-ea"/>
                <a:cs typeface="+mn-cs"/>
              </a:rPr>
              <a:t>(time(NULL));</a:t>
            </a:r>
          </a:p>
          <a:p>
            <a:r>
              <a:rPr lang="es-CO" sz="1200" b="0" kern="1200" dirty="0">
                <a:solidFill>
                  <a:schemeClr val="tx1"/>
                </a:solidFill>
                <a:effectLst/>
                <a:latin typeface="+mn-lt"/>
                <a:ea typeface="+mn-ea"/>
                <a:cs typeface="+mn-cs"/>
              </a:rPr>
              <a:t>	int A[6], B[6], C[6], i; //Definir arreglos A, B y C  </a:t>
            </a:r>
          </a:p>
          <a:p>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for (i=0; i&lt;6; i++)</a:t>
            </a:r>
          </a:p>
          <a:p>
            <a:r>
              <a:rPr lang="es-CO" sz="1200" b="0" kern="1200" dirty="0">
                <a:solidFill>
                  <a:schemeClr val="tx1"/>
                </a:solidFill>
                <a:effectLst/>
                <a:latin typeface="+mn-lt"/>
                <a:ea typeface="+mn-ea"/>
                <a:cs typeface="+mn-cs"/>
              </a:rPr>
              <a:t>	  B[i] = 1 + rand()%50; 	//Llenar vector B con # aleatorios entre 1 y 50.		</a:t>
            </a:r>
          </a:p>
          <a:p>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for (i=0; i&lt;6; i++){ </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 &lt;&lt; "Introduzca vector C[" &lt;&lt; i &lt;&lt; "]: ";</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cin</a:t>
            </a:r>
            <a:r>
              <a:rPr lang="es-CO" sz="1200" b="0" kern="1200" dirty="0">
                <a:solidFill>
                  <a:schemeClr val="tx1"/>
                </a:solidFill>
                <a:effectLst/>
                <a:latin typeface="+mn-lt"/>
                <a:ea typeface="+mn-ea"/>
                <a:cs typeface="+mn-cs"/>
              </a:rPr>
              <a:t> &gt;&gt; C[i]; 				//Leer información del vector C</a:t>
            </a:r>
          </a:p>
          <a:p>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 &lt;&lt; "\</a:t>
            </a:r>
            <a:r>
              <a:rPr lang="es-CO" sz="1200" b="0" kern="1200" dirty="0" err="1">
                <a:solidFill>
                  <a:schemeClr val="tx1"/>
                </a:solidFill>
                <a:effectLst/>
                <a:latin typeface="+mn-lt"/>
                <a:ea typeface="+mn-ea"/>
                <a:cs typeface="+mn-cs"/>
              </a:rPr>
              <a:t>nVECTOR</a:t>
            </a:r>
            <a:r>
              <a:rPr lang="es-CO" sz="1200" b="0" kern="1200" dirty="0">
                <a:solidFill>
                  <a:schemeClr val="tx1"/>
                </a:solidFill>
                <a:effectLst/>
                <a:latin typeface="+mn-lt"/>
                <a:ea typeface="+mn-ea"/>
                <a:cs typeface="+mn-cs"/>
              </a:rPr>
              <a:t> A: " &lt;&lt; </a:t>
            </a:r>
            <a:r>
              <a:rPr lang="es-CO" sz="1200" b="0" kern="1200" dirty="0" err="1">
                <a:solidFill>
                  <a:schemeClr val="tx1"/>
                </a:solidFill>
                <a:effectLst/>
                <a:latin typeface="+mn-lt"/>
                <a:ea typeface="+mn-ea"/>
                <a:cs typeface="+mn-cs"/>
              </a:rPr>
              <a:t>endl</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for (i=0; i&lt;6; i++) </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 &lt;&lt; A[i] &lt;&lt; " ";   //Imprimir Vector A Horizontal  </a:t>
            </a:r>
          </a:p>
          <a:p>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 &lt;&lt; "\n\</a:t>
            </a:r>
            <a:r>
              <a:rPr lang="es-CO" sz="1200" b="0" kern="1200" dirty="0" err="1">
                <a:solidFill>
                  <a:schemeClr val="tx1"/>
                </a:solidFill>
                <a:effectLst/>
                <a:latin typeface="+mn-lt"/>
                <a:ea typeface="+mn-ea"/>
                <a:cs typeface="+mn-cs"/>
              </a:rPr>
              <a:t>nVECTOR</a:t>
            </a:r>
            <a:r>
              <a:rPr lang="es-CO" sz="1200" b="0" kern="1200" dirty="0">
                <a:solidFill>
                  <a:schemeClr val="tx1"/>
                </a:solidFill>
                <a:effectLst/>
                <a:latin typeface="+mn-lt"/>
                <a:ea typeface="+mn-ea"/>
                <a:cs typeface="+mn-cs"/>
              </a:rPr>
              <a:t> B: " &lt;&lt; </a:t>
            </a:r>
            <a:r>
              <a:rPr lang="es-CO" sz="1200" b="0" kern="1200" dirty="0" err="1">
                <a:solidFill>
                  <a:schemeClr val="tx1"/>
                </a:solidFill>
                <a:effectLst/>
                <a:latin typeface="+mn-lt"/>
                <a:ea typeface="+mn-ea"/>
                <a:cs typeface="+mn-cs"/>
              </a:rPr>
              <a:t>endl</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for (i=0; i&lt;6; i++)</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 &lt;&lt; B[i] &lt;&lt; " ";   //Imprimir Vector B Horizontal</a:t>
            </a:r>
          </a:p>
          <a:p>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 &lt;&lt; "\n\</a:t>
            </a:r>
            <a:r>
              <a:rPr lang="es-CO" sz="1200" b="0" kern="1200" dirty="0" err="1">
                <a:solidFill>
                  <a:schemeClr val="tx1"/>
                </a:solidFill>
                <a:effectLst/>
                <a:latin typeface="+mn-lt"/>
                <a:ea typeface="+mn-ea"/>
                <a:cs typeface="+mn-cs"/>
              </a:rPr>
              <a:t>nVECTOR</a:t>
            </a:r>
            <a:r>
              <a:rPr lang="es-CO" sz="1200" b="0" kern="1200" dirty="0">
                <a:solidFill>
                  <a:schemeClr val="tx1"/>
                </a:solidFill>
                <a:effectLst/>
                <a:latin typeface="+mn-lt"/>
                <a:ea typeface="+mn-ea"/>
                <a:cs typeface="+mn-cs"/>
              </a:rPr>
              <a:t> C: " &lt;&lt; </a:t>
            </a:r>
            <a:r>
              <a:rPr lang="es-CO" sz="1200" b="0" kern="1200" dirty="0" err="1">
                <a:solidFill>
                  <a:schemeClr val="tx1"/>
                </a:solidFill>
                <a:effectLst/>
                <a:latin typeface="+mn-lt"/>
                <a:ea typeface="+mn-ea"/>
                <a:cs typeface="+mn-cs"/>
              </a:rPr>
              <a:t>endl</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for (i=0; i&lt;6; i++)	  </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 &lt;&lt; "C[" &lt;&lt; i &lt;&lt; "]=" &lt;&lt; C[i] &lt;&lt; </a:t>
            </a:r>
            <a:r>
              <a:rPr lang="es-CO" sz="1200" b="0" kern="1200" dirty="0" err="1">
                <a:solidFill>
                  <a:schemeClr val="tx1"/>
                </a:solidFill>
                <a:effectLst/>
                <a:latin typeface="+mn-lt"/>
                <a:ea typeface="+mn-ea"/>
                <a:cs typeface="+mn-cs"/>
              </a:rPr>
              <a:t>endl</a:t>
            </a:r>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//Imprimir Vector C Vertical y con posiciones</a:t>
            </a:r>
          </a:p>
          <a:p>
            <a:r>
              <a:rPr lang="es-CO" sz="1200" b="0" kern="1200" dirty="0">
                <a:solidFill>
                  <a:schemeClr val="tx1"/>
                </a:solidFill>
                <a:effectLst/>
                <a:latin typeface="+mn-lt"/>
                <a:ea typeface="+mn-ea"/>
                <a:cs typeface="+mn-cs"/>
              </a:rPr>
              <a:t>}</a:t>
            </a:r>
            <a:endParaRPr lang="es-CO" dirty="0"/>
          </a:p>
        </p:txBody>
      </p:sp>
      <p:sp>
        <p:nvSpPr>
          <p:cNvPr id="4" name="Marcador de número de diapositiva 3"/>
          <p:cNvSpPr>
            <a:spLocks noGrp="1"/>
          </p:cNvSpPr>
          <p:nvPr>
            <p:ph type="sldNum" sz="quarter" idx="5"/>
          </p:nvPr>
        </p:nvSpPr>
        <p:spPr/>
        <p:txBody>
          <a:bodyPr/>
          <a:lstStyle/>
          <a:p>
            <a:fld id="{6EBFF732-773A-4839-B774-230B46601DA8}" type="slidenum">
              <a:rPr lang="es-CO" smtClean="0"/>
              <a:t>17</a:t>
            </a:fld>
            <a:endParaRPr lang="es-CO"/>
          </a:p>
        </p:txBody>
      </p:sp>
    </p:spTree>
    <p:extLst>
      <p:ext uri="{BB962C8B-B14F-4D97-AF65-F5344CB8AC3E}">
        <p14:creationId xmlns:p14="http://schemas.microsoft.com/office/powerpoint/2010/main" val="14337724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O" sz="1200" b="1" kern="1200" dirty="0">
                <a:solidFill>
                  <a:schemeClr val="tx1"/>
                </a:solidFill>
                <a:effectLst/>
                <a:latin typeface="+mn-lt"/>
                <a:ea typeface="+mn-ea"/>
                <a:cs typeface="+mn-cs"/>
              </a:rPr>
              <a:t>/*CÓDIGO FUENTE*/</a:t>
            </a:r>
          </a:p>
          <a:p>
            <a:r>
              <a:rPr lang="es-CO" sz="1200" b="0" kern="1200" dirty="0">
                <a:solidFill>
                  <a:schemeClr val="tx1"/>
                </a:solidFill>
                <a:effectLst/>
                <a:latin typeface="+mn-lt"/>
                <a:ea typeface="+mn-ea"/>
                <a:cs typeface="+mn-cs"/>
              </a:rPr>
              <a:t>/*Crear e imprimir 4 arreglos de dimensión 6. Definir el vector A de tipo </a:t>
            </a:r>
            <a:r>
              <a:rPr lang="es-CO" sz="1200" b="0" kern="1200" dirty="0" err="1">
                <a:solidFill>
                  <a:schemeClr val="tx1"/>
                </a:solidFill>
                <a:effectLst/>
                <a:latin typeface="+mn-lt"/>
                <a:ea typeface="+mn-ea"/>
                <a:cs typeface="+mn-cs"/>
              </a:rPr>
              <a:t>bool</a:t>
            </a:r>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inicializar el vector B con 0, inicializar el vector C con {8,20,5} e </a:t>
            </a:r>
          </a:p>
          <a:p>
            <a:r>
              <a:rPr lang="es-CO" sz="1200" b="0" kern="1200" dirty="0">
                <a:solidFill>
                  <a:schemeClr val="tx1"/>
                </a:solidFill>
                <a:effectLst/>
                <a:latin typeface="+mn-lt"/>
                <a:ea typeface="+mn-ea"/>
                <a:cs typeface="+mn-cs"/>
              </a:rPr>
              <a:t>  inicializar el vector D con notas.*/</a:t>
            </a:r>
          </a:p>
          <a:p>
            <a:r>
              <a:rPr lang="es-CO" sz="1200" b="0" kern="1200" dirty="0">
                <a:solidFill>
                  <a:schemeClr val="tx1"/>
                </a:solidFill>
                <a:effectLst/>
                <a:latin typeface="+mn-lt"/>
                <a:ea typeface="+mn-ea"/>
                <a:cs typeface="+mn-cs"/>
              </a:rPr>
              <a:t>#</a:t>
            </a:r>
            <a:r>
              <a:rPr lang="es-CO" sz="1200" b="0" kern="1200" dirty="0" err="1">
                <a:solidFill>
                  <a:schemeClr val="tx1"/>
                </a:solidFill>
                <a:effectLst/>
                <a:latin typeface="+mn-lt"/>
                <a:ea typeface="+mn-ea"/>
                <a:cs typeface="+mn-cs"/>
              </a:rPr>
              <a:t>include</a:t>
            </a:r>
            <a:r>
              <a:rPr lang="es-CO" sz="1200" b="0" kern="1200" dirty="0">
                <a:solidFill>
                  <a:schemeClr val="tx1"/>
                </a:solidFill>
                <a:effectLst/>
                <a:latin typeface="+mn-lt"/>
                <a:ea typeface="+mn-ea"/>
                <a:cs typeface="+mn-cs"/>
              </a:rPr>
              <a:t> &lt;</a:t>
            </a:r>
            <a:r>
              <a:rPr lang="es-CO" sz="1200" b="0" kern="1200" dirty="0" err="1">
                <a:solidFill>
                  <a:schemeClr val="tx1"/>
                </a:solidFill>
                <a:effectLst/>
                <a:latin typeface="+mn-lt"/>
                <a:ea typeface="+mn-ea"/>
                <a:cs typeface="+mn-cs"/>
              </a:rPr>
              <a:t>iostream</a:t>
            </a:r>
            <a:r>
              <a:rPr lang="es-CO" sz="1200" b="0" kern="1200" dirty="0">
                <a:solidFill>
                  <a:schemeClr val="tx1"/>
                </a:solidFill>
                <a:effectLst/>
                <a:latin typeface="+mn-lt"/>
                <a:ea typeface="+mn-ea"/>
                <a:cs typeface="+mn-cs"/>
              </a:rPr>
              <a:t>&gt;</a:t>
            </a:r>
          </a:p>
          <a:p>
            <a:r>
              <a:rPr lang="es-CO" sz="1200" b="0" kern="1200" dirty="0">
                <a:solidFill>
                  <a:schemeClr val="tx1"/>
                </a:solidFill>
                <a:effectLst/>
                <a:latin typeface="+mn-lt"/>
                <a:ea typeface="+mn-ea"/>
                <a:cs typeface="+mn-cs"/>
              </a:rPr>
              <a:t>#</a:t>
            </a:r>
            <a:r>
              <a:rPr lang="es-CO" sz="1200" b="0" kern="1200" dirty="0" err="1">
                <a:solidFill>
                  <a:schemeClr val="tx1"/>
                </a:solidFill>
                <a:effectLst/>
                <a:latin typeface="+mn-lt"/>
                <a:ea typeface="+mn-ea"/>
                <a:cs typeface="+mn-cs"/>
              </a:rPr>
              <a:t>include</a:t>
            </a:r>
            <a:r>
              <a:rPr lang="es-CO" sz="1200" b="0" kern="1200" dirty="0">
                <a:solidFill>
                  <a:schemeClr val="tx1"/>
                </a:solidFill>
                <a:effectLst/>
                <a:latin typeface="+mn-lt"/>
                <a:ea typeface="+mn-ea"/>
                <a:cs typeface="+mn-cs"/>
              </a:rPr>
              <a:t> &lt;</a:t>
            </a:r>
            <a:r>
              <a:rPr lang="es-CO" sz="1200" b="0" kern="1200" dirty="0" err="1">
                <a:solidFill>
                  <a:schemeClr val="tx1"/>
                </a:solidFill>
                <a:effectLst/>
                <a:latin typeface="+mn-lt"/>
                <a:ea typeface="+mn-ea"/>
                <a:cs typeface="+mn-cs"/>
              </a:rPr>
              <a:t>ctime</a:t>
            </a:r>
            <a:r>
              <a:rPr lang="es-CO" sz="1200" b="0" kern="1200" dirty="0">
                <a:solidFill>
                  <a:schemeClr val="tx1"/>
                </a:solidFill>
                <a:effectLst/>
                <a:latin typeface="+mn-lt"/>
                <a:ea typeface="+mn-ea"/>
                <a:cs typeface="+mn-cs"/>
              </a:rPr>
              <a:t>&gt;</a:t>
            </a:r>
          </a:p>
          <a:p>
            <a:r>
              <a:rPr lang="es-CO" sz="1200" b="0" kern="1200" dirty="0">
                <a:solidFill>
                  <a:schemeClr val="tx1"/>
                </a:solidFill>
                <a:effectLst/>
                <a:latin typeface="+mn-lt"/>
                <a:ea typeface="+mn-ea"/>
                <a:cs typeface="+mn-cs"/>
              </a:rPr>
              <a:t>#</a:t>
            </a:r>
            <a:r>
              <a:rPr lang="es-CO" sz="1200" b="0" kern="1200" dirty="0" err="1">
                <a:solidFill>
                  <a:schemeClr val="tx1"/>
                </a:solidFill>
                <a:effectLst/>
                <a:latin typeface="+mn-lt"/>
                <a:ea typeface="+mn-ea"/>
                <a:cs typeface="+mn-cs"/>
              </a:rPr>
              <a:t>include</a:t>
            </a:r>
            <a:r>
              <a:rPr lang="es-CO" sz="1200" b="0" kern="1200" dirty="0">
                <a:solidFill>
                  <a:schemeClr val="tx1"/>
                </a:solidFill>
                <a:effectLst/>
                <a:latin typeface="+mn-lt"/>
                <a:ea typeface="+mn-ea"/>
                <a:cs typeface="+mn-cs"/>
              </a:rPr>
              <a:t> &lt;</a:t>
            </a:r>
            <a:r>
              <a:rPr lang="es-CO" sz="1200" b="0" kern="1200" dirty="0" err="1">
                <a:solidFill>
                  <a:schemeClr val="tx1"/>
                </a:solidFill>
                <a:effectLst/>
                <a:latin typeface="+mn-lt"/>
                <a:ea typeface="+mn-ea"/>
                <a:cs typeface="+mn-cs"/>
              </a:rPr>
              <a:t>cstdlib</a:t>
            </a:r>
            <a:r>
              <a:rPr lang="es-CO" sz="1200" b="0" kern="1200" dirty="0">
                <a:solidFill>
                  <a:schemeClr val="tx1"/>
                </a:solidFill>
                <a:effectLst/>
                <a:latin typeface="+mn-lt"/>
                <a:ea typeface="+mn-ea"/>
                <a:cs typeface="+mn-cs"/>
              </a:rPr>
              <a:t>&gt;</a:t>
            </a:r>
          </a:p>
          <a:p>
            <a:r>
              <a:rPr lang="es-CO" sz="1200" b="0" kern="1200" dirty="0" err="1">
                <a:solidFill>
                  <a:schemeClr val="tx1"/>
                </a:solidFill>
                <a:effectLst/>
                <a:latin typeface="+mn-lt"/>
                <a:ea typeface="+mn-ea"/>
                <a:cs typeface="+mn-cs"/>
              </a:rPr>
              <a:t>using</a:t>
            </a:r>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namespace</a:t>
            </a:r>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std</a:t>
            </a:r>
            <a:r>
              <a:rPr lang="es-CO" sz="1200" b="0" kern="1200" dirty="0">
                <a:solidFill>
                  <a:schemeClr val="tx1"/>
                </a:solidFill>
                <a:effectLst/>
                <a:latin typeface="+mn-lt"/>
                <a:ea typeface="+mn-ea"/>
                <a:cs typeface="+mn-cs"/>
              </a:rPr>
              <a:t>;</a:t>
            </a:r>
          </a:p>
          <a:p>
            <a:endParaRPr lang="es-CO" sz="1200" b="0" kern="1200" dirty="0">
              <a:solidFill>
                <a:schemeClr val="tx1"/>
              </a:solidFill>
              <a:effectLst/>
              <a:latin typeface="+mn-lt"/>
              <a:ea typeface="+mn-ea"/>
              <a:cs typeface="+mn-cs"/>
            </a:endParaRPr>
          </a:p>
          <a:p>
            <a:r>
              <a:rPr lang="es-CO" sz="1200" b="0" kern="1200" dirty="0" err="1">
                <a:solidFill>
                  <a:schemeClr val="tx1"/>
                </a:solidFill>
                <a:effectLst/>
                <a:latin typeface="+mn-lt"/>
                <a:ea typeface="+mn-ea"/>
                <a:cs typeface="+mn-cs"/>
              </a:rPr>
              <a:t>int</a:t>
            </a:r>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main</a:t>
            </a:r>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srand</a:t>
            </a:r>
            <a:r>
              <a:rPr lang="es-CO" sz="1200" b="0" kern="1200" dirty="0">
                <a:solidFill>
                  <a:schemeClr val="tx1"/>
                </a:solidFill>
                <a:effectLst/>
                <a:latin typeface="+mn-lt"/>
                <a:ea typeface="+mn-ea"/>
                <a:cs typeface="+mn-cs"/>
              </a:rPr>
              <a:t>(time(NULL));</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bool</a:t>
            </a:r>
            <a:r>
              <a:rPr lang="es-CO" sz="1200" b="0" kern="1200" dirty="0">
                <a:solidFill>
                  <a:schemeClr val="tx1"/>
                </a:solidFill>
                <a:effectLst/>
                <a:latin typeface="+mn-lt"/>
                <a:ea typeface="+mn-ea"/>
                <a:cs typeface="+mn-cs"/>
              </a:rPr>
              <a:t> A[6];</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int</a:t>
            </a:r>
            <a:r>
              <a:rPr lang="es-CO" sz="1200" b="0" kern="1200" dirty="0">
                <a:solidFill>
                  <a:schemeClr val="tx1"/>
                </a:solidFill>
                <a:effectLst/>
                <a:latin typeface="+mn-lt"/>
                <a:ea typeface="+mn-ea"/>
                <a:cs typeface="+mn-cs"/>
              </a:rPr>
              <a:t> B[6]={}, C[6]={8,20,5}, i;</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float</a:t>
            </a:r>
            <a:r>
              <a:rPr lang="es-CO" sz="1200" b="0" kern="1200" dirty="0">
                <a:solidFill>
                  <a:schemeClr val="tx1"/>
                </a:solidFill>
                <a:effectLst/>
                <a:latin typeface="+mn-lt"/>
                <a:ea typeface="+mn-ea"/>
                <a:cs typeface="+mn-cs"/>
              </a:rPr>
              <a:t> D[6]={4.0, 3.5, 1.2, 4.3, 5.0};  	</a:t>
            </a:r>
          </a:p>
          <a:p>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 &lt;&lt; "\</a:t>
            </a:r>
            <a:r>
              <a:rPr lang="es-CO" sz="1200" b="0" kern="1200" dirty="0" err="1">
                <a:solidFill>
                  <a:schemeClr val="tx1"/>
                </a:solidFill>
                <a:effectLst/>
                <a:latin typeface="+mn-lt"/>
                <a:ea typeface="+mn-ea"/>
                <a:cs typeface="+mn-cs"/>
              </a:rPr>
              <a:t>nVECTOR</a:t>
            </a:r>
            <a:r>
              <a:rPr lang="es-CO" sz="1200" b="0" kern="1200" dirty="0">
                <a:solidFill>
                  <a:schemeClr val="tx1"/>
                </a:solidFill>
                <a:effectLst/>
                <a:latin typeface="+mn-lt"/>
                <a:ea typeface="+mn-ea"/>
                <a:cs typeface="+mn-cs"/>
              </a:rPr>
              <a:t> A (</a:t>
            </a:r>
            <a:r>
              <a:rPr lang="es-CO" sz="1200" b="0" kern="1200" dirty="0" err="1">
                <a:solidFill>
                  <a:schemeClr val="tx1"/>
                </a:solidFill>
                <a:effectLst/>
                <a:latin typeface="+mn-lt"/>
                <a:ea typeface="+mn-ea"/>
                <a:cs typeface="+mn-cs"/>
              </a:rPr>
              <a:t>bool</a:t>
            </a:r>
            <a:r>
              <a:rPr lang="es-CO" sz="1200" b="0" kern="1200" dirty="0">
                <a:solidFill>
                  <a:schemeClr val="tx1"/>
                </a:solidFill>
                <a:effectLst/>
                <a:latin typeface="+mn-lt"/>
                <a:ea typeface="+mn-ea"/>
                <a:cs typeface="+mn-cs"/>
              </a:rPr>
              <a:t>): " &lt;&lt; </a:t>
            </a:r>
            <a:r>
              <a:rPr lang="es-CO" sz="1200" b="0" kern="1200" dirty="0" err="1">
                <a:solidFill>
                  <a:schemeClr val="tx1"/>
                </a:solidFill>
                <a:effectLst/>
                <a:latin typeface="+mn-lt"/>
                <a:ea typeface="+mn-ea"/>
                <a:cs typeface="+mn-cs"/>
              </a:rPr>
              <a:t>endl</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for</a:t>
            </a:r>
            <a:r>
              <a:rPr lang="es-CO" sz="1200" b="0" kern="1200" dirty="0">
                <a:solidFill>
                  <a:schemeClr val="tx1"/>
                </a:solidFill>
                <a:effectLst/>
                <a:latin typeface="+mn-lt"/>
                <a:ea typeface="+mn-ea"/>
                <a:cs typeface="+mn-cs"/>
              </a:rPr>
              <a:t> (i=0; i&lt;6; i++) </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 &lt;&lt; A[i] &lt;&lt; " ";   //Imprimir Vector A</a:t>
            </a:r>
          </a:p>
          <a:p>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 &lt;&lt; "\n\</a:t>
            </a:r>
            <a:r>
              <a:rPr lang="es-CO" sz="1200" b="0" kern="1200" dirty="0" err="1">
                <a:solidFill>
                  <a:schemeClr val="tx1"/>
                </a:solidFill>
                <a:effectLst/>
                <a:latin typeface="+mn-lt"/>
                <a:ea typeface="+mn-ea"/>
                <a:cs typeface="+mn-cs"/>
              </a:rPr>
              <a:t>nVECTOR</a:t>
            </a:r>
            <a:r>
              <a:rPr lang="es-CO" sz="1200" b="0" kern="1200" dirty="0">
                <a:solidFill>
                  <a:schemeClr val="tx1"/>
                </a:solidFill>
                <a:effectLst/>
                <a:latin typeface="+mn-lt"/>
                <a:ea typeface="+mn-ea"/>
                <a:cs typeface="+mn-cs"/>
              </a:rPr>
              <a:t> B (</a:t>
            </a:r>
            <a:r>
              <a:rPr lang="es-CO" sz="1200" b="0" kern="1200" dirty="0" err="1">
                <a:solidFill>
                  <a:schemeClr val="tx1"/>
                </a:solidFill>
                <a:effectLst/>
                <a:latin typeface="+mn-lt"/>
                <a:ea typeface="+mn-ea"/>
                <a:cs typeface="+mn-cs"/>
              </a:rPr>
              <a:t>int</a:t>
            </a:r>
            <a:r>
              <a:rPr lang="es-CO" sz="1200" b="0" kern="1200" dirty="0">
                <a:solidFill>
                  <a:schemeClr val="tx1"/>
                </a:solidFill>
                <a:effectLst/>
                <a:latin typeface="+mn-lt"/>
                <a:ea typeface="+mn-ea"/>
                <a:cs typeface="+mn-cs"/>
              </a:rPr>
              <a:t>): " &lt;&lt; </a:t>
            </a:r>
            <a:r>
              <a:rPr lang="es-CO" sz="1200" b="0" kern="1200" dirty="0" err="1">
                <a:solidFill>
                  <a:schemeClr val="tx1"/>
                </a:solidFill>
                <a:effectLst/>
                <a:latin typeface="+mn-lt"/>
                <a:ea typeface="+mn-ea"/>
                <a:cs typeface="+mn-cs"/>
              </a:rPr>
              <a:t>endl</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for</a:t>
            </a:r>
            <a:r>
              <a:rPr lang="es-CO" sz="1200" b="0" kern="1200" dirty="0">
                <a:solidFill>
                  <a:schemeClr val="tx1"/>
                </a:solidFill>
                <a:effectLst/>
                <a:latin typeface="+mn-lt"/>
                <a:ea typeface="+mn-ea"/>
                <a:cs typeface="+mn-cs"/>
              </a:rPr>
              <a:t> (i=0; i&lt;6; i++)</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 &lt;&lt; B[i] &lt;&lt; " ";   //Imprimir Vector B</a:t>
            </a:r>
          </a:p>
          <a:p>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 &lt;&lt; "\n\</a:t>
            </a:r>
            <a:r>
              <a:rPr lang="es-CO" sz="1200" b="0" kern="1200" dirty="0" err="1">
                <a:solidFill>
                  <a:schemeClr val="tx1"/>
                </a:solidFill>
                <a:effectLst/>
                <a:latin typeface="+mn-lt"/>
                <a:ea typeface="+mn-ea"/>
                <a:cs typeface="+mn-cs"/>
              </a:rPr>
              <a:t>nVECTOR</a:t>
            </a:r>
            <a:r>
              <a:rPr lang="es-CO" sz="1200" b="0" kern="1200" dirty="0">
                <a:solidFill>
                  <a:schemeClr val="tx1"/>
                </a:solidFill>
                <a:effectLst/>
                <a:latin typeface="+mn-lt"/>
                <a:ea typeface="+mn-ea"/>
                <a:cs typeface="+mn-cs"/>
              </a:rPr>
              <a:t> C (</a:t>
            </a:r>
            <a:r>
              <a:rPr lang="es-CO" sz="1200" b="0" kern="1200" dirty="0" err="1">
                <a:solidFill>
                  <a:schemeClr val="tx1"/>
                </a:solidFill>
                <a:effectLst/>
                <a:latin typeface="+mn-lt"/>
                <a:ea typeface="+mn-ea"/>
                <a:cs typeface="+mn-cs"/>
              </a:rPr>
              <a:t>int</a:t>
            </a:r>
            <a:r>
              <a:rPr lang="es-CO" sz="1200" b="0" kern="1200" dirty="0">
                <a:solidFill>
                  <a:schemeClr val="tx1"/>
                </a:solidFill>
                <a:effectLst/>
                <a:latin typeface="+mn-lt"/>
                <a:ea typeface="+mn-ea"/>
                <a:cs typeface="+mn-cs"/>
              </a:rPr>
              <a:t>): " &lt;&lt; </a:t>
            </a:r>
            <a:r>
              <a:rPr lang="es-CO" sz="1200" b="0" kern="1200" dirty="0" err="1">
                <a:solidFill>
                  <a:schemeClr val="tx1"/>
                </a:solidFill>
                <a:effectLst/>
                <a:latin typeface="+mn-lt"/>
                <a:ea typeface="+mn-ea"/>
                <a:cs typeface="+mn-cs"/>
              </a:rPr>
              <a:t>endl</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for</a:t>
            </a:r>
            <a:r>
              <a:rPr lang="es-CO" sz="1200" b="0" kern="1200" dirty="0">
                <a:solidFill>
                  <a:schemeClr val="tx1"/>
                </a:solidFill>
                <a:effectLst/>
                <a:latin typeface="+mn-lt"/>
                <a:ea typeface="+mn-ea"/>
                <a:cs typeface="+mn-cs"/>
              </a:rPr>
              <a:t> (i=0; i&lt;6; i++)</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 &lt;&lt; C[i] &lt;&lt; " ";   //Imprimir Vector C</a:t>
            </a:r>
          </a:p>
          <a:p>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 &lt;&lt; "\n\</a:t>
            </a:r>
            <a:r>
              <a:rPr lang="es-CO" sz="1200" b="0" kern="1200" dirty="0" err="1">
                <a:solidFill>
                  <a:schemeClr val="tx1"/>
                </a:solidFill>
                <a:effectLst/>
                <a:latin typeface="+mn-lt"/>
                <a:ea typeface="+mn-ea"/>
                <a:cs typeface="+mn-cs"/>
              </a:rPr>
              <a:t>nVECTOR</a:t>
            </a:r>
            <a:r>
              <a:rPr lang="es-CO" sz="1200" b="0" kern="1200" dirty="0">
                <a:solidFill>
                  <a:schemeClr val="tx1"/>
                </a:solidFill>
                <a:effectLst/>
                <a:latin typeface="+mn-lt"/>
                <a:ea typeface="+mn-ea"/>
                <a:cs typeface="+mn-cs"/>
              </a:rPr>
              <a:t> D (</a:t>
            </a:r>
            <a:r>
              <a:rPr lang="es-CO" sz="1200" b="0" kern="1200" dirty="0" err="1">
                <a:solidFill>
                  <a:schemeClr val="tx1"/>
                </a:solidFill>
                <a:effectLst/>
                <a:latin typeface="+mn-lt"/>
                <a:ea typeface="+mn-ea"/>
                <a:cs typeface="+mn-cs"/>
              </a:rPr>
              <a:t>float</a:t>
            </a:r>
            <a:r>
              <a:rPr lang="es-CO" sz="1200" b="0" kern="1200" dirty="0">
                <a:solidFill>
                  <a:schemeClr val="tx1"/>
                </a:solidFill>
                <a:effectLst/>
                <a:latin typeface="+mn-lt"/>
                <a:ea typeface="+mn-ea"/>
                <a:cs typeface="+mn-cs"/>
              </a:rPr>
              <a:t>): " &lt;&lt; </a:t>
            </a:r>
            <a:r>
              <a:rPr lang="es-CO" sz="1200" b="0" kern="1200" dirty="0" err="1">
                <a:solidFill>
                  <a:schemeClr val="tx1"/>
                </a:solidFill>
                <a:effectLst/>
                <a:latin typeface="+mn-lt"/>
                <a:ea typeface="+mn-ea"/>
                <a:cs typeface="+mn-cs"/>
              </a:rPr>
              <a:t>endl</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for</a:t>
            </a:r>
            <a:r>
              <a:rPr lang="es-CO" sz="1200" b="0" kern="1200" dirty="0">
                <a:solidFill>
                  <a:schemeClr val="tx1"/>
                </a:solidFill>
                <a:effectLst/>
                <a:latin typeface="+mn-lt"/>
                <a:ea typeface="+mn-ea"/>
                <a:cs typeface="+mn-cs"/>
              </a:rPr>
              <a:t> (i=0; i&lt;6; i++)</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 &lt;&lt; D[i] &lt;&lt; " ";   //Imprimir Vector D  </a:t>
            </a:r>
          </a:p>
          <a:p>
            <a:r>
              <a:rPr lang="es-CO" sz="1200" b="0" kern="1200" dirty="0">
                <a:solidFill>
                  <a:schemeClr val="tx1"/>
                </a:solidFill>
                <a:effectLst/>
                <a:latin typeface="+mn-lt"/>
                <a:ea typeface="+mn-ea"/>
                <a:cs typeface="+mn-cs"/>
              </a:rPr>
              <a:t>}</a:t>
            </a:r>
            <a:endParaRPr lang="es-CO" dirty="0"/>
          </a:p>
        </p:txBody>
      </p:sp>
      <p:sp>
        <p:nvSpPr>
          <p:cNvPr id="4" name="Marcador de número de diapositiva 3"/>
          <p:cNvSpPr>
            <a:spLocks noGrp="1"/>
          </p:cNvSpPr>
          <p:nvPr>
            <p:ph type="sldNum" sz="quarter" idx="5"/>
          </p:nvPr>
        </p:nvSpPr>
        <p:spPr/>
        <p:txBody>
          <a:bodyPr/>
          <a:lstStyle/>
          <a:p>
            <a:fld id="{6EBFF732-773A-4839-B774-230B46601DA8}" type="slidenum">
              <a:rPr lang="es-CO" smtClean="0"/>
              <a:t>18</a:t>
            </a:fld>
            <a:endParaRPr lang="es-CO"/>
          </a:p>
        </p:txBody>
      </p:sp>
    </p:spTree>
    <p:extLst>
      <p:ext uri="{BB962C8B-B14F-4D97-AF65-F5344CB8AC3E}">
        <p14:creationId xmlns:p14="http://schemas.microsoft.com/office/powerpoint/2010/main" val="3576828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O" sz="1200" b="1" kern="1200" dirty="0">
                <a:solidFill>
                  <a:schemeClr val="tx1"/>
                </a:solidFill>
                <a:effectLst/>
                <a:latin typeface="+mn-lt"/>
                <a:ea typeface="+mn-ea"/>
                <a:cs typeface="+mn-cs"/>
              </a:rPr>
              <a:t>/*CÓDIGO FUENTE*/</a:t>
            </a:r>
          </a:p>
          <a:p>
            <a:r>
              <a:rPr lang="pt-BR" sz="1200" b="0" kern="1200" dirty="0">
                <a:solidFill>
                  <a:schemeClr val="tx1"/>
                </a:solidFill>
                <a:effectLst/>
                <a:latin typeface="+mn-lt"/>
                <a:ea typeface="+mn-ea"/>
                <a:cs typeface="+mn-cs"/>
              </a:rPr>
              <a:t>/*</a:t>
            </a:r>
            <a:r>
              <a:rPr lang="pt-BR" sz="1200" b="0" kern="1200" dirty="0" err="1">
                <a:solidFill>
                  <a:schemeClr val="tx1"/>
                </a:solidFill>
                <a:effectLst/>
                <a:latin typeface="+mn-lt"/>
                <a:ea typeface="+mn-ea"/>
                <a:cs typeface="+mn-cs"/>
              </a:rPr>
              <a:t>Crear</a:t>
            </a:r>
            <a:r>
              <a:rPr lang="pt-BR" sz="1200" b="0" kern="1200" dirty="0">
                <a:solidFill>
                  <a:schemeClr val="tx1"/>
                </a:solidFill>
                <a:effectLst/>
                <a:latin typeface="+mn-lt"/>
                <a:ea typeface="+mn-ea"/>
                <a:cs typeface="+mn-cs"/>
              </a:rPr>
              <a:t> e imprimir 4 arreglos de </a:t>
            </a:r>
            <a:r>
              <a:rPr lang="pt-BR" sz="1200" b="0" kern="1200" dirty="0" err="1">
                <a:solidFill>
                  <a:schemeClr val="tx1"/>
                </a:solidFill>
                <a:effectLst/>
                <a:latin typeface="+mn-lt"/>
                <a:ea typeface="+mn-ea"/>
                <a:cs typeface="+mn-cs"/>
              </a:rPr>
              <a:t>dimensión</a:t>
            </a:r>
            <a:r>
              <a:rPr lang="pt-BR" sz="1200" b="0" kern="1200" dirty="0">
                <a:solidFill>
                  <a:schemeClr val="tx1"/>
                </a:solidFill>
                <a:effectLst/>
                <a:latin typeface="+mn-lt"/>
                <a:ea typeface="+mn-ea"/>
                <a:cs typeface="+mn-cs"/>
              </a:rPr>
              <a:t> 6. Definir </a:t>
            </a:r>
            <a:r>
              <a:rPr lang="pt-BR" sz="1200" b="0" kern="1200" dirty="0" err="1">
                <a:solidFill>
                  <a:schemeClr val="tx1"/>
                </a:solidFill>
                <a:effectLst/>
                <a:latin typeface="+mn-lt"/>
                <a:ea typeface="+mn-ea"/>
                <a:cs typeface="+mn-cs"/>
              </a:rPr>
              <a:t>el</a:t>
            </a:r>
            <a:r>
              <a:rPr lang="pt-BR" sz="1200" b="0" kern="1200" dirty="0">
                <a:solidFill>
                  <a:schemeClr val="tx1"/>
                </a:solidFill>
                <a:effectLst/>
                <a:latin typeface="+mn-lt"/>
                <a:ea typeface="+mn-ea"/>
                <a:cs typeface="+mn-cs"/>
              </a:rPr>
              <a:t> vector A de tipo string, </a:t>
            </a:r>
          </a:p>
          <a:p>
            <a:r>
              <a:rPr lang="pt-BR" sz="1200" b="0" kern="1200" dirty="0">
                <a:solidFill>
                  <a:schemeClr val="tx1"/>
                </a:solidFill>
                <a:effectLst/>
                <a:latin typeface="+mn-lt"/>
                <a:ea typeface="+mn-ea"/>
                <a:cs typeface="+mn-cs"/>
              </a:rPr>
              <a:t>  inicializar </a:t>
            </a:r>
            <a:r>
              <a:rPr lang="pt-BR" sz="1200" b="0" kern="1200" dirty="0" err="1">
                <a:solidFill>
                  <a:schemeClr val="tx1"/>
                </a:solidFill>
                <a:effectLst/>
                <a:latin typeface="+mn-lt"/>
                <a:ea typeface="+mn-ea"/>
                <a:cs typeface="+mn-cs"/>
              </a:rPr>
              <a:t>el</a:t>
            </a:r>
            <a:r>
              <a:rPr lang="pt-BR" sz="1200" b="0" kern="1200" dirty="0">
                <a:solidFill>
                  <a:schemeClr val="tx1"/>
                </a:solidFill>
                <a:effectLst/>
                <a:latin typeface="+mn-lt"/>
                <a:ea typeface="+mn-ea"/>
                <a:cs typeface="+mn-cs"/>
              </a:rPr>
              <a:t> vector B </a:t>
            </a:r>
            <a:r>
              <a:rPr lang="pt-BR" sz="1200" b="0" kern="1200" dirty="0" err="1">
                <a:solidFill>
                  <a:schemeClr val="tx1"/>
                </a:solidFill>
                <a:effectLst/>
                <a:latin typeface="+mn-lt"/>
                <a:ea typeface="+mn-ea"/>
                <a:cs typeface="+mn-cs"/>
              </a:rPr>
              <a:t>con</a:t>
            </a:r>
            <a:r>
              <a:rPr lang="pt-BR" sz="1200" b="0" kern="1200" dirty="0">
                <a:solidFill>
                  <a:schemeClr val="tx1"/>
                </a:solidFill>
                <a:effectLst/>
                <a:latin typeface="+mn-lt"/>
                <a:ea typeface="+mn-ea"/>
                <a:cs typeface="+mn-cs"/>
              </a:rPr>
              <a:t> </a:t>
            </a:r>
            <a:r>
              <a:rPr lang="pt-BR" sz="1200" b="0" kern="1200" dirty="0" err="1">
                <a:solidFill>
                  <a:schemeClr val="tx1"/>
                </a:solidFill>
                <a:effectLst/>
                <a:latin typeface="+mn-lt"/>
                <a:ea typeface="+mn-ea"/>
                <a:cs typeface="+mn-cs"/>
              </a:rPr>
              <a:t>nombres</a:t>
            </a:r>
            <a:r>
              <a:rPr lang="pt-BR" sz="1200" b="0" kern="1200" dirty="0">
                <a:solidFill>
                  <a:schemeClr val="tx1"/>
                </a:solidFill>
                <a:effectLst/>
                <a:latin typeface="+mn-lt"/>
                <a:ea typeface="+mn-ea"/>
                <a:cs typeface="+mn-cs"/>
              </a:rPr>
              <a:t> de </a:t>
            </a:r>
            <a:r>
              <a:rPr lang="pt-BR" sz="1200" b="0" kern="1200" dirty="0" err="1">
                <a:solidFill>
                  <a:schemeClr val="tx1"/>
                </a:solidFill>
                <a:effectLst/>
                <a:latin typeface="+mn-lt"/>
                <a:ea typeface="+mn-ea"/>
                <a:cs typeface="+mn-cs"/>
              </a:rPr>
              <a:t>ciudades</a:t>
            </a:r>
            <a:r>
              <a:rPr lang="pt-BR" sz="1200" b="0" kern="1200" dirty="0">
                <a:solidFill>
                  <a:schemeClr val="tx1"/>
                </a:solidFill>
                <a:effectLst/>
                <a:latin typeface="+mn-lt"/>
                <a:ea typeface="+mn-ea"/>
                <a:cs typeface="+mn-cs"/>
              </a:rPr>
              <a:t>, inicializar </a:t>
            </a:r>
            <a:r>
              <a:rPr lang="pt-BR" sz="1200" b="0" kern="1200" dirty="0" err="1">
                <a:solidFill>
                  <a:schemeClr val="tx1"/>
                </a:solidFill>
                <a:effectLst/>
                <a:latin typeface="+mn-lt"/>
                <a:ea typeface="+mn-ea"/>
                <a:cs typeface="+mn-cs"/>
              </a:rPr>
              <a:t>el</a:t>
            </a:r>
            <a:r>
              <a:rPr lang="pt-BR" sz="1200" b="0" kern="1200" dirty="0">
                <a:solidFill>
                  <a:schemeClr val="tx1"/>
                </a:solidFill>
                <a:effectLst/>
                <a:latin typeface="+mn-lt"/>
                <a:ea typeface="+mn-ea"/>
                <a:cs typeface="+mn-cs"/>
              </a:rPr>
              <a:t> vector C </a:t>
            </a:r>
          </a:p>
          <a:p>
            <a:r>
              <a:rPr lang="pt-BR" sz="1200" b="0" kern="1200" dirty="0">
                <a:solidFill>
                  <a:schemeClr val="tx1"/>
                </a:solidFill>
                <a:effectLst/>
                <a:latin typeface="+mn-lt"/>
                <a:ea typeface="+mn-ea"/>
                <a:cs typeface="+mn-cs"/>
              </a:rPr>
              <a:t>  </a:t>
            </a:r>
            <a:r>
              <a:rPr lang="pt-BR" sz="1200" b="0" kern="1200" dirty="0" err="1">
                <a:solidFill>
                  <a:schemeClr val="tx1"/>
                </a:solidFill>
                <a:effectLst/>
                <a:latin typeface="+mn-lt"/>
                <a:ea typeface="+mn-ea"/>
                <a:cs typeface="+mn-cs"/>
              </a:rPr>
              <a:t>con</a:t>
            </a:r>
            <a:r>
              <a:rPr lang="pt-BR" sz="1200" b="0" kern="1200" dirty="0">
                <a:solidFill>
                  <a:schemeClr val="tx1"/>
                </a:solidFill>
                <a:effectLst/>
                <a:latin typeface="+mn-lt"/>
                <a:ea typeface="+mn-ea"/>
                <a:cs typeface="+mn-cs"/>
              </a:rPr>
              <a:t> "</a:t>
            </a:r>
            <a:r>
              <a:rPr lang="pt-BR" sz="1200" b="0" kern="1200" dirty="0" err="1">
                <a:solidFill>
                  <a:schemeClr val="tx1"/>
                </a:solidFill>
                <a:effectLst/>
                <a:latin typeface="+mn-lt"/>
                <a:ea typeface="+mn-ea"/>
                <a:cs typeface="+mn-cs"/>
              </a:rPr>
              <a:t>Error</a:t>
            </a:r>
            <a:r>
              <a:rPr lang="pt-BR" sz="1200" b="0" kern="1200" dirty="0">
                <a:solidFill>
                  <a:schemeClr val="tx1"/>
                </a:solidFill>
                <a:effectLst/>
                <a:latin typeface="+mn-lt"/>
                <a:ea typeface="+mn-ea"/>
                <a:cs typeface="+mn-cs"/>
              </a:rPr>
              <a:t>" e inicializar </a:t>
            </a:r>
            <a:r>
              <a:rPr lang="pt-BR" sz="1200" b="0" kern="1200" dirty="0" err="1">
                <a:solidFill>
                  <a:schemeClr val="tx1"/>
                </a:solidFill>
                <a:effectLst/>
                <a:latin typeface="+mn-lt"/>
                <a:ea typeface="+mn-ea"/>
                <a:cs typeface="+mn-cs"/>
              </a:rPr>
              <a:t>el</a:t>
            </a:r>
            <a:r>
              <a:rPr lang="pt-BR" sz="1200" b="0" kern="1200" dirty="0">
                <a:solidFill>
                  <a:schemeClr val="tx1"/>
                </a:solidFill>
                <a:effectLst/>
                <a:latin typeface="+mn-lt"/>
                <a:ea typeface="+mn-ea"/>
                <a:cs typeface="+mn-cs"/>
              </a:rPr>
              <a:t> vector D </a:t>
            </a:r>
            <a:r>
              <a:rPr lang="pt-BR" sz="1200" b="0" kern="1200" dirty="0" err="1">
                <a:solidFill>
                  <a:schemeClr val="tx1"/>
                </a:solidFill>
                <a:effectLst/>
                <a:latin typeface="+mn-lt"/>
                <a:ea typeface="+mn-ea"/>
                <a:cs typeface="+mn-cs"/>
              </a:rPr>
              <a:t>con</a:t>
            </a:r>
            <a:r>
              <a:rPr lang="pt-BR" sz="1200" b="0" kern="1200" dirty="0">
                <a:solidFill>
                  <a:schemeClr val="tx1"/>
                </a:solidFill>
                <a:effectLst/>
                <a:latin typeface="+mn-lt"/>
                <a:ea typeface="+mn-ea"/>
                <a:cs typeface="+mn-cs"/>
              </a:rPr>
              <a:t> {'E', 'r', 'r', 'o', 'r',0}.*/</a:t>
            </a:r>
          </a:p>
          <a:p>
            <a:r>
              <a:rPr lang="pt-BR" sz="1200" b="0" kern="1200" dirty="0">
                <a:solidFill>
                  <a:schemeClr val="tx1"/>
                </a:solidFill>
                <a:effectLst/>
                <a:latin typeface="+mn-lt"/>
                <a:ea typeface="+mn-ea"/>
                <a:cs typeface="+mn-cs"/>
              </a:rPr>
              <a:t>#include &lt;</a:t>
            </a:r>
            <a:r>
              <a:rPr lang="pt-BR" sz="1200" b="0" kern="1200" dirty="0" err="1">
                <a:solidFill>
                  <a:schemeClr val="tx1"/>
                </a:solidFill>
                <a:effectLst/>
                <a:latin typeface="+mn-lt"/>
                <a:ea typeface="+mn-ea"/>
                <a:cs typeface="+mn-cs"/>
              </a:rPr>
              <a:t>iostream</a:t>
            </a:r>
            <a:r>
              <a:rPr lang="pt-BR" sz="1200" b="0" kern="1200" dirty="0">
                <a:solidFill>
                  <a:schemeClr val="tx1"/>
                </a:solidFill>
                <a:effectLst/>
                <a:latin typeface="+mn-lt"/>
                <a:ea typeface="+mn-ea"/>
                <a:cs typeface="+mn-cs"/>
              </a:rPr>
              <a:t>&gt;</a:t>
            </a:r>
          </a:p>
          <a:p>
            <a:r>
              <a:rPr lang="pt-BR" sz="1200" b="0" kern="1200" dirty="0">
                <a:solidFill>
                  <a:schemeClr val="tx1"/>
                </a:solidFill>
                <a:effectLst/>
                <a:latin typeface="+mn-lt"/>
                <a:ea typeface="+mn-ea"/>
                <a:cs typeface="+mn-cs"/>
              </a:rPr>
              <a:t>#include &lt;</a:t>
            </a:r>
            <a:r>
              <a:rPr lang="pt-BR" sz="1200" b="0" kern="1200" dirty="0" err="1">
                <a:solidFill>
                  <a:schemeClr val="tx1"/>
                </a:solidFill>
                <a:effectLst/>
                <a:latin typeface="+mn-lt"/>
                <a:ea typeface="+mn-ea"/>
                <a:cs typeface="+mn-cs"/>
              </a:rPr>
              <a:t>ctime</a:t>
            </a:r>
            <a:r>
              <a:rPr lang="pt-BR" sz="1200" b="0" kern="1200" dirty="0">
                <a:solidFill>
                  <a:schemeClr val="tx1"/>
                </a:solidFill>
                <a:effectLst/>
                <a:latin typeface="+mn-lt"/>
                <a:ea typeface="+mn-ea"/>
                <a:cs typeface="+mn-cs"/>
              </a:rPr>
              <a:t>&gt;</a:t>
            </a:r>
          </a:p>
          <a:p>
            <a:r>
              <a:rPr lang="pt-BR" sz="1200" b="0" kern="1200" dirty="0">
                <a:solidFill>
                  <a:schemeClr val="tx1"/>
                </a:solidFill>
                <a:effectLst/>
                <a:latin typeface="+mn-lt"/>
                <a:ea typeface="+mn-ea"/>
                <a:cs typeface="+mn-cs"/>
              </a:rPr>
              <a:t>#include &lt;</a:t>
            </a:r>
            <a:r>
              <a:rPr lang="pt-BR" sz="1200" b="0" kern="1200" dirty="0" err="1">
                <a:solidFill>
                  <a:schemeClr val="tx1"/>
                </a:solidFill>
                <a:effectLst/>
                <a:latin typeface="+mn-lt"/>
                <a:ea typeface="+mn-ea"/>
                <a:cs typeface="+mn-cs"/>
              </a:rPr>
              <a:t>cstdlib</a:t>
            </a:r>
            <a:r>
              <a:rPr lang="pt-BR" sz="1200" b="0" kern="1200" dirty="0">
                <a:solidFill>
                  <a:schemeClr val="tx1"/>
                </a:solidFill>
                <a:effectLst/>
                <a:latin typeface="+mn-lt"/>
                <a:ea typeface="+mn-ea"/>
                <a:cs typeface="+mn-cs"/>
              </a:rPr>
              <a:t>&gt;</a:t>
            </a:r>
          </a:p>
          <a:p>
            <a:r>
              <a:rPr lang="pt-BR" sz="1200" b="0" kern="1200" dirty="0" err="1">
                <a:solidFill>
                  <a:schemeClr val="tx1"/>
                </a:solidFill>
                <a:effectLst/>
                <a:latin typeface="+mn-lt"/>
                <a:ea typeface="+mn-ea"/>
                <a:cs typeface="+mn-cs"/>
              </a:rPr>
              <a:t>using</a:t>
            </a:r>
            <a:r>
              <a:rPr lang="pt-BR" sz="1200" b="0" kern="1200" dirty="0">
                <a:solidFill>
                  <a:schemeClr val="tx1"/>
                </a:solidFill>
                <a:effectLst/>
                <a:latin typeface="+mn-lt"/>
                <a:ea typeface="+mn-ea"/>
                <a:cs typeface="+mn-cs"/>
              </a:rPr>
              <a:t> namespace </a:t>
            </a:r>
            <a:r>
              <a:rPr lang="pt-BR" sz="1200" b="0" kern="1200" dirty="0" err="1">
                <a:solidFill>
                  <a:schemeClr val="tx1"/>
                </a:solidFill>
                <a:effectLst/>
                <a:latin typeface="+mn-lt"/>
                <a:ea typeface="+mn-ea"/>
                <a:cs typeface="+mn-cs"/>
              </a:rPr>
              <a:t>std</a:t>
            </a:r>
            <a:r>
              <a:rPr lang="pt-BR" sz="1200" b="0" kern="1200" dirty="0">
                <a:solidFill>
                  <a:schemeClr val="tx1"/>
                </a:solidFill>
                <a:effectLst/>
                <a:latin typeface="+mn-lt"/>
                <a:ea typeface="+mn-ea"/>
                <a:cs typeface="+mn-cs"/>
              </a:rPr>
              <a:t>;</a:t>
            </a:r>
          </a:p>
          <a:p>
            <a:endParaRPr lang="pt-BR" sz="1200" b="0" kern="1200" dirty="0">
              <a:solidFill>
                <a:schemeClr val="tx1"/>
              </a:solidFill>
              <a:effectLst/>
              <a:latin typeface="+mn-lt"/>
              <a:ea typeface="+mn-ea"/>
              <a:cs typeface="+mn-cs"/>
            </a:endParaRPr>
          </a:p>
          <a:p>
            <a:r>
              <a:rPr lang="pt-BR" sz="1200" b="0" kern="1200" dirty="0">
                <a:solidFill>
                  <a:schemeClr val="tx1"/>
                </a:solidFill>
                <a:effectLst/>
                <a:latin typeface="+mn-lt"/>
                <a:ea typeface="+mn-ea"/>
                <a:cs typeface="+mn-cs"/>
              </a:rPr>
              <a:t>int </a:t>
            </a:r>
            <a:r>
              <a:rPr lang="pt-BR" sz="1200" b="0" kern="1200" dirty="0" err="1">
                <a:solidFill>
                  <a:schemeClr val="tx1"/>
                </a:solidFill>
                <a:effectLst/>
                <a:latin typeface="+mn-lt"/>
                <a:ea typeface="+mn-ea"/>
                <a:cs typeface="+mn-cs"/>
              </a:rPr>
              <a:t>main</a:t>
            </a:r>
            <a:r>
              <a:rPr lang="pt-BR" sz="1200" b="0" kern="1200" dirty="0">
                <a:solidFill>
                  <a:schemeClr val="tx1"/>
                </a:solidFill>
                <a:effectLst/>
                <a:latin typeface="+mn-lt"/>
                <a:ea typeface="+mn-ea"/>
                <a:cs typeface="+mn-cs"/>
              </a:rPr>
              <a:t>() {</a:t>
            </a:r>
          </a:p>
          <a:p>
            <a:r>
              <a:rPr lang="pt-BR" sz="1200" b="0" kern="1200" dirty="0">
                <a:solidFill>
                  <a:schemeClr val="tx1"/>
                </a:solidFill>
                <a:effectLst/>
                <a:latin typeface="+mn-lt"/>
                <a:ea typeface="+mn-ea"/>
                <a:cs typeface="+mn-cs"/>
              </a:rPr>
              <a:t>	</a:t>
            </a:r>
            <a:r>
              <a:rPr lang="pt-BR" sz="1200" b="0" kern="1200" dirty="0" err="1">
                <a:solidFill>
                  <a:schemeClr val="tx1"/>
                </a:solidFill>
                <a:effectLst/>
                <a:latin typeface="+mn-lt"/>
                <a:ea typeface="+mn-ea"/>
                <a:cs typeface="+mn-cs"/>
              </a:rPr>
              <a:t>srand</a:t>
            </a:r>
            <a:r>
              <a:rPr lang="pt-BR" sz="1200" b="0" kern="1200" dirty="0">
                <a:solidFill>
                  <a:schemeClr val="tx1"/>
                </a:solidFill>
                <a:effectLst/>
                <a:latin typeface="+mn-lt"/>
                <a:ea typeface="+mn-ea"/>
                <a:cs typeface="+mn-cs"/>
              </a:rPr>
              <a:t>(time(NULL));</a:t>
            </a:r>
          </a:p>
          <a:p>
            <a:r>
              <a:rPr lang="pt-BR" sz="1200" b="0" kern="1200" dirty="0">
                <a:solidFill>
                  <a:schemeClr val="tx1"/>
                </a:solidFill>
                <a:effectLst/>
                <a:latin typeface="+mn-lt"/>
                <a:ea typeface="+mn-ea"/>
                <a:cs typeface="+mn-cs"/>
              </a:rPr>
              <a:t>	int i;</a:t>
            </a:r>
          </a:p>
          <a:p>
            <a:r>
              <a:rPr lang="pt-BR" sz="1200" b="0" kern="1200" dirty="0">
                <a:solidFill>
                  <a:schemeClr val="tx1"/>
                </a:solidFill>
                <a:effectLst/>
                <a:latin typeface="+mn-lt"/>
                <a:ea typeface="+mn-ea"/>
                <a:cs typeface="+mn-cs"/>
              </a:rPr>
              <a:t>	string A[6], B[6]={"</a:t>
            </a:r>
            <a:r>
              <a:rPr lang="pt-BR" sz="1200" b="0" kern="1200" dirty="0" err="1">
                <a:solidFill>
                  <a:schemeClr val="tx1"/>
                </a:solidFill>
                <a:effectLst/>
                <a:latin typeface="+mn-lt"/>
                <a:ea typeface="+mn-ea"/>
                <a:cs typeface="+mn-cs"/>
              </a:rPr>
              <a:t>Colombia</a:t>
            </a:r>
            <a:r>
              <a:rPr lang="pt-BR" sz="1200" b="0" kern="1200" dirty="0">
                <a:solidFill>
                  <a:schemeClr val="tx1"/>
                </a:solidFill>
                <a:effectLst/>
                <a:latin typeface="+mn-lt"/>
                <a:ea typeface="+mn-ea"/>
                <a:cs typeface="+mn-cs"/>
              </a:rPr>
              <a:t>", "</a:t>
            </a:r>
            <a:r>
              <a:rPr lang="pt-BR" sz="1200" b="0" kern="1200" dirty="0" err="1">
                <a:solidFill>
                  <a:schemeClr val="tx1"/>
                </a:solidFill>
                <a:effectLst/>
                <a:latin typeface="+mn-lt"/>
                <a:ea typeface="+mn-ea"/>
                <a:cs typeface="+mn-cs"/>
              </a:rPr>
              <a:t>Perú</a:t>
            </a:r>
            <a:r>
              <a:rPr lang="pt-BR" sz="1200" b="0" kern="1200" dirty="0">
                <a:solidFill>
                  <a:schemeClr val="tx1"/>
                </a:solidFill>
                <a:effectLst/>
                <a:latin typeface="+mn-lt"/>
                <a:ea typeface="+mn-ea"/>
                <a:cs typeface="+mn-cs"/>
              </a:rPr>
              <a:t>", "Cuba", "USA", "RUSIA", "Chile"};	</a:t>
            </a:r>
          </a:p>
          <a:p>
            <a:r>
              <a:rPr lang="pt-BR" sz="1200" b="0" kern="1200" dirty="0">
                <a:solidFill>
                  <a:schemeClr val="tx1"/>
                </a:solidFill>
                <a:effectLst/>
                <a:latin typeface="+mn-lt"/>
                <a:ea typeface="+mn-ea"/>
                <a:cs typeface="+mn-cs"/>
              </a:rPr>
              <a:t>	char C[6]={"</a:t>
            </a:r>
            <a:r>
              <a:rPr lang="pt-BR" sz="1200" b="0" kern="1200" dirty="0" err="1">
                <a:solidFill>
                  <a:schemeClr val="tx1"/>
                </a:solidFill>
                <a:effectLst/>
                <a:latin typeface="+mn-lt"/>
                <a:ea typeface="+mn-ea"/>
                <a:cs typeface="+mn-cs"/>
              </a:rPr>
              <a:t>Error</a:t>
            </a:r>
            <a:r>
              <a:rPr lang="pt-BR" sz="1200" b="0" kern="1200" dirty="0">
                <a:solidFill>
                  <a:schemeClr val="tx1"/>
                </a:solidFill>
                <a:effectLst/>
                <a:latin typeface="+mn-lt"/>
                <a:ea typeface="+mn-ea"/>
                <a:cs typeface="+mn-cs"/>
              </a:rPr>
              <a:t>"}, D[]={'E', 'r', 'r', 'o', 'r',0};  	</a:t>
            </a:r>
          </a:p>
          <a:p>
            <a:r>
              <a:rPr lang="pt-BR" sz="1200" b="0" kern="1200" dirty="0">
                <a:solidFill>
                  <a:schemeClr val="tx1"/>
                </a:solidFill>
                <a:effectLst/>
                <a:latin typeface="+mn-lt"/>
                <a:ea typeface="+mn-ea"/>
                <a:cs typeface="+mn-cs"/>
              </a:rPr>
              <a:t>    	</a:t>
            </a:r>
          </a:p>
          <a:p>
            <a:r>
              <a:rPr lang="pt-BR" sz="1200" b="0" kern="1200" dirty="0">
                <a:solidFill>
                  <a:schemeClr val="tx1"/>
                </a:solidFill>
                <a:effectLst/>
                <a:latin typeface="+mn-lt"/>
                <a:ea typeface="+mn-ea"/>
                <a:cs typeface="+mn-cs"/>
              </a:rPr>
              <a:t>	</a:t>
            </a:r>
            <a:r>
              <a:rPr lang="pt-BR" sz="1200" b="0" kern="1200" dirty="0" err="1">
                <a:solidFill>
                  <a:schemeClr val="tx1"/>
                </a:solidFill>
                <a:effectLst/>
                <a:latin typeface="+mn-lt"/>
                <a:ea typeface="+mn-ea"/>
                <a:cs typeface="+mn-cs"/>
              </a:rPr>
              <a:t>cout</a:t>
            </a:r>
            <a:r>
              <a:rPr lang="pt-BR" sz="1200" b="0" kern="1200" dirty="0">
                <a:solidFill>
                  <a:schemeClr val="tx1"/>
                </a:solidFill>
                <a:effectLst/>
                <a:latin typeface="+mn-lt"/>
                <a:ea typeface="+mn-ea"/>
                <a:cs typeface="+mn-cs"/>
              </a:rPr>
              <a:t> &lt;&lt; "\</a:t>
            </a:r>
            <a:r>
              <a:rPr lang="pt-BR" sz="1200" b="0" kern="1200" dirty="0" err="1">
                <a:solidFill>
                  <a:schemeClr val="tx1"/>
                </a:solidFill>
                <a:effectLst/>
                <a:latin typeface="+mn-lt"/>
                <a:ea typeface="+mn-ea"/>
                <a:cs typeface="+mn-cs"/>
              </a:rPr>
              <a:t>nVECTOR</a:t>
            </a:r>
            <a:r>
              <a:rPr lang="pt-BR" sz="1200" b="0" kern="1200" dirty="0">
                <a:solidFill>
                  <a:schemeClr val="tx1"/>
                </a:solidFill>
                <a:effectLst/>
                <a:latin typeface="+mn-lt"/>
                <a:ea typeface="+mn-ea"/>
                <a:cs typeface="+mn-cs"/>
              </a:rPr>
              <a:t> A (string): " &lt;&lt; </a:t>
            </a:r>
            <a:r>
              <a:rPr lang="pt-BR" sz="1200" b="0" kern="1200" dirty="0" err="1">
                <a:solidFill>
                  <a:schemeClr val="tx1"/>
                </a:solidFill>
                <a:effectLst/>
                <a:latin typeface="+mn-lt"/>
                <a:ea typeface="+mn-ea"/>
                <a:cs typeface="+mn-cs"/>
              </a:rPr>
              <a:t>endl</a:t>
            </a:r>
            <a:r>
              <a:rPr lang="pt-BR" sz="1200" b="0" kern="1200" dirty="0">
                <a:solidFill>
                  <a:schemeClr val="tx1"/>
                </a:solidFill>
                <a:effectLst/>
                <a:latin typeface="+mn-lt"/>
                <a:ea typeface="+mn-ea"/>
                <a:cs typeface="+mn-cs"/>
              </a:rPr>
              <a:t>;</a:t>
            </a:r>
          </a:p>
          <a:p>
            <a:r>
              <a:rPr lang="pt-BR" sz="1200" b="0" kern="1200" dirty="0">
                <a:solidFill>
                  <a:schemeClr val="tx1"/>
                </a:solidFill>
                <a:effectLst/>
                <a:latin typeface="+mn-lt"/>
                <a:ea typeface="+mn-ea"/>
                <a:cs typeface="+mn-cs"/>
              </a:rPr>
              <a:t>	for (i=0; i&lt;6; i++) </a:t>
            </a:r>
          </a:p>
          <a:p>
            <a:r>
              <a:rPr lang="pt-BR" sz="1200" b="0" kern="1200" dirty="0">
                <a:solidFill>
                  <a:schemeClr val="tx1"/>
                </a:solidFill>
                <a:effectLst/>
                <a:latin typeface="+mn-lt"/>
                <a:ea typeface="+mn-ea"/>
                <a:cs typeface="+mn-cs"/>
              </a:rPr>
              <a:t>		</a:t>
            </a:r>
            <a:r>
              <a:rPr lang="pt-BR" sz="1200" b="0" kern="1200" dirty="0" err="1">
                <a:solidFill>
                  <a:schemeClr val="tx1"/>
                </a:solidFill>
                <a:effectLst/>
                <a:latin typeface="+mn-lt"/>
                <a:ea typeface="+mn-ea"/>
                <a:cs typeface="+mn-cs"/>
              </a:rPr>
              <a:t>cout</a:t>
            </a:r>
            <a:r>
              <a:rPr lang="pt-BR" sz="1200" b="0" kern="1200" dirty="0">
                <a:solidFill>
                  <a:schemeClr val="tx1"/>
                </a:solidFill>
                <a:effectLst/>
                <a:latin typeface="+mn-lt"/>
                <a:ea typeface="+mn-ea"/>
                <a:cs typeface="+mn-cs"/>
              </a:rPr>
              <a:t> &lt;&lt; A[i] &lt;&lt; " ";   //Imprimir Vector A</a:t>
            </a:r>
          </a:p>
          <a:p>
            <a:r>
              <a:rPr lang="pt-BR" sz="1200" b="0" kern="1200" dirty="0">
                <a:solidFill>
                  <a:schemeClr val="tx1"/>
                </a:solidFill>
                <a:effectLst/>
                <a:latin typeface="+mn-lt"/>
                <a:ea typeface="+mn-ea"/>
                <a:cs typeface="+mn-cs"/>
              </a:rPr>
              <a:t>  </a:t>
            </a:r>
          </a:p>
          <a:p>
            <a:r>
              <a:rPr lang="pt-BR" sz="1200" b="0" kern="1200" dirty="0">
                <a:solidFill>
                  <a:schemeClr val="tx1"/>
                </a:solidFill>
                <a:effectLst/>
                <a:latin typeface="+mn-lt"/>
                <a:ea typeface="+mn-ea"/>
                <a:cs typeface="+mn-cs"/>
              </a:rPr>
              <a:t>	</a:t>
            </a:r>
            <a:r>
              <a:rPr lang="pt-BR" sz="1200" b="0" kern="1200" dirty="0" err="1">
                <a:solidFill>
                  <a:schemeClr val="tx1"/>
                </a:solidFill>
                <a:effectLst/>
                <a:latin typeface="+mn-lt"/>
                <a:ea typeface="+mn-ea"/>
                <a:cs typeface="+mn-cs"/>
              </a:rPr>
              <a:t>cout</a:t>
            </a:r>
            <a:r>
              <a:rPr lang="pt-BR" sz="1200" b="0" kern="1200" dirty="0">
                <a:solidFill>
                  <a:schemeClr val="tx1"/>
                </a:solidFill>
                <a:effectLst/>
                <a:latin typeface="+mn-lt"/>
                <a:ea typeface="+mn-ea"/>
                <a:cs typeface="+mn-cs"/>
              </a:rPr>
              <a:t> &lt;&lt; "\n\</a:t>
            </a:r>
            <a:r>
              <a:rPr lang="pt-BR" sz="1200" b="0" kern="1200" dirty="0" err="1">
                <a:solidFill>
                  <a:schemeClr val="tx1"/>
                </a:solidFill>
                <a:effectLst/>
                <a:latin typeface="+mn-lt"/>
                <a:ea typeface="+mn-ea"/>
                <a:cs typeface="+mn-cs"/>
              </a:rPr>
              <a:t>nVECTOR</a:t>
            </a:r>
            <a:r>
              <a:rPr lang="pt-BR" sz="1200" b="0" kern="1200" dirty="0">
                <a:solidFill>
                  <a:schemeClr val="tx1"/>
                </a:solidFill>
                <a:effectLst/>
                <a:latin typeface="+mn-lt"/>
                <a:ea typeface="+mn-ea"/>
                <a:cs typeface="+mn-cs"/>
              </a:rPr>
              <a:t> B (string): " &lt;&lt; </a:t>
            </a:r>
            <a:r>
              <a:rPr lang="pt-BR" sz="1200" b="0" kern="1200" dirty="0" err="1">
                <a:solidFill>
                  <a:schemeClr val="tx1"/>
                </a:solidFill>
                <a:effectLst/>
                <a:latin typeface="+mn-lt"/>
                <a:ea typeface="+mn-ea"/>
                <a:cs typeface="+mn-cs"/>
              </a:rPr>
              <a:t>endl</a:t>
            </a:r>
            <a:r>
              <a:rPr lang="pt-BR" sz="1200" b="0" kern="1200" dirty="0">
                <a:solidFill>
                  <a:schemeClr val="tx1"/>
                </a:solidFill>
                <a:effectLst/>
                <a:latin typeface="+mn-lt"/>
                <a:ea typeface="+mn-ea"/>
                <a:cs typeface="+mn-cs"/>
              </a:rPr>
              <a:t>;</a:t>
            </a:r>
          </a:p>
          <a:p>
            <a:r>
              <a:rPr lang="pt-BR" sz="1200" b="0" kern="1200" dirty="0">
                <a:solidFill>
                  <a:schemeClr val="tx1"/>
                </a:solidFill>
                <a:effectLst/>
                <a:latin typeface="+mn-lt"/>
                <a:ea typeface="+mn-ea"/>
                <a:cs typeface="+mn-cs"/>
              </a:rPr>
              <a:t>	for (i=0; i&lt;6; i++)</a:t>
            </a:r>
          </a:p>
          <a:p>
            <a:r>
              <a:rPr lang="pt-BR" sz="1200" b="0" kern="1200" dirty="0">
                <a:solidFill>
                  <a:schemeClr val="tx1"/>
                </a:solidFill>
                <a:effectLst/>
                <a:latin typeface="+mn-lt"/>
                <a:ea typeface="+mn-ea"/>
                <a:cs typeface="+mn-cs"/>
              </a:rPr>
              <a:t>		</a:t>
            </a:r>
            <a:r>
              <a:rPr lang="pt-BR" sz="1200" b="0" kern="1200" dirty="0" err="1">
                <a:solidFill>
                  <a:schemeClr val="tx1"/>
                </a:solidFill>
                <a:effectLst/>
                <a:latin typeface="+mn-lt"/>
                <a:ea typeface="+mn-ea"/>
                <a:cs typeface="+mn-cs"/>
              </a:rPr>
              <a:t>cout</a:t>
            </a:r>
            <a:r>
              <a:rPr lang="pt-BR" sz="1200" b="0" kern="1200" dirty="0">
                <a:solidFill>
                  <a:schemeClr val="tx1"/>
                </a:solidFill>
                <a:effectLst/>
                <a:latin typeface="+mn-lt"/>
                <a:ea typeface="+mn-ea"/>
                <a:cs typeface="+mn-cs"/>
              </a:rPr>
              <a:t> &lt;&lt; B[i] &lt;&lt; " ";   //Imprimir Vector B</a:t>
            </a:r>
          </a:p>
          <a:p>
            <a:r>
              <a:rPr lang="pt-BR" sz="1200" b="0" kern="1200" dirty="0">
                <a:solidFill>
                  <a:schemeClr val="tx1"/>
                </a:solidFill>
                <a:effectLst/>
                <a:latin typeface="+mn-lt"/>
                <a:ea typeface="+mn-ea"/>
                <a:cs typeface="+mn-cs"/>
              </a:rPr>
              <a:t>  </a:t>
            </a:r>
          </a:p>
          <a:p>
            <a:r>
              <a:rPr lang="pt-BR" sz="1200" b="0" kern="1200" dirty="0">
                <a:solidFill>
                  <a:schemeClr val="tx1"/>
                </a:solidFill>
                <a:effectLst/>
                <a:latin typeface="+mn-lt"/>
                <a:ea typeface="+mn-ea"/>
                <a:cs typeface="+mn-cs"/>
              </a:rPr>
              <a:t>	</a:t>
            </a:r>
            <a:r>
              <a:rPr lang="pt-BR" sz="1200" b="0" kern="1200" dirty="0" err="1">
                <a:solidFill>
                  <a:schemeClr val="tx1"/>
                </a:solidFill>
                <a:effectLst/>
                <a:latin typeface="+mn-lt"/>
                <a:ea typeface="+mn-ea"/>
                <a:cs typeface="+mn-cs"/>
              </a:rPr>
              <a:t>cout</a:t>
            </a:r>
            <a:r>
              <a:rPr lang="pt-BR" sz="1200" b="0" kern="1200" dirty="0">
                <a:solidFill>
                  <a:schemeClr val="tx1"/>
                </a:solidFill>
                <a:effectLst/>
                <a:latin typeface="+mn-lt"/>
                <a:ea typeface="+mn-ea"/>
                <a:cs typeface="+mn-cs"/>
              </a:rPr>
              <a:t> &lt;&lt; "\n\</a:t>
            </a:r>
            <a:r>
              <a:rPr lang="pt-BR" sz="1200" b="0" kern="1200" dirty="0" err="1">
                <a:solidFill>
                  <a:schemeClr val="tx1"/>
                </a:solidFill>
                <a:effectLst/>
                <a:latin typeface="+mn-lt"/>
                <a:ea typeface="+mn-ea"/>
                <a:cs typeface="+mn-cs"/>
              </a:rPr>
              <a:t>nVECTOR</a:t>
            </a:r>
            <a:r>
              <a:rPr lang="pt-BR" sz="1200" b="0" kern="1200" dirty="0">
                <a:solidFill>
                  <a:schemeClr val="tx1"/>
                </a:solidFill>
                <a:effectLst/>
                <a:latin typeface="+mn-lt"/>
                <a:ea typeface="+mn-ea"/>
                <a:cs typeface="+mn-cs"/>
              </a:rPr>
              <a:t> C (char): " &lt;&lt; </a:t>
            </a:r>
            <a:r>
              <a:rPr lang="pt-BR" sz="1200" b="0" kern="1200" dirty="0" err="1">
                <a:solidFill>
                  <a:schemeClr val="tx1"/>
                </a:solidFill>
                <a:effectLst/>
                <a:latin typeface="+mn-lt"/>
                <a:ea typeface="+mn-ea"/>
                <a:cs typeface="+mn-cs"/>
              </a:rPr>
              <a:t>endl</a:t>
            </a:r>
            <a:r>
              <a:rPr lang="pt-BR" sz="1200" b="0" kern="1200" dirty="0">
                <a:solidFill>
                  <a:schemeClr val="tx1"/>
                </a:solidFill>
                <a:effectLst/>
                <a:latin typeface="+mn-lt"/>
                <a:ea typeface="+mn-ea"/>
                <a:cs typeface="+mn-cs"/>
              </a:rPr>
              <a:t>;</a:t>
            </a:r>
          </a:p>
          <a:p>
            <a:r>
              <a:rPr lang="pt-BR" sz="1200" b="0" kern="1200" dirty="0">
                <a:solidFill>
                  <a:schemeClr val="tx1"/>
                </a:solidFill>
                <a:effectLst/>
                <a:latin typeface="+mn-lt"/>
                <a:ea typeface="+mn-ea"/>
                <a:cs typeface="+mn-cs"/>
              </a:rPr>
              <a:t>	for (i=0; i&lt;6; i++)</a:t>
            </a:r>
          </a:p>
          <a:p>
            <a:r>
              <a:rPr lang="pt-BR" sz="1200" b="0" kern="1200" dirty="0">
                <a:solidFill>
                  <a:schemeClr val="tx1"/>
                </a:solidFill>
                <a:effectLst/>
                <a:latin typeface="+mn-lt"/>
                <a:ea typeface="+mn-ea"/>
                <a:cs typeface="+mn-cs"/>
              </a:rPr>
              <a:t>		</a:t>
            </a:r>
            <a:r>
              <a:rPr lang="pt-BR" sz="1200" b="0" kern="1200" dirty="0" err="1">
                <a:solidFill>
                  <a:schemeClr val="tx1"/>
                </a:solidFill>
                <a:effectLst/>
                <a:latin typeface="+mn-lt"/>
                <a:ea typeface="+mn-ea"/>
                <a:cs typeface="+mn-cs"/>
              </a:rPr>
              <a:t>cout</a:t>
            </a:r>
            <a:r>
              <a:rPr lang="pt-BR" sz="1200" b="0" kern="1200" dirty="0">
                <a:solidFill>
                  <a:schemeClr val="tx1"/>
                </a:solidFill>
                <a:effectLst/>
                <a:latin typeface="+mn-lt"/>
                <a:ea typeface="+mn-ea"/>
                <a:cs typeface="+mn-cs"/>
              </a:rPr>
              <a:t> &lt;&lt; C[i] &lt;&lt; " ";   //Imprimir Vector C</a:t>
            </a:r>
          </a:p>
          <a:p>
            <a:r>
              <a:rPr lang="pt-BR" sz="1200" b="0" kern="1200" dirty="0">
                <a:solidFill>
                  <a:schemeClr val="tx1"/>
                </a:solidFill>
                <a:effectLst/>
                <a:latin typeface="+mn-lt"/>
                <a:ea typeface="+mn-ea"/>
                <a:cs typeface="+mn-cs"/>
              </a:rPr>
              <a:t>  </a:t>
            </a:r>
          </a:p>
          <a:p>
            <a:r>
              <a:rPr lang="pt-BR" sz="1200" b="0" kern="1200" dirty="0">
                <a:solidFill>
                  <a:schemeClr val="tx1"/>
                </a:solidFill>
                <a:effectLst/>
                <a:latin typeface="+mn-lt"/>
                <a:ea typeface="+mn-ea"/>
                <a:cs typeface="+mn-cs"/>
              </a:rPr>
              <a:t>	</a:t>
            </a:r>
            <a:r>
              <a:rPr lang="pt-BR" sz="1200" b="0" kern="1200" dirty="0" err="1">
                <a:solidFill>
                  <a:schemeClr val="tx1"/>
                </a:solidFill>
                <a:effectLst/>
                <a:latin typeface="+mn-lt"/>
                <a:ea typeface="+mn-ea"/>
                <a:cs typeface="+mn-cs"/>
              </a:rPr>
              <a:t>cout</a:t>
            </a:r>
            <a:r>
              <a:rPr lang="pt-BR" sz="1200" b="0" kern="1200" dirty="0">
                <a:solidFill>
                  <a:schemeClr val="tx1"/>
                </a:solidFill>
                <a:effectLst/>
                <a:latin typeface="+mn-lt"/>
                <a:ea typeface="+mn-ea"/>
                <a:cs typeface="+mn-cs"/>
              </a:rPr>
              <a:t> &lt;&lt; "\n\</a:t>
            </a:r>
            <a:r>
              <a:rPr lang="pt-BR" sz="1200" b="0" kern="1200" dirty="0" err="1">
                <a:solidFill>
                  <a:schemeClr val="tx1"/>
                </a:solidFill>
                <a:effectLst/>
                <a:latin typeface="+mn-lt"/>
                <a:ea typeface="+mn-ea"/>
                <a:cs typeface="+mn-cs"/>
              </a:rPr>
              <a:t>nVECTOR</a:t>
            </a:r>
            <a:r>
              <a:rPr lang="pt-BR" sz="1200" b="0" kern="1200" dirty="0">
                <a:solidFill>
                  <a:schemeClr val="tx1"/>
                </a:solidFill>
                <a:effectLst/>
                <a:latin typeface="+mn-lt"/>
                <a:ea typeface="+mn-ea"/>
                <a:cs typeface="+mn-cs"/>
              </a:rPr>
              <a:t> D (char): " &lt;&lt; </a:t>
            </a:r>
            <a:r>
              <a:rPr lang="pt-BR" sz="1200" b="0" kern="1200" dirty="0" err="1">
                <a:solidFill>
                  <a:schemeClr val="tx1"/>
                </a:solidFill>
                <a:effectLst/>
                <a:latin typeface="+mn-lt"/>
                <a:ea typeface="+mn-ea"/>
                <a:cs typeface="+mn-cs"/>
              </a:rPr>
              <a:t>endl</a:t>
            </a:r>
            <a:r>
              <a:rPr lang="pt-BR" sz="1200" b="0" kern="1200" dirty="0">
                <a:solidFill>
                  <a:schemeClr val="tx1"/>
                </a:solidFill>
                <a:effectLst/>
                <a:latin typeface="+mn-lt"/>
                <a:ea typeface="+mn-ea"/>
                <a:cs typeface="+mn-cs"/>
              </a:rPr>
              <a:t>;</a:t>
            </a:r>
          </a:p>
          <a:p>
            <a:r>
              <a:rPr lang="pt-BR" sz="1200" b="0" kern="1200" dirty="0">
                <a:solidFill>
                  <a:schemeClr val="tx1"/>
                </a:solidFill>
                <a:effectLst/>
                <a:latin typeface="+mn-lt"/>
                <a:ea typeface="+mn-ea"/>
                <a:cs typeface="+mn-cs"/>
              </a:rPr>
              <a:t>	for (i=0; i&lt;6; i++)</a:t>
            </a:r>
          </a:p>
          <a:p>
            <a:r>
              <a:rPr lang="pt-BR" sz="1200" b="0" kern="1200" dirty="0">
                <a:solidFill>
                  <a:schemeClr val="tx1"/>
                </a:solidFill>
                <a:effectLst/>
                <a:latin typeface="+mn-lt"/>
                <a:ea typeface="+mn-ea"/>
                <a:cs typeface="+mn-cs"/>
              </a:rPr>
              <a:t>		</a:t>
            </a:r>
            <a:r>
              <a:rPr lang="pt-BR" sz="1200" b="0" kern="1200" dirty="0" err="1">
                <a:solidFill>
                  <a:schemeClr val="tx1"/>
                </a:solidFill>
                <a:effectLst/>
                <a:latin typeface="+mn-lt"/>
                <a:ea typeface="+mn-ea"/>
                <a:cs typeface="+mn-cs"/>
              </a:rPr>
              <a:t>cout</a:t>
            </a:r>
            <a:r>
              <a:rPr lang="pt-BR" sz="1200" b="0" kern="1200" dirty="0">
                <a:solidFill>
                  <a:schemeClr val="tx1"/>
                </a:solidFill>
                <a:effectLst/>
                <a:latin typeface="+mn-lt"/>
                <a:ea typeface="+mn-ea"/>
                <a:cs typeface="+mn-cs"/>
              </a:rPr>
              <a:t> &lt;&lt; D[i] &lt;&lt; " ";   //Imprimir Vector D  </a:t>
            </a:r>
          </a:p>
          <a:p>
            <a:r>
              <a:rPr lang="pt-BR" sz="1200" b="0" kern="1200" dirty="0">
                <a:solidFill>
                  <a:schemeClr val="tx1"/>
                </a:solidFill>
                <a:effectLst/>
                <a:latin typeface="+mn-lt"/>
                <a:ea typeface="+mn-ea"/>
                <a:cs typeface="+mn-cs"/>
              </a:rPr>
              <a:t>}</a:t>
            </a:r>
            <a:endParaRPr lang="es-CO" sz="1200" b="0" kern="1200" dirty="0">
              <a:solidFill>
                <a:schemeClr val="tx1"/>
              </a:solidFill>
              <a:effectLst/>
              <a:latin typeface="+mn-lt"/>
              <a:ea typeface="+mn-ea"/>
              <a:cs typeface="+mn-cs"/>
            </a:endParaRPr>
          </a:p>
        </p:txBody>
      </p:sp>
      <p:sp>
        <p:nvSpPr>
          <p:cNvPr id="4" name="Marcador de número de diapositiva 3"/>
          <p:cNvSpPr>
            <a:spLocks noGrp="1"/>
          </p:cNvSpPr>
          <p:nvPr>
            <p:ph type="sldNum" sz="quarter" idx="5"/>
          </p:nvPr>
        </p:nvSpPr>
        <p:spPr/>
        <p:txBody>
          <a:bodyPr/>
          <a:lstStyle/>
          <a:p>
            <a:fld id="{6EBFF732-773A-4839-B774-230B46601DA8}" type="slidenum">
              <a:rPr lang="es-CO" smtClean="0"/>
              <a:t>19</a:t>
            </a:fld>
            <a:endParaRPr lang="es-CO"/>
          </a:p>
        </p:txBody>
      </p:sp>
    </p:spTree>
    <p:extLst>
      <p:ext uri="{BB962C8B-B14F-4D97-AF65-F5344CB8AC3E}">
        <p14:creationId xmlns:p14="http://schemas.microsoft.com/office/powerpoint/2010/main" val="35042548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O" sz="1200" b="1" kern="1200" dirty="0">
                <a:solidFill>
                  <a:schemeClr val="tx1"/>
                </a:solidFill>
                <a:effectLst/>
                <a:latin typeface="+mn-lt"/>
                <a:ea typeface="+mn-ea"/>
                <a:cs typeface="+mn-cs"/>
              </a:rPr>
              <a:t>/*CÓDIGO FUENTE*/</a:t>
            </a:r>
          </a:p>
          <a:p>
            <a:r>
              <a:rPr lang="es-CO" sz="1200" b="0" kern="1200" dirty="0">
                <a:solidFill>
                  <a:schemeClr val="tx1"/>
                </a:solidFill>
                <a:effectLst/>
                <a:latin typeface="+mn-lt"/>
                <a:ea typeface="+mn-ea"/>
                <a:cs typeface="+mn-cs"/>
              </a:rPr>
              <a:t>/*Llenar un vector de N posiciones con  números aleatorios </a:t>
            </a:r>
          </a:p>
          <a:p>
            <a:r>
              <a:rPr lang="es-CO" sz="1200" b="0" kern="1200" dirty="0">
                <a:solidFill>
                  <a:schemeClr val="tx1"/>
                </a:solidFill>
                <a:effectLst/>
                <a:latin typeface="+mn-lt"/>
                <a:ea typeface="+mn-ea"/>
                <a:cs typeface="+mn-cs"/>
              </a:rPr>
              <a:t>  e imprimirlos en sentido inverso*/</a:t>
            </a:r>
          </a:p>
          <a:p>
            <a:r>
              <a:rPr lang="es-CO" sz="1200" b="0" kern="1200" dirty="0">
                <a:solidFill>
                  <a:schemeClr val="tx1"/>
                </a:solidFill>
                <a:effectLst/>
                <a:latin typeface="+mn-lt"/>
                <a:ea typeface="+mn-ea"/>
                <a:cs typeface="+mn-cs"/>
              </a:rPr>
              <a:t>#</a:t>
            </a:r>
            <a:r>
              <a:rPr lang="es-CO" sz="1200" b="0" kern="1200" dirty="0" err="1">
                <a:solidFill>
                  <a:schemeClr val="tx1"/>
                </a:solidFill>
                <a:effectLst/>
                <a:latin typeface="+mn-lt"/>
                <a:ea typeface="+mn-ea"/>
                <a:cs typeface="+mn-cs"/>
              </a:rPr>
              <a:t>include</a:t>
            </a:r>
            <a:r>
              <a:rPr lang="es-CO" sz="1200" b="0" kern="1200" dirty="0">
                <a:solidFill>
                  <a:schemeClr val="tx1"/>
                </a:solidFill>
                <a:effectLst/>
                <a:latin typeface="+mn-lt"/>
                <a:ea typeface="+mn-ea"/>
                <a:cs typeface="+mn-cs"/>
              </a:rPr>
              <a:t>&lt;iostream&gt;</a:t>
            </a:r>
          </a:p>
          <a:p>
            <a:r>
              <a:rPr lang="es-CO" sz="1200" b="0" kern="1200" dirty="0">
                <a:solidFill>
                  <a:schemeClr val="tx1"/>
                </a:solidFill>
                <a:effectLst/>
                <a:latin typeface="+mn-lt"/>
                <a:ea typeface="+mn-ea"/>
                <a:cs typeface="+mn-cs"/>
              </a:rPr>
              <a:t>#</a:t>
            </a:r>
            <a:r>
              <a:rPr lang="es-CO" sz="1200" b="0" kern="1200" dirty="0" err="1">
                <a:solidFill>
                  <a:schemeClr val="tx1"/>
                </a:solidFill>
                <a:effectLst/>
                <a:latin typeface="+mn-lt"/>
                <a:ea typeface="+mn-ea"/>
                <a:cs typeface="+mn-cs"/>
              </a:rPr>
              <a:t>include</a:t>
            </a:r>
            <a:r>
              <a:rPr lang="es-CO" sz="1200" b="0" kern="1200" dirty="0">
                <a:solidFill>
                  <a:schemeClr val="tx1"/>
                </a:solidFill>
                <a:effectLst/>
                <a:latin typeface="+mn-lt"/>
                <a:ea typeface="+mn-ea"/>
                <a:cs typeface="+mn-cs"/>
              </a:rPr>
              <a:t>&lt;</a:t>
            </a:r>
            <a:r>
              <a:rPr lang="es-CO" sz="1200" b="0" kern="1200" dirty="0" err="1">
                <a:solidFill>
                  <a:schemeClr val="tx1"/>
                </a:solidFill>
                <a:effectLst/>
                <a:latin typeface="+mn-lt"/>
                <a:ea typeface="+mn-ea"/>
                <a:cs typeface="+mn-cs"/>
              </a:rPr>
              <a:t>ctime</a:t>
            </a:r>
            <a:r>
              <a:rPr lang="es-CO" sz="1200" b="0" kern="1200" dirty="0">
                <a:solidFill>
                  <a:schemeClr val="tx1"/>
                </a:solidFill>
                <a:effectLst/>
                <a:latin typeface="+mn-lt"/>
                <a:ea typeface="+mn-ea"/>
                <a:cs typeface="+mn-cs"/>
              </a:rPr>
              <a:t>&gt;</a:t>
            </a:r>
          </a:p>
          <a:p>
            <a:r>
              <a:rPr lang="es-CO" sz="1200" b="0" kern="1200" dirty="0">
                <a:solidFill>
                  <a:schemeClr val="tx1"/>
                </a:solidFill>
                <a:effectLst/>
                <a:latin typeface="+mn-lt"/>
                <a:ea typeface="+mn-ea"/>
                <a:cs typeface="+mn-cs"/>
              </a:rPr>
              <a:t>#</a:t>
            </a:r>
            <a:r>
              <a:rPr lang="es-CO" sz="1200" b="0" kern="1200" dirty="0" err="1">
                <a:solidFill>
                  <a:schemeClr val="tx1"/>
                </a:solidFill>
                <a:effectLst/>
                <a:latin typeface="+mn-lt"/>
                <a:ea typeface="+mn-ea"/>
                <a:cs typeface="+mn-cs"/>
              </a:rPr>
              <a:t>include</a:t>
            </a:r>
            <a:r>
              <a:rPr lang="es-CO" sz="1200" b="0" kern="1200" dirty="0">
                <a:solidFill>
                  <a:schemeClr val="tx1"/>
                </a:solidFill>
                <a:effectLst/>
                <a:latin typeface="+mn-lt"/>
                <a:ea typeface="+mn-ea"/>
                <a:cs typeface="+mn-cs"/>
              </a:rPr>
              <a:t>&lt;</a:t>
            </a:r>
            <a:r>
              <a:rPr lang="es-CO" sz="1200" b="0" kern="1200" dirty="0" err="1">
                <a:solidFill>
                  <a:schemeClr val="tx1"/>
                </a:solidFill>
                <a:effectLst/>
                <a:latin typeface="+mn-lt"/>
                <a:ea typeface="+mn-ea"/>
                <a:cs typeface="+mn-cs"/>
              </a:rPr>
              <a:t>cstdlib</a:t>
            </a:r>
            <a:r>
              <a:rPr lang="es-CO" sz="1200" b="0" kern="1200" dirty="0">
                <a:solidFill>
                  <a:schemeClr val="tx1"/>
                </a:solidFill>
                <a:effectLst/>
                <a:latin typeface="+mn-lt"/>
                <a:ea typeface="+mn-ea"/>
                <a:cs typeface="+mn-cs"/>
              </a:rPr>
              <a:t>&gt;</a:t>
            </a:r>
          </a:p>
          <a:p>
            <a:r>
              <a:rPr lang="es-CO" sz="1200" b="0" kern="1200" dirty="0" err="1">
                <a:solidFill>
                  <a:schemeClr val="tx1"/>
                </a:solidFill>
                <a:effectLst/>
                <a:latin typeface="+mn-lt"/>
                <a:ea typeface="+mn-ea"/>
                <a:cs typeface="+mn-cs"/>
              </a:rPr>
              <a:t>using</a:t>
            </a:r>
            <a:r>
              <a:rPr lang="es-CO" sz="1200" b="0" kern="1200" dirty="0">
                <a:solidFill>
                  <a:schemeClr val="tx1"/>
                </a:solidFill>
                <a:effectLst/>
                <a:latin typeface="+mn-lt"/>
                <a:ea typeface="+mn-ea"/>
                <a:cs typeface="+mn-cs"/>
              </a:rPr>
              <a:t> namespace </a:t>
            </a:r>
            <a:r>
              <a:rPr lang="es-CO" sz="1200" b="0" kern="1200" dirty="0" err="1">
                <a:solidFill>
                  <a:schemeClr val="tx1"/>
                </a:solidFill>
                <a:effectLst/>
                <a:latin typeface="+mn-lt"/>
                <a:ea typeface="+mn-ea"/>
                <a:cs typeface="+mn-cs"/>
              </a:rPr>
              <a:t>std</a:t>
            </a:r>
            <a:r>
              <a:rPr lang="es-CO" sz="1200" b="0" kern="1200" dirty="0">
                <a:solidFill>
                  <a:schemeClr val="tx1"/>
                </a:solidFill>
                <a:effectLst/>
                <a:latin typeface="+mn-lt"/>
                <a:ea typeface="+mn-ea"/>
                <a:cs typeface="+mn-cs"/>
              </a:rPr>
              <a:t>;</a:t>
            </a:r>
          </a:p>
          <a:p>
            <a:endParaRPr lang="es-CO" sz="1200" b="0" kern="1200" dirty="0">
              <a:solidFill>
                <a:schemeClr val="tx1"/>
              </a:solidFill>
              <a:effectLst/>
              <a:latin typeface="+mn-lt"/>
              <a:ea typeface="+mn-ea"/>
              <a:cs typeface="+mn-cs"/>
            </a:endParaRPr>
          </a:p>
          <a:p>
            <a:r>
              <a:rPr lang="es-CO" sz="1200" b="0" kern="1200" dirty="0">
                <a:solidFill>
                  <a:schemeClr val="tx1"/>
                </a:solidFill>
                <a:effectLst/>
                <a:latin typeface="+mn-lt"/>
                <a:ea typeface="+mn-ea"/>
                <a:cs typeface="+mn-cs"/>
              </a:rPr>
              <a:t>int </a:t>
            </a:r>
            <a:r>
              <a:rPr lang="es-CO" sz="1200" b="0" kern="1200" dirty="0" err="1">
                <a:solidFill>
                  <a:schemeClr val="tx1"/>
                </a:solidFill>
                <a:effectLst/>
                <a:latin typeface="+mn-lt"/>
                <a:ea typeface="+mn-ea"/>
                <a:cs typeface="+mn-cs"/>
              </a:rPr>
              <a:t>main</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srand</a:t>
            </a:r>
            <a:r>
              <a:rPr lang="es-CO" sz="1200" b="0" kern="1200" dirty="0">
                <a:solidFill>
                  <a:schemeClr val="tx1"/>
                </a:solidFill>
                <a:effectLst/>
                <a:latin typeface="+mn-lt"/>
                <a:ea typeface="+mn-ea"/>
                <a:cs typeface="+mn-cs"/>
              </a:rPr>
              <a:t>(time(NULL));</a:t>
            </a:r>
          </a:p>
          <a:p>
            <a:r>
              <a:rPr lang="es-CO" sz="1200" b="0" kern="1200" dirty="0">
                <a:solidFill>
                  <a:schemeClr val="tx1"/>
                </a:solidFill>
                <a:effectLst/>
                <a:latin typeface="+mn-lt"/>
                <a:ea typeface="+mn-ea"/>
                <a:cs typeface="+mn-cs"/>
              </a:rPr>
              <a:t>    int N, i, *</a:t>
            </a:r>
            <a:r>
              <a:rPr lang="es-CO" sz="1200" b="0" kern="1200" dirty="0" err="1">
                <a:solidFill>
                  <a:schemeClr val="tx1"/>
                </a:solidFill>
                <a:effectLst/>
                <a:latin typeface="+mn-lt"/>
                <a:ea typeface="+mn-ea"/>
                <a:cs typeface="+mn-cs"/>
              </a:rPr>
              <a:t>num</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 &lt;&lt; "Digite el numero de posiciones: ";</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cin</a:t>
            </a:r>
            <a:r>
              <a:rPr lang="es-CO" sz="1200" b="0" kern="1200" dirty="0">
                <a:solidFill>
                  <a:schemeClr val="tx1"/>
                </a:solidFill>
                <a:effectLst/>
                <a:latin typeface="+mn-lt"/>
                <a:ea typeface="+mn-ea"/>
                <a:cs typeface="+mn-cs"/>
              </a:rPr>
              <a:t> &gt;&gt; N;	</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num</a:t>
            </a:r>
            <a:r>
              <a:rPr lang="es-CO" sz="1200" b="0" kern="1200" dirty="0">
                <a:solidFill>
                  <a:schemeClr val="tx1"/>
                </a:solidFill>
                <a:effectLst/>
                <a:latin typeface="+mn-lt"/>
                <a:ea typeface="+mn-ea"/>
                <a:cs typeface="+mn-cs"/>
              </a:rPr>
              <a:t> = new int[N];    </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&lt;&lt;"Arreglo en sentido normal"&lt;&lt;</a:t>
            </a:r>
            <a:r>
              <a:rPr lang="es-CO" sz="1200" b="0" kern="1200" dirty="0" err="1">
                <a:solidFill>
                  <a:schemeClr val="tx1"/>
                </a:solidFill>
                <a:effectLst/>
                <a:latin typeface="+mn-lt"/>
                <a:ea typeface="+mn-ea"/>
                <a:cs typeface="+mn-cs"/>
              </a:rPr>
              <a:t>endl</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for(i=0; i&lt;N; i++) {</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num</a:t>
            </a:r>
            <a:r>
              <a:rPr lang="es-CO" sz="1200" b="0" kern="1200" dirty="0">
                <a:solidFill>
                  <a:schemeClr val="tx1"/>
                </a:solidFill>
                <a:effectLst/>
                <a:latin typeface="+mn-lt"/>
                <a:ea typeface="+mn-ea"/>
                <a:cs typeface="+mn-cs"/>
              </a:rPr>
              <a:t>[i]=rand();        </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&lt;&lt; "</a:t>
            </a:r>
            <a:r>
              <a:rPr lang="es-CO" sz="1200" b="0" kern="1200" dirty="0" err="1">
                <a:solidFill>
                  <a:schemeClr val="tx1"/>
                </a:solidFill>
                <a:effectLst/>
                <a:latin typeface="+mn-lt"/>
                <a:ea typeface="+mn-ea"/>
                <a:cs typeface="+mn-cs"/>
              </a:rPr>
              <a:t>num</a:t>
            </a:r>
            <a:r>
              <a:rPr lang="es-CO" sz="1200" b="0" kern="1200" dirty="0">
                <a:solidFill>
                  <a:schemeClr val="tx1"/>
                </a:solidFill>
                <a:effectLst/>
                <a:latin typeface="+mn-lt"/>
                <a:ea typeface="+mn-ea"/>
                <a:cs typeface="+mn-cs"/>
              </a:rPr>
              <a:t>[" &lt;&lt; i &lt;&lt; "] = " &lt;&lt; </a:t>
            </a:r>
            <a:r>
              <a:rPr lang="es-CO" sz="1200" b="0" kern="1200" dirty="0" err="1">
                <a:solidFill>
                  <a:schemeClr val="tx1"/>
                </a:solidFill>
                <a:effectLst/>
                <a:latin typeface="+mn-lt"/>
                <a:ea typeface="+mn-ea"/>
                <a:cs typeface="+mn-cs"/>
              </a:rPr>
              <a:t>num</a:t>
            </a:r>
            <a:r>
              <a:rPr lang="es-CO" sz="1200" b="0" kern="1200" dirty="0">
                <a:solidFill>
                  <a:schemeClr val="tx1"/>
                </a:solidFill>
                <a:effectLst/>
                <a:latin typeface="+mn-lt"/>
                <a:ea typeface="+mn-ea"/>
                <a:cs typeface="+mn-cs"/>
              </a:rPr>
              <a:t>[i] &lt;&lt; </a:t>
            </a:r>
            <a:r>
              <a:rPr lang="es-CO" sz="1200" b="0" kern="1200" dirty="0" err="1">
                <a:solidFill>
                  <a:schemeClr val="tx1"/>
                </a:solidFill>
                <a:effectLst/>
                <a:latin typeface="+mn-lt"/>
                <a:ea typeface="+mn-ea"/>
                <a:cs typeface="+mn-cs"/>
              </a:rPr>
              <a:t>endl</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 &lt;&lt; "\</a:t>
            </a:r>
            <a:r>
              <a:rPr lang="es-CO" sz="1200" b="0" kern="1200" dirty="0" err="1">
                <a:solidFill>
                  <a:schemeClr val="tx1"/>
                </a:solidFill>
                <a:effectLst/>
                <a:latin typeface="+mn-lt"/>
                <a:ea typeface="+mn-ea"/>
                <a:cs typeface="+mn-cs"/>
              </a:rPr>
              <a:t>nArreglo</a:t>
            </a:r>
            <a:r>
              <a:rPr lang="es-CO" sz="1200" b="0" kern="1200" dirty="0">
                <a:solidFill>
                  <a:schemeClr val="tx1"/>
                </a:solidFill>
                <a:effectLst/>
                <a:latin typeface="+mn-lt"/>
                <a:ea typeface="+mn-ea"/>
                <a:cs typeface="+mn-cs"/>
              </a:rPr>
              <a:t> en sentido inverso" &lt;&lt; </a:t>
            </a:r>
            <a:r>
              <a:rPr lang="es-CO" sz="1200" b="0" kern="1200" dirty="0" err="1">
                <a:solidFill>
                  <a:schemeClr val="tx1"/>
                </a:solidFill>
                <a:effectLst/>
                <a:latin typeface="+mn-lt"/>
                <a:ea typeface="+mn-ea"/>
                <a:cs typeface="+mn-cs"/>
              </a:rPr>
              <a:t>endl</a:t>
            </a:r>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for(i=N-1; i&gt;=0; i--) {</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&lt;&lt; "</a:t>
            </a:r>
            <a:r>
              <a:rPr lang="es-CO" sz="1200" b="0" kern="1200" dirty="0" err="1">
                <a:solidFill>
                  <a:schemeClr val="tx1"/>
                </a:solidFill>
                <a:effectLst/>
                <a:latin typeface="+mn-lt"/>
                <a:ea typeface="+mn-ea"/>
                <a:cs typeface="+mn-cs"/>
              </a:rPr>
              <a:t>num</a:t>
            </a:r>
            <a:r>
              <a:rPr lang="es-CO" sz="1200" b="0" kern="1200" dirty="0">
                <a:solidFill>
                  <a:schemeClr val="tx1"/>
                </a:solidFill>
                <a:effectLst/>
                <a:latin typeface="+mn-lt"/>
                <a:ea typeface="+mn-ea"/>
                <a:cs typeface="+mn-cs"/>
              </a:rPr>
              <a:t>[" &lt;&lt; i &lt;&lt; "] = " &lt;&lt; </a:t>
            </a:r>
            <a:r>
              <a:rPr lang="es-CO" sz="1200" b="0" kern="1200" dirty="0" err="1">
                <a:solidFill>
                  <a:schemeClr val="tx1"/>
                </a:solidFill>
                <a:effectLst/>
                <a:latin typeface="+mn-lt"/>
                <a:ea typeface="+mn-ea"/>
                <a:cs typeface="+mn-cs"/>
              </a:rPr>
              <a:t>num</a:t>
            </a:r>
            <a:r>
              <a:rPr lang="es-CO" sz="1200" b="0" kern="1200" dirty="0">
                <a:solidFill>
                  <a:schemeClr val="tx1"/>
                </a:solidFill>
                <a:effectLst/>
                <a:latin typeface="+mn-lt"/>
                <a:ea typeface="+mn-ea"/>
                <a:cs typeface="+mn-cs"/>
              </a:rPr>
              <a:t>[i] &lt;&lt; </a:t>
            </a:r>
            <a:r>
              <a:rPr lang="es-CO" sz="1200" b="0" kern="1200" dirty="0" err="1">
                <a:solidFill>
                  <a:schemeClr val="tx1"/>
                </a:solidFill>
                <a:effectLst/>
                <a:latin typeface="+mn-lt"/>
                <a:ea typeface="+mn-ea"/>
                <a:cs typeface="+mn-cs"/>
              </a:rPr>
              <a:t>endl</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return</a:t>
            </a:r>
            <a:r>
              <a:rPr lang="es-CO" sz="1200" b="0" kern="1200" dirty="0">
                <a:solidFill>
                  <a:schemeClr val="tx1"/>
                </a:solidFill>
                <a:effectLst/>
                <a:latin typeface="+mn-lt"/>
                <a:ea typeface="+mn-ea"/>
                <a:cs typeface="+mn-cs"/>
              </a:rPr>
              <a:t> 0;</a:t>
            </a:r>
          </a:p>
          <a:p>
            <a:r>
              <a:rPr lang="es-CO" sz="1200" b="0" kern="1200" dirty="0">
                <a:solidFill>
                  <a:schemeClr val="tx1"/>
                </a:solidFill>
                <a:effectLst/>
                <a:latin typeface="+mn-lt"/>
                <a:ea typeface="+mn-ea"/>
                <a:cs typeface="+mn-cs"/>
              </a:rPr>
              <a:t>}</a:t>
            </a:r>
          </a:p>
        </p:txBody>
      </p:sp>
      <p:sp>
        <p:nvSpPr>
          <p:cNvPr id="4" name="Marcador de número de diapositiva 3"/>
          <p:cNvSpPr>
            <a:spLocks noGrp="1"/>
          </p:cNvSpPr>
          <p:nvPr>
            <p:ph type="sldNum" sz="quarter" idx="5"/>
          </p:nvPr>
        </p:nvSpPr>
        <p:spPr/>
        <p:txBody>
          <a:bodyPr/>
          <a:lstStyle/>
          <a:p>
            <a:fld id="{6EBFF732-773A-4839-B774-230B46601DA8}" type="slidenum">
              <a:rPr lang="es-CO" smtClean="0"/>
              <a:t>20</a:t>
            </a:fld>
            <a:endParaRPr lang="es-CO"/>
          </a:p>
        </p:txBody>
      </p:sp>
    </p:spTree>
    <p:extLst>
      <p:ext uri="{BB962C8B-B14F-4D97-AF65-F5344CB8AC3E}">
        <p14:creationId xmlns:p14="http://schemas.microsoft.com/office/powerpoint/2010/main" val="29850625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O" b="1" dirty="0"/>
              <a:t>/*CÓDIGO FUENTE*/</a:t>
            </a:r>
          </a:p>
          <a:p>
            <a:r>
              <a:rPr lang="es-CO" sz="1200" b="0" kern="1200" dirty="0">
                <a:solidFill>
                  <a:schemeClr val="tx1"/>
                </a:solidFill>
                <a:effectLst/>
                <a:latin typeface="+mn-lt"/>
                <a:ea typeface="+mn-ea"/>
                <a:cs typeface="+mn-cs"/>
              </a:rPr>
              <a:t>/*MAYOR Y MENOR DE UN VECTOR*/</a:t>
            </a:r>
          </a:p>
          <a:p>
            <a:r>
              <a:rPr lang="es-CO" sz="1200" b="0" kern="1200" dirty="0">
                <a:solidFill>
                  <a:schemeClr val="tx1"/>
                </a:solidFill>
                <a:effectLst/>
                <a:latin typeface="+mn-lt"/>
                <a:ea typeface="+mn-ea"/>
                <a:cs typeface="+mn-cs"/>
              </a:rPr>
              <a:t>#</a:t>
            </a:r>
            <a:r>
              <a:rPr lang="es-CO" sz="1200" b="0" kern="1200" dirty="0" err="1">
                <a:solidFill>
                  <a:schemeClr val="tx1"/>
                </a:solidFill>
                <a:effectLst/>
                <a:latin typeface="+mn-lt"/>
                <a:ea typeface="+mn-ea"/>
                <a:cs typeface="+mn-cs"/>
              </a:rPr>
              <a:t>include</a:t>
            </a:r>
            <a:r>
              <a:rPr lang="es-CO" sz="1200" b="0" kern="1200" dirty="0">
                <a:solidFill>
                  <a:schemeClr val="tx1"/>
                </a:solidFill>
                <a:effectLst/>
                <a:latin typeface="+mn-lt"/>
                <a:ea typeface="+mn-ea"/>
                <a:cs typeface="+mn-cs"/>
              </a:rPr>
              <a:t>&lt;iostream&gt;</a:t>
            </a:r>
          </a:p>
          <a:p>
            <a:r>
              <a:rPr lang="es-CO" sz="1200" b="0" kern="1200" dirty="0" err="1">
                <a:solidFill>
                  <a:schemeClr val="tx1"/>
                </a:solidFill>
                <a:effectLst/>
                <a:latin typeface="+mn-lt"/>
                <a:ea typeface="+mn-ea"/>
                <a:cs typeface="+mn-cs"/>
              </a:rPr>
              <a:t>using</a:t>
            </a:r>
            <a:r>
              <a:rPr lang="es-CO" sz="1200" b="0" kern="1200" dirty="0">
                <a:solidFill>
                  <a:schemeClr val="tx1"/>
                </a:solidFill>
                <a:effectLst/>
                <a:latin typeface="+mn-lt"/>
                <a:ea typeface="+mn-ea"/>
                <a:cs typeface="+mn-cs"/>
              </a:rPr>
              <a:t> namespace </a:t>
            </a:r>
            <a:r>
              <a:rPr lang="es-CO" sz="1200" b="0" kern="1200" dirty="0" err="1">
                <a:solidFill>
                  <a:schemeClr val="tx1"/>
                </a:solidFill>
                <a:effectLst/>
                <a:latin typeface="+mn-lt"/>
                <a:ea typeface="+mn-ea"/>
                <a:cs typeface="+mn-cs"/>
              </a:rPr>
              <a:t>std</a:t>
            </a:r>
            <a:r>
              <a:rPr lang="es-CO" sz="1200" b="0" kern="1200" dirty="0">
                <a:solidFill>
                  <a:schemeClr val="tx1"/>
                </a:solidFill>
                <a:effectLst/>
                <a:latin typeface="+mn-lt"/>
                <a:ea typeface="+mn-ea"/>
                <a:cs typeface="+mn-cs"/>
              </a:rPr>
              <a:t>;</a:t>
            </a:r>
          </a:p>
          <a:p>
            <a:br>
              <a:rPr lang="es-CO" sz="1200" b="0" kern="1200" dirty="0">
                <a:solidFill>
                  <a:schemeClr val="tx1"/>
                </a:solidFill>
                <a:effectLst/>
                <a:latin typeface="+mn-lt"/>
                <a:ea typeface="+mn-ea"/>
                <a:cs typeface="+mn-cs"/>
              </a:rPr>
            </a:br>
            <a:r>
              <a:rPr lang="es-CO" sz="1200" b="0" kern="1200" dirty="0">
                <a:solidFill>
                  <a:schemeClr val="tx1"/>
                </a:solidFill>
                <a:effectLst/>
                <a:latin typeface="+mn-lt"/>
                <a:ea typeface="+mn-ea"/>
                <a:cs typeface="+mn-cs"/>
              </a:rPr>
              <a:t>int </a:t>
            </a:r>
            <a:r>
              <a:rPr lang="es-CO" sz="1200" b="0" kern="1200" dirty="0" err="1">
                <a:solidFill>
                  <a:schemeClr val="tx1"/>
                </a:solidFill>
                <a:effectLst/>
                <a:latin typeface="+mn-lt"/>
                <a:ea typeface="+mn-ea"/>
                <a:cs typeface="+mn-cs"/>
              </a:rPr>
              <a:t>main</a:t>
            </a:r>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int PUNT[8] = {48,71,35,80,49,69,75,22};  </a:t>
            </a:r>
          </a:p>
          <a:p>
            <a:r>
              <a:rPr lang="es-CO" sz="1200" b="0" kern="1200" dirty="0">
                <a:solidFill>
                  <a:schemeClr val="tx1"/>
                </a:solidFill>
                <a:effectLst/>
                <a:latin typeface="+mn-lt"/>
                <a:ea typeface="+mn-ea"/>
                <a:cs typeface="+mn-cs"/>
              </a:rPr>
              <a:t>  int MEN = PUNT[0], MAY=PUNT[0];</a:t>
            </a:r>
          </a:p>
          <a:p>
            <a:r>
              <a:rPr lang="es-CO" sz="1200" b="0" kern="1200" dirty="0">
                <a:solidFill>
                  <a:schemeClr val="tx1"/>
                </a:solidFill>
                <a:effectLst/>
                <a:latin typeface="+mn-lt"/>
                <a:ea typeface="+mn-ea"/>
                <a:cs typeface="+mn-cs"/>
              </a:rPr>
              <a:t>  int POS = 0, POS2 = 0;</a:t>
            </a:r>
          </a:p>
          <a:p>
            <a:r>
              <a:rPr lang="es-CO" sz="1200" b="0" kern="1200" dirty="0">
                <a:solidFill>
                  <a:schemeClr val="tx1"/>
                </a:solidFill>
                <a:effectLst/>
                <a:latin typeface="+mn-lt"/>
                <a:ea typeface="+mn-ea"/>
                <a:cs typeface="+mn-cs"/>
              </a:rPr>
              <a:t>  for (int i=1; i&lt;8; i++) {</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if</a:t>
            </a:r>
            <a:r>
              <a:rPr lang="es-CO" sz="1200" b="0" kern="1200" dirty="0">
                <a:solidFill>
                  <a:schemeClr val="tx1"/>
                </a:solidFill>
                <a:effectLst/>
                <a:latin typeface="+mn-lt"/>
                <a:ea typeface="+mn-ea"/>
                <a:cs typeface="+mn-cs"/>
              </a:rPr>
              <a:t> (PUNT[i] &lt; MEN) {</a:t>
            </a:r>
          </a:p>
          <a:p>
            <a:r>
              <a:rPr lang="es-CO" sz="1200" b="0" kern="1200" dirty="0">
                <a:solidFill>
                  <a:schemeClr val="tx1"/>
                </a:solidFill>
                <a:effectLst/>
                <a:latin typeface="+mn-lt"/>
                <a:ea typeface="+mn-ea"/>
                <a:cs typeface="+mn-cs"/>
              </a:rPr>
              <a:t>      MEN = PUNT[i];</a:t>
            </a:r>
          </a:p>
          <a:p>
            <a:r>
              <a:rPr lang="es-CO" sz="1200" b="0" kern="1200" dirty="0">
                <a:solidFill>
                  <a:schemeClr val="tx1"/>
                </a:solidFill>
                <a:effectLst/>
                <a:latin typeface="+mn-lt"/>
                <a:ea typeface="+mn-ea"/>
                <a:cs typeface="+mn-cs"/>
              </a:rPr>
              <a:t>      POS = i;</a:t>
            </a:r>
          </a:p>
          <a:p>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if</a:t>
            </a:r>
            <a:r>
              <a:rPr lang="es-CO" sz="1200" b="0" kern="1200" dirty="0">
                <a:solidFill>
                  <a:schemeClr val="tx1"/>
                </a:solidFill>
                <a:effectLst/>
                <a:latin typeface="+mn-lt"/>
                <a:ea typeface="+mn-ea"/>
                <a:cs typeface="+mn-cs"/>
              </a:rPr>
              <a:t> (PUNT[i] &gt; MAY) {</a:t>
            </a:r>
          </a:p>
          <a:p>
            <a:r>
              <a:rPr lang="es-CO" sz="1200" b="0" kern="1200" dirty="0">
                <a:solidFill>
                  <a:schemeClr val="tx1"/>
                </a:solidFill>
                <a:effectLst/>
                <a:latin typeface="+mn-lt"/>
                <a:ea typeface="+mn-ea"/>
                <a:cs typeface="+mn-cs"/>
              </a:rPr>
              <a:t>      MAY = PUNT[i];</a:t>
            </a:r>
          </a:p>
          <a:p>
            <a:r>
              <a:rPr lang="es-CO" sz="1200" b="0" kern="1200" dirty="0">
                <a:solidFill>
                  <a:schemeClr val="tx1"/>
                </a:solidFill>
                <a:effectLst/>
                <a:latin typeface="+mn-lt"/>
                <a:ea typeface="+mn-ea"/>
                <a:cs typeface="+mn-cs"/>
              </a:rPr>
              <a:t>      POS2 = i;</a:t>
            </a:r>
          </a:p>
          <a:p>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&lt;&lt;"MENOR "&lt;&lt;MEN&lt;&lt;" EN POSICIÓN " &lt;&lt; POS &lt;&lt; </a:t>
            </a:r>
            <a:r>
              <a:rPr lang="es-CO" sz="1200" b="0" kern="1200" dirty="0" err="1">
                <a:solidFill>
                  <a:schemeClr val="tx1"/>
                </a:solidFill>
                <a:effectLst/>
                <a:latin typeface="+mn-lt"/>
                <a:ea typeface="+mn-ea"/>
                <a:cs typeface="+mn-cs"/>
              </a:rPr>
              <a:t>endl</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&lt;&lt;"MAYOR "&lt;&lt;MAY&lt;&lt;" EN POSICIÓN " &lt;&lt; POS2 &lt;&lt; </a:t>
            </a:r>
            <a:r>
              <a:rPr lang="es-CO" sz="1200" b="0" kern="1200" dirty="0" err="1">
                <a:solidFill>
                  <a:schemeClr val="tx1"/>
                </a:solidFill>
                <a:effectLst/>
                <a:latin typeface="+mn-lt"/>
                <a:ea typeface="+mn-ea"/>
                <a:cs typeface="+mn-cs"/>
              </a:rPr>
              <a:t>endl</a:t>
            </a:r>
            <a:r>
              <a:rPr lang="es-CO" sz="1200" b="0" kern="1200" dirty="0">
                <a:solidFill>
                  <a:schemeClr val="tx1"/>
                </a:solidFill>
                <a:effectLst/>
                <a:latin typeface="+mn-lt"/>
                <a:ea typeface="+mn-ea"/>
                <a:cs typeface="+mn-cs"/>
              </a:rPr>
              <a:t>;</a:t>
            </a:r>
          </a:p>
          <a:p>
            <a:r>
              <a:rPr lang="es-CO" sz="1200" b="0" kern="1200" dirty="0" err="1">
                <a:solidFill>
                  <a:schemeClr val="tx1"/>
                </a:solidFill>
                <a:effectLst/>
                <a:latin typeface="+mn-lt"/>
                <a:ea typeface="+mn-ea"/>
                <a:cs typeface="+mn-cs"/>
              </a:rPr>
              <a:t>return</a:t>
            </a:r>
            <a:r>
              <a:rPr lang="es-CO" sz="1200" b="0" kern="1200" dirty="0">
                <a:solidFill>
                  <a:schemeClr val="tx1"/>
                </a:solidFill>
                <a:effectLst/>
                <a:latin typeface="+mn-lt"/>
                <a:ea typeface="+mn-ea"/>
                <a:cs typeface="+mn-cs"/>
              </a:rPr>
              <a:t> 0;</a:t>
            </a:r>
          </a:p>
          <a:p>
            <a:r>
              <a:rPr lang="es-CO" sz="1200" b="0" kern="1200" dirty="0">
                <a:solidFill>
                  <a:schemeClr val="tx1"/>
                </a:solidFill>
                <a:effectLst/>
                <a:latin typeface="+mn-lt"/>
                <a:ea typeface="+mn-ea"/>
                <a:cs typeface="+mn-cs"/>
              </a:rPr>
              <a:t>}</a:t>
            </a:r>
          </a:p>
          <a:p>
            <a:endParaRPr lang="es-CO" dirty="0"/>
          </a:p>
        </p:txBody>
      </p:sp>
      <p:sp>
        <p:nvSpPr>
          <p:cNvPr id="4" name="Marcador de número de diapositiva 3"/>
          <p:cNvSpPr>
            <a:spLocks noGrp="1"/>
          </p:cNvSpPr>
          <p:nvPr>
            <p:ph type="sldNum" sz="quarter" idx="5"/>
          </p:nvPr>
        </p:nvSpPr>
        <p:spPr/>
        <p:txBody>
          <a:bodyPr/>
          <a:lstStyle/>
          <a:p>
            <a:fld id="{6EBFF732-773A-4839-B774-230B46601DA8}" type="slidenum">
              <a:rPr lang="es-CO" smtClean="0"/>
              <a:t>22</a:t>
            </a:fld>
            <a:endParaRPr lang="es-CO"/>
          </a:p>
        </p:txBody>
      </p:sp>
    </p:spTree>
    <p:extLst>
      <p:ext uri="{BB962C8B-B14F-4D97-AF65-F5344CB8AC3E}">
        <p14:creationId xmlns:p14="http://schemas.microsoft.com/office/powerpoint/2010/main" val="10347931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O" sz="1200" b="1" kern="1200" dirty="0">
                <a:solidFill>
                  <a:schemeClr val="tx1"/>
                </a:solidFill>
                <a:effectLst/>
                <a:latin typeface="+mn-lt"/>
                <a:ea typeface="+mn-ea"/>
                <a:cs typeface="+mn-cs"/>
              </a:rPr>
              <a:t>/*CÓDIGO FUENTE*/</a:t>
            </a:r>
          </a:p>
          <a:p>
            <a:r>
              <a:rPr lang="es-CO" sz="1200" b="0" kern="1200" dirty="0">
                <a:solidFill>
                  <a:schemeClr val="tx1"/>
                </a:solidFill>
                <a:effectLst/>
                <a:latin typeface="+mn-lt"/>
                <a:ea typeface="+mn-ea"/>
                <a:cs typeface="+mn-cs"/>
              </a:rPr>
              <a:t>/*Crear un vector de 8 posiciones. Imprimir el vector en sentido normal, </a:t>
            </a:r>
          </a:p>
          <a:p>
            <a:r>
              <a:rPr lang="es-CO" sz="1200" b="0" kern="1200" dirty="0">
                <a:solidFill>
                  <a:schemeClr val="tx1"/>
                </a:solidFill>
                <a:effectLst/>
                <a:latin typeface="+mn-lt"/>
                <a:ea typeface="+mn-ea"/>
                <a:cs typeface="+mn-cs"/>
              </a:rPr>
              <a:t>luego en sentido inverso y terminando los elementos en posiciones pares. </a:t>
            </a:r>
          </a:p>
          <a:p>
            <a:r>
              <a:rPr lang="es-CO" sz="1200" b="0" kern="1200" dirty="0">
                <a:solidFill>
                  <a:schemeClr val="tx1"/>
                </a:solidFill>
                <a:effectLst/>
                <a:latin typeface="+mn-lt"/>
                <a:ea typeface="+mn-ea"/>
                <a:cs typeface="+mn-cs"/>
              </a:rPr>
              <a:t>Además, la cantidad de elementos pares, al cantidad de elementos impares </a:t>
            </a:r>
          </a:p>
          <a:p>
            <a:r>
              <a:rPr lang="es-CO" sz="1200" b="0" kern="1200" dirty="0">
                <a:solidFill>
                  <a:schemeClr val="tx1"/>
                </a:solidFill>
                <a:effectLst/>
                <a:latin typeface="+mn-lt"/>
                <a:ea typeface="+mn-ea"/>
                <a:cs typeface="+mn-cs"/>
              </a:rPr>
              <a:t>y el promedio de todo el vector.*/</a:t>
            </a:r>
          </a:p>
          <a:p>
            <a:endParaRPr lang="es-CO" sz="1200" b="0" kern="1200" dirty="0">
              <a:solidFill>
                <a:schemeClr val="tx1"/>
              </a:solidFill>
              <a:effectLst/>
              <a:latin typeface="+mn-lt"/>
              <a:ea typeface="+mn-ea"/>
              <a:cs typeface="+mn-cs"/>
            </a:endParaRPr>
          </a:p>
          <a:p>
            <a:r>
              <a:rPr lang="es-CO" sz="1200" b="0" kern="1200" dirty="0">
                <a:solidFill>
                  <a:schemeClr val="tx1"/>
                </a:solidFill>
                <a:effectLst/>
                <a:latin typeface="+mn-lt"/>
                <a:ea typeface="+mn-ea"/>
                <a:cs typeface="+mn-cs"/>
              </a:rPr>
              <a:t>#</a:t>
            </a:r>
            <a:r>
              <a:rPr lang="es-CO" sz="1200" b="0" kern="1200" dirty="0" err="1">
                <a:solidFill>
                  <a:schemeClr val="tx1"/>
                </a:solidFill>
                <a:effectLst/>
                <a:latin typeface="+mn-lt"/>
                <a:ea typeface="+mn-ea"/>
                <a:cs typeface="+mn-cs"/>
              </a:rPr>
              <a:t>include</a:t>
            </a:r>
            <a:r>
              <a:rPr lang="es-CO" sz="1200" b="0" kern="1200" dirty="0">
                <a:solidFill>
                  <a:schemeClr val="tx1"/>
                </a:solidFill>
                <a:effectLst/>
                <a:latin typeface="+mn-lt"/>
                <a:ea typeface="+mn-ea"/>
                <a:cs typeface="+mn-cs"/>
              </a:rPr>
              <a:t>&lt;iostream&gt;</a:t>
            </a:r>
          </a:p>
          <a:p>
            <a:r>
              <a:rPr lang="es-CO" sz="1200" b="0" kern="1200" dirty="0">
                <a:solidFill>
                  <a:schemeClr val="tx1"/>
                </a:solidFill>
                <a:effectLst/>
                <a:latin typeface="+mn-lt"/>
                <a:ea typeface="+mn-ea"/>
                <a:cs typeface="+mn-cs"/>
              </a:rPr>
              <a:t>#</a:t>
            </a:r>
            <a:r>
              <a:rPr lang="es-CO" sz="1200" b="0" kern="1200" dirty="0" err="1">
                <a:solidFill>
                  <a:schemeClr val="tx1"/>
                </a:solidFill>
                <a:effectLst/>
                <a:latin typeface="+mn-lt"/>
                <a:ea typeface="+mn-ea"/>
                <a:cs typeface="+mn-cs"/>
              </a:rPr>
              <a:t>include</a:t>
            </a:r>
            <a:r>
              <a:rPr lang="es-CO" sz="1200" b="0" kern="1200" dirty="0">
                <a:solidFill>
                  <a:schemeClr val="tx1"/>
                </a:solidFill>
                <a:effectLst/>
                <a:latin typeface="+mn-lt"/>
                <a:ea typeface="+mn-ea"/>
                <a:cs typeface="+mn-cs"/>
              </a:rPr>
              <a:t>&lt;</a:t>
            </a:r>
            <a:r>
              <a:rPr lang="es-CO" sz="1200" b="0" kern="1200" dirty="0" err="1">
                <a:solidFill>
                  <a:schemeClr val="tx1"/>
                </a:solidFill>
                <a:effectLst/>
                <a:latin typeface="+mn-lt"/>
                <a:ea typeface="+mn-ea"/>
                <a:cs typeface="+mn-cs"/>
              </a:rPr>
              <a:t>ctime</a:t>
            </a:r>
            <a:r>
              <a:rPr lang="es-CO" sz="1200" b="0" kern="1200" dirty="0">
                <a:solidFill>
                  <a:schemeClr val="tx1"/>
                </a:solidFill>
                <a:effectLst/>
                <a:latin typeface="+mn-lt"/>
                <a:ea typeface="+mn-ea"/>
                <a:cs typeface="+mn-cs"/>
              </a:rPr>
              <a:t>&gt;</a:t>
            </a:r>
          </a:p>
          <a:p>
            <a:r>
              <a:rPr lang="es-CO" sz="1200" b="0" kern="1200" dirty="0">
                <a:solidFill>
                  <a:schemeClr val="tx1"/>
                </a:solidFill>
                <a:effectLst/>
                <a:latin typeface="+mn-lt"/>
                <a:ea typeface="+mn-ea"/>
                <a:cs typeface="+mn-cs"/>
              </a:rPr>
              <a:t>#</a:t>
            </a:r>
            <a:r>
              <a:rPr lang="es-CO" sz="1200" b="0" kern="1200" dirty="0" err="1">
                <a:solidFill>
                  <a:schemeClr val="tx1"/>
                </a:solidFill>
                <a:effectLst/>
                <a:latin typeface="+mn-lt"/>
                <a:ea typeface="+mn-ea"/>
                <a:cs typeface="+mn-cs"/>
              </a:rPr>
              <a:t>include</a:t>
            </a:r>
            <a:r>
              <a:rPr lang="es-CO" sz="1200" b="0" kern="1200" dirty="0">
                <a:solidFill>
                  <a:schemeClr val="tx1"/>
                </a:solidFill>
                <a:effectLst/>
                <a:latin typeface="+mn-lt"/>
                <a:ea typeface="+mn-ea"/>
                <a:cs typeface="+mn-cs"/>
              </a:rPr>
              <a:t>&lt;</a:t>
            </a:r>
            <a:r>
              <a:rPr lang="es-CO" sz="1200" b="0" kern="1200" dirty="0" err="1">
                <a:solidFill>
                  <a:schemeClr val="tx1"/>
                </a:solidFill>
                <a:effectLst/>
                <a:latin typeface="+mn-lt"/>
                <a:ea typeface="+mn-ea"/>
                <a:cs typeface="+mn-cs"/>
              </a:rPr>
              <a:t>cstdlib</a:t>
            </a:r>
            <a:r>
              <a:rPr lang="es-CO" sz="1200" b="0" kern="1200" dirty="0">
                <a:solidFill>
                  <a:schemeClr val="tx1"/>
                </a:solidFill>
                <a:effectLst/>
                <a:latin typeface="+mn-lt"/>
                <a:ea typeface="+mn-ea"/>
                <a:cs typeface="+mn-cs"/>
              </a:rPr>
              <a:t>&gt;</a:t>
            </a:r>
          </a:p>
          <a:p>
            <a:r>
              <a:rPr lang="es-CO" sz="1200" b="0" kern="1200" dirty="0" err="1">
                <a:solidFill>
                  <a:schemeClr val="tx1"/>
                </a:solidFill>
                <a:effectLst/>
                <a:latin typeface="+mn-lt"/>
                <a:ea typeface="+mn-ea"/>
                <a:cs typeface="+mn-cs"/>
              </a:rPr>
              <a:t>using</a:t>
            </a:r>
            <a:r>
              <a:rPr lang="es-CO" sz="1200" b="0" kern="1200" dirty="0">
                <a:solidFill>
                  <a:schemeClr val="tx1"/>
                </a:solidFill>
                <a:effectLst/>
                <a:latin typeface="+mn-lt"/>
                <a:ea typeface="+mn-ea"/>
                <a:cs typeface="+mn-cs"/>
              </a:rPr>
              <a:t> namespace </a:t>
            </a:r>
            <a:r>
              <a:rPr lang="es-CO" sz="1200" b="0" kern="1200" dirty="0" err="1">
                <a:solidFill>
                  <a:schemeClr val="tx1"/>
                </a:solidFill>
                <a:effectLst/>
                <a:latin typeface="+mn-lt"/>
                <a:ea typeface="+mn-ea"/>
                <a:cs typeface="+mn-cs"/>
              </a:rPr>
              <a:t>std</a:t>
            </a:r>
            <a:r>
              <a:rPr lang="es-CO" sz="1200" b="0" kern="1200" dirty="0">
                <a:solidFill>
                  <a:schemeClr val="tx1"/>
                </a:solidFill>
                <a:effectLst/>
                <a:latin typeface="+mn-lt"/>
                <a:ea typeface="+mn-ea"/>
                <a:cs typeface="+mn-cs"/>
              </a:rPr>
              <a:t>;</a:t>
            </a:r>
          </a:p>
          <a:p>
            <a:endParaRPr lang="es-CO" sz="1200" b="0" kern="1200" dirty="0">
              <a:solidFill>
                <a:schemeClr val="tx1"/>
              </a:solidFill>
              <a:effectLst/>
              <a:latin typeface="+mn-lt"/>
              <a:ea typeface="+mn-ea"/>
              <a:cs typeface="+mn-cs"/>
            </a:endParaRPr>
          </a:p>
          <a:p>
            <a:r>
              <a:rPr lang="es-CO" sz="1200" b="0" kern="1200" dirty="0">
                <a:solidFill>
                  <a:schemeClr val="tx1"/>
                </a:solidFill>
                <a:effectLst/>
                <a:latin typeface="+mn-lt"/>
                <a:ea typeface="+mn-ea"/>
                <a:cs typeface="+mn-cs"/>
              </a:rPr>
              <a:t>int </a:t>
            </a:r>
            <a:r>
              <a:rPr lang="es-CO" sz="1200" b="0" kern="1200" dirty="0" err="1">
                <a:solidFill>
                  <a:schemeClr val="tx1"/>
                </a:solidFill>
                <a:effectLst/>
                <a:latin typeface="+mn-lt"/>
                <a:ea typeface="+mn-ea"/>
                <a:cs typeface="+mn-cs"/>
              </a:rPr>
              <a:t>main</a:t>
            </a:r>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int </a:t>
            </a:r>
            <a:r>
              <a:rPr lang="es-CO" sz="1200" b="0" kern="1200" dirty="0" err="1">
                <a:solidFill>
                  <a:schemeClr val="tx1"/>
                </a:solidFill>
                <a:effectLst/>
                <a:latin typeface="+mn-lt"/>
                <a:ea typeface="+mn-ea"/>
                <a:cs typeface="+mn-cs"/>
              </a:rPr>
              <a:t>num</a:t>
            </a:r>
            <a:r>
              <a:rPr lang="es-CO" sz="1200" b="0" kern="1200" dirty="0">
                <a:solidFill>
                  <a:schemeClr val="tx1"/>
                </a:solidFill>
                <a:effectLst/>
                <a:latin typeface="+mn-lt"/>
                <a:ea typeface="+mn-ea"/>
                <a:cs typeface="+mn-cs"/>
              </a:rPr>
              <a:t>[8],i;</a:t>
            </a:r>
          </a:p>
          <a:p>
            <a:r>
              <a:rPr lang="es-CO" sz="1200" b="0" kern="1200" dirty="0">
                <a:solidFill>
                  <a:schemeClr val="tx1"/>
                </a:solidFill>
                <a:effectLst/>
                <a:latin typeface="+mn-lt"/>
                <a:ea typeface="+mn-ea"/>
                <a:cs typeface="+mn-cs"/>
              </a:rPr>
              <a:t>  int </a:t>
            </a:r>
            <a:r>
              <a:rPr lang="es-CO" sz="1200" b="0" kern="1200" dirty="0" err="1">
                <a:solidFill>
                  <a:schemeClr val="tx1"/>
                </a:solidFill>
                <a:effectLst/>
                <a:latin typeface="+mn-lt"/>
                <a:ea typeface="+mn-ea"/>
                <a:cs typeface="+mn-cs"/>
              </a:rPr>
              <a:t>contPar</a:t>
            </a:r>
            <a:r>
              <a:rPr lang="es-CO" sz="1200" b="0" kern="1200" dirty="0">
                <a:solidFill>
                  <a:schemeClr val="tx1"/>
                </a:solidFill>
                <a:effectLst/>
                <a:latin typeface="+mn-lt"/>
                <a:ea typeface="+mn-ea"/>
                <a:cs typeface="+mn-cs"/>
              </a:rPr>
              <a:t> = 0, </a:t>
            </a:r>
            <a:r>
              <a:rPr lang="es-CO" sz="1200" b="0" kern="1200" dirty="0" err="1">
                <a:solidFill>
                  <a:schemeClr val="tx1"/>
                </a:solidFill>
                <a:effectLst/>
                <a:latin typeface="+mn-lt"/>
                <a:ea typeface="+mn-ea"/>
                <a:cs typeface="+mn-cs"/>
              </a:rPr>
              <a:t>contImpar</a:t>
            </a:r>
            <a:r>
              <a:rPr lang="es-CO" sz="1200" b="0" kern="1200" dirty="0">
                <a:solidFill>
                  <a:schemeClr val="tx1"/>
                </a:solidFill>
                <a:effectLst/>
                <a:latin typeface="+mn-lt"/>
                <a:ea typeface="+mn-ea"/>
                <a:cs typeface="+mn-cs"/>
              </a:rPr>
              <a:t> = 0, Suma = 0;</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srand</a:t>
            </a:r>
            <a:r>
              <a:rPr lang="es-CO" sz="1200" b="0" kern="1200" dirty="0">
                <a:solidFill>
                  <a:schemeClr val="tx1"/>
                </a:solidFill>
                <a:effectLst/>
                <a:latin typeface="+mn-lt"/>
                <a:ea typeface="+mn-ea"/>
                <a:cs typeface="+mn-cs"/>
              </a:rPr>
              <a:t>(time(NULL));</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&lt;&lt;"\</a:t>
            </a:r>
            <a:r>
              <a:rPr lang="es-CO" sz="1200" b="0" kern="1200" dirty="0" err="1">
                <a:solidFill>
                  <a:schemeClr val="tx1"/>
                </a:solidFill>
                <a:effectLst/>
                <a:latin typeface="+mn-lt"/>
                <a:ea typeface="+mn-ea"/>
                <a:cs typeface="+mn-cs"/>
              </a:rPr>
              <a:t>nArreglo</a:t>
            </a:r>
            <a:r>
              <a:rPr lang="es-CO" sz="1200" b="0" kern="1200" dirty="0">
                <a:solidFill>
                  <a:schemeClr val="tx1"/>
                </a:solidFill>
                <a:effectLst/>
                <a:latin typeface="+mn-lt"/>
                <a:ea typeface="+mn-ea"/>
                <a:cs typeface="+mn-cs"/>
              </a:rPr>
              <a:t> sentido normal"&lt;&lt;</a:t>
            </a:r>
            <a:r>
              <a:rPr lang="es-CO" sz="1200" b="0" kern="1200" dirty="0" err="1">
                <a:solidFill>
                  <a:schemeClr val="tx1"/>
                </a:solidFill>
                <a:effectLst/>
                <a:latin typeface="+mn-lt"/>
                <a:ea typeface="+mn-ea"/>
                <a:cs typeface="+mn-cs"/>
              </a:rPr>
              <a:t>endl</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for(i=0; i&lt;10; i++) {</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num</a:t>
            </a:r>
            <a:r>
              <a:rPr lang="es-CO" sz="1200" b="0" kern="1200" dirty="0">
                <a:solidFill>
                  <a:schemeClr val="tx1"/>
                </a:solidFill>
                <a:effectLst/>
                <a:latin typeface="+mn-lt"/>
                <a:ea typeface="+mn-ea"/>
                <a:cs typeface="+mn-cs"/>
              </a:rPr>
              <a:t>[i] = rand()%100;        </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 &lt;&lt; </a:t>
            </a:r>
            <a:r>
              <a:rPr lang="es-CO" sz="1200" b="0" kern="1200" dirty="0" err="1">
                <a:solidFill>
                  <a:schemeClr val="tx1"/>
                </a:solidFill>
                <a:effectLst/>
                <a:latin typeface="+mn-lt"/>
                <a:ea typeface="+mn-ea"/>
                <a:cs typeface="+mn-cs"/>
              </a:rPr>
              <a:t>num</a:t>
            </a:r>
            <a:r>
              <a:rPr lang="es-CO" sz="1200" b="0" kern="1200" dirty="0">
                <a:solidFill>
                  <a:schemeClr val="tx1"/>
                </a:solidFill>
                <a:effectLst/>
                <a:latin typeface="+mn-lt"/>
                <a:ea typeface="+mn-ea"/>
                <a:cs typeface="+mn-cs"/>
              </a:rPr>
              <a:t>[i] &lt;&lt; " ";</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if</a:t>
            </a:r>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num</a:t>
            </a:r>
            <a:r>
              <a:rPr lang="es-CO" sz="1200" b="0" kern="1200" dirty="0">
                <a:solidFill>
                  <a:schemeClr val="tx1"/>
                </a:solidFill>
                <a:effectLst/>
                <a:latin typeface="+mn-lt"/>
                <a:ea typeface="+mn-ea"/>
                <a:cs typeface="+mn-cs"/>
              </a:rPr>
              <a:t>[i] % 2 == 0) </a:t>
            </a:r>
            <a:r>
              <a:rPr lang="es-CO" sz="1200" b="0" kern="1200" dirty="0" err="1">
                <a:solidFill>
                  <a:schemeClr val="tx1"/>
                </a:solidFill>
                <a:effectLst/>
                <a:latin typeface="+mn-lt"/>
                <a:ea typeface="+mn-ea"/>
                <a:cs typeface="+mn-cs"/>
              </a:rPr>
              <a:t>contPar</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else</a:t>
            </a:r>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contImpar</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Suma += </a:t>
            </a:r>
            <a:r>
              <a:rPr lang="es-CO" sz="1200" b="0" kern="1200" dirty="0" err="1">
                <a:solidFill>
                  <a:schemeClr val="tx1"/>
                </a:solidFill>
                <a:effectLst/>
                <a:latin typeface="+mn-lt"/>
                <a:ea typeface="+mn-ea"/>
                <a:cs typeface="+mn-cs"/>
              </a:rPr>
              <a:t>num</a:t>
            </a:r>
            <a:r>
              <a:rPr lang="es-CO" sz="1200" b="0" kern="1200" dirty="0">
                <a:solidFill>
                  <a:schemeClr val="tx1"/>
                </a:solidFill>
                <a:effectLst/>
                <a:latin typeface="+mn-lt"/>
                <a:ea typeface="+mn-ea"/>
                <a:cs typeface="+mn-cs"/>
              </a:rPr>
              <a:t>[i];</a:t>
            </a:r>
          </a:p>
          <a:p>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&lt;&lt;"\n\</a:t>
            </a:r>
            <a:r>
              <a:rPr lang="es-CO" sz="1200" b="0" kern="1200" dirty="0" err="1">
                <a:solidFill>
                  <a:schemeClr val="tx1"/>
                </a:solidFill>
                <a:effectLst/>
                <a:latin typeface="+mn-lt"/>
                <a:ea typeface="+mn-ea"/>
                <a:cs typeface="+mn-cs"/>
              </a:rPr>
              <a:t>nArreglo</a:t>
            </a:r>
            <a:r>
              <a:rPr lang="es-CO" sz="1200" b="0" kern="1200" dirty="0">
                <a:solidFill>
                  <a:schemeClr val="tx1"/>
                </a:solidFill>
                <a:effectLst/>
                <a:latin typeface="+mn-lt"/>
                <a:ea typeface="+mn-ea"/>
                <a:cs typeface="+mn-cs"/>
              </a:rPr>
              <a:t> sentido inverso"&lt;&lt;</a:t>
            </a:r>
            <a:r>
              <a:rPr lang="es-CO" sz="1200" b="0" kern="1200" dirty="0" err="1">
                <a:solidFill>
                  <a:schemeClr val="tx1"/>
                </a:solidFill>
                <a:effectLst/>
                <a:latin typeface="+mn-lt"/>
                <a:ea typeface="+mn-ea"/>
                <a:cs typeface="+mn-cs"/>
              </a:rPr>
              <a:t>endl</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for(i=7; i&gt;-1; i--)</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 &lt;&lt; </a:t>
            </a:r>
            <a:r>
              <a:rPr lang="es-CO" sz="1200" b="0" kern="1200" dirty="0" err="1">
                <a:solidFill>
                  <a:schemeClr val="tx1"/>
                </a:solidFill>
                <a:effectLst/>
                <a:latin typeface="+mn-lt"/>
                <a:ea typeface="+mn-ea"/>
                <a:cs typeface="+mn-cs"/>
              </a:rPr>
              <a:t>num</a:t>
            </a:r>
            <a:r>
              <a:rPr lang="es-CO" sz="1200" b="0" kern="1200" dirty="0">
                <a:solidFill>
                  <a:schemeClr val="tx1"/>
                </a:solidFill>
                <a:effectLst/>
                <a:latin typeface="+mn-lt"/>
                <a:ea typeface="+mn-ea"/>
                <a:cs typeface="+mn-cs"/>
              </a:rPr>
              <a:t>[i] &lt;&lt; " ";</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&lt;&lt;"\n\</a:t>
            </a:r>
            <a:r>
              <a:rPr lang="es-CO" sz="1200" b="0" kern="1200" dirty="0" err="1">
                <a:solidFill>
                  <a:schemeClr val="tx1"/>
                </a:solidFill>
                <a:effectLst/>
                <a:latin typeface="+mn-lt"/>
                <a:ea typeface="+mn-ea"/>
                <a:cs typeface="+mn-cs"/>
              </a:rPr>
              <a:t>nElementos</a:t>
            </a:r>
            <a:r>
              <a:rPr lang="es-CO" sz="1200" b="0" kern="1200" dirty="0">
                <a:solidFill>
                  <a:schemeClr val="tx1"/>
                </a:solidFill>
                <a:effectLst/>
                <a:latin typeface="+mn-lt"/>
                <a:ea typeface="+mn-ea"/>
                <a:cs typeface="+mn-cs"/>
              </a:rPr>
              <a:t> en Posiciones pares" &lt;&lt; </a:t>
            </a:r>
            <a:r>
              <a:rPr lang="es-CO" sz="1200" b="0" kern="1200" dirty="0" err="1">
                <a:solidFill>
                  <a:schemeClr val="tx1"/>
                </a:solidFill>
                <a:effectLst/>
                <a:latin typeface="+mn-lt"/>
                <a:ea typeface="+mn-ea"/>
                <a:cs typeface="+mn-cs"/>
              </a:rPr>
              <a:t>endl</a:t>
            </a:r>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for(i=0; i&lt;8; i+=2)</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 &lt;&lt; "</a:t>
            </a:r>
            <a:r>
              <a:rPr lang="es-CO" sz="1200" b="0" kern="1200" dirty="0" err="1">
                <a:solidFill>
                  <a:schemeClr val="tx1"/>
                </a:solidFill>
                <a:effectLst/>
                <a:latin typeface="+mn-lt"/>
                <a:ea typeface="+mn-ea"/>
                <a:cs typeface="+mn-cs"/>
              </a:rPr>
              <a:t>num</a:t>
            </a:r>
            <a:r>
              <a:rPr lang="es-CO" sz="1200" b="0" kern="1200" dirty="0">
                <a:solidFill>
                  <a:schemeClr val="tx1"/>
                </a:solidFill>
                <a:effectLst/>
                <a:latin typeface="+mn-lt"/>
                <a:ea typeface="+mn-ea"/>
                <a:cs typeface="+mn-cs"/>
              </a:rPr>
              <a:t>[" &lt;&lt; i &lt;&lt; "] = " &lt;&lt; </a:t>
            </a:r>
            <a:r>
              <a:rPr lang="es-CO" sz="1200" b="0" kern="1200" dirty="0" err="1">
                <a:solidFill>
                  <a:schemeClr val="tx1"/>
                </a:solidFill>
                <a:effectLst/>
                <a:latin typeface="+mn-lt"/>
                <a:ea typeface="+mn-ea"/>
                <a:cs typeface="+mn-cs"/>
              </a:rPr>
              <a:t>num</a:t>
            </a:r>
            <a:r>
              <a:rPr lang="es-CO" sz="1200" b="0" kern="1200" dirty="0">
                <a:solidFill>
                  <a:schemeClr val="tx1"/>
                </a:solidFill>
                <a:effectLst/>
                <a:latin typeface="+mn-lt"/>
                <a:ea typeface="+mn-ea"/>
                <a:cs typeface="+mn-cs"/>
              </a:rPr>
              <a:t>[i] &lt;&lt; </a:t>
            </a:r>
            <a:r>
              <a:rPr lang="es-CO" sz="1200" b="0" kern="1200" dirty="0" err="1">
                <a:solidFill>
                  <a:schemeClr val="tx1"/>
                </a:solidFill>
                <a:effectLst/>
                <a:latin typeface="+mn-lt"/>
                <a:ea typeface="+mn-ea"/>
                <a:cs typeface="+mn-cs"/>
              </a:rPr>
              <a:t>endl</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 &lt;&lt; "\</a:t>
            </a:r>
            <a:r>
              <a:rPr lang="es-CO" sz="1200" b="0" kern="1200" dirty="0" err="1">
                <a:solidFill>
                  <a:schemeClr val="tx1"/>
                </a:solidFill>
                <a:effectLst/>
                <a:latin typeface="+mn-lt"/>
                <a:ea typeface="+mn-ea"/>
                <a:cs typeface="+mn-cs"/>
              </a:rPr>
              <a:t>nElementos</a:t>
            </a:r>
            <a:r>
              <a:rPr lang="es-CO" sz="1200" b="0" kern="1200" dirty="0">
                <a:solidFill>
                  <a:schemeClr val="tx1"/>
                </a:solidFill>
                <a:effectLst/>
                <a:latin typeface="+mn-lt"/>
                <a:ea typeface="+mn-ea"/>
                <a:cs typeface="+mn-cs"/>
              </a:rPr>
              <a:t> pares: " &lt;&lt; </a:t>
            </a:r>
            <a:r>
              <a:rPr lang="es-CO" sz="1200" b="0" kern="1200" dirty="0" err="1">
                <a:solidFill>
                  <a:schemeClr val="tx1"/>
                </a:solidFill>
                <a:effectLst/>
                <a:latin typeface="+mn-lt"/>
                <a:ea typeface="+mn-ea"/>
                <a:cs typeface="+mn-cs"/>
              </a:rPr>
              <a:t>contPar</a:t>
            </a:r>
            <a:r>
              <a:rPr lang="es-CO" sz="1200" b="0" kern="1200" dirty="0">
                <a:solidFill>
                  <a:schemeClr val="tx1"/>
                </a:solidFill>
                <a:effectLst/>
                <a:latin typeface="+mn-lt"/>
                <a:ea typeface="+mn-ea"/>
                <a:cs typeface="+mn-cs"/>
              </a:rPr>
              <a:t> &lt;&lt; </a:t>
            </a:r>
            <a:r>
              <a:rPr lang="es-CO" sz="1200" b="0" kern="1200" dirty="0" err="1">
                <a:solidFill>
                  <a:schemeClr val="tx1"/>
                </a:solidFill>
                <a:effectLst/>
                <a:latin typeface="+mn-lt"/>
                <a:ea typeface="+mn-ea"/>
                <a:cs typeface="+mn-cs"/>
              </a:rPr>
              <a:t>endl</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 &lt;&lt; "Elementos impares: " &lt;&lt; </a:t>
            </a:r>
            <a:r>
              <a:rPr lang="es-CO" sz="1200" b="0" kern="1200" dirty="0" err="1">
                <a:solidFill>
                  <a:schemeClr val="tx1"/>
                </a:solidFill>
                <a:effectLst/>
                <a:latin typeface="+mn-lt"/>
                <a:ea typeface="+mn-ea"/>
                <a:cs typeface="+mn-cs"/>
              </a:rPr>
              <a:t>contImpar</a:t>
            </a:r>
            <a:r>
              <a:rPr lang="es-CO" sz="1200" b="0" kern="1200" dirty="0">
                <a:solidFill>
                  <a:schemeClr val="tx1"/>
                </a:solidFill>
                <a:effectLst/>
                <a:latin typeface="+mn-lt"/>
                <a:ea typeface="+mn-ea"/>
                <a:cs typeface="+mn-cs"/>
              </a:rPr>
              <a:t> &lt;&lt; </a:t>
            </a:r>
            <a:r>
              <a:rPr lang="es-CO" sz="1200" b="0" kern="1200" dirty="0" err="1">
                <a:solidFill>
                  <a:schemeClr val="tx1"/>
                </a:solidFill>
                <a:effectLst/>
                <a:latin typeface="+mn-lt"/>
                <a:ea typeface="+mn-ea"/>
                <a:cs typeface="+mn-cs"/>
              </a:rPr>
              <a:t>endl</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 &lt;&lt; "Promedio de números: " &lt;&lt; Suma / 8 &lt;&lt; </a:t>
            </a:r>
            <a:r>
              <a:rPr lang="es-CO" sz="1200" b="0" kern="1200" dirty="0" err="1">
                <a:solidFill>
                  <a:schemeClr val="tx1"/>
                </a:solidFill>
                <a:effectLst/>
                <a:latin typeface="+mn-lt"/>
                <a:ea typeface="+mn-ea"/>
                <a:cs typeface="+mn-cs"/>
              </a:rPr>
              <a:t>endl</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return</a:t>
            </a:r>
            <a:r>
              <a:rPr lang="es-CO" sz="1200" b="0" kern="1200" dirty="0">
                <a:solidFill>
                  <a:schemeClr val="tx1"/>
                </a:solidFill>
                <a:effectLst/>
                <a:latin typeface="+mn-lt"/>
                <a:ea typeface="+mn-ea"/>
                <a:cs typeface="+mn-cs"/>
              </a:rPr>
              <a:t> 0;</a:t>
            </a:r>
          </a:p>
          <a:p>
            <a:r>
              <a:rPr lang="es-CO" sz="1200" b="0" kern="1200" dirty="0">
                <a:solidFill>
                  <a:schemeClr val="tx1"/>
                </a:solidFill>
                <a:effectLst/>
                <a:latin typeface="+mn-lt"/>
                <a:ea typeface="+mn-ea"/>
                <a:cs typeface="+mn-cs"/>
              </a:rPr>
              <a:t>}</a:t>
            </a:r>
          </a:p>
          <a:p>
            <a:endParaRPr lang="es-CO" sz="1200" b="0" kern="1200" dirty="0">
              <a:solidFill>
                <a:schemeClr val="tx1"/>
              </a:solidFill>
              <a:effectLst/>
              <a:latin typeface="+mn-lt"/>
              <a:ea typeface="+mn-ea"/>
              <a:cs typeface="+mn-cs"/>
            </a:endParaRPr>
          </a:p>
        </p:txBody>
      </p:sp>
      <p:sp>
        <p:nvSpPr>
          <p:cNvPr id="4" name="Marcador de número de diapositiva 3"/>
          <p:cNvSpPr>
            <a:spLocks noGrp="1"/>
          </p:cNvSpPr>
          <p:nvPr>
            <p:ph type="sldNum" sz="quarter" idx="5"/>
          </p:nvPr>
        </p:nvSpPr>
        <p:spPr/>
        <p:txBody>
          <a:bodyPr/>
          <a:lstStyle/>
          <a:p>
            <a:fld id="{6EBFF732-773A-4839-B774-230B46601DA8}" type="slidenum">
              <a:rPr lang="es-CO" smtClean="0"/>
              <a:t>23</a:t>
            </a:fld>
            <a:endParaRPr lang="es-CO"/>
          </a:p>
        </p:txBody>
      </p:sp>
    </p:spTree>
    <p:extLst>
      <p:ext uri="{BB962C8B-B14F-4D97-AF65-F5344CB8AC3E}">
        <p14:creationId xmlns:p14="http://schemas.microsoft.com/office/powerpoint/2010/main" val="32766938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O" sz="1200" b="1" kern="1200" dirty="0">
                <a:solidFill>
                  <a:schemeClr val="tx1"/>
                </a:solidFill>
                <a:effectLst/>
                <a:latin typeface="+mn-lt"/>
                <a:ea typeface="+mn-ea"/>
                <a:cs typeface="+mn-cs"/>
              </a:rPr>
              <a:t>/*CÓDIGO FUENTE*/</a:t>
            </a:r>
          </a:p>
          <a:p>
            <a:r>
              <a:rPr lang="es-CO" sz="1200" b="0" kern="1200" dirty="0">
                <a:solidFill>
                  <a:schemeClr val="tx1"/>
                </a:solidFill>
                <a:effectLst/>
                <a:latin typeface="+mn-lt"/>
                <a:ea typeface="+mn-ea"/>
                <a:cs typeface="+mn-cs"/>
              </a:rPr>
              <a:t>/*Leer la información de un vector llamado EDAD de dimensión 10. </a:t>
            </a:r>
          </a:p>
          <a:p>
            <a:r>
              <a:rPr lang="es-CO" sz="1200" b="0" kern="1200" dirty="0">
                <a:solidFill>
                  <a:schemeClr val="tx1"/>
                </a:solidFill>
                <a:effectLst/>
                <a:latin typeface="+mn-lt"/>
                <a:ea typeface="+mn-ea"/>
                <a:cs typeface="+mn-cs"/>
              </a:rPr>
              <a:t>  Determinar la suma de edades, el promedio de edad, la edad mayor, </a:t>
            </a:r>
          </a:p>
          <a:p>
            <a:r>
              <a:rPr lang="es-CO" sz="1200" b="0" kern="1200" dirty="0">
                <a:solidFill>
                  <a:schemeClr val="tx1"/>
                </a:solidFill>
                <a:effectLst/>
                <a:latin typeface="+mn-lt"/>
                <a:ea typeface="+mn-ea"/>
                <a:cs typeface="+mn-cs"/>
              </a:rPr>
              <a:t>  la edad menor, la cantidad de mayores de edad y la cantidad de los menores de edad.*/</a:t>
            </a:r>
          </a:p>
          <a:p>
            <a:endParaRPr lang="es-CO" sz="1200" b="0" kern="1200" dirty="0">
              <a:solidFill>
                <a:schemeClr val="tx1"/>
              </a:solidFill>
              <a:effectLst/>
              <a:latin typeface="+mn-lt"/>
              <a:ea typeface="+mn-ea"/>
              <a:cs typeface="+mn-cs"/>
            </a:endParaRPr>
          </a:p>
          <a:p>
            <a:r>
              <a:rPr lang="es-CO" sz="1200" b="0" kern="1200" dirty="0">
                <a:solidFill>
                  <a:schemeClr val="tx1"/>
                </a:solidFill>
                <a:effectLst/>
                <a:latin typeface="+mn-lt"/>
                <a:ea typeface="+mn-ea"/>
                <a:cs typeface="+mn-cs"/>
              </a:rPr>
              <a:t>#</a:t>
            </a:r>
            <a:r>
              <a:rPr lang="es-CO" sz="1200" b="0" kern="1200" dirty="0" err="1">
                <a:solidFill>
                  <a:schemeClr val="tx1"/>
                </a:solidFill>
                <a:effectLst/>
                <a:latin typeface="+mn-lt"/>
                <a:ea typeface="+mn-ea"/>
                <a:cs typeface="+mn-cs"/>
              </a:rPr>
              <a:t>include</a:t>
            </a:r>
            <a:r>
              <a:rPr lang="es-CO" sz="1200" b="0" kern="1200" dirty="0">
                <a:solidFill>
                  <a:schemeClr val="tx1"/>
                </a:solidFill>
                <a:effectLst/>
                <a:latin typeface="+mn-lt"/>
                <a:ea typeface="+mn-ea"/>
                <a:cs typeface="+mn-cs"/>
              </a:rPr>
              <a:t>&lt;iostream&gt;</a:t>
            </a:r>
          </a:p>
          <a:p>
            <a:r>
              <a:rPr lang="es-CO" sz="1200" b="0" kern="1200" dirty="0" err="1">
                <a:solidFill>
                  <a:schemeClr val="tx1"/>
                </a:solidFill>
                <a:effectLst/>
                <a:latin typeface="+mn-lt"/>
                <a:ea typeface="+mn-ea"/>
                <a:cs typeface="+mn-cs"/>
              </a:rPr>
              <a:t>using</a:t>
            </a:r>
            <a:r>
              <a:rPr lang="es-CO" sz="1200" b="0" kern="1200" dirty="0">
                <a:solidFill>
                  <a:schemeClr val="tx1"/>
                </a:solidFill>
                <a:effectLst/>
                <a:latin typeface="+mn-lt"/>
                <a:ea typeface="+mn-ea"/>
                <a:cs typeface="+mn-cs"/>
              </a:rPr>
              <a:t> namespace </a:t>
            </a:r>
            <a:r>
              <a:rPr lang="es-CO" sz="1200" b="0" kern="1200" dirty="0" err="1">
                <a:solidFill>
                  <a:schemeClr val="tx1"/>
                </a:solidFill>
                <a:effectLst/>
                <a:latin typeface="+mn-lt"/>
                <a:ea typeface="+mn-ea"/>
                <a:cs typeface="+mn-cs"/>
              </a:rPr>
              <a:t>std</a:t>
            </a:r>
            <a:r>
              <a:rPr lang="es-CO" sz="1200" b="0" kern="1200" dirty="0">
                <a:solidFill>
                  <a:schemeClr val="tx1"/>
                </a:solidFill>
                <a:effectLst/>
                <a:latin typeface="+mn-lt"/>
                <a:ea typeface="+mn-ea"/>
                <a:cs typeface="+mn-cs"/>
              </a:rPr>
              <a:t>;</a:t>
            </a:r>
          </a:p>
          <a:p>
            <a:endParaRPr lang="es-CO" sz="1200" b="0" kern="1200" dirty="0">
              <a:solidFill>
                <a:schemeClr val="tx1"/>
              </a:solidFill>
              <a:effectLst/>
              <a:latin typeface="+mn-lt"/>
              <a:ea typeface="+mn-ea"/>
              <a:cs typeface="+mn-cs"/>
            </a:endParaRPr>
          </a:p>
          <a:p>
            <a:r>
              <a:rPr lang="es-CO" sz="1200" b="0" kern="1200" dirty="0">
                <a:solidFill>
                  <a:schemeClr val="tx1"/>
                </a:solidFill>
                <a:effectLst/>
                <a:latin typeface="+mn-lt"/>
                <a:ea typeface="+mn-ea"/>
                <a:cs typeface="+mn-cs"/>
              </a:rPr>
              <a:t>int </a:t>
            </a:r>
            <a:r>
              <a:rPr lang="es-CO" sz="1200" b="0" kern="1200" dirty="0" err="1">
                <a:solidFill>
                  <a:schemeClr val="tx1"/>
                </a:solidFill>
                <a:effectLst/>
                <a:latin typeface="+mn-lt"/>
                <a:ea typeface="+mn-ea"/>
                <a:cs typeface="+mn-cs"/>
              </a:rPr>
              <a:t>main</a:t>
            </a:r>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int EDAD[10], i, </a:t>
            </a:r>
            <a:r>
              <a:rPr lang="es-CO" sz="1200" b="0" kern="1200" dirty="0" err="1">
                <a:solidFill>
                  <a:schemeClr val="tx1"/>
                </a:solidFill>
                <a:effectLst/>
                <a:latin typeface="+mn-lt"/>
                <a:ea typeface="+mn-ea"/>
                <a:cs typeface="+mn-cs"/>
              </a:rPr>
              <a:t>ed_may</a:t>
            </a:r>
            <a:r>
              <a:rPr lang="es-CO" sz="1200" b="0" kern="1200" dirty="0">
                <a:solidFill>
                  <a:schemeClr val="tx1"/>
                </a:solidFill>
                <a:effectLst/>
                <a:latin typeface="+mn-lt"/>
                <a:ea typeface="+mn-ea"/>
                <a:cs typeface="+mn-cs"/>
              </a:rPr>
              <a:t>=0, </a:t>
            </a:r>
            <a:r>
              <a:rPr lang="es-CO" sz="1200" b="0" kern="1200" dirty="0" err="1">
                <a:solidFill>
                  <a:schemeClr val="tx1"/>
                </a:solidFill>
                <a:effectLst/>
                <a:latin typeface="+mn-lt"/>
                <a:ea typeface="+mn-ea"/>
                <a:cs typeface="+mn-cs"/>
              </a:rPr>
              <a:t>ed_men</a:t>
            </a:r>
            <a:r>
              <a:rPr lang="es-CO" sz="1200" b="0" kern="1200" dirty="0">
                <a:solidFill>
                  <a:schemeClr val="tx1"/>
                </a:solidFill>
                <a:effectLst/>
                <a:latin typeface="+mn-lt"/>
                <a:ea typeface="+mn-ea"/>
                <a:cs typeface="+mn-cs"/>
              </a:rPr>
              <a:t>=100, </a:t>
            </a:r>
            <a:r>
              <a:rPr lang="es-CO" sz="1200" b="0" kern="1200" dirty="0" err="1">
                <a:solidFill>
                  <a:schemeClr val="tx1"/>
                </a:solidFill>
                <a:effectLst/>
                <a:latin typeface="+mn-lt"/>
                <a:ea typeface="+mn-ea"/>
                <a:cs typeface="+mn-cs"/>
              </a:rPr>
              <a:t>cant_may</a:t>
            </a:r>
            <a:r>
              <a:rPr lang="es-CO" sz="1200" b="0" kern="1200" dirty="0">
                <a:solidFill>
                  <a:schemeClr val="tx1"/>
                </a:solidFill>
                <a:effectLst/>
                <a:latin typeface="+mn-lt"/>
                <a:ea typeface="+mn-ea"/>
                <a:cs typeface="+mn-cs"/>
              </a:rPr>
              <a:t>=0, </a:t>
            </a:r>
            <a:r>
              <a:rPr lang="es-CO" sz="1200" b="0" kern="1200" dirty="0" err="1">
                <a:solidFill>
                  <a:schemeClr val="tx1"/>
                </a:solidFill>
                <a:effectLst/>
                <a:latin typeface="+mn-lt"/>
                <a:ea typeface="+mn-ea"/>
                <a:cs typeface="+mn-cs"/>
              </a:rPr>
              <a:t>cant_men</a:t>
            </a:r>
            <a:r>
              <a:rPr lang="es-CO" sz="1200" b="0" kern="1200" dirty="0">
                <a:solidFill>
                  <a:schemeClr val="tx1"/>
                </a:solidFill>
                <a:effectLst/>
                <a:latin typeface="+mn-lt"/>
                <a:ea typeface="+mn-ea"/>
                <a:cs typeface="+mn-cs"/>
              </a:rPr>
              <a:t>=0;		    	</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float</a:t>
            </a:r>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suma_edad</a:t>
            </a:r>
            <a:r>
              <a:rPr lang="es-CO" sz="1200" b="0" kern="1200" dirty="0">
                <a:solidFill>
                  <a:schemeClr val="tx1"/>
                </a:solidFill>
                <a:effectLst/>
                <a:latin typeface="+mn-lt"/>
                <a:ea typeface="+mn-ea"/>
                <a:cs typeface="+mn-cs"/>
              </a:rPr>
              <a:t>=0, </a:t>
            </a:r>
            <a:r>
              <a:rPr lang="es-CO" sz="1200" b="0" kern="1200" dirty="0" err="1">
                <a:solidFill>
                  <a:schemeClr val="tx1"/>
                </a:solidFill>
                <a:effectLst/>
                <a:latin typeface="+mn-lt"/>
                <a:ea typeface="+mn-ea"/>
                <a:cs typeface="+mn-cs"/>
              </a:rPr>
              <a:t>prom_edad</a:t>
            </a:r>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for(i=0;i&lt;10;i++) {</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&lt;&lt;"Digite EDAD["&lt;&lt;i&lt;&lt;"]= ";</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cin</a:t>
            </a:r>
            <a:r>
              <a:rPr lang="es-CO" sz="1200" b="0" kern="1200" dirty="0">
                <a:solidFill>
                  <a:schemeClr val="tx1"/>
                </a:solidFill>
                <a:effectLst/>
                <a:latin typeface="+mn-lt"/>
                <a:ea typeface="+mn-ea"/>
                <a:cs typeface="+mn-cs"/>
              </a:rPr>
              <a:t>&gt;&gt;EDAD[i];</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suma_edad</a:t>
            </a:r>
            <a:r>
              <a:rPr lang="es-CO" sz="1200" b="0" kern="1200" dirty="0">
                <a:solidFill>
                  <a:schemeClr val="tx1"/>
                </a:solidFill>
                <a:effectLst/>
                <a:latin typeface="+mn-lt"/>
                <a:ea typeface="+mn-ea"/>
                <a:cs typeface="+mn-cs"/>
              </a:rPr>
              <a:t> += EDAD[i];</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if</a:t>
            </a:r>
            <a:r>
              <a:rPr lang="es-CO" sz="1200" b="0" kern="1200" dirty="0">
                <a:solidFill>
                  <a:schemeClr val="tx1"/>
                </a:solidFill>
                <a:effectLst/>
                <a:latin typeface="+mn-lt"/>
                <a:ea typeface="+mn-ea"/>
                <a:cs typeface="+mn-cs"/>
              </a:rPr>
              <a:t> (EDAD[i] &gt; </a:t>
            </a:r>
            <a:r>
              <a:rPr lang="es-CO" sz="1200" b="0" kern="1200" dirty="0" err="1">
                <a:solidFill>
                  <a:schemeClr val="tx1"/>
                </a:solidFill>
                <a:effectLst/>
                <a:latin typeface="+mn-lt"/>
                <a:ea typeface="+mn-ea"/>
                <a:cs typeface="+mn-cs"/>
              </a:rPr>
              <a:t>ed_may</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ed_may</a:t>
            </a:r>
            <a:r>
              <a:rPr lang="es-CO" sz="1200" b="0" kern="1200" dirty="0">
                <a:solidFill>
                  <a:schemeClr val="tx1"/>
                </a:solidFill>
                <a:effectLst/>
                <a:latin typeface="+mn-lt"/>
                <a:ea typeface="+mn-ea"/>
                <a:cs typeface="+mn-cs"/>
              </a:rPr>
              <a:t> = EDAD[i];</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if</a:t>
            </a:r>
            <a:r>
              <a:rPr lang="es-CO" sz="1200" b="0" kern="1200" dirty="0">
                <a:solidFill>
                  <a:schemeClr val="tx1"/>
                </a:solidFill>
                <a:effectLst/>
                <a:latin typeface="+mn-lt"/>
                <a:ea typeface="+mn-ea"/>
                <a:cs typeface="+mn-cs"/>
              </a:rPr>
              <a:t> (EDAD[i] &lt; </a:t>
            </a:r>
            <a:r>
              <a:rPr lang="es-CO" sz="1200" b="0" kern="1200" dirty="0" err="1">
                <a:solidFill>
                  <a:schemeClr val="tx1"/>
                </a:solidFill>
                <a:effectLst/>
                <a:latin typeface="+mn-lt"/>
                <a:ea typeface="+mn-ea"/>
                <a:cs typeface="+mn-cs"/>
              </a:rPr>
              <a:t>ed_men</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ed_men</a:t>
            </a:r>
            <a:r>
              <a:rPr lang="es-CO" sz="1200" b="0" kern="1200" dirty="0">
                <a:solidFill>
                  <a:schemeClr val="tx1"/>
                </a:solidFill>
                <a:effectLst/>
                <a:latin typeface="+mn-lt"/>
                <a:ea typeface="+mn-ea"/>
                <a:cs typeface="+mn-cs"/>
              </a:rPr>
              <a:t> = EDAD[i];</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if</a:t>
            </a:r>
            <a:r>
              <a:rPr lang="es-CO" sz="1200" b="0" kern="1200" dirty="0">
                <a:solidFill>
                  <a:schemeClr val="tx1"/>
                </a:solidFill>
                <a:effectLst/>
                <a:latin typeface="+mn-lt"/>
                <a:ea typeface="+mn-ea"/>
                <a:cs typeface="+mn-cs"/>
              </a:rPr>
              <a:t> (EDAD[i] &gt;= 18)</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cant_may</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else</a:t>
            </a:r>
            <a:endParaRPr lang="es-CO" sz="1200" b="0" kern="1200" dirty="0">
              <a:solidFill>
                <a:schemeClr val="tx1"/>
              </a:solidFill>
              <a:effectLst/>
              <a:latin typeface="+mn-lt"/>
              <a:ea typeface="+mn-ea"/>
              <a:cs typeface="+mn-cs"/>
            </a:endParaRP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cant_men</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 &lt;&lt; "La suma de las edades es: " &lt;&lt; </a:t>
            </a:r>
            <a:r>
              <a:rPr lang="es-CO" sz="1200" b="0" kern="1200" dirty="0" err="1">
                <a:solidFill>
                  <a:schemeClr val="tx1"/>
                </a:solidFill>
                <a:effectLst/>
                <a:latin typeface="+mn-lt"/>
                <a:ea typeface="+mn-ea"/>
                <a:cs typeface="+mn-cs"/>
              </a:rPr>
              <a:t>suma_edad</a:t>
            </a:r>
            <a:r>
              <a:rPr lang="es-CO" sz="1200" b="0" kern="1200" dirty="0">
                <a:solidFill>
                  <a:schemeClr val="tx1"/>
                </a:solidFill>
                <a:effectLst/>
                <a:latin typeface="+mn-lt"/>
                <a:ea typeface="+mn-ea"/>
                <a:cs typeface="+mn-cs"/>
              </a:rPr>
              <a:t> &lt;&lt; </a:t>
            </a:r>
            <a:r>
              <a:rPr lang="es-CO" sz="1200" b="0" kern="1200" dirty="0" err="1">
                <a:solidFill>
                  <a:schemeClr val="tx1"/>
                </a:solidFill>
                <a:effectLst/>
                <a:latin typeface="+mn-lt"/>
                <a:ea typeface="+mn-ea"/>
                <a:cs typeface="+mn-cs"/>
              </a:rPr>
              <a:t>endl</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 &lt;&lt; "El promedio de edad es: " &lt;&lt; </a:t>
            </a:r>
            <a:r>
              <a:rPr lang="es-CO" sz="1200" b="0" kern="1200" dirty="0" err="1">
                <a:solidFill>
                  <a:schemeClr val="tx1"/>
                </a:solidFill>
                <a:effectLst/>
                <a:latin typeface="+mn-lt"/>
                <a:ea typeface="+mn-ea"/>
                <a:cs typeface="+mn-cs"/>
              </a:rPr>
              <a:t>suma_edad</a:t>
            </a:r>
            <a:r>
              <a:rPr lang="es-CO" sz="1200" b="0" kern="1200" dirty="0">
                <a:solidFill>
                  <a:schemeClr val="tx1"/>
                </a:solidFill>
                <a:effectLst/>
                <a:latin typeface="+mn-lt"/>
                <a:ea typeface="+mn-ea"/>
                <a:cs typeface="+mn-cs"/>
              </a:rPr>
              <a:t>/10 &lt;&lt; </a:t>
            </a:r>
            <a:r>
              <a:rPr lang="es-CO" sz="1200" b="0" kern="1200" dirty="0" err="1">
                <a:solidFill>
                  <a:schemeClr val="tx1"/>
                </a:solidFill>
                <a:effectLst/>
                <a:latin typeface="+mn-lt"/>
                <a:ea typeface="+mn-ea"/>
                <a:cs typeface="+mn-cs"/>
              </a:rPr>
              <a:t>endl</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 &lt;&lt; "La edad mayor es: " &lt;&lt; </a:t>
            </a:r>
            <a:r>
              <a:rPr lang="es-CO" sz="1200" b="0" kern="1200" dirty="0" err="1">
                <a:solidFill>
                  <a:schemeClr val="tx1"/>
                </a:solidFill>
                <a:effectLst/>
                <a:latin typeface="+mn-lt"/>
                <a:ea typeface="+mn-ea"/>
                <a:cs typeface="+mn-cs"/>
              </a:rPr>
              <a:t>ed_may</a:t>
            </a:r>
            <a:r>
              <a:rPr lang="es-CO" sz="1200" b="0" kern="1200" dirty="0">
                <a:solidFill>
                  <a:schemeClr val="tx1"/>
                </a:solidFill>
                <a:effectLst/>
                <a:latin typeface="+mn-lt"/>
                <a:ea typeface="+mn-ea"/>
                <a:cs typeface="+mn-cs"/>
              </a:rPr>
              <a:t> &lt;&lt; </a:t>
            </a:r>
            <a:r>
              <a:rPr lang="es-CO" sz="1200" b="0" kern="1200" dirty="0" err="1">
                <a:solidFill>
                  <a:schemeClr val="tx1"/>
                </a:solidFill>
                <a:effectLst/>
                <a:latin typeface="+mn-lt"/>
                <a:ea typeface="+mn-ea"/>
                <a:cs typeface="+mn-cs"/>
              </a:rPr>
              <a:t>endl</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 &lt;&lt; "La edad menor es: " &lt;&lt; </a:t>
            </a:r>
            <a:r>
              <a:rPr lang="es-CO" sz="1200" b="0" kern="1200" dirty="0" err="1">
                <a:solidFill>
                  <a:schemeClr val="tx1"/>
                </a:solidFill>
                <a:effectLst/>
                <a:latin typeface="+mn-lt"/>
                <a:ea typeface="+mn-ea"/>
                <a:cs typeface="+mn-cs"/>
              </a:rPr>
              <a:t>ed_men</a:t>
            </a:r>
            <a:r>
              <a:rPr lang="es-CO" sz="1200" b="0" kern="1200" dirty="0">
                <a:solidFill>
                  <a:schemeClr val="tx1"/>
                </a:solidFill>
                <a:effectLst/>
                <a:latin typeface="+mn-lt"/>
                <a:ea typeface="+mn-ea"/>
                <a:cs typeface="+mn-cs"/>
              </a:rPr>
              <a:t> &lt;&lt; </a:t>
            </a:r>
            <a:r>
              <a:rPr lang="es-CO" sz="1200" b="0" kern="1200" dirty="0" err="1">
                <a:solidFill>
                  <a:schemeClr val="tx1"/>
                </a:solidFill>
                <a:effectLst/>
                <a:latin typeface="+mn-lt"/>
                <a:ea typeface="+mn-ea"/>
                <a:cs typeface="+mn-cs"/>
              </a:rPr>
              <a:t>endl</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 &lt;&lt; "Cantidad mayores de edad: " &lt;&lt; </a:t>
            </a:r>
            <a:r>
              <a:rPr lang="es-CO" sz="1200" b="0" kern="1200" dirty="0" err="1">
                <a:solidFill>
                  <a:schemeClr val="tx1"/>
                </a:solidFill>
                <a:effectLst/>
                <a:latin typeface="+mn-lt"/>
                <a:ea typeface="+mn-ea"/>
                <a:cs typeface="+mn-cs"/>
              </a:rPr>
              <a:t>cant_may</a:t>
            </a:r>
            <a:r>
              <a:rPr lang="es-CO" sz="1200" b="0" kern="1200" dirty="0">
                <a:solidFill>
                  <a:schemeClr val="tx1"/>
                </a:solidFill>
                <a:effectLst/>
                <a:latin typeface="+mn-lt"/>
                <a:ea typeface="+mn-ea"/>
                <a:cs typeface="+mn-cs"/>
              </a:rPr>
              <a:t> &lt;&lt; </a:t>
            </a:r>
            <a:r>
              <a:rPr lang="es-CO" sz="1200" b="0" kern="1200" dirty="0" err="1">
                <a:solidFill>
                  <a:schemeClr val="tx1"/>
                </a:solidFill>
                <a:effectLst/>
                <a:latin typeface="+mn-lt"/>
                <a:ea typeface="+mn-ea"/>
                <a:cs typeface="+mn-cs"/>
              </a:rPr>
              <a:t>endl</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cout</a:t>
            </a:r>
            <a:r>
              <a:rPr lang="es-CO" sz="1200" b="0" kern="1200" dirty="0">
                <a:solidFill>
                  <a:schemeClr val="tx1"/>
                </a:solidFill>
                <a:effectLst/>
                <a:latin typeface="+mn-lt"/>
                <a:ea typeface="+mn-ea"/>
                <a:cs typeface="+mn-cs"/>
              </a:rPr>
              <a:t> &lt;&lt; "Cantidad menores de edad: " &lt;&lt; </a:t>
            </a:r>
            <a:r>
              <a:rPr lang="es-CO" sz="1200" b="0" kern="1200" dirty="0" err="1">
                <a:solidFill>
                  <a:schemeClr val="tx1"/>
                </a:solidFill>
                <a:effectLst/>
                <a:latin typeface="+mn-lt"/>
                <a:ea typeface="+mn-ea"/>
                <a:cs typeface="+mn-cs"/>
              </a:rPr>
              <a:t>cant_men</a:t>
            </a:r>
            <a:r>
              <a:rPr lang="es-CO" sz="1200" b="0" kern="1200" dirty="0">
                <a:solidFill>
                  <a:schemeClr val="tx1"/>
                </a:solidFill>
                <a:effectLst/>
                <a:latin typeface="+mn-lt"/>
                <a:ea typeface="+mn-ea"/>
                <a:cs typeface="+mn-cs"/>
              </a:rPr>
              <a:t> &lt;&lt; </a:t>
            </a:r>
            <a:r>
              <a:rPr lang="es-CO" sz="1200" b="0" kern="1200" dirty="0" err="1">
                <a:solidFill>
                  <a:schemeClr val="tx1"/>
                </a:solidFill>
                <a:effectLst/>
                <a:latin typeface="+mn-lt"/>
                <a:ea typeface="+mn-ea"/>
                <a:cs typeface="+mn-cs"/>
              </a:rPr>
              <a:t>endl</a:t>
            </a:r>
            <a:r>
              <a:rPr lang="es-CO" sz="1200" b="0" kern="1200" dirty="0">
                <a:solidFill>
                  <a:schemeClr val="tx1"/>
                </a:solidFill>
                <a:effectLst/>
                <a:latin typeface="+mn-lt"/>
                <a:ea typeface="+mn-ea"/>
                <a:cs typeface="+mn-cs"/>
              </a:rPr>
              <a:t>;</a:t>
            </a:r>
          </a:p>
          <a:p>
            <a:r>
              <a:rPr lang="es-CO" sz="1200" b="0" kern="1200" dirty="0">
                <a:solidFill>
                  <a:schemeClr val="tx1"/>
                </a:solidFill>
                <a:effectLst/>
                <a:latin typeface="+mn-lt"/>
                <a:ea typeface="+mn-ea"/>
                <a:cs typeface="+mn-cs"/>
              </a:rPr>
              <a:t>	</a:t>
            </a:r>
            <a:r>
              <a:rPr lang="es-CO" sz="1200" b="0" kern="1200" dirty="0" err="1">
                <a:solidFill>
                  <a:schemeClr val="tx1"/>
                </a:solidFill>
                <a:effectLst/>
                <a:latin typeface="+mn-lt"/>
                <a:ea typeface="+mn-ea"/>
                <a:cs typeface="+mn-cs"/>
              </a:rPr>
              <a:t>return</a:t>
            </a:r>
            <a:r>
              <a:rPr lang="es-CO" sz="1200" b="0" kern="1200" dirty="0">
                <a:solidFill>
                  <a:schemeClr val="tx1"/>
                </a:solidFill>
                <a:effectLst/>
                <a:latin typeface="+mn-lt"/>
                <a:ea typeface="+mn-ea"/>
                <a:cs typeface="+mn-cs"/>
              </a:rPr>
              <a:t> 0;</a:t>
            </a:r>
          </a:p>
          <a:p>
            <a:r>
              <a:rPr lang="es-CO" sz="1200" b="0" kern="1200" dirty="0">
                <a:solidFill>
                  <a:schemeClr val="tx1"/>
                </a:solidFill>
                <a:effectLst/>
                <a:latin typeface="+mn-lt"/>
                <a:ea typeface="+mn-ea"/>
                <a:cs typeface="+mn-cs"/>
              </a:rPr>
              <a:t>}</a:t>
            </a:r>
          </a:p>
        </p:txBody>
      </p:sp>
      <p:sp>
        <p:nvSpPr>
          <p:cNvPr id="4" name="Marcador de número de diapositiva 3"/>
          <p:cNvSpPr>
            <a:spLocks noGrp="1"/>
          </p:cNvSpPr>
          <p:nvPr>
            <p:ph type="sldNum" sz="quarter" idx="5"/>
          </p:nvPr>
        </p:nvSpPr>
        <p:spPr/>
        <p:txBody>
          <a:bodyPr/>
          <a:lstStyle/>
          <a:p>
            <a:fld id="{6EBFF732-773A-4839-B774-230B46601DA8}" type="slidenum">
              <a:rPr lang="es-CO" smtClean="0"/>
              <a:t>24</a:t>
            </a:fld>
            <a:endParaRPr lang="es-CO"/>
          </a:p>
        </p:txBody>
      </p:sp>
    </p:spTree>
    <p:extLst>
      <p:ext uri="{BB962C8B-B14F-4D97-AF65-F5344CB8AC3E}">
        <p14:creationId xmlns:p14="http://schemas.microsoft.com/office/powerpoint/2010/main" val="7271005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s-CO"/>
          </a:p>
        </p:txBody>
      </p:sp>
      <p:sp>
        <p:nvSpPr>
          <p:cNvPr id="4" name="Marcador de fecha 3"/>
          <p:cNvSpPr>
            <a:spLocks noGrp="1"/>
          </p:cNvSpPr>
          <p:nvPr>
            <p:ph type="dt" sz="half" idx="10"/>
          </p:nvPr>
        </p:nvSpPr>
        <p:spPr/>
        <p:txBody>
          <a:bodyPr/>
          <a:lstStyle/>
          <a:p>
            <a:fld id="{620CEF71-AC54-4907-87CE-021372FB99F1}" type="datetimeFigureOut">
              <a:rPr lang="es-CO" smtClean="0"/>
              <a:t>18/08/2022</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E95D3DBD-534B-4F0D-A315-13E9D6466E1D}" type="slidenum">
              <a:rPr lang="es-CO" smtClean="0"/>
              <a:t>‹Nº›</a:t>
            </a:fld>
            <a:endParaRPr lang="es-CO"/>
          </a:p>
        </p:txBody>
      </p:sp>
    </p:spTree>
    <p:extLst>
      <p:ext uri="{BB962C8B-B14F-4D97-AF65-F5344CB8AC3E}">
        <p14:creationId xmlns:p14="http://schemas.microsoft.com/office/powerpoint/2010/main" val="171669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10"/>
          </p:nvPr>
        </p:nvSpPr>
        <p:spPr/>
        <p:txBody>
          <a:bodyPr/>
          <a:lstStyle/>
          <a:p>
            <a:fld id="{620CEF71-AC54-4907-87CE-021372FB99F1}" type="datetimeFigureOut">
              <a:rPr lang="es-CO" smtClean="0"/>
              <a:t>18/08/2022</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E95D3DBD-534B-4F0D-A315-13E9D6466E1D}" type="slidenum">
              <a:rPr lang="es-CO" smtClean="0"/>
              <a:t>‹Nº›</a:t>
            </a:fld>
            <a:endParaRPr lang="es-CO"/>
          </a:p>
        </p:txBody>
      </p:sp>
    </p:spTree>
    <p:extLst>
      <p:ext uri="{BB962C8B-B14F-4D97-AF65-F5344CB8AC3E}">
        <p14:creationId xmlns:p14="http://schemas.microsoft.com/office/powerpoint/2010/main" val="3057654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620CEF71-AC54-4907-87CE-021372FB99F1}" type="datetimeFigureOut">
              <a:rPr lang="es-CO" smtClean="0"/>
              <a:t>18/08/2022</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E95D3DBD-534B-4F0D-A315-13E9D6466E1D}" type="slidenum">
              <a:rPr lang="es-CO" smtClean="0"/>
              <a:t>‹Nº›</a:t>
            </a:fld>
            <a:endParaRPr lang="es-CO"/>
          </a:p>
        </p:txBody>
      </p:sp>
    </p:spTree>
    <p:extLst>
      <p:ext uri="{BB962C8B-B14F-4D97-AF65-F5344CB8AC3E}">
        <p14:creationId xmlns:p14="http://schemas.microsoft.com/office/powerpoint/2010/main" val="28772888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p:cNvSpPr>
            <a:spLocks noGrp="1"/>
          </p:cNvSpPr>
          <p:nvPr>
            <p:ph type="dt" sz="half" idx="10"/>
          </p:nvPr>
        </p:nvSpPr>
        <p:spPr/>
        <p:txBody>
          <a:bodyPr/>
          <a:lstStyle/>
          <a:p>
            <a:fld id="{620CEF71-AC54-4907-87CE-021372FB99F1}" type="datetimeFigureOut">
              <a:rPr lang="es-CO" smtClean="0"/>
              <a:t>18/08/2022</a:t>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E95D3DBD-534B-4F0D-A315-13E9D6466E1D}" type="slidenum">
              <a:rPr lang="es-CO" smtClean="0"/>
              <a:t>‹Nº›</a:t>
            </a:fld>
            <a:endParaRPr lang="es-CO"/>
          </a:p>
        </p:txBody>
      </p:sp>
    </p:spTree>
    <p:extLst>
      <p:ext uri="{BB962C8B-B14F-4D97-AF65-F5344CB8AC3E}">
        <p14:creationId xmlns:p14="http://schemas.microsoft.com/office/powerpoint/2010/main" val="2562611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p:cNvSpPr>
            <a:spLocks noGrp="1"/>
          </p:cNvSpPr>
          <p:nvPr>
            <p:ph type="dt" sz="half" idx="10"/>
          </p:nvPr>
        </p:nvSpPr>
        <p:spPr/>
        <p:txBody>
          <a:bodyPr/>
          <a:lstStyle/>
          <a:p>
            <a:fld id="{620CEF71-AC54-4907-87CE-021372FB99F1}" type="datetimeFigureOut">
              <a:rPr lang="es-CO" smtClean="0"/>
              <a:t>18/08/2022</a:t>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E95D3DBD-534B-4F0D-A315-13E9D6466E1D}" type="slidenum">
              <a:rPr lang="es-CO" smtClean="0"/>
              <a:t>‹Nº›</a:t>
            </a:fld>
            <a:endParaRPr lang="es-CO"/>
          </a:p>
        </p:txBody>
      </p:sp>
    </p:spTree>
    <p:extLst>
      <p:ext uri="{BB962C8B-B14F-4D97-AF65-F5344CB8AC3E}">
        <p14:creationId xmlns:p14="http://schemas.microsoft.com/office/powerpoint/2010/main" val="9764222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fecha 2"/>
          <p:cNvSpPr>
            <a:spLocks noGrp="1"/>
          </p:cNvSpPr>
          <p:nvPr>
            <p:ph type="dt" sz="half" idx="10"/>
          </p:nvPr>
        </p:nvSpPr>
        <p:spPr/>
        <p:txBody>
          <a:bodyPr/>
          <a:lstStyle/>
          <a:p>
            <a:fld id="{620CEF71-AC54-4907-87CE-021372FB99F1}" type="datetimeFigureOut">
              <a:rPr lang="es-CO" smtClean="0"/>
              <a:t>18/08/2022</a:t>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E95D3DBD-534B-4F0D-A315-13E9D6466E1D}" type="slidenum">
              <a:rPr lang="es-CO" smtClean="0"/>
              <a:t>‹Nº›</a:t>
            </a:fld>
            <a:endParaRPr lang="es-CO"/>
          </a:p>
        </p:txBody>
      </p:sp>
    </p:spTree>
    <p:extLst>
      <p:ext uri="{BB962C8B-B14F-4D97-AF65-F5344CB8AC3E}">
        <p14:creationId xmlns:p14="http://schemas.microsoft.com/office/powerpoint/2010/main" val="6824871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620CEF71-AC54-4907-87CE-021372FB99F1}" type="datetimeFigureOut">
              <a:rPr lang="es-CO" smtClean="0"/>
              <a:t>18/08/2022</a:t>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E95D3DBD-534B-4F0D-A315-13E9D6466E1D}" type="slidenum">
              <a:rPr lang="es-CO" smtClean="0"/>
              <a:t>‹Nº›</a:t>
            </a:fld>
            <a:endParaRPr lang="es-CO"/>
          </a:p>
        </p:txBody>
      </p:sp>
    </p:spTree>
    <p:extLst>
      <p:ext uri="{BB962C8B-B14F-4D97-AF65-F5344CB8AC3E}">
        <p14:creationId xmlns:p14="http://schemas.microsoft.com/office/powerpoint/2010/main" val="93341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620CEF71-AC54-4907-87CE-021372FB99F1}" type="datetimeFigureOut">
              <a:rPr lang="es-CO" smtClean="0"/>
              <a:t>18/08/2022</a:t>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E95D3DBD-534B-4F0D-A315-13E9D6466E1D}" type="slidenum">
              <a:rPr lang="es-CO" smtClean="0"/>
              <a:t>‹Nº›</a:t>
            </a:fld>
            <a:endParaRPr lang="es-CO"/>
          </a:p>
        </p:txBody>
      </p:sp>
    </p:spTree>
    <p:extLst>
      <p:ext uri="{BB962C8B-B14F-4D97-AF65-F5344CB8AC3E}">
        <p14:creationId xmlns:p14="http://schemas.microsoft.com/office/powerpoint/2010/main" val="2851531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620CEF71-AC54-4907-87CE-021372FB99F1}" type="datetimeFigureOut">
              <a:rPr lang="es-CO" smtClean="0"/>
              <a:t>18/08/2022</a:t>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E95D3DBD-534B-4F0D-A315-13E9D6466E1D}" type="slidenum">
              <a:rPr lang="es-CO" smtClean="0"/>
              <a:t>‹Nº›</a:t>
            </a:fld>
            <a:endParaRPr lang="es-CO"/>
          </a:p>
        </p:txBody>
      </p:sp>
    </p:spTree>
    <p:extLst>
      <p:ext uri="{BB962C8B-B14F-4D97-AF65-F5344CB8AC3E}">
        <p14:creationId xmlns:p14="http://schemas.microsoft.com/office/powerpoint/2010/main" val="35917277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10"/>
          </p:nvPr>
        </p:nvSpPr>
        <p:spPr/>
        <p:txBody>
          <a:bodyPr/>
          <a:lstStyle/>
          <a:p>
            <a:fld id="{620CEF71-AC54-4907-87CE-021372FB99F1}" type="datetimeFigureOut">
              <a:rPr lang="es-CO" smtClean="0"/>
              <a:t>18/08/2022</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E95D3DBD-534B-4F0D-A315-13E9D6466E1D}" type="slidenum">
              <a:rPr lang="es-CO" smtClean="0"/>
              <a:t>‹Nº›</a:t>
            </a:fld>
            <a:endParaRPr lang="es-CO"/>
          </a:p>
        </p:txBody>
      </p:sp>
    </p:spTree>
    <p:extLst>
      <p:ext uri="{BB962C8B-B14F-4D97-AF65-F5344CB8AC3E}">
        <p14:creationId xmlns:p14="http://schemas.microsoft.com/office/powerpoint/2010/main" val="41673830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10"/>
          </p:nvPr>
        </p:nvSpPr>
        <p:spPr/>
        <p:txBody>
          <a:bodyPr/>
          <a:lstStyle/>
          <a:p>
            <a:fld id="{620CEF71-AC54-4907-87CE-021372FB99F1}" type="datetimeFigureOut">
              <a:rPr lang="es-CO" smtClean="0"/>
              <a:t>18/08/2022</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E95D3DBD-534B-4F0D-A315-13E9D6466E1D}" type="slidenum">
              <a:rPr lang="es-CO" smtClean="0"/>
              <a:t>‹Nº›</a:t>
            </a:fld>
            <a:endParaRPr lang="es-CO"/>
          </a:p>
        </p:txBody>
      </p:sp>
    </p:spTree>
    <p:extLst>
      <p:ext uri="{BB962C8B-B14F-4D97-AF65-F5344CB8AC3E}">
        <p14:creationId xmlns:p14="http://schemas.microsoft.com/office/powerpoint/2010/main" val="1945347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2000" b="-2000"/>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0CEF71-AC54-4907-87CE-021372FB99F1}" type="datetimeFigureOut">
              <a:rPr lang="es-CO" smtClean="0"/>
              <a:t>18/08/2022</a:t>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5D3DBD-534B-4F0D-A315-13E9D6466E1D}" type="slidenum">
              <a:rPr lang="es-CO" smtClean="0"/>
              <a:t>‹Nº›</a:t>
            </a:fld>
            <a:endParaRPr lang="es-CO"/>
          </a:p>
        </p:txBody>
      </p:sp>
    </p:spTree>
    <p:extLst>
      <p:ext uri="{BB962C8B-B14F-4D97-AF65-F5344CB8AC3E}">
        <p14:creationId xmlns:p14="http://schemas.microsoft.com/office/powerpoint/2010/main" val="4949120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comments" Target="../comments/comment1.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99B393-37E8-4E11-8EB2-C863ACB85223}"/>
              </a:ext>
            </a:extLst>
          </p:cNvPr>
          <p:cNvSpPr txBox="1">
            <a:spLocks/>
          </p:cNvSpPr>
          <p:nvPr/>
        </p:nvSpPr>
        <p:spPr>
          <a:xfrm>
            <a:off x="884689" y="1308683"/>
            <a:ext cx="10943788" cy="1197553"/>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CO" b="1" dirty="0">
                <a:latin typeface="Bahnschrift Light SemiCondensed" panose="020B0502040204020203" pitchFamily="34" charset="0"/>
              </a:rPr>
              <a:t>“MANEJO DE ARREGLOS </a:t>
            </a:r>
          </a:p>
          <a:p>
            <a:pPr algn="ctr"/>
            <a:r>
              <a:rPr lang="es-CO" b="1" dirty="0">
                <a:latin typeface="Bahnschrift Light SemiCondensed" panose="020B0502040204020203" pitchFamily="34" charset="0"/>
              </a:rPr>
              <a:t>UNIDIMENSIONALES [VECTORES] EN C++”</a:t>
            </a:r>
          </a:p>
        </p:txBody>
      </p:sp>
      <p:sp>
        <p:nvSpPr>
          <p:cNvPr id="5" name="Rectángulo 4">
            <a:extLst>
              <a:ext uri="{FF2B5EF4-FFF2-40B4-BE49-F238E27FC236}">
                <a16:creationId xmlns:a16="http://schemas.microsoft.com/office/drawing/2014/main" id="{161F265C-6D74-4338-8944-0FD73F7598E6}"/>
              </a:ext>
            </a:extLst>
          </p:cNvPr>
          <p:cNvSpPr/>
          <p:nvPr/>
        </p:nvSpPr>
        <p:spPr>
          <a:xfrm>
            <a:off x="1798040" y="5362689"/>
            <a:ext cx="8595920" cy="684772"/>
          </a:xfrm>
          <a:prstGeom prst="rect">
            <a:avLst/>
          </a:prstGeom>
          <a:solidFill>
            <a:srgbClr val="0070C0"/>
          </a:solidFill>
          <a:ln>
            <a:noFill/>
          </a:ln>
          <a:effectLst>
            <a:outerShdw blurRad="107950" dist="12700" dir="5400000" algn="ctr">
              <a:srgbClr val="000000"/>
            </a:outerShdw>
          </a:effectLst>
          <a:scene3d>
            <a:camera prst="isometricTopUp">
              <a:rot lat="21594000" lon="2159400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harsh" dir="t"/>
            </a:scene3d>
            <a:sp3d extrusionH="57150" prstMaterial="matte">
              <a:bevelT w="63500" h="12700" prst="angle"/>
              <a:contourClr>
                <a:schemeClr val="bg1">
                  <a:lumMod val="65000"/>
                </a:schemeClr>
              </a:contourClr>
            </a:sp3d>
          </a:bodyPr>
          <a:lstStyle/>
          <a:p>
            <a:pPr lvl="0" algn="ctr">
              <a:defRPr/>
            </a:pPr>
            <a:r>
              <a:rPr lang="es-CO" sz="2000" b="1" dirty="0">
                <a:ln/>
                <a:solidFill>
                  <a:prstClr val="white"/>
                </a:solidFill>
                <a:effectLst>
                  <a:outerShdw blurRad="38100" dist="38100" dir="2700000" algn="tl">
                    <a:srgbClr val="000000">
                      <a:alpha val="43137"/>
                    </a:srgbClr>
                  </a:outerShdw>
                </a:effectLst>
              </a:rPr>
              <a:t>CURSO: </a:t>
            </a:r>
            <a:r>
              <a:rPr lang="es-CO" sz="2000" dirty="0">
                <a:solidFill>
                  <a:prstClr val="white"/>
                </a:solidFill>
                <a:latin typeface="Bahnschrift Light SemiCondensed" panose="020B0502040204020203" pitchFamily="34" charset="0"/>
              </a:rPr>
              <a:t>“ALGORITMOS Y PROGRAMACIÓN </a:t>
            </a:r>
            <a:r>
              <a:rPr lang="es-CO" sz="2000" b="1" dirty="0">
                <a:solidFill>
                  <a:prstClr val="white"/>
                </a:solidFill>
                <a:latin typeface="Bahnschrift Light SemiCondensed" panose="020B0502040204020203" pitchFamily="34" charset="0"/>
              </a:rPr>
              <a:t>PROGRAMACIÓN </a:t>
            </a:r>
            <a:r>
              <a:rPr lang="es-CO" sz="2000" dirty="0">
                <a:solidFill>
                  <a:prstClr val="white"/>
                </a:solidFill>
                <a:latin typeface="Bahnschrift Light SemiCondensed" panose="020B0502040204020203" pitchFamily="34" charset="0"/>
              </a:rPr>
              <a:t>"</a:t>
            </a:r>
          </a:p>
          <a:p>
            <a:pPr lvl="0" algn="ctr">
              <a:defRPr/>
            </a:pPr>
            <a:r>
              <a:rPr lang="es-CO" sz="2000" b="1" dirty="0">
                <a:ln/>
                <a:solidFill>
                  <a:prstClr val="white"/>
                </a:solidFill>
                <a:effectLst>
                  <a:outerShdw blurRad="38100" dist="38100" dir="2700000" algn="tl">
                    <a:srgbClr val="000000">
                      <a:alpha val="43137"/>
                    </a:srgbClr>
                  </a:outerShdw>
                </a:effectLst>
              </a:rPr>
              <a:t>DOCENTE: </a:t>
            </a:r>
            <a:r>
              <a:rPr lang="es-CO" sz="2000" b="1" dirty="0">
                <a:solidFill>
                  <a:prstClr val="white"/>
                </a:solidFill>
                <a:latin typeface="Bahnschrift Light SemiCondensed" panose="020B0502040204020203" pitchFamily="34" charset="0"/>
              </a:rPr>
              <a:t>JAIRO HERNANDO RAMÍREZ MARÍN</a:t>
            </a:r>
          </a:p>
        </p:txBody>
      </p:sp>
    </p:spTree>
    <p:extLst>
      <p:ext uri="{BB962C8B-B14F-4D97-AF65-F5344CB8AC3E}">
        <p14:creationId xmlns:p14="http://schemas.microsoft.com/office/powerpoint/2010/main" val="4014841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800" decel="100000"/>
                                        <p:tgtEl>
                                          <p:spTgt spid="5"/>
                                        </p:tgtEl>
                                      </p:cBhvr>
                                    </p:animEffect>
                                    <p:anim calcmode="lin" valueType="num">
                                      <p:cBhvr>
                                        <p:cTn id="8" dur="800" decel="100000" fill="hold"/>
                                        <p:tgtEl>
                                          <p:spTgt spid="5"/>
                                        </p:tgtEl>
                                        <p:attrNameLst>
                                          <p:attrName>style.rotation</p:attrName>
                                        </p:attrNameLst>
                                      </p:cBhvr>
                                      <p:tavLst>
                                        <p:tav tm="0">
                                          <p:val>
                                            <p:fltVal val="-90"/>
                                          </p:val>
                                        </p:tav>
                                        <p:tav tm="100000">
                                          <p:val>
                                            <p:fltVal val="0"/>
                                          </p:val>
                                        </p:tav>
                                      </p:tavLst>
                                    </p:anim>
                                    <p:anim calcmode="lin" valueType="num">
                                      <p:cBhvr>
                                        <p:cTn id="9" dur="800" decel="100000" fill="hold"/>
                                        <p:tgtEl>
                                          <p:spTgt spid="5"/>
                                        </p:tgtEl>
                                        <p:attrNameLst>
                                          <p:attrName>ppt_x</p:attrName>
                                        </p:attrNameLst>
                                      </p:cBhvr>
                                      <p:tavLst>
                                        <p:tav tm="0">
                                          <p:val>
                                            <p:strVal val="#ppt_x+0.4"/>
                                          </p:val>
                                        </p:tav>
                                        <p:tav tm="100000">
                                          <p:val>
                                            <p:strVal val="#ppt_x-0.05"/>
                                          </p:val>
                                        </p:tav>
                                      </p:tavLst>
                                    </p:anim>
                                    <p:anim calcmode="lin" valueType="num">
                                      <p:cBhvr>
                                        <p:cTn id="10" dur="800" decel="100000" fill="hold"/>
                                        <p:tgtEl>
                                          <p:spTgt spid="5"/>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5"/>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5"/>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0"/>
            <a:ext cx="10515600" cy="1325563"/>
          </a:xfrm>
        </p:spPr>
        <p:txBody>
          <a:bodyPr>
            <a:normAutofit/>
          </a:bodyPr>
          <a:lstStyle/>
          <a:p>
            <a:pPr algn="ctr"/>
            <a:r>
              <a:rPr lang="es-CO" b="1" dirty="0">
                <a:latin typeface="Bahnschrift Light SemiCondensed" panose="020B0502040204020203" pitchFamily="34" charset="0"/>
              </a:rPr>
              <a:t>“MANEJO DE ARREGLOS EN C++”</a:t>
            </a:r>
          </a:p>
        </p:txBody>
      </p:sp>
      <p:sp>
        <p:nvSpPr>
          <p:cNvPr id="7" name="CuadroTexto 6">
            <a:extLst>
              <a:ext uri="{FF2B5EF4-FFF2-40B4-BE49-F238E27FC236}">
                <a16:creationId xmlns:a16="http://schemas.microsoft.com/office/drawing/2014/main" id="{B3245438-2EFA-4DBF-85CF-60E0A78BBF68}"/>
              </a:ext>
            </a:extLst>
          </p:cNvPr>
          <p:cNvSpPr txBox="1"/>
          <p:nvPr/>
        </p:nvSpPr>
        <p:spPr>
          <a:xfrm>
            <a:off x="901816" y="1676611"/>
            <a:ext cx="9386877" cy="588418"/>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pPr lvl="0" algn="just" defTabSz="1422400">
              <a:lnSpc>
                <a:spcPct val="90000"/>
              </a:lnSpc>
              <a:spcBef>
                <a:spcPct val="0"/>
              </a:spcBef>
              <a:spcAft>
                <a:spcPct val="35000"/>
              </a:spcAft>
            </a:pPr>
            <a:r>
              <a:rPr lang="es-MX" sz="2800" dirty="0"/>
              <a:t>Los arreglos en programación se clasifican en:</a:t>
            </a:r>
          </a:p>
        </p:txBody>
      </p:sp>
      <p:graphicFrame>
        <p:nvGraphicFramePr>
          <p:cNvPr id="4" name="1 Diagrama">
            <a:extLst>
              <a:ext uri="{FF2B5EF4-FFF2-40B4-BE49-F238E27FC236}">
                <a16:creationId xmlns:a16="http://schemas.microsoft.com/office/drawing/2014/main" id="{C155E930-C6D2-4D54-A531-DE40060A9936}"/>
              </a:ext>
            </a:extLst>
          </p:cNvPr>
          <p:cNvGraphicFramePr/>
          <p:nvPr>
            <p:extLst>
              <p:ext uri="{D42A27DB-BD31-4B8C-83A1-F6EECF244321}">
                <p14:modId xmlns:p14="http://schemas.microsoft.com/office/powerpoint/2010/main" val="1796947310"/>
              </p:ext>
            </p:extLst>
          </p:nvPr>
        </p:nvGraphicFramePr>
        <p:xfrm>
          <a:off x="1232775" y="2432763"/>
          <a:ext cx="8724958" cy="40037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21465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graphicEl>
                                              <a:dgm id="{8CBEB6B3-EC1F-43F4-AACD-00CA1D2B8BE3}"/>
                                            </p:graphicEl>
                                          </p:spTgt>
                                        </p:tgtEl>
                                        <p:attrNameLst>
                                          <p:attrName>style.visibility</p:attrName>
                                        </p:attrNameLst>
                                      </p:cBhvr>
                                      <p:to>
                                        <p:strVal val="visible"/>
                                      </p:to>
                                    </p:set>
                                    <p:animEffect transition="in" filter="wipe(left)">
                                      <p:cBhvr>
                                        <p:cTn id="12" dur="500"/>
                                        <p:tgtEl>
                                          <p:spTgt spid="4">
                                            <p:graphicEl>
                                              <a:dgm id="{8CBEB6B3-EC1F-43F4-AACD-00CA1D2B8BE3}"/>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graphicEl>
                                              <a:dgm id="{94E9CD55-1F66-4C85-B2E0-87E8C2AB8571}"/>
                                            </p:graphicEl>
                                          </p:spTgt>
                                        </p:tgtEl>
                                        <p:attrNameLst>
                                          <p:attrName>style.visibility</p:attrName>
                                        </p:attrNameLst>
                                      </p:cBhvr>
                                      <p:to>
                                        <p:strVal val="visible"/>
                                      </p:to>
                                    </p:set>
                                    <p:animEffect transition="in" filter="wipe(left)">
                                      <p:cBhvr>
                                        <p:cTn id="17" dur="500"/>
                                        <p:tgtEl>
                                          <p:spTgt spid="4">
                                            <p:graphicEl>
                                              <a:dgm id="{94E9CD55-1F66-4C85-B2E0-87E8C2AB8571}"/>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
                                            <p:graphicEl>
                                              <a:dgm id="{5171EF55-A346-4EEB-8812-6FC5738BB45B}"/>
                                            </p:graphicEl>
                                          </p:spTgt>
                                        </p:tgtEl>
                                        <p:attrNameLst>
                                          <p:attrName>style.visibility</p:attrName>
                                        </p:attrNameLst>
                                      </p:cBhvr>
                                      <p:to>
                                        <p:strVal val="visible"/>
                                      </p:to>
                                    </p:set>
                                    <p:animEffect transition="in" filter="wipe(left)">
                                      <p:cBhvr>
                                        <p:cTn id="22" dur="500"/>
                                        <p:tgtEl>
                                          <p:spTgt spid="4">
                                            <p:graphicEl>
                                              <a:dgm id="{5171EF55-A346-4EEB-8812-6FC5738BB45B}"/>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
                                            <p:graphicEl>
                                              <a:dgm id="{9747D3BE-FAF1-45BE-A96C-452DA0EED34A}"/>
                                            </p:graphicEl>
                                          </p:spTgt>
                                        </p:tgtEl>
                                        <p:attrNameLst>
                                          <p:attrName>style.visibility</p:attrName>
                                        </p:attrNameLst>
                                      </p:cBhvr>
                                      <p:to>
                                        <p:strVal val="visible"/>
                                      </p:to>
                                    </p:set>
                                    <p:animEffect transition="in" filter="wipe(left)">
                                      <p:cBhvr>
                                        <p:cTn id="27" dur="500"/>
                                        <p:tgtEl>
                                          <p:spTgt spid="4">
                                            <p:graphicEl>
                                              <a:dgm id="{9747D3BE-FAF1-45BE-A96C-452DA0EED34A}"/>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
                                            <p:graphicEl>
                                              <a:dgm id="{BEB971BD-F855-4A46-9265-5F062F04621B}"/>
                                            </p:graphicEl>
                                          </p:spTgt>
                                        </p:tgtEl>
                                        <p:attrNameLst>
                                          <p:attrName>style.visibility</p:attrName>
                                        </p:attrNameLst>
                                      </p:cBhvr>
                                      <p:to>
                                        <p:strVal val="visible"/>
                                      </p:to>
                                    </p:set>
                                    <p:animEffect transition="in" filter="wipe(left)">
                                      <p:cBhvr>
                                        <p:cTn id="32" dur="500"/>
                                        <p:tgtEl>
                                          <p:spTgt spid="4">
                                            <p:graphicEl>
                                              <a:dgm id="{BEB971BD-F855-4A46-9265-5F062F04621B}"/>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
                                            <p:graphicEl>
                                              <a:dgm id="{E1993BD4-3F78-4CF2-BE3A-3BFCD33180E7}"/>
                                            </p:graphicEl>
                                          </p:spTgt>
                                        </p:tgtEl>
                                        <p:attrNameLst>
                                          <p:attrName>style.visibility</p:attrName>
                                        </p:attrNameLst>
                                      </p:cBhvr>
                                      <p:to>
                                        <p:strVal val="visible"/>
                                      </p:to>
                                    </p:set>
                                    <p:animEffect transition="in" filter="wipe(left)">
                                      <p:cBhvr>
                                        <p:cTn id="37" dur="500"/>
                                        <p:tgtEl>
                                          <p:spTgt spid="4">
                                            <p:graphicEl>
                                              <a:dgm id="{E1993BD4-3F78-4CF2-BE3A-3BFCD33180E7}"/>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Graphic spid="4" grpId="0">
        <p:bldSub>
          <a:bldDgm bld="lvl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99B393-37E8-4E11-8EB2-C863ACB85223}"/>
              </a:ext>
            </a:extLst>
          </p:cNvPr>
          <p:cNvSpPr txBox="1">
            <a:spLocks/>
          </p:cNvSpPr>
          <p:nvPr/>
        </p:nvSpPr>
        <p:spPr>
          <a:xfrm>
            <a:off x="624106" y="1082475"/>
            <a:ext cx="10943788" cy="119755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s-CO" sz="4400" b="1" i="0" u="none" strike="noStrike" kern="1200" cap="none" spc="0" normalizeH="0" baseline="0" noProof="0" dirty="0">
                <a:ln>
                  <a:noFill/>
                </a:ln>
                <a:solidFill>
                  <a:prstClr val="black"/>
                </a:solidFill>
                <a:effectLst/>
                <a:uLnTx/>
                <a:uFillTx/>
                <a:latin typeface="Bahnschrift Light SemiCondensed" panose="020B0502040204020203" pitchFamily="34" charset="0"/>
                <a:ea typeface="+mj-ea"/>
                <a:cs typeface="+mj-cs"/>
              </a:rPr>
              <a:t>“VECTORES EN C++”</a:t>
            </a:r>
          </a:p>
        </p:txBody>
      </p:sp>
      <p:grpSp>
        <p:nvGrpSpPr>
          <p:cNvPr id="75" name="Group 3">
            <a:extLst>
              <a:ext uri="{FF2B5EF4-FFF2-40B4-BE49-F238E27FC236}">
                <a16:creationId xmlns:a16="http://schemas.microsoft.com/office/drawing/2014/main" id="{491DFB70-C48D-45EF-870B-56E0469287BF}"/>
              </a:ext>
            </a:extLst>
          </p:cNvPr>
          <p:cNvGrpSpPr>
            <a:grpSpLocks/>
          </p:cNvGrpSpPr>
          <p:nvPr/>
        </p:nvGrpSpPr>
        <p:grpSpPr bwMode="auto">
          <a:xfrm>
            <a:off x="2457028" y="5211326"/>
            <a:ext cx="936625" cy="873125"/>
            <a:chOff x="1882" y="1434"/>
            <a:chExt cx="1361" cy="1270"/>
          </a:xfrm>
          <a:solidFill>
            <a:schemeClr val="bg1">
              <a:lumMod val="85000"/>
            </a:schemeClr>
          </a:solidFill>
          <a:scene3d>
            <a:camera prst="perspectiveRight"/>
            <a:lightRig rig="threePt" dir="t"/>
          </a:scene3d>
        </p:grpSpPr>
        <p:sp>
          <p:nvSpPr>
            <p:cNvPr id="76" name="AutoShape 4">
              <a:extLst>
                <a:ext uri="{FF2B5EF4-FFF2-40B4-BE49-F238E27FC236}">
                  <a16:creationId xmlns:a16="http://schemas.microsoft.com/office/drawing/2014/main" id="{40A41BBA-5B32-4E6B-84F7-146B2517A4A7}"/>
                </a:ext>
              </a:extLst>
            </p:cNvPr>
            <p:cNvSpPr>
              <a:spLocks noChangeArrowheads="1"/>
            </p:cNvSpPr>
            <p:nvPr/>
          </p:nvSpPr>
          <p:spPr bwMode="auto">
            <a:xfrm>
              <a:off x="1882" y="1434"/>
              <a:ext cx="1361" cy="1270"/>
            </a:xfrm>
            <a:prstGeom prst="cube">
              <a:avLst>
                <a:gd name="adj" fmla="val 25000"/>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77" name="Line 5">
              <a:extLst>
                <a:ext uri="{FF2B5EF4-FFF2-40B4-BE49-F238E27FC236}">
                  <a16:creationId xmlns:a16="http://schemas.microsoft.com/office/drawing/2014/main" id="{55282497-FA87-43C8-B1F8-E5B146030867}"/>
                </a:ext>
              </a:extLst>
            </p:cNvPr>
            <p:cNvSpPr>
              <a:spLocks noChangeShapeType="1"/>
            </p:cNvSpPr>
            <p:nvPr/>
          </p:nvSpPr>
          <p:spPr bwMode="auto">
            <a:xfrm>
              <a:off x="2200" y="1752"/>
              <a:ext cx="0" cy="635"/>
            </a:xfrm>
            <a:prstGeom prst="line">
              <a:avLst/>
            </a:prstGeom>
            <a:grpFill/>
            <a:ln w="9525">
              <a:solidFill>
                <a:schemeClr val="bg2"/>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78" name="Line 6">
              <a:extLst>
                <a:ext uri="{FF2B5EF4-FFF2-40B4-BE49-F238E27FC236}">
                  <a16:creationId xmlns:a16="http://schemas.microsoft.com/office/drawing/2014/main" id="{1C51AAD2-AB6F-4AF8-BC59-A2710B260CC2}"/>
                </a:ext>
              </a:extLst>
            </p:cNvPr>
            <p:cNvSpPr>
              <a:spLocks noChangeShapeType="1"/>
            </p:cNvSpPr>
            <p:nvPr/>
          </p:nvSpPr>
          <p:spPr bwMode="auto">
            <a:xfrm flipH="1">
              <a:off x="1882" y="2387"/>
              <a:ext cx="318" cy="317"/>
            </a:xfrm>
            <a:prstGeom prst="line">
              <a:avLst/>
            </a:prstGeom>
            <a:grpFill/>
            <a:ln w="9525">
              <a:solidFill>
                <a:schemeClr val="bg2"/>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79" name="Line 7">
              <a:extLst>
                <a:ext uri="{FF2B5EF4-FFF2-40B4-BE49-F238E27FC236}">
                  <a16:creationId xmlns:a16="http://schemas.microsoft.com/office/drawing/2014/main" id="{48301250-74EF-4AE8-8F39-8506B2179509}"/>
                </a:ext>
              </a:extLst>
            </p:cNvPr>
            <p:cNvSpPr>
              <a:spLocks noChangeShapeType="1"/>
            </p:cNvSpPr>
            <p:nvPr/>
          </p:nvSpPr>
          <p:spPr bwMode="auto">
            <a:xfrm flipV="1">
              <a:off x="2200" y="2387"/>
              <a:ext cx="725" cy="0"/>
            </a:xfrm>
            <a:prstGeom prst="line">
              <a:avLst/>
            </a:prstGeom>
            <a:grpFill/>
            <a:ln w="9525">
              <a:solidFill>
                <a:schemeClr val="bg2"/>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80" name="Line 8">
              <a:extLst>
                <a:ext uri="{FF2B5EF4-FFF2-40B4-BE49-F238E27FC236}">
                  <a16:creationId xmlns:a16="http://schemas.microsoft.com/office/drawing/2014/main" id="{E4A9AF56-53E8-4795-989F-837BA56278C9}"/>
                </a:ext>
              </a:extLst>
            </p:cNvPr>
            <p:cNvSpPr>
              <a:spLocks noChangeShapeType="1"/>
            </p:cNvSpPr>
            <p:nvPr/>
          </p:nvSpPr>
          <p:spPr bwMode="auto">
            <a:xfrm>
              <a:off x="2200" y="1434"/>
              <a:ext cx="0" cy="318"/>
            </a:xfrm>
            <a:prstGeom prst="lin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81" name="Line 9">
              <a:extLst>
                <a:ext uri="{FF2B5EF4-FFF2-40B4-BE49-F238E27FC236}">
                  <a16:creationId xmlns:a16="http://schemas.microsoft.com/office/drawing/2014/main" id="{AEE1EE8C-FBD0-4D1A-B443-444F8D80B2C1}"/>
                </a:ext>
              </a:extLst>
            </p:cNvPr>
            <p:cNvSpPr>
              <a:spLocks noChangeShapeType="1"/>
            </p:cNvSpPr>
            <p:nvPr/>
          </p:nvSpPr>
          <p:spPr bwMode="auto">
            <a:xfrm>
              <a:off x="2925" y="2387"/>
              <a:ext cx="318" cy="0"/>
            </a:xfrm>
            <a:prstGeom prst="lin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grpSp>
      <p:grpSp>
        <p:nvGrpSpPr>
          <p:cNvPr id="82" name="Group 11">
            <a:extLst>
              <a:ext uri="{FF2B5EF4-FFF2-40B4-BE49-F238E27FC236}">
                <a16:creationId xmlns:a16="http://schemas.microsoft.com/office/drawing/2014/main" id="{4C251DDD-BA52-4CAC-AED0-FB1C6C2ECB38}"/>
              </a:ext>
            </a:extLst>
          </p:cNvPr>
          <p:cNvGrpSpPr>
            <a:grpSpLocks/>
          </p:cNvGrpSpPr>
          <p:nvPr/>
        </p:nvGrpSpPr>
        <p:grpSpPr bwMode="auto">
          <a:xfrm>
            <a:off x="3177753" y="5211326"/>
            <a:ext cx="936625" cy="873125"/>
            <a:chOff x="1882" y="1434"/>
            <a:chExt cx="1361" cy="1270"/>
          </a:xfrm>
          <a:solidFill>
            <a:schemeClr val="bg1">
              <a:lumMod val="85000"/>
            </a:schemeClr>
          </a:solidFill>
          <a:scene3d>
            <a:camera prst="perspectiveRight"/>
            <a:lightRig rig="threePt" dir="t"/>
          </a:scene3d>
        </p:grpSpPr>
        <p:sp>
          <p:nvSpPr>
            <p:cNvPr id="83" name="AutoShape 12">
              <a:extLst>
                <a:ext uri="{FF2B5EF4-FFF2-40B4-BE49-F238E27FC236}">
                  <a16:creationId xmlns:a16="http://schemas.microsoft.com/office/drawing/2014/main" id="{A53C6564-D37A-4C17-962F-76D375EFA2BE}"/>
                </a:ext>
              </a:extLst>
            </p:cNvPr>
            <p:cNvSpPr>
              <a:spLocks noChangeArrowheads="1"/>
            </p:cNvSpPr>
            <p:nvPr/>
          </p:nvSpPr>
          <p:spPr bwMode="auto">
            <a:xfrm>
              <a:off x="1882" y="1434"/>
              <a:ext cx="1361" cy="1270"/>
            </a:xfrm>
            <a:prstGeom prst="cube">
              <a:avLst>
                <a:gd name="adj" fmla="val 25000"/>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84" name="Line 13">
              <a:extLst>
                <a:ext uri="{FF2B5EF4-FFF2-40B4-BE49-F238E27FC236}">
                  <a16:creationId xmlns:a16="http://schemas.microsoft.com/office/drawing/2014/main" id="{C2D75191-CDA5-4204-AE59-B22D119A469A}"/>
                </a:ext>
              </a:extLst>
            </p:cNvPr>
            <p:cNvSpPr>
              <a:spLocks noChangeShapeType="1"/>
            </p:cNvSpPr>
            <p:nvPr/>
          </p:nvSpPr>
          <p:spPr bwMode="auto">
            <a:xfrm>
              <a:off x="2200" y="1752"/>
              <a:ext cx="0" cy="635"/>
            </a:xfrm>
            <a:prstGeom prst="line">
              <a:avLst/>
            </a:prstGeom>
            <a:grpFill/>
            <a:ln w="9525">
              <a:solidFill>
                <a:schemeClr val="bg2"/>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85" name="Line 14">
              <a:extLst>
                <a:ext uri="{FF2B5EF4-FFF2-40B4-BE49-F238E27FC236}">
                  <a16:creationId xmlns:a16="http://schemas.microsoft.com/office/drawing/2014/main" id="{3A1126B7-29CE-4278-8132-8363FD4D5C54}"/>
                </a:ext>
              </a:extLst>
            </p:cNvPr>
            <p:cNvSpPr>
              <a:spLocks noChangeShapeType="1"/>
            </p:cNvSpPr>
            <p:nvPr/>
          </p:nvSpPr>
          <p:spPr bwMode="auto">
            <a:xfrm flipH="1">
              <a:off x="1882" y="2387"/>
              <a:ext cx="318" cy="317"/>
            </a:xfrm>
            <a:prstGeom prst="line">
              <a:avLst/>
            </a:prstGeom>
            <a:grpFill/>
            <a:ln w="9525">
              <a:solidFill>
                <a:schemeClr val="bg2"/>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86" name="Line 15">
              <a:extLst>
                <a:ext uri="{FF2B5EF4-FFF2-40B4-BE49-F238E27FC236}">
                  <a16:creationId xmlns:a16="http://schemas.microsoft.com/office/drawing/2014/main" id="{7614EE76-99F7-46FE-BBF3-33D73FEA5E31}"/>
                </a:ext>
              </a:extLst>
            </p:cNvPr>
            <p:cNvSpPr>
              <a:spLocks noChangeShapeType="1"/>
            </p:cNvSpPr>
            <p:nvPr/>
          </p:nvSpPr>
          <p:spPr bwMode="auto">
            <a:xfrm flipV="1">
              <a:off x="2200" y="2387"/>
              <a:ext cx="725" cy="0"/>
            </a:xfrm>
            <a:prstGeom prst="line">
              <a:avLst/>
            </a:prstGeom>
            <a:grpFill/>
            <a:ln w="9525">
              <a:solidFill>
                <a:schemeClr val="bg2"/>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87" name="Line 16">
              <a:extLst>
                <a:ext uri="{FF2B5EF4-FFF2-40B4-BE49-F238E27FC236}">
                  <a16:creationId xmlns:a16="http://schemas.microsoft.com/office/drawing/2014/main" id="{E41E44FF-C911-4A97-8A7E-CD4DF14C9D35}"/>
                </a:ext>
              </a:extLst>
            </p:cNvPr>
            <p:cNvSpPr>
              <a:spLocks noChangeShapeType="1"/>
            </p:cNvSpPr>
            <p:nvPr/>
          </p:nvSpPr>
          <p:spPr bwMode="auto">
            <a:xfrm>
              <a:off x="2200" y="1434"/>
              <a:ext cx="0" cy="318"/>
            </a:xfrm>
            <a:prstGeom prst="lin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88" name="Line 17">
              <a:extLst>
                <a:ext uri="{FF2B5EF4-FFF2-40B4-BE49-F238E27FC236}">
                  <a16:creationId xmlns:a16="http://schemas.microsoft.com/office/drawing/2014/main" id="{215A477A-763C-4D46-961A-78717430FB1A}"/>
                </a:ext>
              </a:extLst>
            </p:cNvPr>
            <p:cNvSpPr>
              <a:spLocks noChangeShapeType="1"/>
            </p:cNvSpPr>
            <p:nvPr/>
          </p:nvSpPr>
          <p:spPr bwMode="auto">
            <a:xfrm>
              <a:off x="2925" y="2387"/>
              <a:ext cx="318" cy="0"/>
            </a:xfrm>
            <a:prstGeom prst="lin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grpSp>
      <p:grpSp>
        <p:nvGrpSpPr>
          <p:cNvPr id="89" name="Group 19">
            <a:extLst>
              <a:ext uri="{FF2B5EF4-FFF2-40B4-BE49-F238E27FC236}">
                <a16:creationId xmlns:a16="http://schemas.microsoft.com/office/drawing/2014/main" id="{95C228FA-EFDB-4E93-9394-E0FDC68DF145}"/>
              </a:ext>
            </a:extLst>
          </p:cNvPr>
          <p:cNvGrpSpPr>
            <a:grpSpLocks/>
          </p:cNvGrpSpPr>
          <p:nvPr/>
        </p:nvGrpSpPr>
        <p:grpSpPr bwMode="auto">
          <a:xfrm>
            <a:off x="3896890" y="5211326"/>
            <a:ext cx="936625" cy="873125"/>
            <a:chOff x="1882" y="1434"/>
            <a:chExt cx="1361" cy="1270"/>
          </a:xfrm>
          <a:solidFill>
            <a:schemeClr val="bg1">
              <a:lumMod val="85000"/>
            </a:schemeClr>
          </a:solidFill>
          <a:scene3d>
            <a:camera prst="perspectiveRight"/>
            <a:lightRig rig="threePt" dir="t"/>
          </a:scene3d>
        </p:grpSpPr>
        <p:sp>
          <p:nvSpPr>
            <p:cNvPr id="90" name="AutoShape 20">
              <a:extLst>
                <a:ext uri="{FF2B5EF4-FFF2-40B4-BE49-F238E27FC236}">
                  <a16:creationId xmlns:a16="http://schemas.microsoft.com/office/drawing/2014/main" id="{4081B2D1-EFD5-4EB7-B6AE-87FD279AF101}"/>
                </a:ext>
              </a:extLst>
            </p:cNvPr>
            <p:cNvSpPr>
              <a:spLocks noChangeArrowheads="1"/>
            </p:cNvSpPr>
            <p:nvPr/>
          </p:nvSpPr>
          <p:spPr bwMode="auto">
            <a:xfrm>
              <a:off x="1882" y="1434"/>
              <a:ext cx="1361" cy="1270"/>
            </a:xfrm>
            <a:prstGeom prst="cube">
              <a:avLst>
                <a:gd name="adj" fmla="val 25000"/>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91" name="Line 21">
              <a:extLst>
                <a:ext uri="{FF2B5EF4-FFF2-40B4-BE49-F238E27FC236}">
                  <a16:creationId xmlns:a16="http://schemas.microsoft.com/office/drawing/2014/main" id="{FEA9A8ED-19B4-47D6-9E51-BC456B126EF8}"/>
                </a:ext>
              </a:extLst>
            </p:cNvPr>
            <p:cNvSpPr>
              <a:spLocks noChangeShapeType="1"/>
            </p:cNvSpPr>
            <p:nvPr/>
          </p:nvSpPr>
          <p:spPr bwMode="auto">
            <a:xfrm>
              <a:off x="2200" y="1752"/>
              <a:ext cx="0" cy="635"/>
            </a:xfrm>
            <a:prstGeom prst="line">
              <a:avLst/>
            </a:prstGeom>
            <a:grpFill/>
            <a:ln w="9525">
              <a:solidFill>
                <a:schemeClr val="bg2"/>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92" name="Line 22">
              <a:extLst>
                <a:ext uri="{FF2B5EF4-FFF2-40B4-BE49-F238E27FC236}">
                  <a16:creationId xmlns:a16="http://schemas.microsoft.com/office/drawing/2014/main" id="{1F086976-8524-4FFC-B068-4E7696643EC5}"/>
                </a:ext>
              </a:extLst>
            </p:cNvPr>
            <p:cNvSpPr>
              <a:spLocks noChangeShapeType="1"/>
            </p:cNvSpPr>
            <p:nvPr/>
          </p:nvSpPr>
          <p:spPr bwMode="auto">
            <a:xfrm flipH="1">
              <a:off x="1882" y="2387"/>
              <a:ext cx="318" cy="317"/>
            </a:xfrm>
            <a:prstGeom prst="line">
              <a:avLst/>
            </a:prstGeom>
            <a:grpFill/>
            <a:ln w="9525">
              <a:solidFill>
                <a:schemeClr val="bg2"/>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93" name="Line 23">
              <a:extLst>
                <a:ext uri="{FF2B5EF4-FFF2-40B4-BE49-F238E27FC236}">
                  <a16:creationId xmlns:a16="http://schemas.microsoft.com/office/drawing/2014/main" id="{B7906EFF-64D0-454F-BDF1-DB193B38B339}"/>
                </a:ext>
              </a:extLst>
            </p:cNvPr>
            <p:cNvSpPr>
              <a:spLocks noChangeShapeType="1"/>
            </p:cNvSpPr>
            <p:nvPr/>
          </p:nvSpPr>
          <p:spPr bwMode="auto">
            <a:xfrm flipV="1">
              <a:off x="2200" y="2387"/>
              <a:ext cx="725" cy="0"/>
            </a:xfrm>
            <a:prstGeom prst="line">
              <a:avLst/>
            </a:prstGeom>
            <a:grpFill/>
            <a:ln w="9525">
              <a:solidFill>
                <a:schemeClr val="bg2"/>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94" name="Line 24">
              <a:extLst>
                <a:ext uri="{FF2B5EF4-FFF2-40B4-BE49-F238E27FC236}">
                  <a16:creationId xmlns:a16="http://schemas.microsoft.com/office/drawing/2014/main" id="{4FB6843C-3715-439B-90CA-BB80C4B377BF}"/>
                </a:ext>
              </a:extLst>
            </p:cNvPr>
            <p:cNvSpPr>
              <a:spLocks noChangeShapeType="1"/>
            </p:cNvSpPr>
            <p:nvPr/>
          </p:nvSpPr>
          <p:spPr bwMode="auto">
            <a:xfrm>
              <a:off x="2200" y="1434"/>
              <a:ext cx="0" cy="318"/>
            </a:xfrm>
            <a:prstGeom prst="lin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95" name="Line 25">
              <a:extLst>
                <a:ext uri="{FF2B5EF4-FFF2-40B4-BE49-F238E27FC236}">
                  <a16:creationId xmlns:a16="http://schemas.microsoft.com/office/drawing/2014/main" id="{85A20C35-9561-449F-958C-A9C151D604B1}"/>
                </a:ext>
              </a:extLst>
            </p:cNvPr>
            <p:cNvSpPr>
              <a:spLocks noChangeShapeType="1"/>
            </p:cNvSpPr>
            <p:nvPr/>
          </p:nvSpPr>
          <p:spPr bwMode="auto">
            <a:xfrm>
              <a:off x="2925" y="2387"/>
              <a:ext cx="318" cy="0"/>
            </a:xfrm>
            <a:prstGeom prst="lin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grpSp>
      <p:grpSp>
        <p:nvGrpSpPr>
          <p:cNvPr id="96" name="Group 27">
            <a:extLst>
              <a:ext uri="{FF2B5EF4-FFF2-40B4-BE49-F238E27FC236}">
                <a16:creationId xmlns:a16="http://schemas.microsoft.com/office/drawing/2014/main" id="{65917DC2-5BD7-40D4-B833-88161F8D9CCF}"/>
              </a:ext>
            </a:extLst>
          </p:cNvPr>
          <p:cNvGrpSpPr>
            <a:grpSpLocks/>
          </p:cNvGrpSpPr>
          <p:nvPr/>
        </p:nvGrpSpPr>
        <p:grpSpPr bwMode="auto">
          <a:xfrm>
            <a:off x="4617615" y="5211326"/>
            <a:ext cx="936625" cy="873125"/>
            <a:chOff x="1882" y="1434"/>
            <a:chExt cx="1361" cy="1270"/>
          </a:xfrm>
          <a:solidFill>
            <a:schemeClr val="bg1">
              <a:lumMod val="85000"/>
            </a:schemeClr>
          </a:solidFill>
          <a:scene3d>
            <a:camera prst="perspectiveRight"/>
            <a:lightRig rig="threePt" dir="t"/>
          </a:scene3d>
        </p:grpSpPr>
        <p:sp>
          <p:nvSpPr>
            <p:cNvPr id="97" name="AutoShape 28">
              <a:extLst>
                <a:ext uri="{FF2B5EF4-FFF2-40B4-BE49-F238E27FC236}">
                  <a16:creationId xmlns:a16="http://schemas.microsoft.com/office/drawing/2014/main" id="{50DC2DA5-5714-42F7-ACDD-AA3B9B06D8ED}"/>
                </a:ext>
              </a:extLst>
            </p:cNvPr>
            <p:cNvSpPr>
              <a:spLocks noChangeArrowheads="1"/>
            </p:cNvSpPr>
            <p:nvPr/>
          </p:nvSpPr>
          <p:spPr bwMode="auto">
            <a:xfrm>
              <a:off x="1882" y="1434"/>
              <a:ext cx="1361" cy="1270"/>
            </a:xfrm>
            <a:prstGeom prst="cube">
              <a:avLst>
                <a:gd name="adj" fmla="val 25000"/>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98" name="Line 29">
              <a:extLst>
                <a:ext uri="{FF2B5EF4-FFF2-40B4-BE49-F238E27FC236}">
                  <a16:creationId xmlns:a16="http://schemas.microsoft.com/office/drawing/2014/main" id="{10B701A2-58F2-47AE-BE8D-3DF60C492AB4}"/>
                </a:ext>
              </a:extLst>
            </p:cNvPr>
            <p:cNvSpPr>
              <a:spLocks noChangeShapeType="1"/>
            </p:cNvSpPr>
            <p:nvPr/>
          </p:nvSpPr>
          <p:spPr bwMode="auto">
            <a:xfrm>
              <a:off x="2200" y="1752"/>
              <a:ext cx="0" cy="635"/>
            </a:xfrm>
            <a:prstGeom prst="line">
              <a:avLst/>
            </a:prstGeom>
            <a:grpFill/>
            <a:ln w="9525">
              <a:solidFill>
                <a:schemeClr val="bg2"/>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99" name="Line 30">
              <a:extLst>
                <a:ext uri="{FF2B5EF4-FFF2-40B4-BE49-F238E27FC236}">
                  <a16:creationId xmlns:a16="http://schemas.microsoft.com/office/drawing/2014/main" id="{9289A440-3BDF-4F69-AB61-9583603EA0AB}"/>
                </a:ext>
              </a:extLst>
            </p:cNvPr>
            <p:cNvSpPr>
              <a:spLocks noChangeShapeType="1"/>
            </p:cNvSpPr>
            <p:nvPr/>
          </p:nvSpPr>
          <p:spPr bwMode="auto">
            <a:xfrm flipH="1">
              <a:off x="1882" y="2387"/>
              <a:ext cx="318" cy="317"/>
            </a:xfrm>
            <a:prstGeom prst="line">
              <a:avLst/>
            </a:prstGeom>
            <a:grpFill/>
            <a:ln w="9525">
              <a:solidFill>
                <a:schemeClr val="bg2"/>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100" name="Line 31">
              <a:extLst>
                <a:ext uri="{FF2B5EF4-FFF2-40B4-BE49-F238E27FC236}">
                  <a16:creationId xmlns:a16="http://schemas.microsoft.com/office/drawing/2014/main" id="{4D0DD910-E44F-4D54-8170-8FB4E0A1FA2C}"/>
                </a:ext>
              </a:extLst>
            </p:cNvPr>
            <p:cNvSpPr>
              <a:spLocks noChangeShapeType="1"/>
            </p:cNvSpPr>
            <p:nvPr/>
          </p:nvSpPr>
          <p:spPr bwMode="auto">
            <a:xfrm flipV="1">
              <a:off x="2200" y="2387"/>
              <a:ext cx="725" cy="0"/>
            </a:xfrm>
            <a:prstGeom prst="line">
              <a:avLst/>
            </a:prstGeom>
            <a:grpFill/>
            <a:ln w="9525">
              <a:solidFill>
                <a:schemeClr val="bg2"/>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101" name="Line 32">
              <a:extLst>
                <a:ext uri="{FF2B5EF4-FFF2-40B4-BE49-F238E27FC236}">
                  <a16:creationId xmlns:a16="http://schemas.microsoft.com/office/drawing/2014/main" id="{65AC9F55-12BA-446B-B5E6-71A6DFA1343F}"/>
                </a:ext>
              </a:extLst>
            </p:cNvPr>
            <p:cNvSpPr>
              <a:spLocks noChangeShapeType="1"/>
            </p:cNvSpPr>
            <p:nvPr/>
          </p:nvSpPr>
          <p:spPr bwMode="auto">
            <a:xfrm>
              <a:off x="2200" y="1434"/>
              <a:ext cx="0" cy="318"/>
            </a:xfrm>
            <a:prstGeom prst="lin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102" name="Line 33">
              <a:extLst>
                <a:ext uri="{FF2B5EF4-FFF2-40B4-BE49-F238E27FC236}">
                  <a16:creationId xmlns:a16="http://schemas.microsoft.com/office/drawing/2014/main" id="{68454AFC-96AA-47AF-ABCA-C8D859338B10}"/>
                </a:ext>
              </a:extLst>
            </p:cNvPr>
            <p:cNvSpPr>
              <a:spLocks noChangeShapeType="1"/>
            </p:cNvSpPr>
            <p:nvPr/>
          </p:nvSpPr>
          <p:spPr bwMode="auto">
            <a:xfrm>
              <a:off x="2925" y="2387"/>
              <a:ext cx="318" cy="0"/>
            </a:xfrm>
            <a:prstGeom prst="lin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grpSp>
      <p:grpSp>
        <p:nvGrpSpPr>
          <p:cNvPr id="103" name="Group 35">
            <a:extLst>
              <a:ext uri="{FF2B5EF4-FFF2-40B4-BE49-F238E27FC236}">
                <a16:creationId xmlns:a16="http://schemas.microsoft.com/office/drawing/2014/main" id="{D650D4E7-00B8-45B8-8D0B-2EC14D2F0EBD}"/>
              </a:ext>
            </a:extLst>
          </p:cNvPr>
          <p:cNvGrpSpPr>
            <a:grpSpLocks/>
          </p:cNvGrpSpPr>
          <p:nvPr/>
        </p:nvGrpSpPr>
        <p:grpSpPr bwMode="auto">
          <a:xfrm>
            <a:off x="5338340" y="5211326"/>
            <a:ext cx="936625" cy="873125"/>
            <a:chOff x="1882" y="1434"/>
            <a:chExt cx="1361" cy="1270"/>
          </a:xfrm>
          <a:solidFill>
            <a:schemeClr val="bg1">
              <a:lumMod val="85000"/>
            </a:schemeClr>
          </a:solidFill>
          <a:scene3d>
            <a:camera prst="perspectiveRight"/>
            <a:lightRig rig="threePt" dir="t"/>
          </a:scene3d>
        </p:grpSpPr>
        <p:sp>
          <p:nvSpPr>
            <p:cNvPr id="104" name="AutoShape 36">
              <a:extLst>
                <a:ext uri="{FF2B5EF4-FFF2-40B4-BE49-F238E27FC236}">
                  <a16:creationId xmlns:a16="http://schemas.microsoft.com/office/drawing/2014/main" id="{01F16369-6EC4-43D7-86CC-02EE8C77A726}"/>
                </a:ext>
              </a:extLst>
            </p:cNvPr>
            <p:cNvSpPr>
              <a:spLocks noChangeArrowheads="1"/>
            </p:cNvSpPr>
            <p:nvPr/>
          </p:nvSpPr>
          <p:spPr bwMode="auto">
            <a:xfrm>
              <a:off x="1882" y="1434"/>
              <a:ext cx="1361" cy="1270"/>
            </a:xfrm>
            <a:prstGeom prst="cube">
              <a:avLst>
                <a:gd name="adj" fmla="val 25000"/>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105" name="Line 37">
              <a:extLst>
                <a:ext uri="{FF2B5EF4-FFF2-40B4-BE49-F238E27FC236}">
                  <a16:creationId xmlns:a16="http://schemas.microsoft.com/office/drawing/2014/main" id="{1C1C9B98-B7A4-475B-B980-1CCEAA1D569A}"/>
                </a:ext>
              </a:extLst>
            </p:cNvPr>
            <p:cNvSpPr>
              <a:spLocks noChangeShapeType="1"/>
            </p:cNvSpPr>
            <p:nvPr/>
          </p:nvSpPr>
          <p:spPr bwMode="auto">
            <a:xfrm>
              <a:off x="2200" y="1752"/>
              <a:ext cx="0" cy="635"/>
            </a:xfrm>
            <a:prstGeom prst="line">
              <a:avLst/>
            </a:prstGeom>
            <a:grpFill/>
            <a:ln w="9525">
              <a:solidFill>
                <a:schemeClr val="bg2"/>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106" name="Line 38">
              <a:extLst>
                <a:ext uri="{FF2B5EF4-FFF2-40B4-BE49-F238E27FC236}">
                  <a16:creationId xmlns:a16="http://schemas.microsoft.com/office/drawing/2014/main" id="{8084159B-266B-4D0A-9843-9022A5537229}"/>
                </a:ext>
              </a:extLst>
            </p:cNvPr>
            <p:cNvSpPr>
              <a:spLocks noChangeShapeType="1"/>
            </p:cNvSpPr>
            <p:nvPr/>
          </p:nvSpPr>
          <p:spPr bwMode="auto">
            <a:xfrm flipH="1">
              <a:off x="1882" y="2387"/>
              <a:ext cx="318" cy="317"/>
            </a:xfrm>
            <a:prstGeom prst="line">
              <a:avLst/>
            </a:prstGeom>
            <a:grpFill/>
            <a:ln w="9525">
              <a:solidFill>
                <a:schemeClr val="bg2"/>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107" name="Line 39">
              <a:extLst>
                <a:ext uri="{FF2B5EF4-FFF2-40B4-BE49-F238E27FC236}">
                  <a16:creationId xmlns:a16="http://schemas.microsoft.com/office/drawing/2014/main" id="{807BC44A-55C0-4C22-BC5F-34F8293B2448}"/>
                </a:ext>
              </a:extLst>
            </p:cNvPr>
            <p:cNvSpPr>
              <a:spLocks noChangeShapeType="1"/>
            </p:cNvSpPr>
            <p:nvPr/>
          </p:nvSpPr>
          <p:spPr bwMode="auto">
            <a:xfrm flipV="1">
              <a:off x="2200" y="2387"/>
              <a:ext cx="725" cy="0"/>
            </a:xfrm>
            <a:prstGeom prst="line">
              <a:avLst/>
            </a:prstGeom>
            <a:grpFill/>
            <a:ln w="9525">
              <a:solidFill>
                <a:schemeClr val="bg2"/>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108" name="Line 40">
              <a:extLst>
                <a:ext uri="{FF2B5EF4-FFF2-40B4-BE49-F238E27FC236}">
                  <a16:creationId xmlns:a16="http://schemas.microsoft.com/office/drawing/2014/main" id="{4F3612F5-F844-44CE-BCB6-84266A56A039}"/>
                </a:ext>
              </a:extLst>
            </p:cNvPr>
            <p:cNvSpPr>
              <a:spLocks noChangeShapeType="1"/>
            </p:cNvSpPr>
            <p:nvPr/>
          </p:nvSpPr>
          <p:spPr bwMode="auto">
            <a:xfrm>
              <a:off x="2200" y="1434"/>
              <a:ext cx="0" cy="318"/>
            </a:xfrm>
            <a:prstGeom prst="lin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109" name="Line 41">
              <a:extLst>
                <a:ext uri="{FF2B5EF4-FFF2-40B4-BE49-F238E27FC236}">
                  <a16:creationId xmlns:a16="http://schemas.microsoft.com/office/drawing/2014/main" id="{DEED19F9-878B-42AA-9B33-F725DCD208EF}"/>
                </a:ext>
              </a:extLst>
            </p:cNvPr>
            <p:cNvSpPr>
              <a:spLocks noChangeShapeType="1"/>
            </p:cNvSpPr>
            <p:nvPr/>
          </p:nvSpPr>
          <p:spPr bwMode="auto">
            <a:xfrm>
              <a:off x="2925" y="2387"/>
              <a:ext cx="318" cy="0"/>
            </a:xfrm>
            <a:prstGeom prst="lin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grpSp>
      <p:grpSp>
        <p:nvGrpSpPr>
          <p:cNvPr id="110" name="Group 43">
            <a:extLst>
              <a:ext uri="{FF2B5EF4-FFF2-40B4-BE49-F238E27FC236}">
                <a16:creationId xmlns:a16="http://schemas.microsoft.com/office/drawing/2014/main" id="{EEF6F649-FA32-45CD-B0E7-F107617615BD}"/>
              </a:ext>
            </a:extLst>
          </p:cNvPr>
          <p:cNvGrpSpPr>
            <a:grpSpLocks/>
          </p:cNvGrpSpPr>
          <p:nvPr/>
        </p:nvGrpSpPr>
        <p:grpSpPr bwMode="auto">
          <a:xfrm>
            <a:off x="6057478" y="5211326"/>
            <a:ext cx="936625" cy="873125"/>
            <a:chOff x="1882" y="1434"/>
            <a:chExt cx="1361" cy="1270"/>
          </a:xfrm>
          <a:solidFill>
            <a:schemeClr val="bg1">
              <a:lumMod val="85000"/>
            </a:schemeClr>
          </a:solidFill>
          <a:scene3d>
            <a:camera prst="perspectiveRight"/>
            <a:lightRig rig="threePt" dir="t"/>
          </a:scene3d>
        </p:grpSpPr>
        <p:sp>
          <p:nvSpPr>
            <p:cNvPr id="111" name="AutoShape 44">
              <a:extLst>
                <a:ext uri="{FF2B5EF4-FFF2-40B4-BE49-F238E27FC236}">
                  <a16:creationId xmlns:a16="http://schemas.microsoft.com/office/drawing/2014/main" id="{726AEC5C-B047-4F99-96C8-EF1A8569FE79}"/>
                </a:ext>
              </a:extLst>
            </p:cNvPr>
            <p:cNvSpPr>
              <a:spLocks noChangeArrowheads="1"/>
            </p:cNvSpPr>
            <p:nvPr/>
          </p:nvSpPr>
          <p:spPr bwMode="auto">
            <a:xfrm>
              <a:off x="1882" y="1434"/>
              <a:ext cx="1361" cy="1270"/>
            </a:xfrm>
            <a:prstGeom prst="cube">
              <a:avLst>
                <a:gd name="adj" fmla="val 25000"/>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112" name="Line 45">
              <a:extLst>
                <a:ext uri="{FF2B5EF4-FFF2-40B4-BE49-F238E27FC236}">
                  <a16:creationId xmlns:a16="http://schemas.microsoft.com/office/drawing/2014/main" id="{DEE508FF-07D8-4525-BD56-DFAC5B41C40E}"/>
                </a:ext>
              </a:extLst>
            </p:cNvPr>
            <p:cNvSpPr>
              <a:spLocks noChangeShapeType="1"/>
            </p:cNvSpPr>
            <p:nvPr/>
          </p:nvSpPr>
          <p:spPr bwMode="auto">
            <a:xfrm>
              <a:off x="2200" y="1752"/>
              <a:ext cx="0" cy="635"/>
            </a:xfrm>
            <a:prstGeom prst="line">
              <a:avLst/>
            </a:prstGeom>
            <a:grpFill/>
            <a:ln w="9525">
              <a:solidFill>
                <a:schemeClr val="bg2"/>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113" name="Line 46">
              <a:extLst>
                <a:ext uri="{FF2B5EF4-FFF2-40B4-BE49-F238E27FC236}">
                  <a16:creationId xmlns:a16="http://schemas.microsoft.com/office/drawing/2014/main" id="{00DEA125-B6E1-498E-9DBD-3A94B497022F}"/>
                </a:ext>
              </a:extLst>
            </p:cNvPr>
            <p:cNvSpPr>
              <a:spLocks noChangeShapeType="1"/>
            </p:cNvSpPr>
            <p:nvPr/>
          </p:nvSpPr>
          <p:spPr bwMode="auto">
            <a:xfrm flipH="1">
              <a:off x="1882" y="2387"/>
              <a:ext cx="318" cy="317"/>
            </a:xfrm>
            <a:prstGeom prst="line">
              <a:avLst/>
            </a:prstGeom>
            <a:grpFill/>
            <a:ln w="9525">
              <a:solidFill>
                <a:schemeClr val="bg2"/>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114" name="Line 47">
              <a:extLst>
                <a:ext uri="{FF2B5EF4-FFF2-40B4-BE49-F238E27FC236}">
                  <a16:creationId xmlns:a16="http://schemas.microsoft.com/office/drawing/2014/main" id="{F200411A-AB3D-4FD1-B227-C4F8C4EA5C3A}"/>
                </a:ext>
              </a:extLst>
            </p:cNvPr>
            <p:cNvSpPr>
              <a:spLocks noChangeShapeType="1"/>
            </p:cNvSpPr>
            <p:nvPr/>
          </p:nvSpPr>
          <p:spPr bwMode="auto">
            <a:xfrm flipV="1">
              <a:off x="2200" y="2387"/>
              <a:ext cx="725" cy="0"/>
            </a:xfrm>
            <a:prstGeom prst="line">
              <a:avLst/>
            </a:prstGeom>
            <a:grpFill/>
            <a:ln w="9525">
              <a:solidFill>
                <a:schemeClr val="bg2"/>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115" name="Line 48">
              <a:extLst>
                <a:ext uri="{FF2B5EF4-FFF2-40B4-BE49-F238E27FC236}">
                  <a16:creationId xmlns:a16="http://schemas.microsoft.com/office/drawing/2014/main" id="{651C05AE-A81F-49BF-BE51-E3A53F96D6D0}"/>
                </a:ext>
              </a:extLst>
            </p:cNvPr>
            <p:cNvSpPr>
              <a:spLocks noChangeShapeType="1"/>
            </p:cNvSpPr>
            <p:nvPr/>
          </p:nvSpPr>
          <p:spPr bwMode="auto">
            <a:xfrm>
              <a:off x="2200" y="1434"/>
              <a:ext cx="0" cy="318"/>
            </a:xfrm>
            <a:prstGeom prst="lin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116" name="Line 49">
              <a:extLst>
                <a:ext uri="{FF2B5EF4-FFF2-40B4-BE49-F238E27FC236}">
                  <a16:creationId xmlns:a16="http://schemas.microsoft.com/office/drawing/2014/main" id="{FD9801AA-DCAA-4B76-84ED-C0448843E93E}"/>
                </a:ext>
              </a:extLst>
            </p:cNvPr>
            <p:cNvSpPr>
              <a:spLocks noChangeShapeType="1"/>
            </p:cNvSpPr>
            <p:nvPr/>
          </p:nvSpPr>
          <p:spPr bwMode="auto">
            <a:xfrm>
              <a:off x="2925" y="2387"/>
              <a:ext cx="318" cy="0"/>
            </a:xfrm>
            <a:prstGeom prst="lin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grpSp>
      <p:grpSp>
        <p:nvGrpSpPr>
          <p:cNvPr id="117" name="Group 51">
            <a:extLst>
              <a:ext uri="{FF2B5EF4-FFF2-40B4-BE49-F238E27FC236}">
                <a16:creationId xmlns:a16="http://schemas.microsoft.com/office/drawing/2014/main" id="{536A5660-45A9-452F-A2F0-12E8CC190AC5}"/>
              </a:ext>
            </a:extLst>
          </p:cNvPr>
          <p:cNvGrpSpPr>
            <a:grpSpLocks/>
          </p:cNvGrpSpPr>
          <p:nvPr/>
        </p:nvGrpSpPr>
        <p:grpSpPr bwMode="auto">
          <a:xfrm>
            <a:off x="6778203" y="5211326"/>
            <a:ext cx="936625" cy="873125"/>
            <a:chOff x="1882" y="1434"/>
            <a:chExt cx="1361" cy="1270"/>
          </a:xfrm>
          <a:solidFill>
            <a:schemeClr val="bg1">
              <a:lumMod val="85000"/>
            </a:schemeClr>
          </a:solidFill>
          <a:scene3d>
            <a:camera prst="perspectiveRight"/>
            <a:lightRig rig="threePt" dir="t"/>
          </a:scene3d>
        </p:grpSpPr>
        <p:sp>
          <p:nvSpPr>
            <p:cNvPr id="118" name="AutoShape 52">
              <a:extLst>
                <a:ext uri="{FF2B5EF4-FFF2-40B4-BE49-F238E27FC236}">
                  <a16:creationId xmlns:a16="http://schemas.microsoft.com/office/drawing/2014/main" id="{72CCF3C2-4F47-4E67-B1F2-D93BEA17735F}"/>
                </a:ext>
              </a:extLst>
            </p:cNvPr>
            <p:cNvSpPr>
              <a:spLocks noChangeArrowheads="1"/>
            </p:cNvSpPr>
            <p:nvPr/>
          </p:nvSpPr>
          <p:spPr bwMode="auto">
            <a:xfrm>
              <a:off x="1882" y="1434"/>
              <a:ext cx="1361" cy="1270"/>
            </a:xfrm>
            <a:prstGeom prst="cube">
              <a:avLst>
                <a:gd name="adj" fmla="val 25000"/>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119" name="Line 53">
              <a:extLst>
                <a:ext uri="{FF2B5EF4-FFF2-40B4-BE49-F238E27FC236}">
                  <a16:creationId xmlns:a16="http://schemas.microsoft.com/office/drawing/2014/main" id="{0D33A66F-F48D-4177-BCF4-7FAF023D8D9C}"/>
                </a:ext>
              </a:extLst>
            </p:cNvPr>
            <p:cNvSpPr>
              <a:spLocks noChangeShapeType="1"/>
            </p:cNvSpPr>
            <p:nvPr/>
          </p:nvSpPr>
          <p:spPr bwMode="auto">
            <a:xfrm>
              <a:off x="2200" y="1752"/>
              <a:ext cx="0" cy="635"/>
            </a:xfrm>
            <a:prstGeom prst="line">
              <a:avLst/>
            </a:prstGeom>
            <a:grpFill/>
            <a:ln w="9525">
              <a:solidFill>
                <a:schemeClr val="bg2"/>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120" name="Line 54">
              <a:extLst>
                <a:ext uri="{FF2B5EF4-FFF2-40B4-BE49-F238E27FC236}">
                  <a16:creationId xmlns:a16="http://schemas.microsoft.com/office/drawing/2014/main" id="{0ACF842E-C2D3-4336-8310-69367B8574A4}"/>
                </a:ext>
              </a:extLst>
            </p:cNvPr>
            <p:cNvSpPr>
              <a:spLocks noChangeShapeType="1"/>
            </p:cNvSpPr>
            <p:nvPr/>
          </p:nvSpPr>
          <p:spPr bwMode="auto">
            <a:xfrm flipH="1">
              <a:off x="1882" y="2387"/>
              <a:ext cx="318" cy="317"/>
            </a:xfrm>
            <a:prstGeom prst="line">
              <a:avLst/>
            </a:prstGeom>
            <a:grpFill/>
            <a:ln w="9525">
              <a:solidFill>
                <a:schemeClr val="bg2"/>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121" name="Line 55">
              <a:extLst>
                <a:ext uri="{FF2B5EF4-FFF2-40B4-BE49-F238E27FC236}">
                  <a16:creationId xmlns:a16="http://schemas.microsoft.com/office/drawing/2014/main" id="{798DC505-D5CA-4920-AEFC-AF6CD9FE9BD4}"/>
                </a:ext>
              </a:extLst>
            </p:cNvPr>
            <p:cNvSpPr>
              <a:spLocks noChangeShapeType="1"/>
            </p:cNvSpPr>
            <p:nvPr/>
          </p:nvSpPr>
          <p:spPr bwMode="auto">
            <a:xfrm flipV="1">
              <a:off x="2200" y="2387"/>
              <a:ext cx="725" cy="0"/>
            </a:xfrm>
            <a:prstGeom prst="line">
              <a:avLst/>
            </a:prstGeom>
            <a:grpFill/>
            <a:ln w="9525">
              <a:solidFill>
                <a:schemeClr val="bg2"/>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122" name="Line 56">
              <a:extLst>
                <a:ext uri="{FF2B5EF4-FFF2-40B4-BE49-F238E27FC236}">
                  <a16:creationId xmlns:a16="http://schemas.microsoft.com/office/drawing/2014/main" id="{E3DEE1DC-078D-42FC-898A-3F03DE732736}"/>
                </a:ext>
              </a:extLst>
            </p:cNvPr>
            <p:cNvSpPr>
              <a:spLocks noChangeShapeType="1"/>
            </p:cNvSpPr>
            <p:nvPr/>
          </p:nvSpPr>
          <p:spPr bwMode="auto">
            <a:xfrm>
              <a:off x="2200" y="1434"/>
              <a:ext cx="0" cy="318"/>
            </a:xfrm>
            <a:prstGeom prst="lin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123" name="Line 57">
              <a:extLst>
                <a:ext uri="{FF2B5EF4-FFF2-40B4-BE49-F238E27FC236}">
                  <a16:creationId xmlns:a16="http://schemas.microsoft.com/office/drawing/2014/main" id="{D933C1D1-268D-4B49-AE52-193B07ACC337}"/>
                </a:ext>
              </a:extLst>
            </p:cNvPr>
            <p:cNvSpPr>
              <a:spLocks noChangeShapeType="1"/>
            </p:cNvSpPr>
            <p:nvPr/>
          </p:nvSpPr>
          <p:spPr bwMode="auto">
            <a:xfrm>
              <a:off x="2925" y="2387"/>
              <a:ext cx="318" cy="0"/>
            </a:xfrm>
            <a:prstGeom prst="lin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grpSp>
      <p:grpSp>
        <p:nvGrpSpPr>
          <p:cNvPr id="124" name="Group 59">
            <a:extLst>
              <a:ext uri="{FF2B5EF4-FFF2-40B4-BE49-F238E27FC236}">
                <a16:creationId xmlns:a16="http://schemas.microsoft.com/office/drawing/2014/main" id="{A757A07A-AC5F-4F81-9373-D55D18A9A0EF}"/>
              </a:ext>
            </a:extLst>
          </p:cNvPr>
          <p:cNvGrpSpPr>
            <a:grpSpLocks/>
          </p:cNvGrpSpPr>
          <p:nvPr/>
        </p:nvGrpSpPr>
        <p:grpSpPr bwMode="auto">
          <a:xfrm>
            <a:off x="7497340" y="5211326"/>
            <a:ext cx="936625" cy="873125"/>
            <a:chOff x="1882" y="1434"/>
            <a:chExt cx="1361" cy="1270"/>
          </a:xfrm>
          <a:solidFill>
            <a:schemeClr val="bg1">
              <a:lumMod val="85000"/>
            </a:schemeClr>
          </a:solidFill>
          <a:scene3d>
            <a:camera prst="perspectiveRight"/>
            <a:lightRig rig="threePt" dir="t"/>
          </a:scene3d>
        </p:grpSpPr>
        <p:sp>
          <p:nvSpPr>
            <p:cNvPr id="125" name="AutoShape 60">
              <a:extLst>
                <a:ext uri="{FF2B5EF4-FFF2-40B4-BE49-F238E27FC236}">
                  <a16:creationId xmlns:a16="http://schemas.microsoft.com/office/drawing/2014/main" id="{6FF2FF5A-F52A-41A3-B084-80C20158B1B2}"/>
                </a:ext>
              </a:extLst>
            </p:cNvPr>
            <p:cNvSpPr>
              <a:spLocks noChangeArrowheads="1"/>
            </p:cNvSpPr>
            <p:nvPr/>
          </p:nvSpPr>
          <p:spPr bwMode="auto">
            <a:xfrm>
              <a:off x="1882" y="1434"/>
              <a:ext cx="1361" cy="1270"/>
            </a:xfrm>
            <a:prstGeom prst="cube">
              <a:avLst>
                <a:gd name="adj" fmla="val 25000"/>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126" name="Line 61">
              <a:extLst>
                <a:ext uri="{FF2B5EF4-FFF2-40B4-BE49-F238E27FC236}">
                  <a16:creationId xmlns:a16="http://schemas.microsoft.com/office/drawing/2014/main" id="{AA5E2CA8-9027-4A00-A84E-1E8F6B989007}"/>
                </a:ext>
              </a:extLst>
            </p:cNvPr>
            <p:cNvSpPr>
              <a:spLocks noChangeShapeType="1"/>
            </p:cNvSpPr>
            <p:nvPr/>
          </p:nvSpPr>
          <p:spPr bwMode="auto">
            <a:xfrm>
              <a:off x="2200" y="1752"/>
              <a:ext cx="0" cy="635"/>
            </a:xfrm>
            <a:prstGeom prst="line">
              <a:avLst/>
            </a:prstGeom>
            <a:grpFill/>
            <a:ln w="9525">
              <a:solidFill>
                <a:schemeClr val="bg2"/>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127" name="Line 62">
              <a:extLst>
                <a:ext uri="{FF2B5EF4-FFF2-40B4-BE49-F238E27FC236}">
                  <a16:creationId xmlns:a16="http://schemas.microsoft.com/office/drawing/2014/main" id="{95546E6D-4A57-4822-9184-57FC6BC8F727}"/>
                </a:ext>
              </a:extLst>
            </p:cNvPr>
            <p:cNvSpPr>
              <a:spLocks noChangeShapeType="1"/>
            </p:cNvSpPr>
            <p:nvPr/>
          </p:nvSpPr>
          <p:spPr bwMode="auto">
            <a:xfrm flipH="1">
              <a:off x="1882" y="2387"/>
              <a:ext cx="318" cy="317"/>
            </a:xfrm>
            <a:prstGeom prst="line">
              <a:avLst/>
            </a:prstGeom>
            <a:grpFill/>
            <a:ln w="9525">
              <a:solidFill>
                <a:schemeClr val="bg2"/>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128" name="Line 63">
              <a:extLst>
                <a:ext uri="{FF2B5EF4-FFF2-40B4-BE49-F238E27FC236}">
                  <a16:creationId xmlns:a16="http://schemas.microsoft.com/office/drawing/2014/main" id="{CCD1B006-168B-45F9-80FE-9B6A11CF41FD}"/>
                </a:ext>
              </a:extLst>
            </p:cNvPr>
            <p:cNvSpPr>
              <a:spLocks noChangeShapeType="1"/>
            </p:cNvSpPr>
            <p:nvPr/>
          </p:nvSpPr>
          <p:spPr bwMode="auto">
            <a:xfrm flipV="1">
              <a:off x="2200" y="2387"/>
              <a:ext cx="725" cy="0"/>
            </a:xfrm>
            <a:prstGeom prst="line">
              <a:avLst/>
            </a:prstGeom>
            <a:grpFill/>
            <a:ln w="9525">
              <a:solidFill>
                <a:schemeClr val="bg2"/>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129" name="Line 64">
              <a:extLst>
                <a:ext uri="{FF2B5EF4-FFF2-40B4-BE49-F238E27FC236}">
                  <a16:creationId xmlns:a16="http://schemas.microsoft.com/office/drawing/2014/main" id="{3DA65713-EBAF-4017-AF2C-BA9D6827AC70}"/>
                </a:ext>
              </a:extLst>
            </p:cNvPr>
            <p:cNvSpPr>
              <a:spLocks noChangeShapeType="1"/>
            </p:cNvSpPr>
            <p:nvPr/>
          </p:nvSpPr>
          <p:spPr bwMode="auto">
            <a:xfrm>
              <a:off x="2200" y="1434"/>
              <a:ext cx="0" cy="318"/>
            </a:xfrm>
            <a:prstGeom prst="lin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130" name="Line 65">
              <a:extLst>
                <a:ext uri="{FF2B5EF4-FFF2-40B4-BE49-F238E27FC236}">
                  <a16:creationId xmlns:a16="http://schemas.microsoft.com/office/drawing/2014/main" id="{8D435B1C-D831-43DA-A7AE-2D26EC34C41D}"/>
                </a:ext>
              </a:extLst>
            </p:cNvPr>
            <p:cNvSpPr>
              <a:spLocks noChangeShapeType="1"/>
            </p:cNvSpPr>
            <p:nvPr/>
          </p:nvSpPr>
          <p:spPr bwMode="auto">
            <a:xfrm>
              <a:off x="2925" y="2387"/>
              <a:ext cx="318" cy="0"/>
            </a:xfrm>
            <a:prstGeom prst="lin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grpSp>
      <p:grpSp>
        <p:nvGrpSpPr>
          <p:cNvPr id="131" name="Group 67">
            <a:extLst>
              <a:ext uri="{FF2B5EF4-FFF2-40B4-BE49-F238E27FC236}">
                <a16:creationId xmlns:a16="http://schemas.microsoft.com/office/drawing/2014/main" id="{6AE810A9-67FE-4ACB-A209-0298EE4790D1}"/>
              </a:ext>
            </a:extLst>
          </p:cNvPr>
          <p:cNvGrpSpPr>
            <a:grpSpLocks/>
          </p:cNvGrpSpPr>
          <p:nvPr/>
        </p:nvGrpSpPr>
        <p:grpSpPr bwMode="auto">
          <a:xfrm>
            <a:off x="8218065" y="5211326"/>
            <a:ext cx="936625" cy="873125"/>
            <a:chOff x="1882" y="1434"/>
            <a:chExt cx="1361" cy="1270"/>
          </a:xfrm>
          <a:solidFill>
            <a:schemeClr val="bg1">
              <a:lumMod val="85000"/>
            </a:schemeClr>
          </a:solidFill>
          <a:scene3d>
            <a:camera prst="perspectiveRight"/>
            <a:lightRig rig="threePt" dir="t"/>
          </a:scene3d>
        </p:grpSpPr>
        <p:sp>
          <p:nvSpPr>
            <p:cNvPr id="132" name="AutoShape 68">
              <a:extLst>
                <a:ext uri="{FF2B5EF4-FFF2-40B4-BE49-F238E27FC236}">
                  <a16:creationId xmlns:a16="http://schemas.microsoft.com/office/drawing/2014/main" id="{CF317D4F-6B06-4B03-A079-677F718DE8F7}"/>
                </a:ext>
              </a:extLst>
            </p:cNvPr>
            <p:cNvSpPr>
              <a:spLocks noChangeArrowheads="1"/>
            </p:cNvSpPr>
            <p:nvPr/>
          </p:nvSpPr>
          <p:spPr bwMode="auto">
            <a:xfrm>
              <a:off x="1882" y="1434"/>
              <a:ext cx="1361" cy="1270"/>
            </a:xfrm>
            <a:prstGeom prst="cube">
              <a:avLst>
                <a:gd name="adj" fmla="val 25000"/>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133" name="Line 69">
              <a:extLst>
                <a:ext uri="{FF2B5EF4-FFF2-40B4-BE49-F238E27FC236}">
                  <a16:creationId xmlns:a16="http://schemas.microsoft.com/office/drawing/2014/main" id="{7DE64A4C-EA50-4DC1-B3D2-7FDAAA4A11E5}"/>
                </a:ext>
              </a:extLst>
            </p:cNvPr>
            <p:cNvSpPr>
              <a:spLocks noChangeShapeType="1"/>
            </p:cNvSpPr>
            <p:nvPr/>
          </p:nvSpPr>
          <p:spPr bwMode="auto">
            <a:xfrm>
              <a:off x="2200" y="1752"/>
              <a:ext cx="0" cy="635"/>
            </a:xfrm>
            <a:prstGeom prst="line">
              <a:avLst/>
            </a:prstGeom>
            <a:grpFill/>
            <a:ln w="9525">
              <a:solidFill>
                <a:schemeClr val="bg2"/>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134" name="Line 70">
              <a:extLst>
                <a:ext uri="{FF2B5EF4-FFF2-40B4-BE49-F238E27FC236}">
                  <a16:creationId xmlns:a16="http://schemas.microsoft.com/office/drawing/2014/main" id="{8DAA028B-1577-4E29-96BB-2BA680DC8654}"/>
                </a:ext>
              </a:extLst>
            </p:cNvPr>
            <p:cNvSpPr>
              <a:spLocks noChangeShapeType="1"/>
            </p:cNvSpPr>
            <p:nvPr/>
          </p:nvSpPr>
          <p:spPr bwMode="auto">
            <a:xfrm flipH="1">
              <a:off x="1882" y="2387"/>
              <a:ext cx="318" cy="317"/>
            </a:xfrm>
            <a:prstGeom prst="line">
              <a:avLst/>
            </a:prstGeom>
            <a:grpFill/>
            <a:ln w="9525">
              <a:solidFill>
                <a:schemeClr val="bg2"/>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135" name="Line 71">
              <a:extLst>
                <a:ext uri="{FF2B5EF4-FFF2-40B4-BE49-F238E27FC236}">
                  <a16:creationId xmlns:a16="http://schemas.microsoft.com/office/drawing/2014/main" id="{5116AD90-8C68-4598-BD12-5D55173D2AAE}"/>
                </a:ext>
              </a:extLst>
            </p:cNvPr>
            <p:cNvSpPr>
              <a:spLocks noChangeShapeType="1"/>
            </p:cNvSpPr>
            <p:nvPr/>
          </p:nvSpPr>
          <p:spPr bwMode="auto">
            <a:xfrm flipV="1">
              <a:off x="2200" y="2387"/>
              <a:ext cx="725" cy="0"/>
            </a:xfrm>
            <a:prstGeom prst="line">
              <a:avLst/>
            </a:prstGeom>
            <a:grpFill/>
            <a:ln w="9525">
              <a:solidFill>
                <a:schemeClr val="bg2"/>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136" name="Line 72">
              <a:extLst>
                <a:ext uri="{FF2B5EF4-FFF2-40B4-BE49-F238E27FC236}">
                  <a16:creationId xmlns:a16="http://schemas.microsoft.com/office/drawing/2014/main" id="{2FAC09FD-B7C0-4B68-8F79-D1F601E8D83A}"/>
                </a:ext>
              </a:extLst>
            </p:cNvPr>
            <p:cNvSpPr>
              <a:spLocks noChangeShapeType="1"/>
            </p:cNvSpPr>
            <p:nvPr/>
          </p:nvSpPr>
          <p:spPr bwMode="auto">
            <a:xfrm>
              <a:off x="2200" y="1434"/>
              <a:ext cx="0" cy="318"/>
            </a:xfrm>
            <a:prstGeom prst="lin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137" name="Line 73">
              <a:extLst>
                <a:ext uri="{FF2B5EF4-FFF2-40B4-BE49-F238E27FC236}">
                  <a16:creationId xmlns:a16="http://schemas.microsoft.com/office/drawing/2014/main" id="{AF6B4B30-7C0D-4DC5-9DE7-2675C5AD3A6D}"/>
                </a:ext>
              </a:extLst>
            </p:cNvPr>
            <p:cNvSpPr>
              <a:spLocks noChangeShapeType="1"/>
            </p:cNvSpPr>
            <p:nvPr/>
          </p:nvSpPr>
          <p:spPr bwMode="auto">
            <a:xfrm>
              <a:off x="2925" y="2387"/>
              <a:ext cx="318" cy="0"/>
            </a:xfrm>
            <a:prstGeom prst="lin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grpSp>
      <p:grpSp>
        <p:nvGrpSpPr>
          <p:cNvPr id="138" name="Group 75">
            <a:extLst>
              <a:ext uri="{FF2B5EF4-FFF2-40B4-BE49-F238E27FC236}">
                <a16:creationId xmlns:a16="http://schemas.microsoft.com/office/drawing/2014/main" id="{80D93892-AE33-449D-BAC9-B862710CC085}"/>
              </a:ext>
            </a:extLst>
          </p:cNvPr>
          <p:cNvGrpSpPr>
            <a:grpSpLocks/>
          </p:cNvGrpSpPr>
          <p:nvPr/>
        </p:nvGrpSpPr>
        <p:grpSpPr bwMode="auto">
          <a:xfrm>
            <a:off x="8938790" y="5211326"/>
            <a:ext cx="936625" cy="873125"/>
            <a:chOff x="1882" y="1434"/>
            <a:chExt cx="1361" cy="1270"/>
          </a:xfrm>
          <a:solidFill>
            <a:schemeClr val="bg1">
              <a:lumMod val="85000"/>
            </a:schemeClr>
          </a:solidFill>
          <a:scene3d>
            <a:camera prst="perspectiveRight"/>
            <a:lightRig rig="threePt" dir="t"/>
          </a:scene3d>
        </p:grpSpPr>
        <p:sp>
          <p:nvSpPr>
            <p:cNvPr id="139" name="AutoShape 76">
              <a:extLst>
                <a:ext uri="{FF2B5EF4-FFF2-40B4-BE49-F238E27FC236}">
                  <a16:creationId xmlns:a16="http://schemas.microsoft.com/office/drawing/2014/main" id="{434BAC62-BFFC-4828-B1DD-99F5FCB2D325}"/>
                </a:ext>
              </a:extLst>
            </p:cNvPr>
            <p:cNvSpPr>
              <a:spLocks noChangeArrowheads="1"/>
            </p:cNvSpPr>
            <p:nvPr/>
          </p:nvSpPr>
          <p:spPr bwMode="auto">
            <a:xfrm>
              <a:off x="1882" y="1434"/>
              <a:ext cx="1361" cy="1270"/>
            </a:xfrm>
            <a:prstGeom prst="cube">
              <a:avLst>
                <a:gd name="adj" fmla="val 25000"/>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140" name="Line 77">
              <a:extLst>
                <a:ext uri="{FF2B5EF4-FFF2-40B4-BE49-F238E27FC236}">
                  <a16:creationId xmlns:a16="http://schemas.microsoft.com/office/drawing/2014/main" id="{35619410-0233-4C1D-9482-6A19B5B44A84}"/>
                </a:ext>
              </a:extLst>
            </p:cNvPr>
            <p:cNvSpPr>
              <a:spLocks noChangeShapeType="1"/>
            </p:cNvSpPr>
            <p:nvPr/>
          </p:nvSpPr>
          <p:spPr bwMode="auto">
            <a:xfrm>
              <a:off x="2200" y="1752"/>
              <a:ext cx="0" cy="635"/>
            </a:xfrm>
            <a:prstGeom prst="line">
              <a:avLst/>
            </a:prstGeom>
            <a:grpFill/>
            <a:ln w="9525">
              <a:solidFill>
                <a:schemeClr val="bg2"/>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141" name="Line 78">
              <a:extLst>
                <a:ext uri="{FF2B5EF4-FFF2-40B4-BE49-F238E27FC236}">
                  <a16:creationId xmlns:a16="http://schemas.microsoft.com/office/drawing/2014/main" id="{71431D25-C78A-4CCB-A587-28BC6A7D940E}"/>
                </a:ext>
              </a:extLst>
            </p:cNvPr>
            <p:cNvSpPr>
              <a:spLocks noChangeShapeType="1"/>
            </p:cNvSpPr>
            <p:nvPr/>
          </p:nvSpPr>
          <p:spPr bwMode="auto">
            <a:xfrm flipH="1">
              <a:off x="1882" y="2387"/>
              <a:ext cx="318" cy="317"/>
            </a:xfrm>
            <a:prstGeom prst="line">
              <a:avLst/>
            </a:prstGeom>
            <a:grpFill/>
            <a:ln w="9525">
              <a:solidFill>
                <a:schemeClr val="bg2"/>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142" name="Line 79">
              <a:extLst>
                <a:ext uri="{FF2B5EF4-FFF2-40B4-BE49-F238E27FC236}">
                  <a16:creationId xmlns:a16="http://schemas.microsoft.com/office/drawing/2014/main" id="{101E4C4C-13D3-4E4B-8F47-83BAB209F156}"/>
                </a:ext>
              </a:extLst>
            </p:cNvPr>
            <p:cNvSpPr>
              <a:spLocks noChangeShapeType="1"/>
            </p:cNvSpPr>
            <p:nvPr/>
          </p:nvSpPr>
          <p:spPr bwMode="auto">
            <a:xfrm flipV="1">
              <a:off x="2200" y="2387"/>
              <a:ext cx="725" cy="0"/>
            </a:xfrm>
            <a:prstGeom prst="line">
              <a:avLst/>
            </a:prstGeom>
            <a:grpFill/>
            <a:ln w="9525">
              <a:solidFill>
                <a:schemeClr val="bg2"/>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143" name="Line 80">
              <a:extLst>
                <a:ext uri="{FF2B5EF4-FFF2-40B4-BE49-F238E27FC236}">
                  <a16:creationId xmlns:a16="http://schemas.microsoft.com/office/drawing/2014/main" id="{E3AC91A4-803D-4A8B-A7D4-A65F8ABE68ED}"/>
                </a:ext>
              </a:extLst>
            </p:cNvPr>
            <p:cNvSpPr>
              <a:spLocks noChangeShapeType="1"/>
            </p:cNvSpPr>
            <p:nvPr/>
          </p:nvSpPr>
          <p:spPr bwMode="auto">
            <a:xfrm>
              <a:off x="2200" y="1434"/>
              <a:ext cx="0" cy="318"/>
            </a:xfrm>
            <a:prstGeom prst="lin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sp>
          <p:nvSpPr>
            <p:cNvPr id="144" name="Line 81">
              <a:extLst>
                <a:ext uri="{FF2B5EF4-FFF2-40B4-BE49-F238E27FC236}">
                  <a16:creationId xmlns:a16="http://schemas.microsoft.com/office/drawing/2014/main" id="{5C2162C2-4F20-46ED-9079-7050236ADF43}"/>
                </a:ext>
              </a:extLst>
            </p:cNvPr>
            <p:cNvSpPr>
              <a:spLocks noChangeShapeType="1"/>
            </p:cNvSpPr>
            <p:nvPr/>
          </p:nvSpPr>
          <p:spPr bwMode="auto">
            <a:xfrm>
              <a:off x="2925" y="2387"/>
              <a:ext cx="318" cy="0"/>
            </a:xfrm>
            <a:prstGeom prst="lin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O"/>
            </a:p>
          </p:txBody>
        </p:sp>
      </p:grpSp>
    </p:spTree>
    <p:extLst>
      <p:ext uri="{BB962C8B-B14F-4D97-AF65-F5344CB8AC3E}">
        <p14:creationId xmlns:p14="http://schemas.microsoft.com/office/powerpoint/2010/main" val="4271512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75"/>
                                        </p:tgtEl>
                                        <p:attrNameLst>
                                          <p:attrName>style.visibility</p:attrName>
                                        </p:attrNameLst>
                                      </p:cBhvr>
                                      <p:to>
                                        <p:strVal val="visible"/>
                                      </p:to>
                                    </p:set>
                                    <p:anim calcmode="lin" valueType="num">
                                      <p:cBhvr>
                                        <p:cTn id="7" dur="1000" fill="hold"/>
                                        <p:tgtEl>
                                          <p:spTgt spid="75"/>
                                        </p:tgtEl>
                                        <p:attrNameLst>
                                          <p:attrName>ppt_w</p:attrName>
                                        </p:attrNameLst>
                                      </p:cBhvr>
                                      <p:tavLst>
                                        <p:tav tm="0">
                                          <p:val>
                                            <p:fltVal val="0"/>
                                          </p:val>
                                        </p:tav>
                                        <p:tav tm="100000">
                                          <p:val>
                                            <p:strVal val="#ppt_w"/>
                                          </p:val>
                                        </p:tav>
                                      </p:tavLst>
                                    </p:anim>
                                    <p:anim calcmode="lin" valueType="num">
                                      <p:cBhvr>
                                        <p:cTn id="8" dur="1000" fill="hold"/>
                                        <p:tgtEl>
                                          <p:spTgt spid="75"/>
                                        </p:tgtEl>
                                        <p:attrNameLst>
                                          <p:attrName>ppt_h</p:attrName>
                                        </p:attrNameLst>
                                      </p:cBhvr>
                                      <p:tavLst>
                                        <p:tav tm="0">
                                          <p:val>
                                            <p:fltVal val="0"/>
                                          </p:val>
                                        </p:tav>
                                        <p:tav tm="100000">
                                          <p:val>
                                            <p:strVal val="#ppt_h"/>
                                          </p:val>
                                        </p:tav>
                                      </p:tavLst>
                                    </p:anim>
                                    <p:animEffect transition="in" filter="fade">
                                      <p:cBhvr>
                                        <p:cTn id="9" dur="1000"/>
                                        <p:tgtEl>
                                          <p:spTgt spid="75"/>
                                        </p:tgtEl>
                                      </p:cBhvr>
                                    </p:animEffect>
                                  </p:childTnLst>
                                </p:cTn>
                              </p:par>
                              <p:par>
                                <p:cTn id="10" presetID="53" presetClass="entr" presetSubtype="16" fill="hold" nodeType="withEffect">
                                  <p:stCondLst>
                                    <p:cond delay="0"/>
                                  </p:stCondLst>
                                  <p:childTnLst>
                                    <p:set>
                                      <p:cBhvr>
                                        <p:cTn id="11" dur="1" fill="hold">
                                          <p:stCondLst>
                                            <p:cond delay="0"/>
                                          </p:stCondLst>
                                        </p:cTn>
                                        <p:tgtEl>
                                          <p:spTgt spid="82"/>
                                        </p:tgtEl>
                                        <p:attrNameLst>
                                          <p:attrName>style.visibility</p:attrName>
                                        </p:attrNameLst>
                                      </p:cBhvr>
                                      <p:to>
                                        <p:strVal val="visible"/>
                                      </p:to>
                                    </p:set>
                                    <p:anim calcmode="lin" valueType="num">
                                      <p:cBhvr>
                                        <p:cTn id="12" dur="1000" fill="hold"/>
                                        <p:tgtEl>
                                          <p:spTgt spid="82"/>
                                        </p:tgtEl>
                                        <p:attrNameLst>
                                          <p:attrName>ppt_w</p:attrName>
                                        </p:attrNameLst>
                                      </p:cBhvr>
                                      <p:tavLst>
                                        <p:tav tm="0">
                                          <p:val>
                                            <p:fltVal val="0"/>
                                          </p:val>
                                        </p:tav>
                                        <p:tav tm="100000">
                                          <p:val>
                                            <p:strVal val="#ppt_w"/>
                                          </p:val>
                                        </p:tav>
                                      </p:tavLst>
                                    </p:anim>
                                    <p:anim calcmode="lin" valueType="num">
                                      <p:cBhvr>
                                        <p:cTn id="13" dur="1000" fill="hold"/>
                                        <p:tgtEl>
                                          <p:spTgt spid="82"/>
                                        </p:tgtEl>
                                        <p:attrNameLst>
                                          <p:attrName>ppt_h</p:attrName>
                                        </p:attrNameLst>
                                      </p:cBhvr>
                                      <p:tavLst>
                                        <p:tav tm="0">
                                          <p:val>
                                            <p:fltVal val="0"/>
                                          </p:val>
                                        </p:tav>
                                        <p:tav tm="100000">
                                          <p:val>
                                            <p:strVal val="#ppt_h"/>
                                          </p:val>
                                        </p:tav>
                                      </p:tavLst>
                                    </p:anim>
                                    <p:animEffect transition="in" filter="fade">
                                      <p:cBhvr>
                                        <p:cTn id="14" dur="1000"/>
                                        <p:tgtEl>
                                          <p:spTgt spid="82"/>
                                        </p:tgtEl>
                                      </p:cBhvr>
                                    </p:animEffect>
                                  </p:childTnLst>
                                </p:cTn>
                              </p:par>
                              <p:par>
                                <p:cTn id="15" presetID="53" presetClass="entr" presetSubtype="16" fill="hold" nodeType="withEffect">
                                  <p:stCondLst>
                                    <p:cond delay="0"/>
                                  </p:stCondLst>
                                  <p:childTnLst>
                                    <p:set>
                                      <p:cBhvr>
                                        <p:cTn id="16" dur="1" fill="hold">
                                          <p:stCondLst>
                                            <p:cond delay="0"/>
                                          </p:stCondLst>
                                        </p:cTn>
                                        <p:tgtEl>
                                          <p:spTgt spid="89"/>
                                        </p:tgtEl>
                                        <p:attrNameLst>
                                          <p:attrName>style.visibility</p:attrName>
                                        </p:attrNameLst>
                                      </p:cBhvr>
                                      <p:to>
                                        <p:strVal val="visible"/>
                                      </p:to>
                                    </p:set>
                                    <p:anim calcmode="lin" valueType="num">
                                      <p:cBhvr>
                                        <p:cTn id="17" dur="1000" fill="hold"/>
                                        <p:tgtEl>
                                          <p:spTgt spid="89"/>
                                        </p:tgtEl>
                                        <p:attrNameLst>
                                          <p:attrName>ppt_w</p:attrName>
                                        </p:attrNameLst>
                                      </p:cBhvr>
                                      <p:tavLst>
                                        <p:tav tm="0">
                                          <p:val>
                                            <p:fltVal val="0"/>
                                          </p:val>
                                        </p:tav>
                                        <p:tav tm="100000">
                                          <p:val>
                                            <p:strVal val="#ppt_w"/>
                                          </p:val>
                                        </p:tav>
                                      </p:tavLst>
                                    </p:anim>
                                    <p:anim calcmode="lin" valueType="num">
                                      <p:cBhvr>
                                        <p:cTn id="18" dur="1000" fill="hold"/>
                                        <p:tgtEl>
                                          <p:spTgt spid="89"/>
                                        </p:tgtEl>
                                        <p:attrNameLst>
                                          <p:attrName>ppt_h</p:attrName>
                                        </p:attrNameLst>
                                      </p:cBhvr>
                                      <p:tavLst>
                                        <p:tav tm="0">
                                          <p:val>
                                            <p:fltVal val="0"/>
                                          </p:val>
                                        </p:tav>
                                        <p:tav tm="100000">
                                          <p:val>
                                            <p:strVal val="#ppt_h"/>
                                          </p:val>
                                        </p:tav>
                                      </p:tavLst>
                                    </p:anim>
                                    <p:animEffect transition="in" filter="fade">
                                      <p:cBhvr>
                                        <p:cTn id="19" dur="1000"/>
                                        <p:tgtEl>
                                          <p:spTgt spid="89"/>
                                        </p:tgtEl>
                                      </p:cBhvr>
                                    </p:animEffect>
                                  </p:childTnLst>
                                </p:cTn>
                              </p:par>
                              <p:par>
                                <p:cTn id="20" presetID="53" presetClass="entr" presetSubtype="16" fill="hold" nodeType="withEffect">
                                  <p:stCondLst>
                                    <p:cond delay="0"/>
                                  </p:stCondLst>
                                  <p:childTnLst>
                                    <p:set>
                                      <p:cBhvr>
                                        <p:cTn id="21" dur="1" fill="hold">
                                          <p:stCondLst>
                                            <p:cond delay="0"/>
                                          </p:stCondLst>
                                        </p:cTn>
                                        <p:tgtEl>
                                          <p:spTgt spid="96"/>
                                        </p:tgtEl>
                                        <p:attrNameLst>
                                          <p:attrName>style.visibility</p:attrName>
                                        </p:attrNameLst>
                                      </p:cBhvr>
                                      <p:to>
                                        <p:strVal val="visible"/>
                                      </p:to>
                                    </p:set>
                                    <p:anim calcmode="lin" valueType="num">
                                      <p:cBhvr>
                                        <p:cTn id="22" dur="1000" fill="hold"/>
                                        <p:tgtEl>
                                          <p:spTgt spid="96"/>
                                        </p:tgtEl>
                                        <p:attrNameLst>
                                          <p:attrName>ppt_w</p:attrName>
                                        </p:attrNameLst>
                                      </p:cBhvr>
                                      <p:tavLst>
                                        <p:tav tm="0">
                                          <p:val>
                                            <p:fltVal val="0"/>
                                          </p:val>
                                        </p:tav>
                                        <p:tav tm="100000">
                                          <p:val>
                                            <p:strVal val="#ppt_w"/>
                                          </p:val>
                                        </p:tav>
                                      </p:tavLst>
                                    </p:anim>
                                    <p:anim calcmode="lin" valueType="num">
                                      <p:cBhvr>
                                        <p:cTn id="23" dur="1000" fill="hold"/>
                                        <p:tgtEl>
                                          <p:spTgt spid="96"/>
                                        </p:tgtEl>
                                        <p:attrNameLst>
                                          <p:attrName>ppt_h</p:attrName>
                                        </p:attrNameLst>
                                      </p:cBhvr>
                                      <p:tavLst>
                                        <p:tav tm="0">
                                          <p:val>
                                            <p:fltVal val="0"/>
                                          </p:val>
                                        </p:tav>
                                        <p:tav tm="100000">
                                          <p:val>
                                            <p:strVal val="#ppt_h"/>
                                          </p:val>
                                        </p:tav>
                                      </p:tavLst>
                                    </p:anim>
                                    <p:animEffect transition="in" filter="fade">
                                      <p:cBhvr>
                                        <p:cTn id="24" dur="1000"/>
                                        <p:tgtEl>
                                          <p:spTgt spid="96"/>
                                        </p:tgtEl>
                                      </p:cBhvr>
                                    </p:animEffect>
                                  </p:childTnLst>
                                </p:cTn>
                              </p:par>
                              <p:par>
                                <p:cTn id="25" presetID="53" presetClass="entr" presetSubtype="16" fill="hold" nodeType="withEffect">
                                  <p:stCondLst>
                                    <p:cond delay="0"/>
                                  </p:stCondLst>
                                  <p:childTnLst>
                                    <p:set>
                                      <p:cBhvr>
                                        <p:cTn id="26" dur="1" fill="hold">
                                          <p:stCondLst>
                                            <p:cond delay="0"/>
                                          </p:stCondLst>
                                        </p:cTn>
                                        <p:tgtEl>
                                          <p:spTgt spid="103"/>
                                        </p:tgtEl>
                                        <p:attrNameLst>
                                          <p:attrName>style.visibility</p:attrName>
                                        </p:attrNameLst>
                                      </p:cBhvr>
                                      <p:to>
                                        <p:strVal val="visible"/>
                                      </p:to>
                                    </p:set>
                                    <p:anim calcmode="lin" valueType="num">
                                      <p:cBhvr>
                                        <p:cTn id="27" dur="1000" fill="hold"/>
                                        <p:tgtEl>
                                          <p:spTgt spid="103"/>
                                        </p:tgtEl>
                                        <p:attrNameLst>
                                          <p:attrName>ppt_w</p:attrName>
                                        </p:attrNameLst>
                                      </p:cBhvr>
                                      <p:tavLst>
                                        <p:tav tm="0">
                                          <p:val>
                                            <p:fltVal val="0"/>
                                          </p:val>
                                        </p:tav>
                                        <p:tav tm="100000">
                                          <p:val>
                                            <p:strVal val="#ppt_w"/>
                                          </p:val>
                                        </p:tav>
                                      </p:tavLst>
                                    </p:anim>
                                    <p:anim calcmode="lin" valueType="num">
                                      <p:cBhvr>
                                        <p:cTn id="28" dur="1000" fill="hold"/>
                                        <p:tgtEl>
                                          <p:spTgt spid="103"/>
                                        </p:tgtEl>
                                        <p:attrNameLst>
                                          <p:attrName>ppt_h</p:attrName>
                                        </p:attrNameLst>
                                      </p:cBhvr>
                                      <p:tavLst>
                                        <p:tav tm="0">
                                          <p:val>
                                            <p:fltVal val="0"/>
                                          </p:val>
                                        </p:tav>
                                        <p:tav tm="100000">
                                          <p:val>
                                            <p:strVal val="#ppt_h"/>
                                          </p:val>
                                        </p:tav>
                                      </p:tavLst>
                                    </p:anim>
                                    <p:animEffect transition="in" filter="fade">
                                      <p:cBhvr>
                                        <p:cTn id="29" dur="1000"/>
                                        <p:tgtEl>
                                          <p:spTgt spid="103"/>
                                        </p:tgtEl>
                                      </p:cBhvr>
                                    </p:animEffect>
                                  </p:childTnLst>
                                </p:cTn>
                              </p:par>
                              <p:par>
                                <p:cTn id="30" presetID="53" presetClass="entr" presetSubtype="16" fill="hold" nodeType="withEffect">
                                  <p:stCondLst>
                                    <p:cond delay="0"/>
                                  </p:stCondLst>
                                  <p:childTnLst>
                                    <p:set>
                                      <p:cBhvr>
                                        <p:cTn id="31" dur="1" fill="hold">
                                          <p:stCondLst>
                                            <p:cond delay="0"/>
                                          </p:stCondLst>
                                        </p:cTn>
                                        <p:tgtEl>
                                          <p:spTgt spid="110"/>
                                        </p:tgtEl>
                                        <p:attrNameLst>
                                          <p:attrName>style.visibility</p:attrName>
                                        </p:attrNameLst>
                                      </p:cBhvr>
                                      <p:to>
                                        <p:strVal val="visible"/>
                                      </p:to>
                                    </p:set>
                                    <p:anim calcmode="lin" valueType="num">
                                      <p:cBhvr>
                                        <p:cTn id="32" dur="1000" fill="hold"/>
                                        <p:tgtEl>
                                          <p:spTgt spid="110"/>
                                        </p:tgtEl>
                                        <p:attrNameLst>
                                          <p:attrName>ppt_w</p:attrName>
                                        </p:attrNameLst>
                                      </p:cBhvr>
                                      <p:tavLst>
                                        <p:tav tm="0">
                                          <p:val>
                                            <p:fltVal val="0"/>
                                          </p:val>
                                        </p:tav>
                                        <p:tav tm="100000">
                                          <p:val>
                                            <p:strVal val="#ppt_w"/>
                                          </p:val>
                                        </p:tav>
                                      </p:tavLst>
                                    </p:anim>
                                    <p:anim calcmode="lin" valueType="num">
                                      <p:cBhvr>
                                        <p:cTn id="33" dur="1000" fill="hold"/>
                                        <p:tgtEl>
                                          <p:spTgt spid="110"/>
                                        </p:tgtEl>
                                        <p:attrNameLst>
                                          <p:attrName>ppt_h</p:attrName>
                                        </p:attrNameLst>
                                      </p:cBhvr>
                                      <p:tavLst>
                                        <p:tav tm="0">
                                          <p:val>
                                            <p:fltVal val="0"/>
                                          </p:val>
                                        </p:tav>
                                        <p:tav tm="100000">
                                          <p:val>
                                            <p:strVal val="#ppt_h"/>
                                          </p:val>
                                        </p:tav>
                                      </p:tavLst>
                                    </p:anim>
                                    <p:animEffect transition="in" filter="fade">
                                      <p:cBhvr>
                                        <p:cTn id="34" dur="1000"/>
                                        <p:tgtEl>
                                          <p:spTgt spid="110"/>
                                        </p:tgtEl>
                                      </p:cBhvr>
                                    </p:animEffect>
                                  </p:childTnLst>
                                </p:cTn>
                              </p:par>
                              <p:par>
                                <p:cTn id="35" presetID="53" presetClass="entr" presetSubtype="16" fill="hold" nodeType="withEffect">
                                  <p:stCondLst>
                                    <p:cond delay="0"/>
                                  </p:stCondLst>
                                  <p:childTnLst>
                                    <p:set>
                                      <p:cBhvr>
                                        <p:cTn id="36" dur="1" fill="hold">
                                          <p:stCondLst>
                                            <p:cond delay="0"/>
                                          </p:stCondLst>
                                        </p:cTn>
                                        <p:tgtEl>
                                          <p:spTgt spid="117"/>
                                        </p:tgtEl>
                                        <p:attrNameLst>
                                          <p:attrName>style.visibility</p:attrName>
                                        </p:attrNameLst>
                                      </p:cBhvr>
                                      <p:to>
                                        <p:strVal val="visible"/>
                                      </p:to>
                                    </p:set>
                                    <p:anim calcmode="lin" valueType="num">
                                      <p:cBhvr>
                                        <p:cTn id="37" dur="1000" fill="hold"/>
                                        <p:tgtEl>
                                          <p:spTgt spid="117"/>
                                        </p:tgtEl>
                                        <p:attrNameLst>
                                          <p:attrName>ppt_w</p:attrName>
                                        </p:attrNameLst>
                                      </p:cBhvr>
                                      <p:tavLst>
                                        <p:tav tm="0">
                                          <p:val>
                                            <p:fltVal val="0"/>
                                          </p:val>
                                        </p:tav>
                                        <p:tav tm="100000">
                                          <p:val>
                                            <p:strVal val="#ppt_w"/>
                                          </p:val>
                                        </p:tav>
                                      </p:tavLst>
                                    </p:anim>
                                    <p:anim calcmode="lin" valueType="num">
                                      <p:cBhvr>
                                        <p:cTn id="38" dur="1000" fill="hold"/>
                                        <p:tgtEl>
                                          <p:spTgt spid="117"/>
                                        </p:tgtEl>
                                        <p:attrNameLst>
                                          <p:attrName>ppt_h</p:attrName>
                                        </p:attrNameLst>
                                      </p:cBhvr>
                                      <p:tavLst>
                                        <p:tav tm="0">
                                          <p:val>
                                            <p:fltVal val="0"/>
                                          </p:val>
                                        </p:tav>
                                        <p:tav tm="100000">
                                          <p:val>
                                            <p:strVal val="#ppt_h"/>
                                          </p:val>
                                        </p:tav>
                                      </p:tavLst>
                                    </p:anim>
                                    <p:animEffect transition="in" filter="fade">
                                      <p:cBhvr>
                                        <p:cTn id="39" dur="1000"/>
                                        <p:tgtEl>
                                          <p:spTgt spid="117"/>
                                        </p:tgtEl>
                                      </p:cBhvr>
                                    </p:animEffect>
                                  </p:childTnLst>
                                </p:cTn>
                              </p:par>
                              <p:par>
                                <p:cTn id="40" presetID="53" presetClass="entr" presetSubtype="16" fill="hold" nodeType="withEffect">
                                  <p:stCondLst>
                                    <p:cond delay="0"/>
                                  </p:stCondLst>
                                  <p:childTnLst>
                                    <p:set>
                                      <p:cBhvr>
                                        <p:cTn id="41" dur="1" fill="hold">
                                          <p:stCondLst>
                                            <p:cond delay="0"/>
                                          </p:stCondLst>
                                        </p:cTn>
                                        <p:tgtEl>
                                          <p:spTgt spid="124"/>
                                        </p:tgtEl>
                                        <p:attrNameLst>
                                          <p:attrName>style.visibility</p:attrName>
                                        </p:attrNameLst>
                                      </p:cBhvr>
                                      <p:to>
                                        <p:strVal val="visible"/>
                                      </p:to>
                                    </p:set>
                                    <p:anim calcmode="lin" valueType="num">
                                      <p:cBhvr>
                                        <p:cTn id="42" dur="1000" fill="hold"/>
                                        <p:tgtEl>
                                          <p:spTgt spid="124"/>
                                        </p:tgtEl>
                                        <p:attrNameLst>
                                          <p:attrName>ppt_w</p:attrName>
                                        </p:attrNameLst>
                                      </p:cBhvr>
                                      <p:tavLst>
                                        <p:tav tm="0">
                                          <p:val>
                                            <p:fltVal val="0"/>
                                          </p:val>
                                        </p:tav>
                                        <p:tav tm="100000">
                                          <p:val>
                                            <p:strVal val="#ppt_w"/>
                                          </p:val>
                                        </p:tav>
                                      </p:tavLst>
                                    </p:anim>
                                    <p:anim calcmode="lin" valueType="num">
                                      <p:cBhvr>
                                        <p:cTn id="43" dur="1000" fill="hold"/>
                                        <p:tgtEl>
                                          <p:spTgt spid="124"/>
                                        </p:tgtEl>
                                        <p:attrNameLst>
                                          <p:attrName>ppt_h</p:attrName>
                                        </p:attrNameLst>
                                      </p:cBhvr>
                                      <p:tavLst>
                                        <p:tav tm="0">
                                          <p:val>
                                            <p:fltVal val="0"/>
                                          </p:val>
                                        </p:tav>
                                        <p:tav tm="100000">
                                          <p:val>
                                            <p:strVal val="#ppt_h"/>
                                          </p:val>
                                        </p:tav>
                                      </p:tavLst>
                                    </p:anim>
                                    <p:animEffect transition="in" filter="fade">
                                      <p:cBhvr>
                                        <p:cTn id="44" dur="1000"/>
                                        <p:tgtEl>
                                          <p:spTgt spid="124"/>
                                        </p:tgtEl>
                                      </p:cBhvr>
                                    </p:animEffect>
                                  </p:childTnLst>
                                </p:cTn>
                              </p:par>
                              <p:par>
                                <p:cTn id="45" presetID="53" presetClass="entr" presetSubtype="16" fill="hold" nodeType="withEffect">
                                  <p:stCondLst>
                                    <p:cond delay="0"/>
                                  </p:stCondLst>
                                  <p:childTnLst>
                                    <p:set>
                                      <p:cBhvr>
                                        <p:cTn id="46" dur="1" fill="hold">
                                          <p:stCondLst>
                                            <p:cond delay="0"/>
                                          </p:stCondLst>
                                        </p:cTn>
                                        <p:tgtEl>
                                          <p:spTgt spid="131"/>
                                        </p:tgtEl>
                                        <p:attrNameLst>
                                          <p:attrName>style.visibility</p:attrName>
                                        </p:attrNameLst>
                                      </p:cBhvr>
                                      <p:to>
                                        <p:strVal val="visible"/>
                                      </p:to>
                                    </p:set>
                                    <p:anim calcmode="lin" valueType="num">
                                      <p:cBhvr>
                                        <p:cTn id="47" dur="1000" fill="hold"/>
                                        <p:tgtEl>
                                          <p:spTgt spid="131"/>
                                        </p:tgtEl>
                                        <p:attrNameLst>
                                          <p:attrName>ppt_w</p:attrName>
                                        </p:attrNameLst>
                                      </p:cBhvr>
                                      <p:tavLst>
                                        <p:tav tm="0">
                                          <p:val>
                                            <p:fltVal val="0"/>
                                          </p:val>
                                        </p:tav>
                                        <p:tav tm="100000">
                                          <p:val>
                                            <p:strVal val="#ppt_w"/>
                                          </p:val>
                                        </p:tav>
                                      </p:tavLst>
                                    </p:anim>
                                    <p:anim calcmode="lin" valueType="num">
                                      <p:cBhvr>
                                        <p:cTn id="48" dur="1000" fill="hold"/>
                                        <p:tgtEl>
                                          <p:spTgt spid="131"/>
                                        </p:tgtEl>
                                        <p:attrNameLst>
                                          <p:attrName>ppt_h</p:attrName>
                                        </p:attrNameLst>
                                      </p:cBhvr>
                                      <p:tavLst>
                                        <p:tav tm="0">
                                          <p:val>
                                            <p:fltVal val="0"/>
                                          </p:val>
                                        </p:tav>
                                        <p:tav tm="100000">
                                          <p:val>
                                            <p:strVal val="#ppt_h"/>
                                          </p:val>
                                        </p:tav>
                                      </p:tavLst>
                                    </p:anim>
                                    <p:animEffect transition="in" filter="fade">
                                      <p:cBhvr>
                                        <p:cTn id="49" dur="1000"/>
                                        <p:tgtEl>
                                          <p:spTgt spid="131"/>
                                        </p:tgtEl>
                                      </p:cBhvr>
                                    </p:animEffect>
                                  </p:childTnLst>
                                </p:cTn>
                              </p:par>
                              <p:par>
                                <p:cTn id="50" presetID="53" presetClass="entr" presetSubtype="16" fill="hold" nodeType="withEffect">
                                  <p:stCondLst>
                                    <p:cond delay="0"/>
                                  </p:stCondLst>
                                  <p:childTnLst>
                                    <p:set>
                                      <p:cBhvr>
                                        <p:cTn id="51" dur="1" fill="hold">
                                          <p:stCondLst>
                                            <p:cond delay="0"/>
                                          </p:stCondLst>
                                        </p:cTn>
                                        <p:tgtEl>
                                          <p:spTgt spid="138"/>
                                        </p:tgtEl>
                                        <p:attrNameLst>
                                          <p:attrName>style.visibility</p:attrName>
                                        </p:attrNameLst>
                                      </p:cBhvr>
                                      <p:to>
                                        <p:strVal val="visible"/>
                                      </p:to>
                                    </p:set>
                                    <p:anim calcmode="lin" valueType="num">
                                      <p:cBhvr>
                                        <p:cTn id="52" dur="1000" fill="hold"/>
                                        <p:tgtEl>
                                          <p:spTgt spid="138"/>
                                        </p:tgtEl>
                                        <p:attrNameLst>
                                          <p:attrName>ppt_w</p:attrName>
                                        </p:attrNameLst>
                                      </p:cBhvr>
                                      <p:tavLst>
                                        <p:tav tm="0">
                                          <p:val>
                                            <p:fltVal val="0"/>
                                          </p:val>
                                        </p:tav>
                                        <p:tav tm="100000">
                                          <p:val>
                                            <p:strVal val="#ppt_w"/>
                                          </p:val>
                                        </p:tav>
                                      </p:tavLst>
                                    </p:anim>
                                    <p:anim calcmode="lin" valueType="num">
                                      <p:cBhvr>
                                        <p:cTn id="53" dur="1000" fill="hold"/>
                                        <p:tgtEl>
                                          <p:spTgt spid="138"/>
                                        </p:tgtEl>
                                        <p:attrNameLst>
                                          <p:attrName>ppt_h</p:attrName>
                                        </p:attrNameLst>
                                      </p:cBhvr>
                                      <p:tavLst>
                                        <p:tav tm="0">
                                          <p:val>
                                            <p:fltVal val="0"/>
                                          </p:val>
                                        </p:tav>
                                        <p:tav tm="100000">
                                          <p:val>
                                            <p:strVal val="#ppt_h"/>
                                          </p:val>
                                        </p:tav>
                                      </p:tavLst>
                                    </p:anim>
                                    <p:animEffect transition="in" filter="fade">
                                      <p:cBhvr>
                                        <p:cTn id="54" dur="1000"/>
                                        <p:tgtEl>
                                          <p:spTgt spid="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0"/>
            <a:ext cx="10515600" cy="777075"/>
          </a:xfrm>
        </p:spPr>
        <p:txBody>
          <a:bodyPr>
            <a:normAutofit/>
          </a:bodyPr>
          <a:lstStyle/>
          <a:p>
            <a:pPr algn="ctr"/>
            <a:r>
              <a:rPr lang="es-CO" b="1" dirty="0">
                <a:latin typeface="Bahnschrift Light SemiCondensed" panose="020B0502040204020203" pitchFamily="34" charset="0"/>
              </a:rPr>
              <a:t>“MANEJO DE VECTORES EN C++”</a:t>
            </a:r>
          </a:p>
        </p:txBody>
      </p:sp>
      <p:sp>
        <p:nvSpPr>
          <p:cNvPr id="7" name="CuadroTexto 6">
            <a:extLst>
              <a:ext uri="{FF2B5EF4-FFF2-40B4-BE49-F238E27FC236}">
                <a16:creationId xmlns:a16="http://schemas.microsoft.com/office/drawing/2014/main" id="{B3245438-2EFA-4DBF-85CF-60E0A78BBF68}"/>
              </a:ext>
            </a:extLst>
          </p:cNvPr>
          <p:cNvSpPr txBox="1"/>
          <p:nvPr/>
        </p:nvSpPr>
        <p:spPr>
          <a:xfrm>
            <a:off x="710304" y="954093"/>
            <a:ext cx="11308976" cy="2982106"/>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pPr lvl="0" algn="just" defTabSz="1422400">
              <a:lnSpc>
                <a:spcPct val="90000"/>
              </a:lnSpc>
              <a:spcBef>
                <a:spcPct val="0"/>
              </a:spcBef>
              <a:spcAft>
                <a:spcPct val="35000"/>
              </a:spcAft>
            </a:pPr>
            <a:r>
              <a:rPr lang="es-MX" sz="3000" dirty="0"/>
              <a:t>VECTOR (arreglo unidimensional): conjunto de datos que se almacenan en memoria de manera contigua con el mismo nombre. Para diferenciar los elementos de un arreglo se utilizan índices encerrados por corchetes[] iniciando con el nombre del arreglo. El quinto elemento de un arreglo, está ubicado en el índice [4], ya que los índices comienzan en 0. Esto significa que un arreglo de 8 elementos tendría los índices del 0 al 8; pero se usan del 0 al 7. Tiene fin de arreglo: </a:t>
            </a:r>
            <a:r>
              <a:rPr lang="es-MX" sz="3000" b="1" dirty="0"/>
              <a:t>\0</a:t>
            </a:r>
            <a:r>
              <a:rPr lang="es-MX" sz="3000" dirty="0"/>
              <a:t>.</a:t>
            </a:r>
          </a:p>
        </p:txBody>
      </p:sp>
      <p:sp>
        <p:nvSpPr>
          <p:cNvPr id="78" name="AutoShape 28">
            <a:extLst>
              <a:ext uri="{FF2B5EF4-FFF2-40B4-BE49-F238E27FC236}">
                <a16:creationId xmlns:a16="http://schemas.microsoft.com/office/drawing/2014/main" id="{46B45E43-21AB-4BF2-B8A3-2558B2978749}"/>
              </a:ext>
            </a:extLst>
          </p:cNvPr>
          <p:cNvSpPr>
            <a:spLocks noChangeArrowheads="1"/>
          </p:cNvSpPr>
          <p:nvPr/>
        </p:nvSpPr>
        <p:spPr bwMode="auto">
          <a:xfrm>
            <a:off x="2983613" y="6348405"/>
            <a:ext cx="5334988" cy="441394"/>
          </a:xfrm>
          <a:prstGeom prst="wedgeRectCallout">
            <a:avLst>
              <a:gd name="adj1" fmla="val -7168"/>
              <a:gd name="adj2" fmla="val -100640"/>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algn="ctr"/>
            <a:r>
              <a:rPr lang="es-MX" sz="2800" b="1" dirty="0">
                <a:ln w="9525">
                  <a:solidFill>
                    <a:schemeClr val="bg1"/>
                  </a:solidFill>
                  <a:prstDash val="solid"/>
                </a:ln>
                <a:solidFill>
                  <a:schemeClr val="tx1"/>
                </a:solidFill>
                <a:effectLst>
                  <a:outerShdw blurRad="12700" dist="38100" dir="2700000" algn="tl" rotWithShape="0">
                    <a:schemeClr val="bg1">
                      <a:lumMod val="50000"/>
                    </a:schemeClr>
                  </a:outerShdw>
                </a:effectLst>
              </a:rPr>
              <a:t>P  O  S  I  C  I  O  N  E  S (8)</a:t>
            </a:r>
            <a:endParaRPr lang="es-ES" sz="2800" b="1"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80" name="AutoShape 16">
            <a:extLst>
              <a:ext uri="{FF2B5EF4-FFF2-40B4-BE49-F238E27FC236}">
                <a16:creationId xmlns:a16="http://schemas.microsoft.com/office/drawing/2014/main" id="{27312236-C335-40D5-BA1B-91F2F21C9CC3}"/>
              </a:ext>
            </a:extLst>
          </p:cNvPr>
          <p:cNvSpPr>
            <a:spLocks noChangeArrowheads="1"/>
          </p:cNvSpPr>
          <p:nvPr/>
        </p:nvSpPr>
        <p:spPr bwMode="auto">
          <a:xfrm>
            <a:off x="744983" y="4263991"/>
            <a:ext cx="1857388" cy="547702"/>
          </a:xfrm>
          <a:prstGeom prst="wedgeRectCallout">
            <a:avLst>
              <a:gd name="adj1" fmla="val 35367"/>
              <a:gd name="adj2" fmla="val 125292"/>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algn="ctr"/>
            <a:r>
              <a:rPr lang="es-MX" sz="2800" b="1">
                <a:ln w="9525">
                  <a:solidFill>
                    <a:schemeClr val="bg1"/>
                  </a:solidFill>
                  <a:prstDash val="solid"/>
                </a:ln>
                <a:solidFill>
                  <a:schemeClr val="tx1"/>
                </a:solidFill>
                <a:effectLst>
                  <a:outerShdw blurRad="12700" dist="38100" dir="2700000" algn="tl" rotWithShape="0">
                    <a:schemeClr val="bg1">
                      <a:lumMod val="50000"/>
                    </a:schemeClr>
                  </a:outerShdw>
                </a:effectLst>
              </a:rPr>
              <a:t>NOMBRE</a:t>
            </a:r>
            <a:endParaRPr lang="es-ES" sz="2800" b="1"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grpSp>
        <p:nvGrpSpPr>
          <p:cNvPr id="3" name="Grupo 2">
            <a:extLst>
              <a:ext uri="{FF2B5EF4-FFF2-40B4-BE49-F238E27FC236}">
                <a16:creationId xmlns:a16="http://schemas.microsoft.com/office/drawing/2014/main" id="{9BCC528A-8A18-4ABE-8B51-C47B50D91BF6}"/>
              </a:ext>
            </a:extLst>
          </p:cNvPr>
          <p:cNvGrpSpPr/>
          <p:nvPr/>
        </p:nvGrpSpPr>
        <p:grpSpPr>
          <a:xfrm>
            <a:off x="1160558" y="4898667"/>
            <a:ext cx="8347081" cy="1360845"/>
            <a:chOff x="1160558" y="4898667"/>
            <a:chExt cx="8347081" cy="1360845"/>
          </a:xfrm>
        </p:grpSpPr>
        <p:sp>
          <p:nvSpPr>
            <p:cNvPr id="6" name="AutoShape 4">
              <a:extLst>
                <a:ext uri="{FF2B5EF4-FFF2-40B4-BE49-F238E27FC236}">
                  <a16:creationId xmlns:a16="http://schemas.microsoft.com/office/drawing/2014/main" id="{DC185F5C-A391-4150-B88B-4B5CBD92BE13}"/>
                </a:ext>
              </a:extLst>
            </p:cNvPr>
            <p:cNvSpPr>
              <a:spLocks noChangeArrowheads="1"/>
            </p:cNvSpPr>
            <p:nvPr/>
          </p:nvSpPr>
          <p:spPr bwMode="auto">
            <a:xfrm>
              <a:off x="2809977" y="4898667"/>
              <a:ext cx="936625" cy="873125"/>
            </a:xfrm>
            <a:prstGeom prst="cube">
              <a:avLst>
                <a:gd name="adj" fmla="val 25000"/>
              </a:avLst>
            </a:prstGeom>
            <a:solidFill>
              <a:schemeClr val="bg1">
                <a:lumMod val="85000"/>
              </a:scheme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s-CO" sz="3200" dirty="0"/>
                <a:t>85</a:t>
              </a:r>
            </a:p>
          </p:txBody>
        </p:sp>
        <p:sp>
          <p:nvSpPr>
            <p:cNvPr id="11" name="Line 8">
              <a:extLst>
                <a:ext uri="{FF2B5EF4-FFF2-40B4-BE49-F238E27FC236}">
                  <a16:creationId xmlns:a16="http://schemas.microsoft.com/office/drawing/2014/main" id="{B21ECDBA-0E24-4773-9DD8-1750C20AD772}"/>
                </a:ext>
              </a:extLst>
            </p:cNvPr>
            <p:cNvSpPr>
              <a:spLocks noChangeShapeType="1"/>
            </p:cNvSpPr>
            <p:nvPr/>
          </p:nvSpPr>
          <p:spPr bwMode="auto">
            <a:xfrm>
              <a:off x="3028821" y="4898667"/>
              <a:ext cx="0" cy="218625"/>
            </a:xfrm>
            <a:prstGeom prst="line">
              <a:avLst/>
            </a:prstGeom>
            <a:solidFill>
              <a:schemeClr val="bg1">
                <a:lumMod val="85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s-CO" sz="3200"/>
            </a:p>
          </p:txBody>
        </p:sp>
        <p:sp>
          <p:nvSpPr>
            <p:cNvPr id="12" name="Line 9">
              <a:extLst>
                <a:ext uri="{FF2B5EF4-FFF2-40B4-BE49-F238E27FC236}">
                  <a16:creationId xmlns:a16="http://schemas.microsoft.com/office/drawing/2014/main" id="{593FAD28-1857-4A4F-8175-385045855C62}"/>
                </a:ext>
              </a:extLst>
            </p:cNvPr>
            <p:cNvSpPr>
              <a:spLocks noChangeShapeType="1"/>
            </p:cNvSpPr>
            <p:nvPr/>
          </p:nvSpPr>
          <p:spPr bwMode="auto">
            <a:xfrm>
              <a:off x="3527758" y="5553855"/>
              <a:ext cx="218844" cy="0"/>
            </a:xfrm>
            <a:prstGeom prst="line">
              <a:avLst/>
            </a:prstGeom>
            <a:solidFill>
              <a:schemeClr val="bg1">
                <a:lumMod val="85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s-CO" sz="3200"/>
            </a:p>
          </p:txBody>
        </p:sp>
        <p:sp>
          <p:nvSpPr>
            <p:cNvPr id="14" name="AutoShape 12">
              <a:extLst>
                <a:ext uri="{FF2B5EF4-FFF2-40B4-BE49-F238E27FC236}">
                  <a16:creationId xmlns:a16="http://schemas.microsoft.com/office/drawing/2014/main" id="{88B5735D-4961-41B2-BB52-B5B2C8BD0563}"/>
                </a:ext>
              </a:extLst>
            </p:cNvPr>
            <p:cNvSpPr>
              <a:spLocks noChangeArrowheads="1"/>
            </p:cNvSpPr>
            <p:nvPr/>
          </p:nvSpPr>
          <p:spPr bwMode="auto">
            <a:xfrm>
              <a:off x="3530702" y="4898667"/>
              <a:ext cx="936625" cy="873125"/>
            </a:xfrm>
            <a:prstGeom prst="cube">
              <a:avLst>
                <a:gd name="adj" fmla="val 25000"/>
              </a:avLst>
            </a:prstGeom>
            <a:solidFill>
              <a:schemeClr val="bg1">
                <a:lumMod val="85000"/>
              </a:scheme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s-CO" sz="3200" dirty="0"/>
                <a:t>57</a:t>
              </a:r>
            </a:p>
          </p:txBody>
        </p:sp>
        <p:sp>
          <p:nvSpPr>
            <p:cNvPr id="18" name="Line 16">
              <a:extLst>
                <a:ext uri="{FF2B5EF4-FFF2-40B4-BE49-F238E27FC236}">
                  <a16:creationId xmlns:a16="http://schemas.microsoft.com/office/drawing/2014/main" id="{63F21B11-8A79-4A8A-BB05-B130AE194CC3}"/>
                </a:ext>
              </a:extLst>
            </p:cNvPr>
            <p:cNvSpPr>
              <a:spLocks noChangeShapeType="1"/>
            </p:cNvSpPr>
            <p:nvPr/>
          </p:nvSpPr>
          <p:spPr bwMode="auto">
            <a:xfrm>
              <a:off x="3749546" y="4898667"/>
              <a:ext cx="0" cy="218625"/>
            </a:xfrm>
            <a:prstGeom prst="line">
              <a:avLst/>
            </a:prstGeom>
            <a:solidFill>
              <a:schemeClr val="bg1">
                <a:lumMod val="85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s-CO" sz="3200"/>
            </a:p>
          </p:txBody>
        </p:sp>
        <p:sp>
          <p:nvSpPr>
            <p:cNvPr id="19" name="Line 17">
              <a:extLst>
                <a:ext uri="{FF2B5EF4-FFF2-40B4-BE49-F238E27FC236}">
                  <a16:creationId xmlns:a16="http://schemas.microsoft.com/office/drawing/2014/main" id="{0119A23A-B221-42A4-BD99-C545FE70F190}"/>
                </a:ext>
              </a:extLst>
            </p:cNvPr>
            <p:cNvSpPr>
              <a:spLocks noChangeShapeType="1"/>
            </p:cNvSpPr>
            <p:nvPr/>
          </p:nvSpPr>
          <p:spPr bwMode="auto">
            <a:xfrm>
              <a:off x="4248483" y="5553855"/>
              <a:ext cx="218844" cy="0"/>
            </a:xfrm>
            <a:prstGeom prst="line">
              <a:avLst/>
            </a:prstGeom>
            <a:solidFill>
              <a:schemeClr val="bg1">
                <a:lumMod val="85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s-CO" sz="3200"/>
            </a:p>
          </p:txBody>
        </p:sp>
        <p:sp>
          <p:nvSpPr>
            <p:cNvPr id="21" name="AutoShape 20">
              <a:extLst>
                <a:ext uri="{FF2B5EF4-FFF2-40B4-BE49-F238E27FC236}">
                  <a16:creationId xmlns:a16="http://schemas.microsoft.com/office/drawing/2014/main" id="{D849C86D-1F32-4D8B-A2AA-24E21FA8CFF2}"/>
                </a:ext>
              </a:extLst>
            </p:cNvPr>
            <p:cNvSpPr>
              <a:spLocks noChangeArrowheads="1"/>
            </p:cNvSpPr>
            <p:nvPr/>
          </p:nvSpPr>
          <p:spPr bwMode="auto">
            <a:xfrm>
              <a:off x="4249839" y="4898667"/>
              <a:ext cx="936625" cy="873125"/>
            </a:xfrm>
            <a:prstGeom prst="cube">
              <a:avLst>
                <a:gd name="adj" fmla="val 25000"/>
              </a:avLst>
            </a:prstGeom>
            <a:solidFill>
              <a:schemeClr val="bg1">
                <a:lumMod val="85000"/>
              </a:scheme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s-CO" sz="3200" dirty="0"/>
                <a:t>12</a:t>
              </a:r>
            </a:p>
          </p:txBody>
        </p:sp>
        <p:sp>
          <p:nvSpPr>
            <p:cNvPr id="25" name="Line 24">
              <a:extLst>
                <a:ext uri="{FF2B5EF4-FFF2-40B4-BE49-F238E27FC236}">
                  <a16:creationId xmlns:a16="http://schemas.microsoft.com/office/drawing/2014/main" id="{727D59F8-8A11-47F4-A6AE-D0146E000249}"/>
                </a:ext>
              </a:extLst>
            </p:cNvPr>
            <p:cNvSpPr>
              <a:spLocks noChangeShapeType="1"/>
            </p:cNvSpPr>
            <p:nvPr/>
          </p:nvSpPr>
          <p:spPr bwMode="auto">
            <a:xfrm>
              <a:off x="4468683" y="4898667"/>
              <a:ext cx="0" cy="218625"/>
            </a:xfrm>
            <a:prstGeom prst="line">
              <a:avLst/>
            </a:prstGeom>
            <a:solidFill>
              <a:schemeClr val="bg1">
                <a:lumMod val="85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s-CO" sz="3200"/>
            </a:p>
          </p:txBody>
        </p:sp>
        <p:sp>
          <p:nvSpPr>
            <p:cNvPr id="26" name="Line 25">
              <a:extLst>
                <a:ext uri="{FF2B5EF4-FFF2-40B4-BE49-F238E27FC236}">
                  <a16:creationId xmlns:a16="http://schemas.microsoft.com/office/drawing/2014/main" id="{E63DC06D-BC63-4DE4-BFE9-647E3437BD79}"/>
                </a:ext>
              </a:extLst>
            </p:cNvPr>
            <p:cNvSpPr>
              <a:spLocks noChangeShapeType="1"/>
            </p:cNvSpPr>
            <p:nvPr/>
          </p:nvSpPr>
          <p:spPr bwMode="auto">
            <a:xfrm>
              <a:off x="4967620" y="5553855"/>
              <a:ext cx="218844" cy="0"/>
            </a:xfrm>
            <a:prstGeom prst="line">
              <a:avLst/>
            </a:prstGeom>
            <a:solidFill>
              <a:schemeClr val="bg1">
                <a:lumMod val="85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s-CO" sz="3200"/>
            </a:p>
          </p:txBody>
        </p:sp>
        <p:sp>
          <p:nvSpPr>
            <p:cNvPr id="28" name="AutoShape 28">
              <a:extLst>
                <a:ext uri="{FF2B5EF4-FFF2-40B4-BE49-F238E27FC236}">
                  <a16:creationId xmlns:a16="http://schemas.microsoft.com/office/drawing/2014/main" id="{D9AE1EC3-CAF7-4FB2-891C-34330AAA466C}"/>
                </a:ext>
              </a:extLst>
            </p:cNvPr>
            <p:cNvSpPr>
              <a:spLocks noChangeArrowheads="1"/>
            </p:cNvSpPr>
            <p:nvPr/>
          </p:nvSpPr>
          <p:spPr bwMode="auto">
            <a:xfrm>
              <a:off x="4970564" y="4898667"/>
              <a:ext cx="936625" cy="873125"/>
            </a:xfrm>
            <a:prstGeom prst="cube">
              <a:avLst>
                <a:gd name="adj" fmla="val 25000"/>
              </a:avLst>
            </a:prstGeom>
            <a:solidFill>
              <a:schemeClr val="bg1">
                <a:lumMod val="85000"/>
              </a:scheme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s-CO" sz="3200" dirty="0"/>
                <a:t>34</a:t>
              </a:r>
            </a:p>
          </p:txBody>
        </p:sp>
        <p:sp>
          <p:nvSpPr>
            <p:cNvPr id="32" name="Line 32">
              <a:extLst>
                <a:ext uri="{FF2B5EF4-FFF2-40B4-BE49-F238E27FC236}">
                  <a16:creationId xmlns:a16="http://schemas.microsoft.com/office/drawing/2014/main" id="{515437CF-7B65-470B-98B7-236C30F193DD}"/>
                </a:ext>
              </a:extLst>
            </p:cNvPr>
            <p:cNvSpPr>
              <a:spLocks noChangeShapeType="1"/>
            </p:cNvSpPr>
            <p:nvPr/>
          </p:nvSpPr>
          <p:spPr bwMode="auto">
            <a:xfrm>
              <a:off x="5189408" y="4898667"/>
              <a:ext cx="0" cy="218625"/>
            </a:xfrm>
            <a:prstGeom prst="line">
              <a:avLst/>
            </a:prstGeom>
            <a:solidFill>
              <a:schemeClr val="bg1">
                <a:lumMod val="85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s-CO" sz="3200"/>
            </a:p>
          </p:txBody>
        </p:sp>
        <p:sp>
          <p:nvSpPr>
            <p:cNvPr id="33" name="Line 33">
              <a:extLst>
                <a:ext uri="{FF2B5EF4-FFF2-40B4-BE49-F238E27FC236}">
                  <a16:creationId xmlns:a16="http://schemas.microsoft.com/office/drawing/2014/main" id="{96213587-C270-4079-8310-3A564AC97322}"/>
                </a:ext>
              </a:extLst>
            </p:cNvPr>
            <p:cNvSpPr>
              <a:spLocks noChangeShapeType="1"/>
            </p:cNvSpPr>
            <p:nvPr/>
          </p:nvSpPr>
          <p:spPr bwMode="auto">
            <a:xfrm>
              <a:off x="5688345" y="5553855"/>
              <a:ext cx="218844" cy="0"/>
            </a:xfrm>
            <a:prstGeom prst="line">
              <a:avLst/>
            </a:prstGeom>
            <a:solidFill>
              <a:schemeClr val="bg1">
                <a:lumMod val="85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s-CO" sz="3200"/>
            </a:p>
          </p:txBody>
        </p:sp>
        <p:sp>
          <p:nvSpPr>
            <p:cNvPr id="35" name="AutoShape 36">
              <a:extLst>
                <a:ext uri="{FF2B5EF4-FFF2-40B4-BE49-F238E27FC236}">
                  <a16:creationId xmlns:a16="http://schemas.microsoft.com/office/drawing/2014/main" id="{ED41DD61-5023-4955-B838-35F746E79445}"/>
                </a:ext>
              </a:extLst>
            </p:cNvPr>
            <p:cNvSpPr>
              <a:spLocks noChangeArrowheads="1"/>
            </p:cNvSpPr>
            <p:nvPr/>
          </p:nvSpPr>
          <p:spPr bwMode="auto">
            <a:xfrm>
              <a:off x="5691289" y="4898667"/>
              <a:ext cx="936625" cy="873125"/>
            </a:xfrm>
            <a:prstGeom prst="cube">
              <a:avLst>
                <a:gd name="adj" fmla="val 25000"/>
              </a:avLst>
            </a:prstGeom>
            <a:solidFill>
              <a:schemeClr val="bg1">
                <a:lumMod val="85000"/>
              </a:scheme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s-CO" sz="4000" b="1" dirty="0">
                  <a:effectLst>
                    <a:outerShdw blurRad="38100" dist="38100" dir="2700000" algn="tl">
                      <a:srgbClr val="000000">
                        <a:alpha val="43137"/>
                      </a:srgbClr>
                    </a:outerShdw>
                  </a:effectLst>
                </a:rPr>
                <a:t>69</a:t>
              </a:r>
              <a:endParaRPr lang="es-CO" sz="3200" b="1" dirty="0">
                <a:effectLst>
                  <a:outerShdw blurRad="38100" dist="38100" dir="2700000" algn="tl">
                    <a:srgbClr val="000000">
                      <a:alpha val="43137"/>
                    </a:srgbClr>
                  </a:outerShdw>
                </a:effectLst>
              </a:endParaRPr>
            </a:p>
          </p:txBody>
        </p:sp>
        <p:sp>
          <p:nvSpPr>
            <p:cNvPr id="39" name="Line 40">
              <a:extLst>
                <a:ext uri="{FF2B5EF4-FFF2-40B4-BE49-F238E27FC236}">
                  <a16:creationId xmlns:a16="http://schemas.microsoft.com/office/drawing/2014/main" id="{07DF5A7C-4921-4BDD-966D-8826B7235D83}"/>
                </a:ext>
              </a:extLst>
            </p:cNvPr>
            <p:cNvSpPr>
              <a:spLocks noChangeShapeType="1"/>
            </p:cNvSpPr>
            <p:nvPr/>
          </p:nvSpPr>
          <p:spPr bwMode="auto">
            <a:xfrm>
              <a:off x="5910133" y="4898667"/>
              <a:ext cx="0" cy="218625"/>
            </a:xfrm>
            <a:prstGeom prst="line">
              <a:avLst/>
            </a:prstGeom>
            <a:solidFill>
              <a:schemeClr val="bg1">
                <a:lumMod val="85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s-CO" sz="3200"/>
            </a:p>
          </p:txBody>
        </p:sp>
        <p:sp>
          <p:nvSpPr>
            <p:cNvPr id="40" name="Line 41">
              <a:extLst>
                <a:ext uri="{FF2B5EF4-FFF2-40B4-BE49-F238E27FC236}">
                  <a16:creationId xmlns:a16="http://schemas.microsoft.com/office/drawing/2014/main" id="{7536BA78-D497-4475-AA93-CE492DEF492D}"/>
                </a:ext>
              </a:extLst>
            </p:cNvPr>
            <p:cNvSpPr>
              <a:spLocks noChangeShapeType="1"/>
            </p:cNvSpPr>
            <p:nvPr/>
          </p:nvSpPr>
          <p:spPr bwMode="auto">
            <a:xfrm>
              <a:off x="6409070" y="5553855"/>
              <a:ext cx="218844" cy="0"/>
            </a:xfrm>
            <a:prstGeom prst="line">
              <a:avLst/>
            </a:prstGeom>
            <a:solidFill>
              <a:schemeClr val="bg1">
                <a:lumMod val="85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s-CO" sz="3200"/>
            </a:p>
          </p:txBody>
        </p:sp>
        <p:sp>
          <p:nvSpPr>
            <p:cNvPr id="42" name="AutoShape 44">
              <a:extLst>
                <a:ext uri="{FF2B5EF4-FFF2-40B4-BE49-F238E27FC236}">
                  <a16:creationId xmlns:a16="http://schemas.microsoft.com/office/drawing/2014/main" id="{027DE064-2C36-45FF-B4C2-CAD097FF3C67}"/>
                </a:ext>
              </a:extLst>
            </p:cNvPr>
            <p:cNvSpPr>
              <a:spLocks noChangeArrowheads="1"/>
            </p:cNvSpPr>
            <p:nvPr/>
          </p:nvSpPr>
          <p:spPr bwMode="auto">
            <a:xfrm>
              <a:off x="6410427" y="4898667"/>
              <a:ext cx="936625" cy="873125"/>
            </a:xfrm>
            <a:prstGeom prst="cube">
              <a:avLst>
                <a:gd name="adj" fmla="val 25000"/>
              </a:avLst>
            </a:prstGeom>
            <a:solidFill>
              <a:schemeClr val="bg1">
                <a:lumMod val="85000"/>
              </a:scheme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s-CO" sz="3200" dirty="0"/>
                <a:t>10</a:t>
              </a:r>
            </a:p>
          </p:txBody>
        </p:sp>
        <p:sp>
          <p:nvSpPr>
            <p:cNvPr id="46" name="Line 48">
              <a:extLst>
                <a:ext uri="{FF2B5EF4-FFF2-40B4-BE49-F238E27FC236}">
                  <a16:creationId xmlns:a16="http://schemas.microsoft.com/office/drawing/2014/main" id="{7BB9E274-E906-4F44-B1FF-7B8B5A78E9F6}"/>
                </a:ext>
              </a:extLst>
            </p:cNvPr>
            <p:cNvSpPr>
              <a:spLocks noChangeShapeType="1"/>
            </p:cNvSpPr>
            <p:nvPr/>
          </p:nvSpPr>
          <p:spPr bwMode="auto">
            <a:xfrm>
              <a:off x="6629271" y="4898667"/>
              <a:ext cx="0" cy="218625"/>
            </a:xfrm>
            <a:prstGeom prst="line">
              <a:avLst/>
            </a:prstGeom>
            <a:solidFill>
              <a:schemeClr val="bg1">
                <a:lumMod val="85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s-CO" sz="3200"/>
            </a:p>
          </p:txBody>
        </p:sp>
        <p:sp>
          <p:nvSpPr>
            <p:cNvPr id="47" name="Line 49">
              <a:extLst>
                <a:ext uri="{FF2B5EF4-FFF2-40B4-BE49-F238E27FC236}">
                  <a16:creationId xmlns:a16="http://schemas.microsoft.com/office/drawing/2014/main" id="{573058C6-22F6-4BE5-BC34-24AF4014F8C6}"/>
                </a:ext>
              </a:extLst>
            </p:cNvPr>
            <p:cNvSpPr>
              <a:spLocks noChangeShapeType="1"/>
            </p:cNvSpPr>
            <p:nvPr/>
          </p:nvSpPr>
          <p:spPr bwMode="auto">
            <a:xfrm>
              <a:off x="7128208" y="5553855"/>
              <a:ext cx="218844" cy="0"/>
            </a:xfrm>
            <a:prstGeom prst="line">
              <a:avLst/>
            </a:prstGeom>
            <a:solidFill>
              <a:schemeClr val="bg1">
                <a:lumMod val="85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s-CO" sz="3200"/>
            </a:p>
          </p:txBody>
        </p:sp>
        <p:sp>
          <p:nvSpPr>
            <p:cNvPr id="49" name="AutoShape 52">
              <a:extLst>
                <a:ext uri="{FF2B5EF4-FFF2-40B4-BE49-F238E27FC236}">
                  <a16:creationId xmlns:a16="http://schemas.microsoft.com/office/drawing/2014/main" id="{72C9ED63-4E64-487C-9C5E-FE5FC7FF7C9C}"/>
                </a:ext>
              </a:extLst>
            </p:cNvPr>
            <p:cNvSpPr>
              <a:spLocks noChangeArrowheads="1"/>
            </p:cNvSpPr>
            <p:nvPr/>
          </p:nvSpPr>
          <p:spPr bwMode="auto">
            <a:xfrm>
              <a:off x="7131152" y="4898667"/>
              <a:ext cx="936625" cy="873125"/>
            </a:xfrm>
            <a:prstGeom prst="cube">
              <a:avLst>
                <a:gd name="adj" fmla="val 25000"/>
              </a:avLst>
            </a:prstGeom>
            <a:solidFill>
              <a:schemeClr val="bg1">
                <a:lumMod val="85000"/>
              </a:scheme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s-CO" sz="3200" dirty="0"/>
                <a:t>45</a:t>
              </a:r>
            </a:p>
          </p:txBody>
        </p:sp>
        <p:sp>
          <p:nvSpPr>
            <p:cNvPr id="53" name="Line 56">
              <a:extLst>
                <a:ext uri="{FF2B5EF4-FFF2-40B4-BE49-F238E27FC236}">
                  <a16:creationId xmlns:a16="http://schemas.microsoft.com/office/drawing/2014/main" id="{80CF203C-FE3E-4776-8338-A93EF1D2E2AC}"/>
                </a:ext>
              </a:extLst>
            </p:cNvPr>
            <p:cNvSpPr>
              <a:spLocks noChangeShapeType="1"/>
            </p:cNvSpPr>
            <p:nvPr/>
          </p:nvSpPr>
          <p:spPr bwMode="auto">
            <a:xfrm>
              <a:off x="7349996" y="4898667"/>
              <a:ext cx="0" cy="218625"/>
            </a:xfrm>
            <a:prstGeom prst="line">
              <a:avLst/>
            </a:prstGeom>
            <a:solidFill>
              <a:schemeClr val="bg1">
                <a:lumMod val="85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s-CO" sz="3200"/>
            </a:p>
          </p:txBody>
        </p:sp>
        <p:sp>
          <p:nvSpPr>
            <p:cNvPr id="54" name="Line 57">
              <a:extLst>
                <a:ext uri="{FF2B5EF4-FFF2-40B4-BE49-F238E27FC236}">
                  <a16:creationId xmlns:a16="http://schemas.microsoft.com/office/drawing/2014/main" id="{06CBE545-93DC-428E-981C-706B5E8DA378}"/>
                </a:ext>
              </a:extLst>
            </p:cNvPr>
            <p:cNvSpPr>
              <a:spLocks noChangeShapeType="1"/>
            </p:cNvSpPr>
            <p:nvPr/>
          </p:nvSpPr>
          <p:spPr bwMode="auto">
            <a:xfrm>
              <a:off x="7848933" y="5553855"/>
              <a:ext cx="218844" cy="0"/>
            </a:xfrm>
            <a:prstGeom prst="line">
              <a:avLst/>
            </a:prstGeom>
            <a:solidFill>
              <a:schemeClr val="bg1">
                <a:lumMod val="85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s-CO" sz="3200"/>
            </a:p>
          </p:txBody>
        </p:sp>
        <p:sp>
          <p:nvSpPr>
            <p:cNvPr id="56" name="AutoShape 60">
              <a:extLst>
                <a:ext uri="{FF2B5EF4-FFF2-40B4-BE49-F238E27FC236}">
                  <a16:creationId xmlns:a16="http://schemas.microsoft.com/office/drawing/2014/main" id="{E1EC19EE-8CE0-4060-8A00-8C8C9880A72F}"/>
                </a:ext>
              </a:extLst>
            </p:cNvPr>
            <p:cNvSpPr>
              <a:spLocks noChangeArrowheads="1"/>
            </p:cNvSpPr>
            <p:nvPr/>
          </p:nvSpPr>
          <p:spPr bwMode="auto">
            <a:xfrm>
              <a:off x="7850289" y="4898667"/>
              <a:ext cx="936625" cy="873125"/>
            </a:xfrm>
            <a:prstGeom prst="cube">
              <a:avLst>
                <a:gd name="adj" fmla="val 25000"/>
              </a:avLst>
            </a:prstGeom>
            <a:solidFill>
              <a:schemeClr val="bg1">
                <a:lumMod val="85000"/>
              </a:scheme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s-CO" sz="3200" dirty="0"/>
                <a:t>17</a:t>
              </a:r>
            </a:p>
          </p:txBody>
        </p:sp>
        <p:sp>
          <p:nvSpPr>
            <p:cNvPr id="60" name="Line 64">
              <a:extLst>
                <a:ext uri="{FF2B5EF4-FFF2-40B4-BE49-F238E27FC236}">
                  <a16:creationId xmlns:a16="http://schemas.microsoft.com/office/drawing/2014/main" id="{DDDFBC55-B0AE-4687-BBCE-C47AC709ADA2}"/>
                </a:ext>
              </a:extLst>
            </p:cNvPr>
            <p:cNvSpPr>
              <a:spLocks noChangeShapeType="1"/>
            </p:cNvSpPr>
            <p:nvPr/>
          </p:nvSpPr>
          <p:spPr bwMode="auto">
            <a:xfrm>
              <a:off x="8069133" y="4898667"/>
              <a:ext cx="0" cy="218625"/>
            </a:xfrm>
            <a:prstGeom prst="line">
              <a:avLst/>
            </a:prstGeom>
            <a:solidFill>
              <a:schemeClr val="bg1">
                <a:lumMod val="85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s-CO" sz="3200"/>
            </a:p>
          </p:txBody>
        </p:sp>
        <p:sp>
          <p:nvSpPr>
            <p:cNvPr id="61" name="Line 65">
              <a:extLst>
                <a:ext uri="{FF2B5EF4-FFF2-40B4-BE49-F238E27FC236}">
                  <a16:creationId xmlns:a16="http://schemas.microsoft.com/office/drawing/2014/main" id="{2B7BE4E2-6F0F-404F-A148-94A72870E693}"/>
                </a:ext>
              </a:extLst>
            </p:cNvPr>
            <p:cNvSpPr>
              <a:spLocks noChangeShapeType="1"/>
            </p:cNvSpPr>
            <p:nvPr/>
          </p:nvSpPr>
          <p:spPr bwMode="auto">
            <a:xfrm>
              <a:off x="8568070" y="5553855"/>
              <a:ext cx="218844" cy="0"/>
            </a:xfrm>
            <a:prstGeom prst="line">
              <a:avLst/>
            </a:prstGeom>
            <a:solidFill>
              <a:schemeClr val="bg1">
                <a:lumMod val="85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s-CO" sz="3200"/>
            </a:p>
          </p:txBody>
        </p:sp>
        <p:sp>
          <p:nvSpPr>
            <p:cNvPr id="63" name="AutoShape 68">
              <a:extLst>
                <a:ext uri="{FF2B5EF4-FFF2-40B4-BE49-F238E27FC236}">
                  <a16:creationId xmlns:a16="http://schemas.microsoft.com/office/drawing/2014/main" id="{48C88AF8-C62C-4264-B33D-2A5E3B1ADA31}"/>
                </a:ext>
              </a:extLst>
            </p:cNvPr>
            <p:cNvSpPr>
              <a:spLocks noChangeArrowheads="1"/>
            </p:cNvSpPr>
            <p:nvPr/>
          </p:nvSpPr>
          <p:spPr bwMode="auto">
            <a:xfrm>
              <a:off x="8571014" y="4898667"/>
              <a:ext cx="936625" cy="873125"/>
            </a:xfrm>
            <a:prstGeom prst="cube">
              <a:avLst>
                <a:gd name="adj" fmla="val 25000"/>
              </a:avLst>
            </a:prstGeom>
            <a:solidFill>
              <a:schemeClr val="bg1">
                <a:lumMod val="85000"/>
              </a:scheme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s-CO" sz="3200" dirty="0"/>
                <a:t>\0</a:t>
              </a:r>
            </a:p>
          </p:txBody>
        </p:sp>
        <p:sp>
          <p:nvSpPr>
            <p:cNvPr id="67" name="Line 72">
              <a:extLst>
                <a:ext uri="{FF2B5EF4-FFF2-40B4-BE49-F238E27FC236}">
                  <a16:creationId xmlns:a16="http://schemas.microsoft.com/office/drawing/2014/main" id="{6323DEF5-D929-43F8-9EB7-DEF93541A626}"/>
                </a:ext>
              </a:extLst>
            </p:cNvPr>
            <p:cNvSpPr>
              <a:spLocks noChangeShapeType="1"/>
            </p:cNvSpPr>
            <p:nvPr/>
          </p:nvSpPr>
          <p:spPr bwMode="auto">
            <a:xfrm>
              <a:off x="8789858" y="4898667"/>
              <a:ext cx="0" cy="218625"/>
            </a:xfrm>
            <a:prstGeom prst="line">
              <a:avLst/>
            </a:prstGeom>
            <a:solidFill>
              <a:schemeClr val="bg1">
                <a:lumMod val="85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s-CO" sz="3200"/>
            </a:p>
          </p:txBody>
        </p:sp>
        <p:sp>
          <p:nvSpPr>
            <p:cNvPr id="68" name="Line 73">
              <a:extLst>
                <a:ext uri="{FF2B5EF4-FFF2-40B4-BE49-F238E27FC236}">
                  <a16:creationId xmlns:a16="http://schemas.microsoft.com/office/drawing/2014/main" id="{9E427BA5-CABA-46CE-9C9E-263815538BC6}"/>
                </a:ext>
              </a:extLst>
            </p:cNvPr>
            <p:cNvSpPr>
              <a:spLocks noChangeShapeType="1"/>
            </p:cNvSpPr>
            <p:nvPr/>
          </p:nvSpPr>
          <p:spPr bwMode="auto">
            <a:xfrm>
              <a:off x="9288795" y="5553855"/>
              <a:ext cx="218844" cy="0"/>
            </a:xfrm>
            <a:prstGeom prst="line">
              <a:avLst/>
            </a:prstGeom>
            <a:solidFill>
              <a:schemeClr val="bg1">
                <a:lumMod val="85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s-CO" sz="3200"/>
            </a:p>
          </p:txBody>
        </p:sp>
        <p:sp>
          <p:nvSpPr>
            <p:cNvPr id="77" name="Text Box 12">
              <a:extLst>
                <a:ext uri="{FF2B5EF4-FFF2-40B4-BE49-F238E27FC236}">
                  <a16:creationId xmlns:a16="http://schemas.microsoft.com/office/drawing/2014/main" id="{4E3AE143-7260-484E-9825-E1081A406F28}"/>
                </a:ext>
              </a:extLst>
            </p:cNvPr>
            <p:cNvSpPr txBox="1">
              <a:spLocks noChangeArrowheads="1"/>
            </p:cNvSpPr>
            <p:nvPr/>
          </p:nvSpPr>
          <p:spPr bwMode="auto">
            <a:xfrm>
              <a:off x="2673566" y="5797549"/>
              <a:ext cx="6834073" cy="461963"/>
            </a:xfrm>
            <a:prstGeom prst="rect">
              <a:avLst/>
            </a:prstGeom>
            <a:noFill/>
            <a:ln>
              <a:noFill/>
            </a:ln>
          </p:spPr>
          <p:style>
            <a:lnRef idx="1">
              <a:schemeClr val="dk1"/>
            </a:lnRef>
            <a:fillRef idx="2">
              <a:schemeClr val="dk1"/>
            </a:fillRef>
            <a:effectRef idx="1">
              <a:schemeClr val="dk1"/>
            </a:effectRef>
            <a:fontRef idx="minor">
              <a:schemeClr val="dk1"/>
            </a:fontRef>
          </p:style>
          <p:txBody>
            <a:bodyPr rtlCol="0" anchor="ctr"/>
            <a:lstStyle/>
            <a:p>
              <a:r>
                <a:rPr lang="es-MX" sz="2400" dirty="0"/>
                <a:t>     0         1        2        3         4        5         6       7         8</a:t>
              </a:r>
              <a:endParaRPr lang="es-ES" sz="2400" dirty="0"/>
            </a:p>
          </p:txBody>
        </p:sp>
        <p:sp>
          <p:nvSpPr>
            <p:cNvPr id="81" name="Text Box 12">
              <a:extLst>
                <a:ext uri="{FF2B5EF4-FFF2-40B4-BE49-F238E27FC236}">
                  <a16:creationId xmlns:a16="http://schemas.microsoft.com/office/drawing/2014/main" id="{DCD99FE3-E944-4534-972A-33E8BE317839}"/>
                </a:ext>
              </a:extLst>
            </p:cNvPr>
            <p:cNvSpPr txBox="1">
              <a:spLocks noChangeArrowheads="1"/>
            </p:cNvSpPr>
            <p:nvPr/>
          </p:nvSpPr>
          <p:spPr bwMode="auto">
            <a:xfrm>
              <a:off x="1160558" y="5167312"/>
              <a:ext cx="1857387" cy="461963"/>
            </a:xfrm>
            <a:prstGeom prst="rect">
              <a:avLst/>
            </a:prstGeom>
            <a:noFill/>
            <a:ln>
              <a:noFill/>
            </a:ln>
          </p:spPr>
          <p:style>
            <a:lnRef idx="1">
              <a:schemeClr val="dk1"/>
            </a:lnRef>
            <a:fillRef idx="2">
              <a:schemeClr val="dk1"/>
            </a:fillRef>
            <a:effectRef idx="1">
              <a:schemeClr val="dk1"/>
            </a:effectRef>
            <a:fontRef idx="minor">
              <a:schemeClr val="dk1"/>
            </a:fontRef>
          </p:style>
          <p:txBody>
            <a:bodyPr rtlCol="0" anchor="ctr"/>
            <a:lstStyle/>
            <a:p>
              <a:r>
                <a:rPr lang="es-MX" sz="2800" b="1" dirty="0">
                  <a:effectLst>
                    <a:outerShdw blurRad="38100" dist="38100" dir="2700000" algn="tl">
                      <a:srgbClr val="000000">
                        <a:alpha val="43137"/>
                      </a:srgbClr>
                    </a:outerShdw>
                  </a:effectLst>
                </a:rPr>
                <a:t>   VECTOR</a:t>
              </a:r>
              <a:endParaRPr lang="es-ES" sz="2800" b="1" dirty="0">
                <a:effectLst>
                  <a:outerShdw blurRad="38100" dist="38100" dir="2700000" algn="tl">
                    <a:srgbClr val="000000">
                      <a:alpha val="43137"/>
                    </a:srgbClr>
                  </a:outerShdw>
                </a:effectLst>
              </a:endParaRPr>
            </a:p>
          </p:txBody>
        </p:sp>
      </p:grpSp>
      <p:sp>
        <p:nvSpPr>
          <p:cNvPr id="82" name="AutoShape 16">
            <a:extLst>
              <a:ext uri="{FF2B5EF4-FFF2-40B4-BE49-F238E27FC236}">
                <a16:creationId xmlns:a16="http://schemas.microsoft.com/office/drawing/2014/main" id="{F4D83874-8E7B-4AE1-AE36-243E3DA0257E}"/>
              </a:ext>
            </a:extLst>
          </p:cNvPr>
          <p:cNvSpPr>
            <a:spLocks noChangeArrowheads="1"/>
          </p:cNvSpPr>
          <p:nvPr/>
        </p:nvSpPr>
        <p:spPr bwMode="auto">
          <a:xfrm>
            <a:off x="9766197" y="5006153"/>
            <a:ext cx="2140049" cy="547702"/>
          </a:xfrm>
          <a:prstGeom prst="wedgeRectCallout">
            <a:avLst>
              <a:gd name="adj1" fmla="val -77966"/>
              <a:gd name="adj2" fmla="val 140944"/>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algn="ctr"/>
            <a:r>
              <a:rPr lang="es-MX" sz="2800" b="1" dirty="0">
                <a:ln w="9525">
                  <a:solidFill>
                    <a:schemeClr val="bg1"/>
                  </a:solidFill>
                  <a:prstDash val="solid"/>
                </a:ln>
                <a:solidFill>
                  <a:schemeClr val="tx1"/>
                </a:solidFill>
                <a:effectLst>
                  <a:outerShdw blurRad="12700" dist="38100" dir="2700000" algn="tl" rotWithShape="0">
                    <a:schemeClr val="bg1">
                      <a:lumMod val="50000"/>
                    </a:schemeClr>
                  </a:outerShdw>
                </a:effectLst>
              </a:rPr>
              <a:t>DIMENSIÓN</a:t>
            </a:r>
            <a:endParaRPr lang="es-ES" sz="2800" b="1"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79" name="AutoShape 28">
            <a:extLst>
              <a:ext uri="{FF2B5EF4-FFF2-40B4-BE49-F238E27FC236}">
                <a16:creationId xmlns:a16="http://schemas.microsoft.com/office/drawing/2014/main" id="{5399E7F0-C029-495C-9827-E25332B2E59F}"/>
              </a:ext>
            </a:extLst>
          </p:cNvPr>
          <p:cNvSpPr>
            <a:spLocks noChangeArrowheads="1"/>
          </p:cNvSpPr>
          <p:nvPr/>
        </p:nvSpPr>
        <p:spPr bwMode="auto">
          <a:xfrm>
            <a:off x="3278289" y="4205854"/>
            <a:ext cx="5334988" cy="547702"/>
          </a:xfrm>
          <a:prstGeom prst="wedgeRectCallout">
            <a:avLst>
              <a:gd name="adj1" fmla="val -1264"/>
              <a:gd name="adj2" fmla="val 130812"/>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algn="ctr"/>
            <a:r>
              <a:rPr lang="es-MX" sz="2800" b="1" dirty="0">
                <a:ln w="9525">
                  <a:solidFill>
                    <a:schemeClr val="bg1"/>
                  </a:solidFill>
                  <a:prstDash val="solid"/>
                </a:ln>
                <a:solidFill>
                  <a:schemeClr val="tx1"/>
                </a:solidFill>
                <a:effectLst>
                  <a:outerShdw blurRad="12700" dist="38100" dir="2700000" algn="tl" rotWithShape="0">
                    <a:schemeClr val="bg1">
                      <a:lumMod val="50000"/>
                    </a:schemeClr>
                  </a:outerShdw>
                </a:effectLst>
              </a:rPr>
              <a:t>E   L   E   M   E   N   T   O   S  ( 8 )</a:t>
            </a:r>
            <a:endParaRPr lang="es-ES" sz="2800" b="1"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Tree>
    <p:extLst>
      <p:ext uri="{BB962C8B-B14F-4D97-AF65-F5344CB8AC3E}">
        <p14:creationId xmlns:p14="http://schemas.microsoft.com/office/powerpoint/2010/main" val="2567768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0"/>
                                        </p:tgtEl>
                                        <p:attrNameLst>
                                          <p:attrName>style.visibility</p:attrName>
                                        </p:attrNameLst>
                                      </p:cBhvr>
                                      <p:to>
                                        <p:strVal val="visible"/>
                                      </p:to>
                                    </p:set>
                                    <p:animEffect transition="in" filter="wipe(up)">
                                      <p:cBhvr>
                                        <p:cTn id="7" dur="500"/>
                                        <p:tgtEl>
                                          <p:spTgt spid="8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9"/>
                                        </p:tgtEl>
                                        <p:attrNameLst>
                                          <p:attrName>style.visibility</p:attrName>
                                        </p:attrNameLst>
                                      </p:cBhvr>
                                      <p:to>
                                        <p:strVal val="visible"/>
                                      </p:to>
                                    </p:set>
                                    <p:animEffect transition="in" filter="wipe(up)">
                                      <p:cBhvr>
                                        <p:cTn id="12" dur="500"/>
                                        <p:tgtEl>
                                          <p:spTgt spid="7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82"/>
                                        </p:tgtEl>
                                        <p:attrNameLst>
                                          <p:attrName>style.visibility</p:attrName>
                                        </p:attrNameLst>
                                      </p:cBhvr>
                                      <p:to>
                                        <p:strVal val="visible"/>
                                      </p:to>
                                    </p:set>
                                    <p:animEffect transition="in" filter="wipe(up)">
                                      <p:cBhvr>
                                        <p:cTn id="17" dur="500"/>
                                        <p:tgtEl>
                                          <p:spTgt spid="8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8"/>
                                        </p:tgtEl>
                                        <p:attrNameLst>
                                          <p:attrName>style.visibility</p:attrName>
                                        </p:attrNameLst>
                                      </p:cBhvr>
                                      <p:to>
                                        <p:strVal val="visible"/>
                                      </p:to>
                                    </p:set>
                                    <p:animEffect transition="in" filter="wipe(up)">
                                      <p:cBhvr>
                                        <p:cTn id="22"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animBg="1"/>
      <p:bldP spid="80" grpId="0" animBg="1"/>
      <p:bldP spid="82" grpId="0" animBg="1"/>
      <p:bldP spid="7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325880" y="619761"/>
            <a:ext cx="10515600" cy="777075"/>
          </a:xfrm>
        </p:spPr>
        <p:txBody>
          <a:bodyPr>
            <a:normAutofit/>
          </a:bodyPr>
          <a:lstStyle/>
          <a:p>
            <a:pPr algn="ctr"/>
            <a:r>
              <a:rPr lang="es-CO" b="1" dirty="0">
                <a:latin typeface="Bahnschrift Light SemiCondensed" panose="020B0502040204020203" pitchFamily="34" charset="0"/>
              </a:rPr>
              <a:t>“CARACTERÍSTICAS DE UN VECTOR EN C++”</a:t>
            </a:r>
          </a:p>
        </p:txBody>
      </p:sp>
      <p:sp>
        <p:nvSpPr>
          <p:cNvPr id="7" name="CuadroTexto 6">
            <a:extLst>
              <a:ext uri="{FF2B5EF4-FFF2-40B4-BE49-F238E27FC236}">
                <a16:creationId xmlns:a16="http://schemas.microsoft.com/office/drawing/2014/main" id="{B3245438-2EFA-4DBF-85CF-60E0A78BBF68}"/>
              </a:ext>
            </a:extLst>
          </p:cNvPr>
          <p:cNvSpPr txBox="1"/>
          <p:nvPr/>
        </p:nvSpPr>
        <p:spPr>
          <a:xfrm>
            <a:off x="858520" y="1869440"/>
            <a:ext cx="9403080" cy="4368799"/>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pPr marL="514350" lvl="0" indent="-514350" algn="just" defTabSz="1422400">
              <a:lnSpc>
                <a:spcPct val="90000"/>
              </a:lnSpc>
              <a:spcBef>
                <a:spcPct val="0"/>
              </a:spcBef>
              <a:spcAft>
                <a:spcPct val="35000"/>
              </a:spcAft>
              <a:buFont typeface="+mj-lt"/>
              <a:buAutoNum type="arabicPeriod"/>
            </a:pPr>
            <a:r>
              <a:rPr lang="es-MX" sz="3200" dirty="0"/>
              <a:t>Tienen una dimensión finita (número de posiciones de almacenamiento).</a:t>
            </a:r>
          </a:p>
          <a:p>
            <a:pPr marL="514350" lvl="0" indent="-514350" algn="just" defTabSz="1422400">
              <a:lnSpc>
                <a:spcPct val="90000"/>
              </a:lnSpc>
              <a:spcBef>
                <a:spcPct val="0"/>
              </a:spcBef>
              <a:spcAft>
                <a:spcPct val="35000"/>
              </a:spcAft>
              <a:buFont typeface="+mj-lt"/>
              <a:buAutoNum type="arabicPeriod"/>
            </a:pPr>
            <a:r>
              <a:rPr lang="es-MX" sz="3200" dirty="0"/>
              <a:t>Tienen un nombre que identifica toda la estructura.</a:t>
            </a:r>
          </a:p>
          <a:p>
            <a:pPr marL="514350" lvl="0" indent="-514350" algn="just" defTabSz="1422400">
              <a:lnSpc>
                <a:spcPct val="90000"/>
              </a:lnSpc>
              <a:spcBef>
                <a:spcPct val="0"/>
              </a:spcBef>
              <a:spcAft>
                <a:spcPct val="35000"/>
              </a:spcAft>
              <a:buFont typeface="+mj-lt"/>
              <a:buAutoNum type="arabicPeriod"/>
            </a:pPr>
            <a:r>
              <a:rPr lang="es-MX" sz="3200" dirty="0"/>
              <a:t>Cada elemento ocupa una única posición de memoria.</a:t>
            </a:r>
          </a:p>
          <a:p>
            <a:pPr marL="514350" lvl="0" indent="-514350" algn="just" defTabSz="1422400">
              <a:lnSpc>
                <a:spcPct val="90000"/>
              </a:lnSpc>
              <a:spcBef>
                <a:spcPct val="0"/>
              </a:spcBef>
              <a:spcAft>
                <a:spcPct val="35000"/>
              </a:spcAft>
              <a:buFont typeface="+mj-lt"/>
              <a:buAutoNum type="arabicPeriod"/>
            </a:pPr>
            <a:r>
              <a:rPr lang="es-MX" sz="3200" dirty="0"/>
              <a:t>Las posiciones son valores enteros positivos.</a:t>
            </a:r>
          </a:p>
          <a:p>
            <a:pPr marL="514350" lvl="0" indent="-514350" algn="just" defTabSz="1422400">
              <a:lnSpc>
                <a:spcPct val="90000"/>
              </a:lnSpc>
              <a:spcBef>
                <a:spcPct val="0"/>
              </a:spcBef>
              <a:spcAft>
                <a:spcPct val="35000"/>
              </a:spcAft>
              <a:buFont typeface="+mj-lt"/>
              <a:buAutoNum type="arabicPeriod"/>
            </a:pPr>
            <a:r>
              <a:rPr lang="es-MX" sz="3200" dirty="0"/>
              <a:t>Cada elemento se diferencia de los demás por la posición en que se ubica o por su índice.</a:t>
            </a:r>
          </a:p>
        </p:txBody>
      </p:sp>
    </p:spTree>
    <p:extLst>
      <p:ext uri="{BB962C8B-B14F-4D97-AF65-F5344CB8AC3E}">
        <p14:creationId xmlns:p14="http://schemas.microsoft.com/office/powerpoint/2010/main" val="25268241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89994" y="0"/>
            <a:ext cx="11369040" cy="914400"/>
          </a:xfrm>
        </p:spPr>
        <p:txBody>
          <a:bodyPr>
            <a:noAutofit/>
          </a:bodyPr>
          <a:lstStyle/>
          <a:p>
            <a:pPr algn="ctr"/>
            <a:r>
              <a:rPr lang="es-CO" sz="3800" b="1" dirty="0">
                <a:latin typeface="Bahnschrift Light SemiCondensed" panose="020B0502040204020203" pitchFamily="34" charset="0"/>
              </a:rPr>
              <a:t>“MANEJO DE VECTORES EN C++”</a:t>
            </a:r>
          </a:p>
        </p:txBody>
      </p:sp>
      <p:sp>
        <p:nvSpPr>
          <p:cNvPr id="7" name="CuadroTexto 6">
            <a:extLst>
              <a:ext uri="{FF2B5EF4-FFF2-40B4-BE49-F238E27FC236}">
                <a16:creationId xmlns:a16="http://schemas.microsoft.com/office/drawing/2014/main" id="{B3245438-2EFA-4DBF-85CF-60E0A78BBF68}"/>
              </a:ext>
            </a:extLst>
          </p:cNvPr>
          <p:cNvSpPr txBox="1"/>
          <p:nvPr/>
        </p:nvSpPr>
        <p:spPr>
          <a:xfrm>
            <a:off x="2284603" y="3257016"/>
            <a:ext cx="3356790" cy="538318"/>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pPr lvl="0" algn="just" fontAlgn="base">
              <a:spcBef>
                <a:spcPct val="50000"/>
              </a:spcBef>
              <a:spcAft>
                <a:spcPct val="0"/>
              </a:spcAft>
              <a:defRPr/>
            </a:pPr>
            <a:r>
              <a:rPr lang="es-CO" sz="2800" b="1" dirty="0">
                <a:solidFill>
                  <a:schemeClr val="tx1"/>
                </a:solidFill>
              </a:rPr>
              <a:t>VECTOR[0] = 5;</a:t>
            </a:r>
            <a:endParaRPr lang="es-MX" sz="2800" b="1" dirty="0">
              <a:solidFill>
                <a:prstClr val="black"/>
              </a:solidFill>
              <a:latin typeface="Arial Narrow" pitchFamily="34" charset="0"/>
            </a:endParaRPr>
          </a:p>
        </p:txBody>
      </p:sp>
      <p:graphicFrame>
        <p:nvGraphicFramePr>
          <p:cNvPr id="5" name="Tabla 4">
            <a:extLst>
              <a:ext uri="{FF2B5EF4-FFF2-40B4-BE49-F238E27FC236}">
                <a16:creationId xmlns:a16="http://schemas.microsoft.com/office/drawing/2014/main" id="{6F0DE2BE-9E4A-44BC-B129-90A6FC5C4987}"/>
              </a:ext>
            </a:extLst>
          </p:cNvPr>
          <p:cNvGraphicFramePr>
            <a:graphicFrameLocks noGrp="1"/>
          </p:cNvGraphicFramePr>
          <p:nvPr>
            <p:extLst>
              <p:ext uri="{D42A27DB-BD31-4B8C-83A1-F6EECF244321}">
                <p14:modId xmlns:p14="http://schemas.microsoft.com/office/powerpoint/2010/main" val="2370753363"/>
              </p:ext>
            </p:extLst>
          </p:nvPr>
        </p:nvGraphicFramePr>
        <p:xfrm>
          <a:off x="1480315" y="1355041"/>
          <a:ext cx="8547147" cy="829747"/>
        </p:xfrm>
        <a:graphic>
          <a:graphicData uri="http://schemas.openxmlformats.org/drawingml/2006/table">
            <a:tbl>
              <a:tblPr>
                <a:tableStyleId>{93296810-A885-4BE3-A3E7-6D5BEEA58F35}</a:tableStyleId>
              </a:tblPr>
              <a:tblGrid>
                <a:gridCol w="949683">
                  <a:extLst>
                    <a:ext uri="{9D8B030D-6E8A-4147-A177-3AD203B41FA5}">
                      <a16:colId xmlns:a16="http://schemas.microsoft.com/office/drawing/2014/main" val="20000"/>
                    </a:ext>
                  </a:extLst>
                </a:gridCol>
                <a:gridCol w="949683">
                  <a:extLst>
                    <a:ext uri="{9D8B030D-6E8A-4147-A177-3AD203B41FA5}">
                      <a16:colId xmlns:a16="http://schemas.microsoft.com/office/drawing/2014/main" val="20001"/>
                    </a:ext>
                  </a:extLst>
                </a:gridCol>
                <a:gridCol w="949683">
                  <a:extLst>
                    <a:ext uri="{9D8B030D-6E8A-4147-A177-3AD203B41FA5}">
                      <a16:colId xmlns:a16="http://schemas.microsoft.com/office/drawing/2014/main" val="20002"/>
                    </a:ext>
                  </a:extLst>
                </a:gridCol>
                <a:gridCol w="949683">
                  <a:extLst>
                    <a:ext uri="{9D8B030D-6E8A-4147-A177-3AD203B41FA5}">
                      <a16:colId xmlns:a16="http://schemas.microsoft.com/office/drawing/2014/main" val="20003"/>
                    </a:ext>
                  </a:extLst>
                </a:gridCol>
                <a:gridCol w="949683">
                  <a:extLst>
                    <a:ext uri="{9D8B030D-6E8A-4147-A177-3AD203B41FA5}">
                      <a16:colId xmlns:a16="http://schemas.microsoft.com/office/drawing/2014/main" val="20004"/>
                    </a:ext>
                  </a:extLst>
                </a:gridCol>
                <a:gridCol w="949683">
                  <a:extLst>
                    <a:ext uri="{9D8B030D-6E8A-4147-A177-3AD203B41FA5}">
                      <a16:colId xmlns:a16="http://schemas.microsoft.com/office/drawing/2014/main" val="3481019199"/>
                    </a:ext>
                  </a:extLst>
                </a:gridCol>
                <a:gridCol w="949683">
                  <a:extLst>
                    <a:ext uri="{9D8B030D-6E8A-4147-A177-3AD203B41FA5}">
                      <a16:colId xmlns:a16="http://schemas.microsoft.com/office/drawing/2014/main" val="3457007303"/>
                    </a:ext>
                  </a:extLst>
                </a:gridCol>
                <a:gridCol w="949683">
                  <a:extLst>
                    <a:ext uri="{9D8B030D-6E8A-4147-A177-3AD203B41FA5}">
                      <a16:colId xmlns:a16="http://schemas.microsoft.com/office/drawing/2014/main" val="677412744"/>
                    </a:ext>
                  </a:extLst>
                </a:gridCol>
                <a:gridCol w="949683">
                  <a:extLst>
                    <a:ext uri="{9D8B030D-6E8A-4147-A177-3AD203B41FA5}">
                      <a16:colId xmlns:a16="http://schemas.microsoft.com/office/drawing/2014/main" val="20005"/>
                    </a:ext>
                  </a:extLst>
                </a:gridCol>
              </a:tblGrid>
              <a:tr h="829747">
                <a:tc>
                  <a:txBody>
                    <a:bodyPr/>
                    <a:lstStyle/>
                    <a:p>
                      <a:pPr algn="ctr" fontAlgn="ctr"/>
                      <a:endParaRPr lang="es-CO" sz="2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endParaRPr lang="es-CO" sz="2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endParaRPr lang="es-CO" sz="2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endParaRPr lang="es-CO" sz="2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endParaRPr lang="es-CO" sz="2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endParaRPr lang="es-CO" sz="2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endParaRPr lang="es-CO" sz="2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endParaRPr lang="es-CO" sz="2400" b="1" i="0" u="none" strike="noStrike" dirty="0">
                        <a:solidFill>
                          <a:srgbClr val="000000"/>
                        </a:solidFill>
                        <a:effectLst/>
                        <a:latin typeface="Calibri" panose="020F050202020403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CO" sz="4000" b="1" dirty="0">
                          <a:solidFill>
                            <a:schemeClr val="tx1"/>
                          </a:solidFill>
                        </a:rPr>
                        <a:t>\n</a:t>
                      </a:r>
                      <a:endParaRPr lang="es-CO" sz="4000" b="1" i="0" u="none" strike="noStrike" dirty="0">
                        <a:solidFill>
                          <a:srgbClr val="000000"/>
                        </a:solidFill>
                        <a:effectLst/>
                        <a:latin typeface="Calibri" panose="020F0502020204030204" pitchFamily="34" charset="0"/>
                      </a:endParaRPr>
                    </a:p>
                  </a:txBody>
                  <a:tcPr marL="9525" marR="9525" marT="9525" marB="0" anchor="ctr">
                    <a:solidFill>
                      <a:schemeClr val="bg1">
                        <a:lumMod val="85000"/>
                      </a:schemeClr>
                    </a:solidFill>
                  </a:tcPr>
                </a:tc>
                <a:extLst>
                  <a:ext uri="{0D108BD9-81ED-4DB2-BD59-A6C34878D82A}">
                    <a16:rowId xmlns:a16="http://schemas.microsoft.com/office/drawing/2014/main" val="10000"/>
                  </a:ext>
                </a:extLst>
              </a:tr>
            </a:tbl>
          </a:graphicData>
        </a:graphic>
      </p:graphicFrame>
      <p:sp>
        <p:nvSpPr>
          <p:cNvPr id="8" name="CuadroTexto 7">
            <a:extLst>
              <a:ext uri="{FF2B5EF4-FFF2-40B4-BE49-F238E27FC236}">
                <a16:creationId xmlns:a16="http://schemas.microsoft.com/office/drawing/2014/main" id="{2C6E3D65-0D2E-42A7-997A-C2AA5F415584}"/>
              </a:ext>
            </a:extLst>
          </p:cNvPr>
          <p:cNvSpPr txBox="1"/>
          <p:nvPr/>
        </p:nvSpPr>
        <p:spPr>
          <a:xfrm rot="16200000">
            <a:off x="6010269" y="-2413312"/>
            <a:ext cx="677108" cy="9694577"/>
          </a:xfrm>
          <a:prstGeom prst="rect">
            <a:avLst/>
          </a:prstGeom>
          <a:noFill/>
        </p:spPr>
        <p:txBody>
          <a:bodyPr vert="vert" wrap="square" rtlCol="0">
            <a:spAutoFit/>
          </a:bodyPr>
          <a:lstStyle/>
          <a:p>
            <a:r>
              <a:rPr lang="es-CO" sz="3200" b="1" dirty="0"/>
              <a:t>    0        1        2       3        4        5        6        7        8</a:t>
            </a:r>
          </a:p>
        </p:txBody>
      </p:sp>
      <p:sp>
        <p:nvSpPr>
          <p:cNvPr id="9" name="CuadroTexto 8">
            <a:extLst>
              <a:ext uri="{FF2B5EF4-FFF2-40B4-BE49-F238E27FC236}">
                <a16:creationId xmlns:a16="http://schemas.microsoft.com/office/drawing/2014/main" id="{C489F307-D85D-4718-A697-3DBFB6AAEA43}"/>
              </a:ext>
            </a:extLst>
          </p:cNvPr>
          <p:cNvSpPr txBox="1"/>
          <p:nvPr/>
        </p:nvSpPr>
        <p:spPr>
          <a:xfrm>
            <a:off x="1626939" y="1449975"/>
            <a:ext cx="701408" cy="657582"/>
          </a:xfrm>
          <a:prstGeom prst="rect">
            <a:avLst/>
          </a:prstGeom>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spcFirstLastPara="0" vert="horz" wrap="square" lIns="121920" tIns="121920" rIns="121920" bIns="121920" numCol="1" spcCol="1270" anchor="ctr" anchorCtr="0">
            <a:noAutofit/>
          </a:bodyPr>
          <a:lstStyle/>
          <a:p>
            <a:pPr lvl="0" algn="ctr" fontAlgn="base">
              <a:spcBef>
                <a:spcPct val="50000"/>
              </a:spcBef>
              <a:spcAft>
                <a:spcPct val="0"/>
              </a:spcAft>
              <a:defRPr/>
            </a:pPr>
            <a:r>
              <a:rPr lang="es-CO" sz="2800" b="1" dirty="0">
                <a:solidFill>
                  <a:schemeClr val="tx1"/>
                </a:solidFill>
              </a:rPr>
              <a:t>5</a:t>
            </a:r>
            <a:endParaRPr lang="es-MX" sz="2800" b="1" dirty="0">
              <a:solidFill>
                <a:prstClr val="black"/>
              </a:solidFill>
              <a:latin typeface="Arial Narrow" pitchFamily="34" charset="0"/>
            </a:endParaRPr>
          </a:p>
        </p:txBody>
      </p:sp>
      <p:sp>
        <p:nvSpPr>
          <p:cNvPr id="10" name="CuadroTexto 9">
            <a:extLst>
              <a:ext uri="{FF2B5EF4-FFF2-40B4-BE49-F238E27FC236}">
                <a16:creationId xmlns:a16="http://schemas.microsoft.com/office/drawing/2014/main" id="{30A1B934-362A-49A4-AEDB-7E4957DC1B8B}"/>
              </a:ext>
            </a:extLst>
          </p:cNvPr>
          <p:cNvSpPr txBox="1"/>
          <p:nvPr/>
        </p:nvSpPr>
        <p:spPr>
          <a:xfrm>
            <a:off x="2284603" y="3946275"/>
            <a:ext cx="3356790" cy="538318"/>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pPr lvl="0" algn="just" fontAlgn="base">
              <a:spcBef>
                <a:spcPct val="50000"/>
              </a:spcBef>
              <a:spcAft>
                <a:spcPct val="0"/>
              </a:spcAft>
              <a:defRPr/>
            </a:pPr>
            <a:r>
              <a:rPr lang="es-CO" sz="2800" b="1" dirty="0">
                <a:solidFill>
                  <a:schemeClr val="tx1"/>
                </a:solidFill>
              </a:rPr>
              <a:t>VECTOR[1] = 8;</a:t>
            </a:r>
            <a:endParaRPr lang="es-MX" sz="2800" b="1" dirty="0">
              <a:solidFill>
                <a:prstClr val="black"/>
              </a:solidFill>
              <a:latin typeface="Arial Narrow" pitchFamily="34" charset="0"/>
            </a:endParaRPr>
          </a:p>
        </p:txBody>
      </p:sp>
      <p:sp>
        <p:nvSpPr>
          <p:cNvPr id="11" name="CuadroTexto 10">
            <a:extLst>
              <a:ext uri="{FF2B5EF4-FFF2-40B4-BE49-F238E27FC236}">
                <a16:creationId xmlns:a16="http://schemas.microsoft.com/office/drawing/2014/main" id="{ADB22A5D-4C71-41AE-BB05-722F9D9A3DA1}"/>
              </a:ext>
            </a:extLst>
          </p:cNvPr>
          <p:cNvSpPr txBox="1"/>
          <p:nvPr/>
        </p:nvSpPr>
        <p:spPr>
          <a:xfrm>
            <a:off x="2584836" y="1447281"/>
            <a:ext cx="701408" cy="657582"/>
          </a:xfrm>
          <a:prstGeom prst="rect">
            <a:avLst/>
          </a:prstGeom>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spcFirstLastPara="0" vert="horz" wrap="square" lIns="121920" tIns="121920" rIns="121920" bIns="121920" numCol="1" spcCol="1270" anchor="ctr" anchorCtr="0">
            <a:noAutofit/>
          </a:bodyPr>
          <a:lstStyle/>
          <a:p>
            <a:pPr lvl="0" algn="ctr" fontAlgn="base">
              <a:spcBef>
                <a:spcPct val="50000"/>
              </a:spcBef>
              <a:spcAft>
                <a:spcPct val="0"/>
              </a:spcAft>
              <a:defRPr/>
            </a:pPr>
            <a:r>
              <a:rPr lang="es-CO" sz="2800" b="1" dirty="0">
                <a:solidFill>
                  <a:schemeClr val="tx1"/>
                </a:solidFill>
              </a:rPr>
              <a:t>8</a:t>
            </a:r>
            <a:endParaRPr lang="es-MX" sz="2800" b="1" dirty="0">
              <a:solidFill>
                <a:prstClr val="black"/>
              </a:solidFill>
              <a:latin typeface="Arial Narrow" pitchFamily="34" charset="0"/>
            </a:endParaRPr>
          </a:p>
        </p:txBody>
      </p:sp>
      <p:sp>
        <p:nvSpPr>
          <p:cNvPr id="12" name="CuadroTexto 11">
            <a:extLst>
              <a:ext uri="{FF2B5EF4-FFF2-40B4-BE49-F238E27FC236}">
                <a16:creationId xmlns:a16="http://schemas.microsoft.com/office/drawing/2014/main" id="{F19D0D6B-2E0B-461C-8F49-DCD239255BF4}"/>
              </a:ext>
            </a:extLst>
          </p:cNvPr>
          <p:cNvSpPr txBox="1"/>
          <p:nvPr/>
        </p:nvSpPr>
        <p:spPr>
          <a:xfrm>
            <a:off x="2284603" y="4612235"/>
            <a:ext cx="3356790" cy="538318"/>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pPr algn="just" fontAlgn="base">
              <a:spcBef>
                <a:spcPct val="50000"/>
              </a:spcBef>
              <a:spcAft>
                <a:spcPct val="0"/>
              </a:spcAft>
              <a:defRPr/>
            </a:pPr>
            <a:r>
              <a:rPr lang="es-CO" sz="2800" b="1" dirty="0">
                <a:solidFill>
                  <a:schemeClr val="tx1"/>
                </a:solidFill>
              </a:rPr>
              <a:t>VECTOR[2] = 1;</a:t>
            </a:r>
            <a:endParaRPr lang="es-MX" sz="2800" b="1" dirty="0">
              <a:solidFill>
                <a:prstClr val="black"/>
              </a:solidFill>
              <a:latin typeface="Arial Narrow" pitchFamily="34" charset="0"/>
            </a:endParaRPr>
          </a:p>
        </p:txBody>
      </p:sp>
      <p:sp>
        <p:nvSpPr>
          <p:cNvPr id="13" name="CuadroTexto 12">
            <a:extLst>
              <a:ext uri="{FF2B5EF4-FFF2-40B4-BE49-F238E27FC236}">
                <a16:creationId xmlns:a16="http://schemas.microsoft.com/office/drawing/2014/main" id="{09376774-072B-417C-9F7C-E1E76E502F32}"/>
              </a:ext>
            </a:extLst>
          </p:cNvPr>
          <p:cNvSpPr txBox="1"/>
          <p:nvPr/>
        </p:nvSpPr>
        <p:spPr>
          <a:xfrm>
            <a:off x="3508933" y="1437840"/>
            <a:ext cx="701408" cy="657582"/>
          </a:xfrm>
          <a:prstGeom prst="rect">
            <a:avLst/>
          </a:prstGeom>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spcFirstLastPara="0" vert="horz" wrap="square" lIns="121920" tIns="121920" rIns="121920" bIns="121920" numCol="1" spcCol="1270" anchor="ctr" anchorCtr="0">
            <a:noAutofit/>
          </a:bodyPr>
          <a:lstStyle/>
          <a:p>
            <a:pPr lvl="0" algn="ctr" fontAlgn="base">
              <a:spcBef>
                <a:spcPct val="50000"/>
              </a:spcBef>
              <a:spcAft>
                <a:spcPct val="0"/>
              </a:spcAft>
              <a:defRPr/>
            </a:pPr>
            <a:r>
              <a:rPr lang="es-CO" sz="2800" b="1" dirty="0">
                <a:solidFill>
                  <a:schemeClr val="tx1"/>
                </a:solidFill>
              </a:rPr>
              <a:t>1</a:t>
            </a:r>
            <a:endParaRPr lang="es-MX" sz="2800" b="1" dirty="0">
              <a:solidFill>
                <a:prstClr val="black"/>
              </a:solidFill>
              <a:latin typeface="Arial Narrow" pitchFamily="34" charset="0"/>
            </a:endParaRPr>
          </a:p>
        </p:txBody>
      </p:sp>
      <p:sp>
        <p:nvSpPr>
          <p:cNvPr id="14" name="CuadroTexto 13">
            <a:extLst>
              <a:ext uri="{FF2B5EF4-FFF2-40B4-BE49-F238E27FC236}">
                <a16:creationId xmlns:a16="http://schemas.microsoft.com/office/drawing/2014/main" id="{AAD4A6F8-8C13-4C2C-9927-2BF1FF61377B}"/>
              </a:ext>
            </a:extLst>
          </p:cNvPr>
          <p:cNvSpPr txBox="1"/>
          <p:nvPr/>
        </p:nvSpPr>
        <p:spPr>
          <a:xfrm>
            <a:off x="2284603" y="5278195"/>
            <a:ext cx="3356790" cy="538318"/>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pPr lvl="0" algn="just" fontAlgn="base">
              <a:spcBef>
                <a:spcPct val="50000"/>
              </a:spcBef>
              <a:spcAft>
                <a:spcPct val="0"/>
              </a:spcAft>
              <a:defRPr/>
            </a:pPr>
            <a:r>
              <a:rPr lang="es-CO" sz="2800" b="1" dirty="0">
                <a:solidFill>
                  <a:schemeClr val="tx1"/>
                </a:solidFill>
              </a:rPr>
              <a:t>VECTOR[3] = 9;</a:t>
            </a:r>
            <a:endParaRPr lang="es-MX" sz="2800" b="1" dirty="0">
              <a:solidFill>
                <a:prstClr val="black"/>
              </a:solidFill>
              <a:latin typeface="Arial Narrow" pitchFamily="34" charset="0"/>
            </a:endParaRPr>
          </a:p>
        </p:txBody>
      </p:sp>
      <p:sp>
        <p:nvSpPr>
          <p:cNvPr id="15" name="CuadroTexto 14">
            <a:extLst>
              <a:ext uri="{FF2B5EF4-FFF2-40B4-BE49-F238E27FC236}">
                <a16:creationId xmlns:a16="http://schemas.microsoft.com/office/drawing/2014/main" id="{150FC902-1F6B-4F68-AF9D-3EF4C1CDD939}"/>
              </a:ext>
            </a:extLst>
          </p:cNvPr>
          <p:cNvSpPr txBox="1"/>
          <p:nvPr/>
        </p:nvSpPr>
        <p:spPr>
          <a:xfrm>
            <a:off x="4466830" y="1445332"/>
            <a:ext cx="701408" cy="657582"/>
          </a:xfrm>
          <a:prstGeom prst="rect">
            <a:avLst/>
          </a:prstGeom>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spcFirstLastPara="0" vert="horz" wrap="square" lIns="121920" tIns="121920" rIns="121920" bIns="121920" numCol="1" spcCol="1270" anchor="ctr" anchorCtr="0">
            <a:noAutofit/>
          </a:bodyPr>
          <a:lstStyle/>
          <a:p>
            <a:pPr lvl="0" algn="ctr" fontAlgn="base">
              <a:spcBef>
                <a:spcPct val="50000"/>
              </a:spcBef>
              <a:spcAft>
                <a:spcPct val="0"/>
              </a:spcAft>
              <a:defRPr/>
            </a:pPr>
            <a:r>
              <a:rPr lang="es-CO" sz="2800" b="1" dirty="0">
                <a:solidFill>
                  <a:schemeClr val="tx1"/>
                </a:solidFill>
              </a:rPr>
              <a:t>9</a:t>
            </a:r>
            <a:endParaRPr lang="es-MX" sz="2800" b="1" dirty="0">
              <a:solidFill>
                <a:prstClr val="black"/>
              </a:solidFill>
              <a:latin typeface="Arial Narrow" pitchFamily="34" charset="0"/>
            </a:endParaRPr>
          </a:p>
        </p:txBody>
      </p:sp>
      <p:sp>
        <p:nvSpPr>
          <p:cNvPr id="16" name="CuadroTexto 15">
            <a:extLst>
              <a:ext uri="{FF2B5EF4-FFF2-40B4-BE49-F238E27FC236}">
                <a16:creationId xmlns:a16="http://schemas.microsoft.com/office/drawing/2014/main" id="{DE034E85-2AE6-494E-B9BB-CBC780F5258E}"/>
              </a:ext>
            </a:extLst>
          </p:cNvPr>
          <p:cNvSpPr txBox="1"/>
          <p:nvPr/>
        </p:nvSpPr>
        <p:spPr>
          <a:xfrm>
            <a:off x="5973106" y="3260369"/>
            <a:ext cx="3356790" cy="538318"/>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pPr lvl="0" algn="just" fontAlgn="base">
              <a:spcBef>
                <a:spcPct val="50000"/>
              </a:spcBef>
              <a:spcAft>
                <a:spcPct val="0"/>
              </a:spcAft>
              <a:defRPr/>
            </a:pPr>
            <a:r>
              <a:rPr lang="es-CO" sz="2800" b="1" dirty="0">
                <a:solidFill>
                  <a:schemeClr val="tx1"/>
                </a:solidFill>
              </a:rPr>
              <a:t>VECTOR[4] = 3;</a:t>
            </a:r>
            <a:endParaRPr lang="es-MX" sz="2800" b="1" dirty="0">
              <a:solidFill>
                <a:prstClr val="black"/>
              </a:solidFill>
              <a:latin typeface="Arial Narrow" pitchFamily="34" charset="0"/>
            </a:endParaRPr>
          </a:p>
        </p:txBody>
      </p:sp>
      <p:sp>
        <p:nvSpPr>
          <p:cNvPr id="17" name="CuadroTexto 16">
            <a:extLst>
              <a:ext uri="{FF2B5EF4-FFF2-40B4-BE49-F238E27FC236}">
                <a16:creationId xmlns:a16="http://schemas.microsoft.com/office/drawing/2014/main" id="{A4694D48-5A17-4B1D-A725-BDB0C4186CC4}"/>
              </a:ext>
            </a:extLst>
          </p:cNvPr>
          <p:cNvSpPr txBox="1"/>
          <p:nvPr/>
        </p:nvSpPr>
        <p:spPr>
          <a:xfrm>
            <a:off x="5416515" y="1437840"/>
            <a:ext cx="701408" cy="657582"/>
          </a:xfrm>
          <a:prstGeom prst="rect">
            <a:avLst/>
          </a:prstGeom>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spcFirstLastPara="0" vert="horz" wrap="square" lIns="121920" tIns="121920" rIns="121920" bIns="121920" numCol="1" spcCol="1270" anchor="ctr" anchorCtr="0">
            <a:noAutofit/>
          </a:bodyPr>
          <a:lstStyle/>
          <a:p>
            <a:pPr lvl="0" algn="ctr" fontAlgn="base">
              <a:spcBef>
                <a:spcPct val="50000"/>
              </a:spcBef>
              <a:spcAft>
                <a:spcPct val="0"/>
              </a:spcAft>
              <a:defRPr/>
            </a:pPr>
            <a:r>
              <a:rPr lang="es-CO" sz="2800" b="1" dirty="0">
                <a:solidFill>
                  <a:schemeClr val="tx1"/>
                </a:solidFill>
              </a:rPr>
              <a:t>3</a:t>
            </a:r>
            <a:endParaRPr lang="es-MX" sz="2800" b="1" dirty="0">
              <a:solidFill>
                <a:prstClr val="black"/>
              </a:solidFill>
              <a:latin typeface="Arial Narrow" pitchFamily="34" charset="0"/>
            </a:endParaRPr>
          </a:p>
        </p:txBody>
      </p:sp>
      <p:sp>
        <p:nvSpPr>
          <p:cNvPr id="18" name="CuadroTexto 17">
            <a:extLst>
              <a:ext uri="{FF2B5EF4-FFF2-40B4-BE49-F238E27FC236}">
                <a16:creationId xmlns:a16="http://schemas.microsoft.com/office/drawing/2014/main" id="{3CAD2234-43D1-4126-9413-72F0EAB5615B}"/>
              </a:ext>
            </a:extLst>
          </p:cNvPr>
          <p:cNvSpPr txBox="1"/>
          <p:nvPr/>
        </p:nvSpPr>
        <p:spPr>
          <a:xfrm>
            <a:off x="5973106" y="3939855"/>
            <a:ext cx="3356790" cy="538318"/>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pPr lvl="0" algn="just" fontAlgn="base">
              <a:spcBef>
                <a:spcPct val="50000"/>
              </a:spcBef>
              <a:spcAft>
                <a:spcPct val="0"/>
              </a:spcAft>
              <a:defRPr/>
            </a:pPr>
            <a:r>
              <a:rPr lang="es-CO" sz="2800" b="1" dirty="0">
                <a:solidFill>
                  <a:schemeClr val="tx1"/>
                </a:solidFill>
              </a:rPr>
              <a:t>VECTOR[5] = 7;</a:t>
            </a:r>
            <a:endParaRPr lang="es-MX" sz="2800" b="1" dirty="0">
              <a:solidFill>
                <a:prstClr val="black"/>
              </a:solidFill>
              <a:latin typeface="Arial Narrow" pitchFamily="34" charset="0"/>
            </a:endParaRPr>
          </a:p>
        </p:txBody>
      </p:sp>
      <p:sp>
        <p:nvSpPr>
          <p:cNvPr id="19" name="CuadroTexto 18">
            <a:extLst>
              <a:ext uri="{FF2B5EF4-FFF2-40B4-BE49-F238E27FC236}">
                <a16:creationId xmlns:a16="http://schemas.microsoft.com/office/drawing/2014/main" id="{733989B5-28EB-4D44-9B9A-8EABBBDBF815}"/>
              </a:ext>
            </a:extLst>
          </p:cNvPr>
          <p:cNvSpPr txBox="1"/>
          <p:nvPr/>
        </p:nvSpPr>
        <p:spPr>
          <a:xfrm>
            <a:off x="6348824" y="1445332"/>
            <a:ext cx="701408" cy="657582"/>
          </a:xfrm>
          <a:prstGeom prst="rect">
            <a:avLst/>
          </a:prstGeom>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spcFirstLastPara="0" vert="horz" wrap="square" lIns="121920" tIns="121920" rIns="121920" bIns="121920" numCol="1" spcCol="1270" anchor="ctr" anchorCtr="0">
            <a:noAutofit/>
          </a:bodyPr>
          <a:lstStyle/>
          <a:p>
            <a:pPr lvl="0" algn="ctr" fontAlgn="base">
              <a:spcBef>
                <a:spcPct val="50000"/>
              </a:spcBef>
              <a:spcAft>
                <a:spcPct val="0"/>
              </a:spcAft>
              <a:defRPr/>
            </a:pPr>
            <a:r>
              <a:rPr lang="es-CO" sz="2800" b="1" dirty="0">
                <a:solidFill>
                  <a:schemeClr val="tx1"/>
                </a:solidFill>
              </a:rPr>
              <a:t>7</a:t>
            </a:r>
            <a:endParaRPr lang="es-MX" sz="2800" b="1" dirty="0">
              <a:solidFill>
                <a:prstClr val="black"/>
              </a:solidFill>
              <a:latin typeface="Arial Narrow" pitchFamily="34" charset="0"/>
            </a:endParaRPr>
          </a:p>
        </p:txBody>
      </p:sp>
      <p:sp>
        <p:nvSpPr>
          <p:cNvPr id="20" name="CuadroTexto 19">
            <a:extLst>
              <a:ext uri="{FF2B5EF4-FFF2-40B4-BE49-F238E27FC236}">
                <a16:creationId xmlns:a16="http://schemas.microsoft.com/office/drawing/2014/main" id="{065FE96C-5C9B-4152-AB09-834ECA1E4A13}"/>
              </a:ext>
            </a:extLst>
          </p:cNvPr>
          <p:cNvSpPr txBox="1"/>
          <p:nvPr/>
        </p:nvSpPr>
        <p:spPr>
          <a:xfrm>
            <a:off x="5992097" y="4612235"/>
            <a:ext cx="3356790" cy="538318"/>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pPr lvl="0" algn="just" fontAlgn="base">
              <a:spcBef>
                <a:spcPct val="50000"/>
              </a:spcBef>
              <a:spcAft>
                <a:spcPct val="0"/>
              </a:spcAft>
              <a:defRPr/>
            </a:pPr>
            <a:r>
              <a:rPr lang="es-CO" sz="2800" b="1" dirty="0">
                <a:solidFill>
                  <a:schemeClr val="tx1"/>
                </a:solidFill>
              </a:rPr>
              <a:t>VECTOR[6] = 0;</a:t>
            </a:r>
            <a:endParaRPr lang="es-MX" sz="2800" b="1" dirty="0">
              <a:solidFill>
                <a:prstClr val="black"/>
              </a:solidFill>
              <a:latin typeface="Arial Narrow" pitchFamily="34" charset="0"/>
            </a:endParaRPr>
          </a:p>
        </p:txBody>
      </p:sp>
      <p:sp>
        <p:nvSpPr>
          <p:cNvPr id="21" name="CuadroTexto 20">
            <a:extLst>
              <a:ext uri="{FF2B5EF4-FFF2-40B4-BE49-F238E27FC236}">
                <a16:creationId xmlns:a16="http://schemas.microsoft.com/office/drawing/2014/main" id="{095DA726-058D-49BB-AFCC-EE34E21FFFE4}"/>
              </a:ext>
            </a:extLst>
          </p:cNvPr>
          <p:cNvSpPr txBox="1"/>
          <p:nvPr/>
        </p:nvSpPr>
        <p:spPr>
          <a:xfrm>
            <a:off x="7298509" y="1448015"/>
            <a:ext cx="701408" cy="657582"/>
          </a:xfrm>
          <a:prstGeom prst="rect">
            <a:avLst/>
          </a:prstGeom>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spcFirstLastPara="0" vert="horz" wrap="square" lIns="121920" tIns="121920" rIns="121920" bIns="121920" numCol="1" spcCol="1270" anchor="ctr" anchorCtr="0">
            <a:noAutofit/>
          </a:bodyPr>
          <a:lstStyle/>
          <a:p>
            <a:pPr lvl="0" algn="ctr" fontAlgn="base">
              <a:spcBef>
                <a:spcPct val="50000"/>
              </a:spcBef>
              <a:spcAft>
                <a:spcPct val="0"/>
              </a:spcAft>
              <a:defRPr/>
            </a:pPr>
            <a:r>
              <a:rPr lang="es-CO" sz="2800" b="1" dirty="0">
                <a:solidFill>
                  <a:schemeClr val="tx1"/>
                </a:solidFill>
              </a:rPr>
              <a:t>0</a:t>
            </a:r>
            <a:endParaRPr lang="es-MX" sz="2800" b="1" dirty="0">
              <a:solidFill>
                <a:prstClr val="black"/>
              </a:solidFill>
              <a:latin typeface="Arial Narrow" pitchFamily="34" charset="0"/>
            </a:endParaRPr>
          </a:p>
        </p:txBody>
      </p:sp>
      <p:sp>
        <p:nvSpPr>
          <p:cNvPr id="22" name="CuadroTexto 21">
            <a:extLst>
              <a:ext uri="{FF2B5EF4-FFF2-40B4-BE49-F238E27FC236}">
                <a16:creationId xmlns:a16="http://schemas.microsoft.com/office/drawing/2014/main" id="{2A63AA73-C9F1-4F56-9349-C1A6AF7A66FA}"/>
              </a:ext>
            </a:extLst>
          </p:cNvPr>
          <p:cNvSpPr txBox="1"/>
          <p:nvPr/>
        </p:nvSpPr>
        <p:spPr>
          <a:xfrm>
            <a:off x="5989932" y="5278195"/>
            <a:ext cx="3356790" cy="538318"/>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pPr lvl="0" algn="just" fontAlgn="base">
              <a:spcBef>
                <a:spcPct val="50000"/>
              </a:spcBef>
              <a:spcAft>
                <a:spcPct val="0"/>
              </a:spcAft>
              <a:defRPr/>
            </a:pPr>
            <a:r>
              <a:rPr lang="es-CO" sz="2800" b="1" dirty="0">
                <a:solidFill>
                  <a:schemeClr val="tx1"/>
                </a:solidFill>
              </a:rPr>
              <a:t>VECTOR[7] = 2;</a:t>
            </a:r>
            <a:endParaRPr lang="es-MX" sz="2800" b="1" dirty="0">
              <a:solidFill>
                <a:prstClr val="black"/>
              </a:solidFill>
              <a:latin typeface="Arial Narrow" pitchFamily="34" charset="0"/>
            </a:endParaRPr>
          </a:p>
        </p:txBody>
      </p:sp>
      <p:sp>
        <p:nvSpPr>
          <p:cNvPr id="23" name="CuadroTexto 22">
            <a:extLst>
              <a:ext uri="{FF2B5EF4-FFF2-40B4-BE49-F238E27FC236}">
                <a16:creationId xmlns:a16="http://schemas.microsoft.com/office/drawing/2014/main" id="{E0A5A7A2-5380-46B6-9C5C-92CEBBEA7803}"/>
              </a:ext>
            </a:extLst>
          </p:cNvPr>
          <p:cNvSpPr txBox="1"/>
          <p:nvPr/>
        </p:nvSpPr>
        <p:spPr>
          <a:xfrm>
            <a:off x="8230818" y="1445332"/>
            <a:ext cx="701408" cy="657582"/>
          </a:xfrm>
          <a:prstGeom prst="rect">
            <a:avLst/>
          </a:prstGeom>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spcFirstLastPara="0" vert="horz" wrap="square" lIns="121920" tIns="121920" rIns="121920" bIns="121920" numCol="1" spcCol="1270" anchor="ctr" anchorCtr="0">
            <a:noAutofit/>
          </a:bodyPr>
          <a:lstStyle/>
          <a:p>
            <a:pPr lvl="0" algn="ctr" fontAlgn="base">
              <a:spcBef>
                <a:spcPct val="50000"/>
              </a:spcBef>
              <a:spcAft>
                <a:spcPct val="0"/>
              </a:spcAft>
              <a:defRPr/>
            </a:pPr>
            <a:r>
              <a:rPr lang="es-CO" sz="2800" b="1" dirty="0">
                <a:solidFill>
                  <a:schemeClr val="tx1"/>
                </a:solidFill>
              </a:rPr>
              <a:t>2</a:t>
            </a:r>
            <a:endParaRPr lang="es-MX" sz="2800" b="1" dirty="0">
              <a:solidFill>
                <a:prstClr val="black"/>
              </a:solidFill>
              <a:latin typeface="Arial Narrow" pitchFamily="34" charset="0"/>
            </a:endParaRPr>
          </a:p>
        </p:txBody>
      </p:sp>
    </p:spTree>
    <p:extLst>
      <p:ext uri="{BB962C8B-B14F-4D97-AF65-F5344CB8AC3E}">
        <p14:creationId xmlns:p14="http://schemas.microsoft.com/office/powerpoint/2010/main" val="1957966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23" presetClass="entr" presetSubtype="16" fill="hold" grpId="0" nodeType="afterEffect">
                                  <p:stCondLst>
                                    <p:cond delay="1000"/>
                                  </p:stCondLst>
                                  <p:childTnLst>
                                    <p:set>
                                      <p:cBhvr>
                                        <p:cTn id="10" dur="1" fill="hold">
                                          <p:stCondLst>
                                            <p:cond delay="0"/>
                                          </p:stCondLst>
                                        </p:cTn>
                                        <p:tgtEl>
                                          <p:spTgt spid="9"/>
                                        </p:tgtEl>
                                        <p:attrNameLst>
                                          <p:attrName>style.visibility</p:attrName>
                                        </p:attrNameLst>
                                      </p:cBhvr>
                                      <p:to>
                                        <p:strVal val="visible"/>
                                      </p:to>
                                    </p:set>
                                    <p:anim calcmode="lin" valueType="num">
                                      <p:cBhvr>
                                        <p:cTn id="11" dur="1000" fill="hold"/>
                                        <p:tgtEl>
                                          <p:spTgt spid="9"/>
                                        </p:tgtEl>
                                        <p:attrNameLst>
                                          <p:attrName>ppt_w</p:attrName>
                                        </p:attrNameLst>
                                      </p:cBhvr>
                                      <p:tavLst>
                                        <p:tav tm="0">
                                          <p:val>
                                            <p:fltVal val="0"/>
                                          </p:val>
                                        </p:tav>
                                        <p:tav tm="100000">
                                          <p:val>
                                            <p:strVal val="#ppt_w"/>
                                          </p:val>
                                        </p:tav>
                                      </p:tavLst>
                                    </p:anim>
                                    <p:anim calcmode="lin" valueType="num">
                                      <p:cBhvr>
                                        <p:cTn id="12" dur="1000" fill="hold"/>
                                        <p:tgtEl>
                                          <p:spTgt spid="9"/>
                                        </p:tgtEl>
                                        <p:attrNameLst>
                                          <p:attrName>ppt_h</p:attrName>
                                        </p:attrNameLst>
                                      </p:cBhvr>
                                      <p:tavLst>
                                        <p:tav tm="0">
                                          <p:val>
                                            <p:flt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par>
                          <p:cTn id="18" fill="hold">
                            <p:stCondLst>
                              <p:cond delay="500"/>
                            </p:stCondLst>
                            <p:childTnLst>
                              <p:par>
                                <p:cTn id="19" presetID="23" presetClass="entr" presetSubtype="16" fill="hold" grpId="0" nodeType="afterEffect">
                                  <p:stCondLst>
                                    <p:cond delay="1000"/>
                                  </p:stCondLst>
                                  <p:childTnLst>
                                    <p:set>
                                      <p:cBhvr>
                                        <p:cTn id="20" dur="1" fill="hold">
                                          <p:stCondLst>
                                            <p:cond delay="0"/>
                                          </p:stCondLst>
                                        </p:cTn>
                                        <p:tgtEl>
                                          <p:spTgt spid="11"/>
                                        </p:tgtEl>
                                        <p:attrNameLst>
                                          <p:attrName>style.visibility</p:attrName>
                                        </p:attrNameLst>
                                      </p:cBhvr>
                                      <p:to>
                                        <p:strVal val="visible"/>
                                      </p:to>
                                    </p:set>
                                    <p:anim calcmode="lin" valueType="num">
                                      <p:cBhvr>
                                        <p:cTn id="21" dur="1000" fill="hold"/>
                                        <p:tgtEl>
                                          <p:spTgt spid="11"/>
                                        </p:tgtEl>
                                        <p:attrNameLst>
                                          <p:attrName>ppt_w</p:attrName>
                                        </p:attrNameLst>
                                      </p:cBhvr>
                                      <p:tavLst>
                                        <p:tav tm="0">
                                          <p:val>
                                            <p:fltVal val="0"/>
                                          </p:val>
                                        </p:tav>
                                        <p:tav tm="100000">
                                          <p:val>
                                            <p:strVal val="#ppt_w"/>
                                          </p:val>
                                        </p:tav>
                                      </p:tavLst>
                                    </p:anim>
                                    <p:anim calcmode="lin" valueType="num">
                                      <p:cBhvr>
                                        <p:cTn id="22" dur="1000" fill="hold"/>
                                        <p:tgtEl>
                                          <p:spTgt spid="11"/>
                                        </p:tgtEl>
                                        <p:attrNameLst>
                                          <p:attrName>ppt_h</p:attrName>
                                        </p:attrNameLst>
                                      </p:cBhvr>
                                      <p:tavLst>
                                        <p:tav tm="0">
                                          <p:val>
                                            <p:fltVal val="0"/>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childTnLst>
                          </p:cTn>
                        </p:par>
                        <p:par>
                          <p:cTn id="28" fill="hold">
                            <p:stCondLst>
                              <p:cond delay="500"/>
                            </p:stCondLst>
                            <p:childTnLst>
                              <p:par>
                                <p:cTn id="29" presetID="23" presetClass="entr" presetSubtype="16" fill="hold" grpId="0" nodeType="afterEffect">
                                  <p:stCondLst>
                                    <p:cond delay="1000"/>
                                  </p:stCondLst>
                                  <p:childTnLst>
                                    <p:set>
                                      <p:cBhvr>
                                        <p:cTn id="30" dur="1" fill="hold">
                                          <p:stCondLst>
                                            <p:cond delay="0"/>
                                          </p:stCondLst>
                                        </p:cTn>
                                        <p:tgtEl>
                                          <p:spTgt spid="13"/>
                                        </p:tgtEl>
                                        <p:attrNameLst>
                                          <p:attrName>style.visibility</p:attrName>
                                        </p:attrNameLst>
                                      </p:cBhvr>
                                      <p:to>
                                        <p:strVal val="visible"/>
                                      </p:to>
                                    </p:set>
                                    <p:anim calcmode="lin" valueType="num">
                                      <p:cBhvr>
                                        <p:cTn id="31" dur="1000" fill="hold"/>
                                        <p:tgtEl>
                                          <p:spTgt spid="13"/>
                                        </p:tgtEl>
                                        <p:attrNameLst>
                                          <p:attrName>ppt_w</p:attrName>
                                        </p:attrNameLst>
                                      </p:cBhvr>
                                      <p:tavLst>
                                        <p:tav tm="0">
                                          <p:val>
                                            <p:fltVal val="0"/>
                                          </p:val>
                                        </p:tav>
                                        <p:tav tm="100000">
                                          <p:val>
                                            <p:strVal val="#ppt_w"/>
                                          </p:val>
                                        </p:tav>
                                      </p:tavLst>
                                    </p:anim>
                                    <p:anim calcmode="lin" valueType="num">
                                      <p:cBhvr>
                                        <p:cTn id="32" dur="1000" fill="hold"/>
                                        <p:tgtEl>
                                          <p:spTgt spid="13"/>
                                        </p:tgtEl>
                                        <p:attrNameLst>
                                          <p:attrName>ppt_h</p:attrName>
                                        </p:attrNameLst>
                                      </p:cBhvr>
                                      <p:tavLst>
                                        <p:tav tm="0">
                                          <p:val>
                                            <p:flt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wipe(left)">
                                      <p:cBhvr>
                                        <p:cTn id="37" dur="500"/>
                                        <p:tgtEl>
                                          <p:spTgt spid="14"/>
                                        </p:tgtEl>
                                      </p:cBhvr>
                                    </p:animEffect>
                                  </p:childTnLst>
                                </p:cTn>
                              </p:par>
                            </p:childTnLst>
                          </p:cTn>
                        </p:par>
                        <p:par>
                          <p:cTn id="38" fill="hold">
                            <p:stCondLst>
                              <p:cond delay="500"/>
                            </p:stCondLst>
                            <p:childTnLst>
                              <p:par>
                                <p:cTn id="39" presetID="23" presetClass="entr" presetSubtype="16" fill="hold" grpId="0" nodeType="afterEffect">
                                  <p:stCondLst>
                                    <p:cond delay="1000"/>
                                  </p:stCondLst>
                                  <p:childTnLst>
                                    <p:set>
                                      <p:cBhvr>
                                        <p:cTn id="40" dur="1" fill="hold">
                                          <p:stCondLst>
                                            <p:cond delay="0"/>
                                          </p:stCondLst>
                                        </p:cTn>
                                        <p:tgtEl>
                                          <p:spTgt spid="15"/>
                                        </p:tgtEl>
                                        <p:attrNameLst>
                                          <p:attrName>style.visibility</p:attrName>
                                        </p:attrNameLst>
                                      </p:cBhvr>
                                      <p:to>
                                        <p:strVal val="visible"/>
                                      </p:to>
                                    </p:set>
                                    <p:anim calcmode="lin" valueType="num">
                                      <p:cBhvr>
                                        <p:cTn id="41" dur="1000" fill="hold"/>
                                        <p:tgtEl>
                                          <p:spTgt spid="15"/>
                                        </p:tgtEl>
                                        <p:attrNameLst>
                                          <p:attrName>ppt_w</p:attrName>
                                        </p:attrNameLst>
                                      </p:cBhvr>
                                      <p:tavLst>
                                        <p:tav tm="0">
                                          <p:val>
                                            <p:fltVal val="0"/>
                                          </p:val>
                                        </p:tav>
                                        <p:tav tm="100000">
                                          <p:val>
                                            <p:strVal val="#ppt_w"/>
                                          </p:val>
                                        </p:tav>
                                      </p:tavLst>
                                    </p:anim>
                                    <p:anim calcmode="lin" valueType="num">
                                      <p:cBhvr>
                                        <p:cTn id="42" dur="1000" fill="hold"/>
                                        <p:tgtEl>
                                          <p:spTgt spid="15"/>
                                        </p:tgtEl>
                                        <p:attrNameLst>
                                          <p:attrName>ppt_h</p:attrName>
                                        </p:attrNameLst>
                                      </p:cBhvr>
                                      <p:tavLst>
                                        <p:tav tm="0">
                                          <p:val>
                                            <p:fltVal val="0"/>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wipe(left)">
                                      <p:cBhvr>
                                        <p:cTn id="47" dur="500"/>
                                        <p:tgtEl>
                                          <p:spTgt spid="16"/>
                                        </p:tgtEl>
                                      </p:cBhvr>
                                    </p:animEffect>
                                  </p:childTnLst>
                                </p:cTn>
                              </p:par>
                            </p:childTnLst>
                          </p:cTn>
                        </p:par>
                        <p:par>
                          <p:cTn id="48" fill="hold">
                            <p:stCondLst>
                              <p:cond delay="500"/>
                            </p:stCondLst>
                            <p:childTnLst>
                              <p:par>
                                <p:cTn id="49" presetID="23" presetClass="entr" presetSubtype="16" fill="hold" grpId="0" nodeType="afterEffect">
                                  <p:stCondLst>
                                    <p:cond delay="1000"/>
                                  </p:stCondLst>
                                  <p:childTnLst>
                                    <p:set>
                                      <p:cBhvr>
                                        <p:cTn id="50" dur="1" fill="hold">
                                          <p:stCondLst>
                                            <p:cond delay="0"/>
                                          </p:stCondLst>
                                        </p:cTn>
                                        <p:tgtEl>
                                          <p:spTgt spid="17"/>
                                        </p:tgtEl>
                                        <p:attrNameLst>
                                          <p:attrName>style.visibility</p:attrName>
                                        </p:attrNameLst>
                                      </p:cBhvr>
                                      <p:to>
                                        <p:strVal val="visible"/>
                                      </p:to>
                                    </p:set>
                                    <p:anim calcmode="lin" valueType="num">
                                      <p:cBhvr>
                                        <p:cTn id="51" dur="1000" fill="hold"/>
                                        <p:tgtEl>
                                          <p:spTgt spid="17"/>
                                        </p:tgtEl>
                                        <p:attrNameLst>
                                          <p:attrName>ppt_w</p:attrName>
                                        </p:attrNameLst>
                                      </p:cBhvr>
                                      <p:tavLst>
                                        <p:tav tm="0">
                                          <p:val>
                                            <p:fltVal val="0"/>
                                          </p:val>
                                        </p:tav>
                                        <p:tav tm="100000">
                                          <p:val>
                                            <p:strVal val="#ppt_w"/>
                                          </p:val>
                                        </p:tav>
                                      </p:tavLst>
                                    </p:anim>
                                    <p:anim calcmode="lin" valueType="num">
                                      <p:cBhvr>
                                        <p:cTn id="52" dur="1000" fill="hold"/>
                                        <p:tgtEl>
                                          <p:spTgt spid="17"/>
                                        </p:tgtEl>
                                        <p:attrNameLst>
                                          <p:attrName>ppt_h</p:attrName>
                                        </p:attrNameLst>
                                      </p:cBhvr>
                                      <p:tavLst>
                                        <p:tav tm="0">
                                          <p:val>
                                            <p:fltVal val="0"/>
                                          </p:val>
                                        </p:tav>
                                        <p:tav tm="100000">
                                          <p:val>
                                            <p:strVal val="#ppt_h"/>
                                          </p:val>
                                        </p:tav>
                                      </p:tavLst>
                                    </p:anim>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wipe(left)">
                                      <p:cBhvr>
                                        <p:cTn id="57" dur="500"/>
                                        <p:tgtEl>
                                          <p:spTgt spid="18"/>
                                        </p:tgtEl>
                                      </p:cBhvr>
                                    </p:animEffect>
                                  </p:childTnLst>
                                </p:cTn>
                              </p:par>
                            </p:childTnLst>
                          </p:cTn>
                        </p:par>
                        <p:par>
                          <p:cTn id="58" fill="hold">
                            <p:stCondLst>
                              <p:cond delay="500"/>
                            </p:stCondLst>
                            <p:childTnLst>
                              <p:par>
                                <p:cTn id="59" presetID="23" presetClass="entr" presetSubtype="16" fill="hold" grpId="0" nodeType="afterEffect">
                                  <p:stCondLst>
                                    <p:cond delay="1000"/>
                                  </p:stCondLst>
                                  <p:childTnLst>
                                    <p:set>
                                      <p:cBhvr>
                                        <p:cTn id="60" dur="1" fill="hold">
                                          <p:stCondLst>
                                            <p:cond delay="0"/>
                                          </p:stCondLst>
                                        </p:cTn>
                                        <p:tgtEl>
                                          <p:spTgt spid="19"/>
                                        </p:tgtEl>
                                        <p:attrNameLst>
                                          <p:attrName>style.visibility</p:attrName>
                                        </p:attrNameLst>
                                      </p:cBhvr>
                                      <p:to>
                                        <p:strVal val="visible"/>
                                      </p:to>
                                    </p:set>
                                    <p:anim calcmode="lin" valueType="num">
                                      <p:cBhvr>
                                        <p:cTn id="61" dur="1000" fill="hold"/>
                                        <p:tgtEl>
                                          <p:spTgt spid="19"/>
                                        </p:tgtEl>
                                        <p:attrNameLst>
                                          <p:attrName>ppt_w</p:attrName>
                                        </p:attrNameLst>
                                      </p:cBhvr>
                                      <p:tavLst>
                                        <p:tav tm="0">
                                          <p:val>
                                            <p:fltVal val="0"/>
                                          </p:val>
                                        </p:tav>
                                        <p:tav tm="100000">
                                          <p:val>
                                            <p:strVal val="#ppt_w"/>
                                          </p:val>
                                        </p:tav>
                                      </p:tavLst>
                                    </p:anim>
                                    <p:anim calcmode="lin" valueType="num">
                                      <p:cBhvr>
                                        <p:cTn id="62" dur="1000" fill="hold"/>
                                        <p:tgtEl>
                                          <p:spTgt spid="19"/>
                                        </p:tgtEl>
                                        <p:attrNameLst>
                                          <p:attrName>ppt_h</p:attrName>
                                        </p:attrNameLst>
                                      </p:cBhvr>
                                      <p:tavLst>
                                        <p:tav tm="0">
                                          <p:val>
                                            <p:fltVal val="0"/>
                                          </p:val>
                                        </p:tav>
                                        <p:tav tm="100000">
                                          <p:val>
                                            <p:strVal val="#ppt_h"/>
                                          </p:val>
                                        </p:tav>
                                      </p:tavLst>
                                    </p:anim>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wipe(left)">
                                      <p:cBhvr>
                                        <p:cTn id="67" dur="500"/>
                                        <p:tgtEl>
                                          <p:spTgt spid="20"/>
                                        </p:tgtEl>
                                      </p:cBhvr>
                                    </p:animEffect>
                                  </p:childTnLst>
                                </p:cTn>
                              </p:par>
                            </p:childTnLst>
                          </p:cTn>
                        </p:par>
                        <p:par>
                          <p:cTn id="68" fill="hold">
                            <p:stCondLst>
                              <p:cond delay="500"/>
                            </p:stCondLst>
                            <p:childTnLst>
                              <p:par>
                                <p:cTn id="69" presetID="23" presetClass="entr" presetSubtype="16" fill="hold" grpId="0" nodeType="afterEffect">
                                  <p:stCondLst>
                                    <p:cond delay="1000"/>
                                  </p:stCondLst>
                                  <p:childTnLst>
                                    <p:set>
                                      <p:cBhvr>
                                        <p:cTn id="70" dur="1" fill="hold">
                                          <p:stCondLst>
                                            <p:cond delay="0"/>
                                          </p:stCondLst>
                                        </p:cTn>
                                        <p:tgtEl>
                                          <p:spTgt spid="21"/>
                                        </p:tgtEl>
                                        <p:attrNameLst>
                                          <p:attrName>style.visibility</p:attrName>
                                        </p:attrNameLst>
                                      </p:cBhvr>
                                      <p:to>
                                        <p:strVal val="visible"/>
                                      </p:to>
                                    </p:set>
                                    <p:anim calcmode="lin" valueType="num">
                                      <p:cBhvr>
                                        <p:cTn id="71" dur="1000" fill="hold"/>
                                        <p:tgtEl>
                                          <p:spTgt spid="21"/>
                                        </p:tgtEl>
                                        <p:attrNameLst>
                                          <p:attrName>ppt_w</p:attrName>
                                        </p:attrNameLst>
                                      </p:cBhvr>
                                      <p:tavLst>
                                        <p:tav tm="0">
                                          <p:val>
                                            <p:fltVal val="0"/>
                                          </p:val>
                                        </p:tav>
                                        <p:tav tm="100000">
                                          <p:val>
                                            <p:strVal val="#ppt_w"/>
                                          </p:val>
                                        </p:tav>
                                      </p:tavLst>
                                    </p:anim>
                                    <p:anim calcmode="lin" valueType="num">
                                      <p:cBhvr>
                                        <p:cTn id="72" dur="1000" fill="hold"/>
                                        <p:tgtEl>
                                          <p:spTgt spid="21"/>
                                        </p:tgtEl>
                                        <p:attrNameLst>
                                          <p:attrName>ppt_h</p:attrName>
                                        </p:attrNameLst>
                                      </p:cBhvr>
                                      <p:tavLst>
                                        <p:tav tm="0">
                                          <p:val>
                                            <p:fltVal val="0"/>
                                          </p:val>
                                        </p:tav>
                                        <p:tav tm="100000">
                                          <p:val>
                                            <p:strVal val="#ppt_h"/>
                                          </p:val>
                                        </p:tav>
                                      </p:tavLst>
                                    </p:anim>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22"/>
                                        </p:tgtEl>
                                        <p:attrNameLst>
                                          <p:attrName>style.visibility</p:attrName>
                                        </p:attrNameLst>
                                      </p:cBhvr>
                                      <p:to>
                                        <p:strVal val="visible"/>
                                      </p:to>
                                    </p:set>
                                    <p:animEffect transition="in" filter="wipe(left)">
                                      <p:cBhvr>
                                        <p:cTn id="77" dur="500"/>
                                        <p:tgtEl>
                                          <p:spTgt spid="22"/>
                                        </p:tgtEl>
                                      </p:cBhvr>
                                    </p:animEffect>
                                  </p:childTnLst>
                                </p:cTn>
                              </p:par>
                            </p:childTnLst>
                          </p:cTn>
                        </p:par>
                        <p:par>
                          <p:cTn id="78" fill="hold">
                            <p:stCondLst>
                              <p:cond delay="500"/>
                            </p:stCondLst>
                            <p:childTnLst>
                              <p:par>
                                <p:cTn id="79" presetID="23" presetClass="entr" presetSubtype="16" fill="hold" grpId="0" nodeType="afterEffect">
                                  <p:stCondLst>
                                    <p:cond delay="1000"/>
                                  </p:stCondLst>
                                  <p:childTnLst>
                                    <p:set>
                                      <p:cBhvr>
                                        <p:cTn id="80" dur="1" fill="hold">
                                          <p:stCondLst>
                                            <p:cond delay="0"/>
                                          </p:stCondLst>
                                        </p:cTn>
                                        <p:tgtEl>
                                          <p:spTgt spid="23"/>
                                        </p:tgtEl>
                                        <p:attrNameLst>
                                          <p:attrName>style.visibility</p:attrName>
                                        </p:attrNameLst>
                                      </p:cBhvr>
                                      <p:to>
                                        <p:strVal val="visible"/>
                                      </p:to>
                                    </p:set>
                                    <p:anim calcmode="lin" valueType="num">
                                      <p:cBhvr>
                                        <p:cTn id="81" dur="1000" fill="hold"/>
                                        <p:tgtEl>
                                          <p:spTgt spid="23"/>
                                        </p:tgtEl>
                                        <p:attrNameLst>
                                          <p:attrName>ppt_w</p:attrName>
                                        </p:attrNameLst>
                                      </p:cBhvr>
                                      <p:tavLst>
                                        <p:tav tm="0">
                                          <p:val>
                                            <p:fltVal val="0"/>
                                          </p:val>
                                        </p:tav>
                                        <p:tav tm="100000">
                                          <p:val>
                                            <p:strVal val="#ppt_w"/>
                                          </p:val>
                                        </p:tav>
                                      </p:tavLst>
                                    </p:anim>
                                    <p:anim calcmode="lin" valueType="num">
                                      <p:cBhvr>
                                        <p:cTn id="82" dur="1000" fill="hold"/>
                                        <p:tgtEl>
                                          <p:spTgt spid="2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04240" y="365761"/>
            <a:ext cx="11287760" cy="914400"/>
          </a:xfrm>
        </p:spPr>
        <p:txBody>
          <a:bodyPr>
            <a:normAutofit/>
          </a:bodyPr>
          <a:lstStyle/>
          <a:p>
            <a:pPr algn="ctr"/>
            <a:r>
              <a:rPr lang="es-CO" sz="4200" b="1" dirty="0">
                <a:latin typeface="Bahnschrift Light SemiCondensed" panose="020B0502040204020203" pitchFamily="34" charset="0"/>
              </a:rPr>
              <a:t>“DECLARAR/INICIALIZAR VECTORES EN C++”</a:t>
            </a:r>
          </a:p>
        </p:txBody>
      </p:sp>
      <p:sp>
        <p:nvSpPr>
          <p:cNvPr id="7" name="CuadroTexto 6">
            <a:extLst>
              <a:ext uri="{FF2B5EF4-FFF2-40B4-BE49-F238E27FC236}">
                <a16:creationId xmlns:a16="http://schemas.microsoft.com/office/drawing/2014/main" id="{B3245438-2EFA-4DBF-85CF-60E0A78BBF68}"/>
              </a:ext>
            </a:extLst>
          </p:cNvPr>
          <p:cNvSpPr txBox="1"/>
          <p:nvPr/>
        </p:nvSpPr>
        <p:spPr>
          <a:xfrm>
            <a:off x="721360" y="1280161"/>
            <a:ext cx="9712960" cy="5212078"/>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pPr lvl="0" algn="just" defTabSz="1422400">
              <a:lnSpc>
                <a:spcPct val="90000"/>
              </a:lnSpc>
              <a:spcBef>
                <a:spcPct val="0"/>
              </a:spcBef>
              <a:spcAft>
                <a:spcPct val="35000"/>
              </a:spcAft>
            </a:pPr>
            <a:r>
              <a:rPr lang="es-CO" sz="3200" dirty="0">
                <a:solidFill>
                  <a:schemeClr val="tx1"/>
                </a:solidFill>
              </a:rPr>
              <a:t>Para declarar un vector en C++ se usa lo siguiente:</a:t>
            </a:r>
          </a:p>
          <a:p>
            <a:pPr lvl="0" defTabSz="1422400">
              <a:lnSpc>
                <a:spcPct val="90000"/>
              </a:lnSpc>
              <a:spcBef>
                <a:spcPct val="0"/>
              </a:spcBef>
              <a:spcAft>
                <a:spcPct val="35000"/>
              </a:spcAft>
            </a:pPr>
            <a:r>
              <a:rPr lang="es-CO" sz="3200" b="1" dirty="0">
                <a:solidFill>
                  <a:schemeClr val="tx1"/>
                </a:solidFill>
              </a:rPr>
              <a:t>     </a:t>
            </a:r>
            <a:r>
              <a:rPr lang="es-CO" sz="3200" b="1" dirty="0">
                <a:solidFill>
                  <a:schemeClr val="tx1"/>
                </a:solidFill>
                <a:effectLst>
                  <a:outerShdw blurRad="38100" dist="38100" dir="2700000" algn="tl">
                    <a:srgbClr val="000000">
                      <a:alpha val="43137"/>
                    </a:srgbClr>
                  </a:outerShdw>
                </a:effectLst>
              </a:rPr>
              <a:t>TIPO_DATO  NOMBRE_VECTOR[DIMENSION]:</a:t>
            </a:r>
          </a:p>
          <a:p>
            <a:pPr lvl="0" defTabSz="1422400">
              <a:lnSpc>
                <a:spcPct val="90000"/>
              </a:lnSpc>
              <a:spcBef>
                <a:spcPct val="0"/>
              </a:spcBef>
              <a:spcAft>
                <a:spcPct val="35000"/>
              </a:spcAft>
            </a:pPr>
            <a:endParaRPr lang="es-CO" sz="3200" b="1" dirty="0">
              <a:solidFill>
                <a:schemeClr val="tx1"/>
              </a:solidFill>
              <a:effectLst>
                <a:outerShdw blurRad="38100" dist="38100" dir="2700000" algn="tl">
                  <a:srgbClr val="000000">
                    <a:alpha val="43137"/>
                  </a:srgbClr>
                </a:outerShdw>
              </a:effectLst>
            </a:endParaRPr>
          </a:p>
          <a:p>
            <a:pPr lvl="0" algn="just" defTabSz="1422400">
              <a:lnSpc>
                <a:spcPct val="90000"/>
              </a:lnSpc>
              <a:spcBef>
                <a:spcPct val="0"/>
              </a:spcBef>
              <a:spcAft>
                <a:spcPct val="35000"/>
              </a:spcAft>
            </a:pPr>
            <a:r>
              <a:rPr lang="es-CO" sz="3200" b="1" dirty="0">
                <a:solidFill>
                  <a:schemeClr val="tx1"/>
                </a:solidFill>
              </a:rPr>
              <a:t>int </a:t>
            </a:r>
            <a:r>
              <a:rPr lang="es-CO" sz="3200" b="1" dirty="0" err="1">
                <a:solidFill>
                  <a:schemeClr val="tx1"/>
                </a:solidFill>
              </a:rPr>
              <a:t>arregloEntero</a:t>
            </a:r>
            <a:r>
              <a:rPr lang="es-CO" sz="3200" b="1" dirty="0">
                <a:solidFill>
                  <a:schemeClr val="tx1"/>
                </a:solidFill>
              </a:rPr>
              <a:t>[10]; </a:t>
            </a:r>
          </a:p>
          <a:p>
            <a:pPr lvl="0" algn="just" defTabSz="1422400">
              <a:lnSpc>
                <a:spcPct val="90000"/>
              </a:lnSpc>
              <a:spcBef>
                <a:spcPct val="0"/>
              </a:spcBef>
              <a:spcAft>
                <a:spcPct val="35000"/>
              </a:spcAft>
            </a:pPr>
            <a:endParaRPr lang="es-CO" sz="3200" b="1" dirty="0">
              <a:solidFill>
                <a:schemeClr val="tx1"/>
              </a:solidFill>
            </a:endParaRPr>
          </a:p>
          <a:p>
            <a:pPr lvl="0" algn="just" defTabSz="1422400">
              <a:lnSpc>
                <a:spcPct val="90000"/>
              </a:lnSpc>
              <a:spcBef>
                <a:spcPct val="0"/>
              </a:spcBef>
              <a:spcAft>
                <a:spcPct val="35000"/>
              </a:spcAft>
            </a:pPr>
            <a:r>
              <a:rPr lang="es-CO" sz="3200" b="1" dirty="0">
                <a:solidFill>
                  <a:schemeClr val="tx1"/>
                </a:solidFill>
              </a:rPr>
              <a:t>int a[4], b[50];</a:t>
            </a:r>
            <a:r>
              <a:rPr lang="es-CO" sz="3200" dirty="0">
                <a:solidFill>
                  <a:schemeClr val="tx1"/>
                </a:solidFill>
              </a:rPr>
              <a:t> </a:t>
            </a:r>
          </a:p>
          <a:p>
            <a:pPr lvl="0" algn="just" defTabSz="1422400">
              <a:lnSpc>
                <a:spcPct val="90000"/>
              </a:lnSpc>
              <a:spcBef>
                <a:spcPct val="0"/>
              </a:spcBef>
              <a:spcAft>
                <a:spcPct val="35000"/>
              </a:spcAft>
            </a:pPr>
            <a:endParaRPr lang="es-CO" sz="3200" b="1" dirty="0">
              <a:solidFill>
                <a:schemeClr val="tx1"/>
              </a:solidFill>
            </a:endParaRPr>
          </a:p>
          <a:p>
            <a:pPr lvl="0" algn="just" defTabSz="1422400">
              <a:lnSpc>
                <a:spcPct val="90000"/>
              </a:lnSpc>
              <a:spcBef>
                <a:spcPct val="0"/>
              </a:spcBef>
              <a:spcAft>
                <a:spcPct val="35000"/>
              </a:spcAft>
            </a:pPr>
            <a:r>
              <a:rPr lang="es-CO" sz="3200" b="1" dirty="0" err="1">
                <a:solidFill>
                  <a:schemeClr val="tx1"/>
                </a:solidFill>
              </a:rPr>
              <a:t>bool</a:t>
            </a:r>
            <a:r>
              <a:rPr lang="es-CO" sz="3200" b="1" dirty="0">
                <a:solidFill>
                  <a:schemeClr val="tx1"/>
                </a:solidFill>
              </a:rPr>
              <a:t> arreglo[4];</a:t>
            </a:r>
            <a:r>
              <a:rPr lang="es-CO" sz="3200" dirty="0">
                <a:solidFill>
                  <a:schemeClr val="tx1"/>
                </a:solidFill>
              </a:rPr>
              <a:t> </a:t>
            </a:r>
            <a:endParaRPr lang="es-MX" sz="3200" dirty="0"/>
          </a:p>
        </p:txBody>
      </p:sp>
      <p:sp>
        <p:nvSpPr>
          <p:cNvPr id="8" name="AutoShape 16">
            <a:extLst>
              <a:ext uri="{FF2B5EF4-FFF2-40B4-BE49-F238E27FC236}">
                <a16:creationId xmlns:a16="http://schemas.microsoft.com/office/drawing/2014/main" id="{DA25943F-A738-462D-92E9-CA29393469B3}"/>
              </a:ext>
            </a:extLst>
          </p:cNvPr>
          <p:cNvSpPr>
            <a:spLocks noChangeArrowheads="1"/>
          </p:cNvSpPr>
          <p:nvPr/>
        </p:nvSpPr>
        <p:spPr bwMode="auto">
          <a:xfrm>
            <a:off x="5252722" y="3246879"/>
            <a:ext cx="5059677" cy="914400"/>
          </a:xfrm>
          <a:prstGeom prst="wedgeRectCallout">
            <a:avLst>
              <a:gd name="adj1" fmla="val -64169"/>
              <a:gd name="adj2" fmla="val -4612"/>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algn="ctr"/>
            <a:r>
              <a:rPr lang="es-CO" sz="2800" dirty="0">
                <a:solidFill>
                  <a:schemeClr val="tx1"/>
                </a:solidFill>
              </a:rPr>
              <a:t>Declaración de un arreglo entero. 10 elementos. No inicializar.</a:t>
            </a:r>
            <a:endParaRPr lang="es-ES" sz="2800" b="1"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9" name="AutoShape 16">
            <a:extLst>
              <a:ext uri="{FF2B5EF4-FFF2-40B4-BE49-F238E27FC236}">
                <a16:creationId xmlns:a16="http://schemas.microsoft.com/office/drawing/2014/main" id="{82444E54-2A4F-4D05-9CE4-4CC610268349}"/>
              </a:ext>
            </a:extLst>
          </p:cNvPr>
          <p:cNvSpPr>
            <a:spLocks noChangeArrowheads="1"/>
          </p:cNvSpPr>
          <p:nvPr/>
        </p:nvSpPr>
        <p:spPr bwMode="auto">
          <a:xfrm>
            <a:off x="4480560" y="4283199"/>
            <a:ext cx="5852158" cy="914400"/>
          </a:xfrm>
          <a:prstGeom prst="wedgeRectCallout">
            <a:avLst>
              <a:gd name="adj1" fmla="val -72537"/>
              <a:gd name="adj2" fmla="val 7611"/>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lvl="0" algn="just" defTabSz="1422400">
              <a:lnSpc>
                <a:spcPct val="90000"/>
              </a:lnSpc>
              <a:spcBef>
                <a:spcPct val="0"/>
              </a:spcBef>
              <a:spcAft>
                <a:spcPct val="35000"/>
              </a:spcAft>
            </a:pPr>
            <a:r>
              <a:rPr lang="es-CO" sz="2800" dirty="0">
                <a:solidFill>
                  <a:schemeClr val="tx1"/>
                </a:solidFill>
              </a:rPr>
              <a:t>Declaración de dos arreglos enteros, de 4 y 50 elementos, respectivamente.</a:t>
            </a:r>
          </a:p>
        </p:txBody>
      </p:sp>
      <p:sp>
        <p:nvSpPr>
          <p:cNvPr id="10" name="AutoShape 16">
            <a:extLst>
              <a:ext uri="{FF2B5EF4-FFF2-40B4-BE49-F238E27FC236}">
                <a16:creationId xmlns:a16="http://schemas.microsoft.com/office/drawing/2014/main" id="{D7378928-4253-45A2-8EA0-09F6308FB1B7}"/>
              </a:ext>
            </a:extLst>
          </p:cNvPr>
          <p:cNvSpPr>
            <a:spLocks noChangeArrowheads="1"/>
          </p:cNvSpPr>
          <p:nvPr/>
        </p:nvSpPr>
        <p:spPr bwMode="auto">
          <a:xfrm>
            <a:off x="4480560" y="5455919"/>
            <a:ext cx="5852159" cy="914400"/>
          </a:xfrm>
          <a:prstGeom prst="wedgeRectCallout">
            <a:avLst>
              <a:gd name="adj1" fmla="val -57161"/>
              <a:gd name="adj2" fmla="val 18239"/>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lvl="0" algn="just" defTabSz="1422400">
              <a:lnSpc>
                <a:spcPct val="90000"/>
              </a:lnSpc>
              <a:spcBef>
                <a:spcPct val="0"/>
              </a:spcBef>
              <a:spcAft>
                <a:spcPct val="35000"/>
              </a:spcAft>
            </a:pPr>
            <a:r>
              <a:rPr lang="es-CO" sz="2800" dirty="0">
                <a:solidFill>
                  <a:schemeClr val="tx1"/>
                </a:solidFill>
              </a:rPr>
              <a:t>Declaración de un vector de 4 elementos booleanos.</a:t>
            </a:r>
          </a:p>
        </p:txBody>
      </p:sp>
    </p:spTree>
    <p:extLst>
      <p:ext uri="{BB962C8B-B14F-4D97-AF65-F5344CB8AC3E}">
        <p14:creationId xmlns:p14="http://schemas.microsoft.com/office/powerpoint/2010/main" val="310077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up)">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up)">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up)">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1"/>
            <a:ext cx="11094720" cy="873760"/>
          </a:xfrm>
        </p:spPr>
        <p:txBody>
          <a:bodyPr>
            <a:normAutofit/>
          </a:bodyPr>
          <a:lstStyle/>
          <a:p>
            <a:pPr algn="ctr"/>
            <a:r>
              <a:rPr lang="es-CO" sz="4200" b="1" dirty="0">
                <a:latin typeface="Bahnschrift Light SemiCondensed" panose="020B0502040204020203" pitchFamily="34" charset="0"/>
              </a:rPr>
              <a:t>“DECLARAR/INICIALIZAR VECTORES EN C++”</a:t>
            </a:r>
          </a:p>
        </p:txBody>
      </p:sp>
      <p:sp>
        <p:nvSpPr>
          <p:cNvPr id="7" name="CuadroTexto 6">
            <a:extLst>
              <a:ext uri="{FF2B5EF4-FFF2-40B4-BE49-F238E27FC236}">
                <a16:creationId xmlns:a16="http://schemas.microsoft.com/office/drawing/2014/main" id="{B3245438-2EFA-4DBF-85CF-60E0A78BBF68}"/>
              </a:ext>
            </a:extLst>
          </p:cNvPr>
          <p:cNvSpPr txBox="1"/>
          <p:nvPr/>
        </p:nvSpPr>
        <p:spPr>
          <a:xfrm>
            <a:off x="721360" y="1280161"/>
            <a:ext cx="9712960" cy="5283199"/>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pPr lvl="0" algn="just" defTabSz="1422400">
              <a:lnSpc>
                <a:spcPct val="90000"/>
              </a:lnSpc>
              <a:spcBef>
                <a:spcPct val="0"/>
              </a:spcBef>
              <a:spcAft>
                <a:spcPct val="35000"/>
              </a:spcAft>
            </a:pPr>
            <a:endParaRPr lang="es-CO" sz="3200" b="1" dirty="0">
              <a:solidFill>
                <a:schemeClr val="tx1"/>
              </a:solidFill>
            </a:endParaRPr>
          </a:p>
          <a:p>
            <a:pPr lvl="0" algn="just" defTabSz="1422400">
              <a:lnSpc>
                <a:spcPct val="90000"/>
              </a:lnSpc>
              <a:spcBef>
                <a:spcPct val="0"/>
              </a:spcBef>
              <a:spcAft>
                <a:spcPct val="35000"/>
              </a:spcAft>
            </a:pPr>
            <a:r>
              <a:rPr lang="es-CO" sz="3200" b="1" dirty="0" err="1">
                <a:solidFill>
                  <a:schemeClr val="tx1"/>
                </a:solidFill>
              </a:rPr>
              <a:t>int</a:t>
            </a:r>
            <a:r>
              <a:rPr lang="es-CO" sz="3200" b="1" dirty="0">
                <a:solidFill>
                  <a:schemeClr val="tx1"/>
                </a:solidFill>
              </a:rPr>
              <a:t> a[10]={};</a:t>
            </a:r>
            <a:r>
              <a:rPr lang="es-CO" sz="3200" dirty="0">
                <a:solidFill>
                  <a:schemeClr val="tx1"/>
                </a:solidFill>
              </a:rPr>
              <a:t>  </a:t>
            </a:r>
          </a:p>
          <a:p>
            <a:pPr lvl="0" algn="just" defTabSz="1422400">
              <a:lnSpc>
                <a:spcPct val="90000"/>
              </a:lnSpc>
              <a:spcBef>
                <a:spcPct val="0"/>
              </a:spcBef>
              <a:spcAft>
                <a:spcPct val="35000"/>
              </a:spcAft>
            </a:pPr>
            <a:br>
              <a:rPr lang="es-CO" sz="3200" dirty="0">
                <a:solidFill>
                  <a:schemeClr val="tx1"/>
                </a:solidFill>
              </a:rPr>
            </a:br>
            <a:r>
              <a:rPr lang="es-CO" sz="3200" b="1" dirty="0" err="1">
                <a:solidFill>
                  <a:schemeClr val="tx1"/>
                </a:solidFill>
              </a:rPr>
              <a:t>int</a:t>
            </a:r>
            <a:r>
              <a:rPr lang="es-CO" sz="3200" b="1" dirty="0">
                <a:solidFill>
                  <a:schemeClr val="tx1"/>
                </a:solidFill>
              </a:rPr>
              <a:t> vector[10] = {8,20,5};</a:t>
            </a:r>
            <a:r>
              <a:rPr lang="es-CO" sz="3200" dirty="0">
                <a:solidFill>
                  <a:schemeClr val="tx1"/>
                </a:solidFill>
              </a:rPr>
              <a:t> </a:t>
            </a:r>
          </a:p>
          <a:p>
            <a:pPr lvl="0" algn="just" defTabSz="1422400">
              <a:lnSpc>
                <a:spcPct val="90000"/>
              </a:lnSpc>
              <a:spcBef>
                <a:spcPct val="0"/>
              </a:spcBef>
              <a:spcAft>
                <a:spcPct val="35000"/>
              </a:spcAft>
            </a:pPr>
            <a:br>
              <a:rPr lang="es-CO" sz="3200" dirty="0">
                <a:solidFill>
                  <a:schemeClr val="tx1"/>
                </a:solidFill>
              </a:rPr>
            </a:br>
            <a:r>
              <a:rPr lang="it-IT" sz="3200" b="1" dirty="0">
                <a:solidFill>
                  <a:schemeClr val="tx1"/>
                </a:solidFill>
              </a:rPr>
              <a:t>string Pais[3] = {"Colombia", "Chile", "Perú"}; </a:t>
            </a:r>
          </a:p>
          <a:p>
            <a:pPr lvl="0" algn="just" defTabSz="1422400">
              <a:lnSpc>
                <a:spcPct val="90000"/>
              </a:lnSpc>
              <a:spcBef>
                <a:spcPct val="0"/>
              </a:spcBef>
              <a:spcAft>
                <a:spcPct val="35000"/>
              </a:spcAft>
            </a:pPr>
            <a:endParaRPr lang="it-IT" sz="3200" b="1" dirty="0">
              <a:solidFill>
                <a:schemeClr val="tx1"/>
              </a:solidFill>
            </a:endParaRPr>
          </a:p>
        </p:txBody>
      </p:sp>
      <p:sp>
        <p:nvSpPr>
          <p:cNvPr id="8" name="AutoShape 16">
            <a:extLst>
              <a:ext uri="{FF2B5EF4-FFF2-40B4-BE49-F238E27FC236}">
                <a16:creationId xmlns:a16="http://schemas.microsoft.com/office/drawing/2014/main" id="{DA25943F-A738-462D-92E9-CA29393469B3}"/>
              </a:ext>
            </a:extLst>
          </p:cNvPr>
          <p:cNvSpPr>
            <a:spLocks noChangeArrowheads="1"/>
          </p:cNvSpPr>
          <p:nvPr/>
        </p:nvSpPr>
        <p:spPr bwMode="auto">
          <a:xfrm>
            <a:off x="2961641" y="1514680"/>
            <a:ext cx="7350761" cy="976354"/>
          </a:xfrm>
          <a:prstGeom prst="wedgeRectCallout">
            <a:avLst>
              <a:gd name="adj1" fmla="val -48882"/>
              <a:gd name="adj2" fmla="val 91477"/>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algn="ctr"/>
            <a:r>
              <a:rPr lang="es-CO" sz="2800" dirty="0">
                <a:solidFill>
                  <a:schemeClr val="tx1"/>
                </a:solidFill>
              </a:rPr>
              <a:t>//Declaración de un arreglo de 10 elementos e inicializando cada posición en 0.</a:t>
            </a:r>
            <a:endParaRPr lang="es-ES" sz="2800" b="1"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9" name="AutoShape 16">
            <a:extLst>
              <a:ext uri="{FF2B5EF4-FFF2-40B4-BE49-F238E27FC236}">
                <a16:creationId xmlns:a16="http://schemas.microsoft.com/office/drawing/2014/main" id="{82444E54-2A4F-4D05-9CE4-4CC610268349}"/>
              </a:ext>
            </a:extLst>
          </p:cNvPr>
          <p:cNvSpPr>
            <a:spLocks noChangeArrowheads="1"/>
          </p:cNvSpPr>
          <p:nvPr/>
        </p:nvSpPr>
        <p:spPr bwMode="auto">
          <a:xfrm>
            <a:off x="5577840" y="2592635"/>
            <a:ext cx="4734562" cy="2133390"/>
          </a:xfrm>
          <a:prstGeom prst="wedgeRectCallout">
            <a:avLst>
              <a:gd name="adj1" fmla="val -62984"/>
              <a:gd name="adj2" fmla="val 11769"/>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lvl="0" algn="just" defTabSz="1422400">
              <a:lnSpc>
                <a:spcPct val="90000"/>
              </a:lnSpc>
              <a:spcBef>
                <a:spcPct val="0"/>
              </a:spcBef>
              <a:spcAft>
                <a:spcPct val="35000"/>
              </a:spcAft>
            </a:pPr>
            <a:r>
              <a:rPr lang="es-CO" sz="2800" dirty="0">
                <a:solidFill>
                  <a:schemeClr val="tx1"/>
                </a:solidFill>
              </a:rPr>
              <a:t>//Declaración de un vector de 10 elementos y asignación del elemento 8 a la posición 0, el elemento 20 a la posición 1 y el elemento 5 a la posición 2.</a:t>
            </a:r>
          </a:p>
        </p:txBody>
      </p:sp>
      <p:sp>
        <p:nvSpPr>
          <p:cNvPr id="10" name="AutoShape 16">
            <a:extLst>
              <a:ext uri="{FF2B5EF4-FFF2-40B4-BE49-F238E27FC236}">
                <a16:creationId xmlns:a16="http://schemas.microsoft.com/office/drawing/2014/main" id="{D7378928-4253-45A2-8EA0-09F6308FB1B7}"/>
              </a:ext>
            </a:extLst>
          </p:cNvPr>
          <p:cNvSpPr>
            <a:spLocks noChangeArrowheads="1"/>
          </p:cNvSpPr>
          <p:nvPr/>
        </p:nvSpPr>
        <p:spPr bwMode="auto">
          <a:xfrm>
            <a:off x="2661920" y="5712750"/>
            <a:ext cx="6654800" cy="749008"/>
          </a:xfrm>
          <a:prstGeom prst="wedgeRectCallout">
            <a:avLst>
              <a:gd name="adj1" fmla="val 2478"/>
              <a:gd name="adj2" fmla="val -127527"/>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lvl="0" algn="just" defTabSz="1422400">
              <a:lnSpc>
                <a:spcPct val="90000"/>
              </a:lnSpc>
              <a:spcBef>
                <a:spcPct val="0"/>
              </a:spcBef>
              <a:spcAft>
                <a:spcPct val="35000"/>
              </a:spcAft>
            </a:pPr>
            <a:r>
              <a:rPr lang="es-CO" sz="2800" dirty="0">
                <a:solidFill>
                  <a:schemeClr val="tx1"/>
                </a:solidFill>
              </a:rPr>
              <a:t>// Declaración de un arreglo de 3 elementos inicializado en estos tres países.</a:t>
            </a:r>
          </a:p>
        </p:txBody>
      </p:sp>
    </p:spTree>
    <p:extLst>
      <p:ext uri="{BB962C8B-B14F-4D97-AF65-F5344CB8AC3E}">
        <p14:creationId xmlns:p14="http://schemas.microsoft.com/office/powerpoint/2010/main" val="2507702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up)">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up)">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up)">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B3245438-2EFA-4DBF-85CF-60E0A78BBF68}"/>
              </a:ext>
            </a:extLst>
          </p:cNvPr>
          <p:cNvSpPr txBox="1"/>
          <p:nvPr/>
        </p:nvSpPr>
        <p:spPr>
          <a:xfrm>
            <a:off x="721360" y="1280161"/>
            <a:ext cx="9712960" cy="5283199"/>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pPr lvl="0" algn="just" defTabSz="1422400">
              <a:lnSpc>
                <a:spcPct val="90000"/>
              </a:lnSpc>
              <a:spcBef>
                <a:spcPct val="0"/>
              </a:spcBef>
              <a:spcAft>
                <a:spcPct val="35000"/>
              </a:spcAft>
            </a:pPr>
            <a:endParaRPr lang="es-CO" sz="3200" b="1" dirty="0">
              <a:solidFill>
                <a:schemeClr val="tx1"/>
              </a:solidFill>
            </a:endParaRPr>
          </a:p>
          <a:p>
            <a:pPr lvl="0" algn="just" defTabSz="1422400">
              <a:lnSpc>
                <a:spcPct val="90000"/>
              </a:lnSpc>
              <a:spcBef>
                <a:spcPct val="0"/>
              </a:spcBef>
              <a:spcAft>
                <a:spcPct val="35000"/>
              </a:spcAft>
            </a:pPr>
            <a:r>
              <a:rPr lang="es-CO" sz="3200" b="1" dirty="0" err="1">
                <a:solidFill>
                  <a:schemeClr val="tx1"/>
                </a:solidFill>
              </a:rPr>
              <a:t>float</a:t>
            </a:r>
            <a:r>
              <a:rPr lang="es-CO" sz="3200" b="1" dirty="0">
                <a:solidFill>
                  <a:schemeClr val="tx1"/>
                </a:solidFill>
              </a:rPr>
              <a:t> VEC[5]={1.2, 1.5, 1.9, 2.0, 3.2};</a:t>
            </a:r>
            <a:r>
              <a:rPr lang="es-CO" sz="3200" dirty="0">
                <a:solidFill>
                  <a:schemeClr val="tx1"/>
                </a:solidFill>
              </a:rPr>
              <a:t>  </a:t>
            </a:r>
          </a:p>
          <a:p>
            <a:pPr lvl="0" algn="just" defTabSz="1422400">
              <a:lnSpc>
                <a:spcPct val="90000"/>
              </a:lnSpc>
              <a:spcBef>
                <a:spcPct val="0"/>
              </a:spcBef>
              <a:spcAft>
                <a:spcPct val="35000"/>
              </a:spcAft>
            </a:pPr>
            <a:br>
              <a:rPr lang="es-CO" sz="3200" dirty="0">
                <a:solidFill>
                  <a:schemeClr val="tx1"/>
                </a:solidFill>
              </a:rPr>
            </a:br>
            <a:r>
              <a:rPr lang="es-CO" sz="3200" b="1" dirty="0" err="1">
                <a:solidFill>
                  <a:schemeClr val="tx1"/>
                </a:solidFill>
              </a:rPr>
              <a:t>float</a:t>
            </a:r>
            <a:r>
              <a:rPr lang="es-CO" sz="3200" b="1" dirty="0">
                <a:solidFill>
                  <a:schemeClr val="tx1"/>
                </a:solidFill>
              </a:rPr>
              <a:t> vector[] = {4.5, 3.2, 5.0};</a:t>
            </a:r>
            <a:r>
              <a:rPr lang="es-CO" sz="3200" dirty="0">
                <a:solidFill>
                  <a:schemeClr val="tx1"/>
                </a:solidFill>
              </a:rPr>
              <a:t> </a:t>
            </a:r>
          </a:p>
          <a:p>
            <a:pPr lvl="0" algn="just" defTabSz="1422400">
              <a:lnSpc>
                <a:spcPct val="90000"/>
              </a:lnSpc>
              <a:spcBef>
                <a:spcPct val="0"/>
              </a:spcBef>
              <a:spcAft>
                <a:spcPct val="35000"/>
              </a:spcAft>
            </a:pPr>
            <a:br>
              <a:rPr lang="es-CO" sz="3200" dirty="0">
                <a:solidFill>
                  <a:schemeClr val="tx1"/>
                </a:solidFill>
              </a:rPr>
            </a:br>
            <a:r>
              <a:rPr lang="es-CO" sz="3200" b="1" dirty="0" err="1">
                <a:solidFill>
                  <a:schemeClr val="tx1"/>
                </a:solidFill>
              </a:rPr>
              <a:t>char</a:t>
            </a:r>
            <a:r>
              <a:rPr lang="es-CO" sz="3200" b="1" dirty="0">
                <a:solidFill>
                  <a:schemeClr val="tx1"/>
                </a:solidFill>
              </a:rPr>
              <a:t> Mensaje []="Error"; </a:t>
            </a:r>
          </a:p>
          <a:p>
            <a:pPr lvl="0" algn="just" defTabSz="1422400">
              <a:lnSpc>
                <a:spcPct val="90000"/>
              </a:lnSpc>
              <a:spcBef>
                <a:spcPct val="0"/>
              </a:spcBef>
              <a:spcAft>
                <a:spcPct val="35000"/>
              </a:spcAft>
            </a:pPr>
            <a:r>
              <a:rPr lang="es-CO" sz="3200" b="1" dirty="0">
                <a:solidFill>
                  <a:schemeClr val="tx1"/>
                </a:solidFill>
              </a:rPr>
              <a:t> </a:t>
            </a:r>
            <a:br>
              <a:rPr lang="es-CO" sz="3200" dirty="0">
                <a:solidFill>
                  <a:schemeClr val="tx1"/>
                </a:solidFill>
              </a:rPr>
            </a:br>
            <a:r>
              <a:rPr lang="es-CO" sz="3200" b="1" dirty="0" err="1">
                <a:solidFill>
                  <a:schemeClr val="tx1"/>
                </a:solidFill>
              </a:rPr>
              <a:t>char</a:t>
            </a:r>
            <a:r>
              <a:rPr lang="es-CO" sz="3200" b="1" dirty="0">
                <a:solidFill>
                  <a:schemeClr val="tx1"/>
                </a:solidFill>
              </a:rPr>
              <a:t> Mensaje []={'E', 'r', 'r', 'o', 'r',0};  </a:t>
            </a:r>
          </a:p>
          <a:p>
            <a:pPr lvl="0" algn="just" defTabSz="1422400">
              <a:lnSpc>
                <a:spcPct val="90000"/>
              </a:lnSpc>
              <a:spcBef>
                <a:spcPct val="0"/>
              </a:spcBef>
              <a:spcAft>
                <a:spcPct val="35000"/>
              </a:spcAft>
            </a:pPr>
            <a:endParaRPr lang="it-IT" sz="3200" b="1" dirty="0">
              <a:solidFill>
                <a:schemeClr val="tx1"/>
              </a:solidFill>
            </a:endParaRPr>
          </a:p>
        </p:txBody>
      </p:sp>
      <p:sp>
        <p:nvSpPr>
          <p:cNvPr id="8" name="AutoShape 16">
            <a:extLst>
              <a:ext uri="{FF2B5EF4-FFF2-40B4-BE49-F238E27FC236}">
                <a16:creationId xmlns:a16="http://schemas.microsoft.com/office/drawing/2014/main" id="{DA25943F-A738-462D-92E9-CA29393469B3}"/>
              </a:ext>
            </a:extLst>
          </p:cNvPr>
          <p:cNvSpPr>
            <a:spLocks noChangeArrowheads="1"/>
          </p:cNvSpPr>
          <p:nvPr/>
        </p:nvSpPr>
        <p:spPr bwMode="auto">
          <a:xfrm>
            <a:off x="7119619" y="1445889"/>
            <a:ext cx="4970781" cy="976354"/>
          </a:xfrm>
          <a:prstGeom prst="wedgeRectCallout">
            <a:avLst>
              <a:gd name="adj1" fmla="val -55423"/>
              <a:gd name="adj2" fmla="val 23838"/>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algn="ctr"/>
            <a:r>
              <a:rPr lang="es-CO" sz="2800" dirty="0">
                <a:solidFill>
                  <a:schemeClr val="tx1"/>
                </a:solidFill>
              </a:rPr>
              <a:t>//Declaración e inicialización arreglo flotante de 5 elementos.</a:t>
            </a:r>
            <a:endParaRPr lang="es-ES" sz="2800" b="1"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9" name="AutoShape 16">
            <a:extLst>
              <a:ext uri="{FF2B5EF4-FFF2-40B4-BE49-F238E27FC236}">
                <a16:creationId xmlns:a16="http://schemas.microsoft.com/office/drawing/2014/main" id="{82444E54-2A4F-4D05-9CE4-4CC610268349}"/>
              </a:ext>
            </a:extLst>
          </p:cNvPr>
          <p:cNvSpPr>
            <a:spLocks noChangeArrowheads="1"/>
          </p:cNvSpPr>
          <p:nvPr/>
        </p:nvSpPr>
        <p:spPr bwMode="auto">
          <a:xfrm>
            <a:off x="6096000" y="2587971"/>
            <a:ext cx="5994399" cy="1175369"/>
          </a:xfrm>
          <a:prstGeom prst="wedgeRectCallout">
            <a:avLst>
              <a:gd name="adj1" fmla="val -55114"/>
              <a:gd name="adj2" fmla="val 8750"/>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lvl="0" algn="just" defTabSz="1422400">
              <a:lnSpc>
                <a:spcPct val="90000"/>
              </a:lnSpc>
              <a:spcBef>
                <a:spcPct val="0"/>
              </a:spcBef>
              <a:spcAft>
                <a:spcPct val="35000"/>
              </a:spcAft>
            </a:pPr>
            <a:r>
              <a:rPr lang="es-CO" sz="2800" dirty="0">
                <a:solidFill>
                  <a:schemeClr val="tx1"/>
                </a:solidFill>
              </a:rPr>
              <a:t>//Declaración de un vector sin dimensión: dimensión será la cantidad de elementos de inicialización[3].</a:t>
            </a:r>
          </a:p>
        </p:txBody>
      </p:sp>
      <p:sp>
        <p:nvSpPr>
          <p:cNvPr id="10" name="AutoShape 16">
            <a:extLst>
              <a:ext uri="{FF2B5EF4-FFF2-40B4-BE49-F238E27FC236}">
                <a16:creationId xmlns:a16="http://schemas.microsoft.com/office/drawing/2014/main" id="{D7378928-4253-45A2-8EA0-09F6308FB1B7}"/>
              </a:ext>
            </a:extLst>
          </p:cNvPr>
          <p:cNvSpPr>
            <a:spLocks noChangeArrowheads="1"/>
          </p:cNvSpPr>
          <p:nvPr/>
        </p:nvSpPr>
        <p:spPr bwMode="auto">
          <a:xfrm>
            <a:off x="5801360" y="3987980"/>
            <a:ext cx="4490717" cy="1175369"/>
          </a:xfrm>
          <a:prstGeom prst="wedgeRectCallout">
            <a:avLst>
              <a:gd name="adj1" fmla="val -66598"/>
              <a:gd name="adj2" fmla="val -16297"/>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lvl="0" algn="just" defTabSz="1422400">
              <a:lnSpc>
                <a:spcPct val="90000"/>
              </a:lnSpc>
              <a:spcBef>
                <a:spcPct val="0"/>
              </a:spcBef>
              <a:spcAft>
                <a:spcPct val="35000"/>
              </a:spcAft>
            </a:pPr>
            <a:r>
              <a:rPr lang="es-CO" sz="2800" dirty="0">
                <a:solidFill>
                  <a:schemeClr val="tx1"/>
                </a:solidFill>
              </a:rPr>
              <a:t>// Declaración e inicialización de un vector de 5 elementos tipo </a:t>
            </a:r>
            <a:r>
              <a:rPr lang="es-CO" sz="2800" dirty="0" err="1">
                <a:solidFill>
                  <a:schemeClr val="tx1"/>
                </a:solidFill>
              </a:rPr>
              <a:t>char</a:t>
            </a:r>
            <a:r>
              <a:rPr lang="es-CO" sz="2800" dirty="0">
                <a:solidFill>
                  <a:schemeClr val="tx1"/>
                </a:solidFill>
              </a:rPr>
              <a:t>.</a:t>
            </a:r>
          </a:p>
        </p:txBody>
      </p:sp>
      <p:sp>
        <p:nvSpPr>
          <p:cNvPr id="11" name="AutoShape 16">
            <a:extLst>
              <a:ext uri="{FF2B5EF4-FFF2-40B4-BE49-F238E27FC236}">
                <a16:creationId xmlns:a16="http://schemas.microsoft.com/office/drawing/2014/main" id="{0866A582-2414-4C33-B5D6-0E5045246DA4}"/>
              </a:ext>
            </a:extLst>
          </p:cNvPr>
          <p:cNvSpPr>
            <a:spLocks noChangeArrowheads="1"/>
          </p:cNvSpPr>
          <p:nvPr/>
        </p:nvSpPr>
        <p:spPr bwMode="auto">
          <a:xfrm>
            <a:off x="5344160" y="5862952"/>
            <a:ext cx="4947917" cy="859778"/>
          </a:xfrm>
          <a:prstGeom prst="wedgeRectCallout">
            <a:avLst>
              <a:gd name="adj1" fmla="val -63518"/>
              <a:gd name="adj2" fmla="val -62384"/>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algn="just" defTabSz="1422400">
              <a:lnSpc>
                <a:spcPct val="90000"/>
              </a:lnSpc>
              <a:spcBef>
                <a:spcPct val="0"/>
              </a:spcBef>
              <a:spcAft>
                <a:spcPct val="35000"/>
              </a:spcAft>
            </a:pPr>
            <a:r>
              <a:rPr lang="es-CO" sz="2800" b="1" dirty="0">
                <a:solidFill>
                  <a:schemeClr val="tx1"/>
                </a:solidFill>
              </a:rPr>
              <a:t>// </a:t>
            </a:r>
            <a:r>
              <a:rPr lang="es-CO" sz="2800" dirty="0">
                <a:solidFill>
                  <a:schemeClr val="tx1"/>
                </a:solidFill>
              </a:rPr>
              <a:t>Declaración e inicialización equivalente al anterior.</a:t>
            </a:r>
          </a:p>
        </p:txBody>
      </p:sp>
      <p:sp>
        <p:nvSpPr>
          <p:cNvPr id="12" name="Título 1">
            <a:extLst>
              <a:ext uri="{FF2B5EF4-FFF2-40B4-BE49-F238E27FC236}">
                <a16:creationId xmlns:a16="http://schemas.microsoft.com/office/drawing/2014/main" id="{6BDCEBCC-3CFD-46A1-8ADF-03600C59B519}"/>
              </a:ext>
            </a:extLst>
          </p:cNvPr>
          <p:cNvSpPr>
            <a:spLocks noGrp="1"/>
          </p:cNvSpPr>
          <p:nvPr>
            <p:ph type="title"/>
          </p:nvPr>
        </p:nvSpPr>
        <p:spPr>
          <a:xfrm>
            <a:off x="1127760" y="1"/>
            <a:ext cx="11064240" cy="873760"/>
          </a:xfrm>
        </p:spPr>
        <p:txBody>
          <a:bodyPr>
            <a:normAutofit/>
          </a:bodyPr>
          <a:lstStyle/>
          <a:p>
            <a:pPr algn="ctr"/>
            <a:r>
              <a:rPr lang="es-CO" sz="4200" b="1" dirty="0">
                <a:latin typeface="Bahnschrift Light SemiCondensed" panose="020B0502040204020203" pitchFamily="34" charset="0"/>
              </a:rPr>
              <a:t>“DECLARAR/INICIALIZAR VECTORES EN C++”</a:t>
            </a:r>
          </a:p>
        </p:txBody>
      </p:sp>
    </p:spTree>
    <p:extLst>
      <p:ext uri="{BB962C8B-B14F-4D97-AF65-F5344CB8AC3E}">
        <p14:creationId xmlns:p14="http://schemas.microsoft.com/office/powerpoint/2010/main" val="2151146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up)">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up)">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up)">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up)">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1"/>
            <a:ext cx="11094720" cy="873760"/>
          </a:xfrm>
        </p:spPr>
        <p:txBody>
          <a:bodyPr>
            <a:normAutofit/>
          </a:bodyPr>
          <a:lstStyle/>
          <a:p>
            <a:pPr algn="ctr"/>
            <a:r>
              <a:rPr lang="es-CO" sz="4200" b="1" dirty="0">
                <a:latin typeface="Bahnschrift Light SemiCondensed" panose="020B0502040204020203" pitchFamily="34" charset="0"/>
              </a:rPr>
              <a:t>“DEFINIR UN VECTOR USANDO POO EN C++”</a:t>
            </a:r>
          </a:p>
        </p:txBody>
      </p:sp>
      <p:sp>
        <p:nvSpPr>
          <p:cNvPr id="7" name="CuadroTexto 6">
            <a:extLst>
              <a:ext uri="{FF2B5EF4-FFF2-40B4-BE49-F238E27FC236}">
                <a16:creationId xmlns:a16="http://schemas.microsoft.com/office/drawing/2014/main" id="{B3245438-2EFA-4DBF-85CF-60E0A78BBF68}"/>
              </a:ext>
            </a:extLst>
          </p:cNvPr>
          <p:cNvSpPr txBox="1"/>
          <p:nvPr/>
        </p:nvSpPr>
        <p:spPr>
          <a:xfrm>
            <a:off x="721360" y="1280161"/>
            <a:ext cx="9712960" cy="5283199"/>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pPr lvl="0" algn="just" defTabSz="1422400">
              <a:lnSpc>
                <a:spcPct val="90000"/>
              </a:lnSpc>
              <a:spcBef>
                <a:spcPct val="0"/>
              </a:spcBef>
              <a:spcAft>
                <a:spcPct val="35000"/>
              </a:spcAft>
            </a:pPr>
            <a:r>
              <a:rPr lang="es-CO" sz="3200" b="1" dirty="0">
                <a:solidFill>
                  <a:schemeClr val="tx1"/>
                </a:solidFill>
              </a:rPr>
              <a:t>1-Definir vector con dimensión constante.</a:t>
            </a:r>
          </a:p>
          <a:p>
            <a:pPr lvl="1" algn="just" defTabSz="1422400">
              <a:lnSpc>
                <a:spcPct val="90000"/>
              </a:lnSpc>
              <a:spcBef>
                <a:spcPct val="0"/>
              </a:spcBef>
              <a:spcAft>
                <a:spcPct val="35000"/>
              </a:spcAft>
            </a:pPr>
            <a:r>
              <a:rPr lang="es-CO" sz="3200" b="1" i="1" dirty="0">
                <a:solidFill>
                  <a:schemeClr val="tx1"/>
                </a:solidFill>
                <a:effectLst>
                  <a:outerShdw blurRad="38100" dist="38100" dir="2700000" algn="tl">
                    <a:srgbClr val="000000">
                      <a:alpha val="43137"/>
                    </a:srgbClr>
                  </a:outerShdw>
                </a:effectLst>
              </a:rPr>
              <a:t>int</a:t>
            </a:r>
            <a:r>
              <a:rPr lang="es-CO" sz="3200" i="1" dirty="0">
                <a:solidFill>
                  <a:schemeClr val="tx1"/>
                </a:solidFill>
                <a:effectLst>
                  <a:outerShdw blurRad="38100" dist="38100" dir="2700000" algn="tl">
                    <a:srgbClr val="000000">
                      <a:alpha val="43137"/>
                    </a:srgbClr>
                  </a:outerShdw>
                </a:effectLst>
              </a:rPr>
              <a:t> *vector = new </a:t>
            </a:r>
            <a:r>
              <a:rPr lang="es-CO" sz="3200" b="1" i="1" dirty="0">
                <a:solidFill>
                  <a:schemeClr val="tx1"/>
                </a:solidFill>
                <a:effectLst>
                  <a:outerShdw blurRad="38100" dist="38100" dir="2700000" algn="tl">
                    <a:srgbClr val="000000">
                      <a:alpha val="43137"/>
                    </a:srgbClr>
                  </a:outerShdw>
                </a:effectLst>
              </a:rPr>
              <a:t>int</a:t>
            </a:r>
            <a:r>
              <a:rPr lang="es-CO" sz="3200" i="1" dirty="0">
                <a:solidFill>
                  <a:schemeClr val="tx1"/>
                </a:solidFill>
                <a:effectLst>
                  <a:outerShdw blurRad="38100" dist="38100" dir="2700000" algn="tl">
                    <a:srgbClr val="000000">
                      <a:alpha val="43137"/>
                    </a:srgbClr>
                  </a:outerShdw>
                </a:effectLst>
              </a:rPr>
              <a:t>[10];  </a:t>
            </a:r>
          </a:p>
          <a:p>
            <a:pPr lvl="0" algn="just" defTabSz="1422400">
              <a:lnSpc>
                <a:spcPct val="90000"/>
              </a:lnSpc>
              <a:spcBef>
                <a:spcPct val="0"/>
              </a:spcBef>
              <a:spcAft>
                <a:spcPct val="35000"/>
              </a:spcAft>
            </a:pPr>
            <a:endParaRPr lang="es-CO" sz="3200" dirty="0">
              <a:solidFill>
                <a:schemeClr val="tx1"/>
              </a:solidFill>
            </a:endParaRPr>
          </a:p>
          <a:p>
            <a:pPr lvl="0" algn="just" defTabSz="1422400">
              <a:lnSpc>
                <a:spcPct val="90000"/>
              </a:lnSpc>
              <a:spcBef>
                <a:spcPct val="0"/>
              </a:spcBef>
              <a:spcAft>
                <a:spcPct val="35000"/>
              </a:spcAft>
            </a:pPr>
            <a:endParaRPr lang="es-CO" sz="3200" dirty="0">
              <a:solidFill>
                <a:schemeClr val="tx1"/>
              </a:solidFill>
            </a:endParaRPr>
          </a:p>
          <a:p>
            <a:pPr algn="just" defTabSz="1422400">
              <a:lnSpc>
                <a:spcPct val="90000"/>
              </a:lnSpc>
              <a:spcBef>
                <a:spcPct val="0"/>
              </a:spcBef>
              <a:spcAft>
                <a:spcPct val="35000"/>
              </a:spcAft>
            </a:pPr>
            <a:r>
              <a:rPr lang="es-CO" sz="3200" b="1" dirty="0">
                <a:solidFill>
                  <a:schemeClr val="tx1"/>
                </a:solidFill>
              </a:rPr>
              <a:t>1-Definir vector con dimensión variable.</a:t>
            </a:r>
          </a:p>
          <a:p>
            <a:pPr lvl="1" algn="just" defTabSz="1422400">
              <a:lnSpc>
                <a:spcPct val="90000"/>
              </a:lnSpc>
              <a:spcBef>
                <a:spcPct val="0"/>
              </a:spcBef>
              <a:spcAft>
                <a:spcPct val="35000"/>
              </a:spcAft>
            </a:pPr>
            <a:r>
              <a:rPr lang="es-CO" sz="3200" i="1" dirty="0">
                <a:solidFill>
                  <a:schemeClr val="tx1"/>
                </a:solidFill>
                <a:effectLst>
                  <a:outerShdw blurRad="38100" dist="38100" dir="2700000" algn="tl">
                    <a:srgbClr val="000000">
                      <a:alpha val="43137"/>
                    </a:srgbClr>
                  </a:outerShdw>
                </a:effectLst>
              </a:rPr>
              <a:t>int N;</a:t>
            </a:r>
          </a:p>
          <a:p>
            <a:pPr lvl="1" algn="just" defTabSz="1422400">
              <a:lnSpc>
                <a:spcPct val="90000"/>
              </a:lnSpc>
              <a:spcBef>
                <a:spcPct val="0"/>
              </a:spcBef>
              <a:spcAft>
                <a:spcPct val="35000"/>
              </a:spcAft>
            </a:pPr>
            <a:r>
              <a:rPr lang="es-CO" sz="3200" i="1" dirty="0">
                <a:solidFill>
                  <a:schemeClr val="tx1"/>
                </a:solidFill>
                <a:effectLst>
                  <a:outerShdw blurRad="38100" dist="38100" dir="2700000" algn="tl">
                    <a:srgbClr val="000000">
                      <a:alpha val="43137"/>
                    </a:srgbClr>
                  </a:outerShdw>
                </a:effectLst>
              </a:rPr>
              <a:t>cin&gt;&gt;N;</a:t>
            </a:r>
          </a:p>
          <a:p>
            <a:pPr lvl="1" algn="just" defTabSz="1422400">
              <a:lnSpc>
                <a:spcPct val="90000"/>
              </a:lnSpc>
              <a:spcBef>
                <a:spcPct val="0"/>
              </a:spcBef>
              <a:spcAft>
                <a:spcPct val="35000"/>
              </a:spcAft>
            </a:pPr>
            <a:r>
              <a:rPr lang="es-CO" sz="3200" i="1" dirty="0">
                <a:solidFill>
                  <a:schemeClr val="tx1"/>
                </a:solidFill>
                <a:effectLst>
                  <a:outerShdw blurRad="38100" dist="38100" dir="2700000" algn="tl">
                    <a:srgbClr val="000000">
                      <a:alpha val="43137"/>
                    </a:srgbClr>
                  </a:outerShdw>
                </a:effectLst>
              </a:rPr>
              <a:t>int *vector = new int[N];  </a:t>
            </a:r>
            <a:endParaRPr lang="it-IT" sz="3200" i="1" dirty="0">
              <a:solidFill>
                <a:schemeClr val="tx1"/>
              </a:solidFill>
              <a:effectLst>
                <a:outerShdw blurRad="38100" dist="38100" dir="2700000" algn="tl">
                  <a:srgbClr val="000000">
                    <a:alpha val="43137"/>
                  </a:srgbClr>
                </a:outerShdw>
              </a:effectLst>
            </a:endParaRPr>
          </a:p>
        </p:txBody>
      </p:sp>
      <p:sp>
        <p:nvSpPr>
          <p:cNvPr id="10" name="AutoShape 16">
            <a:extLst>
              <a:ext uri="{FF2B5EF4-FFF2-40B4-BE49-F238E27FC236}">
                <a16:creationId xmlns:a16="http://schemas.microsoft.com/office/drawing/2014/main" id="{D7378928-4253-45A2-8EA0-09F6308FB1B7}"/>
              </a:ext>
            </a:extLst>
          </p:cNvPr>
          <p:cNvSpPr>
            <a:spLocks noChangeArrowheads="1"/>
          </p:cNvSpPr>
          <p:nvPr/>
        </p:nvSpPr>
        <p:spPr bwMode="auto">
          <a:xfrm>
            <a:off x="996022" y="2792608"/>
            <a:ext cx="9163635" cy="505396"/>
          </a:xfrm>
          <a:prstGeom prst="wedgeRectCallout">
            <a:avLst>
              <a:gd name="adj1" fmla="val -41585"/>
              <a:gd name="adj2" fmla="val -91714"/>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p>
            <a:pPr lvl="0" algn="just" defTabSz="1422400">
              <a:lnSpc>
                <a:spcPct val="90000"/>
              </a:lnSpc>
              <a:spcBef>
                <a:spcPct val="0"/>
              </a:spcBef>
              <a:spcAft>
                <a:spcPct val="35000"/>
              </a:spcAft>
            </a:pPr>
            <a:r>
              <a:rPr lang="es-CO" sz="2800" dirty="0">
                <a:solidFill>
                  <a:schemeClr val="tx1"/>
                </a:solidFill>
              </a:rPr>
              <a:t>Se repite el tipo de datos al inicio y al final de la declaración.</a:t>
            </a:r>
          </a:p>
        </p:txBody>
      </p:sp>
    </p:spTree>
    <p:extLst>
      <p:ext uri="{BB962C8B-B14F-4D97-AF65-F5344CB8AC3E}">
        <p14:creationId xmlns:p14="http://schemas.microsoft.com/office/powerpoint/2010/main" val="986904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up)">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1"/>
            <a:ext cx="11094720" cy="873760"/>
          </a:xfrm>
        </p:spPr>
        <p:txBody>
          <a:bodyPr>
            <a:normAutofit/>
          </a:bodyPr>
          <a:lstStyle/>
          <a:p>
            <a:pPr algn="ctr"/>
            <a:r>
              <a:rPr lang="es-CO" sz="4200" b="1" dirty="0">
                <a:latin typeface="Bahnschrift Light SemiCondensed" panose="020B0502040204020203" pitchFamily="34" charset="0"/>
              </a:rPr>
              <a:t>“2-LLENAR UN VECTOR EN C++”</a:t>
            </a:r>
          </a:p>
        </p:txBody>
      </p:sp>
      <p:sp>
        <p:nvSpPr>
          <p:cNvPr id="7" name="CuadroTexto 6">
            <a:extLst>
              <a:ext uri="{FF2B5EF4-FFF2-40B4-BE49-F238E27FC236}">
                <a16:creationId xmlns:a16="http://schemas.microsoft.com/office/drawing/2014/main" id="{B3245438-2EFA-4DBF-85CF-60E0A78BBF68}"/>
              </a:ext>
            </a:extLst>
          </p:cNvPr>
          <p:cNvSpPr txBox="1"/>
          <p:nvPr/>
        </p:nvSpPr>
        <p:spPr>
          <a:xfrm>
            <a:off x="721360" y="1280161"/>
            <a:ext cx="9712960" cy="5283199"/>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pPr lvl="0" algn="just" defTabSz="1422400">
              <a:lnSpc>
                <a:spcPct val="90000"/>
              </a:lnSpc>
              <a:spcBef>
                <a:spcPct val="0"/>
              </a:spcBef>
              <a:spcAft>
                <a:spcPct val="35000"/>
              </a:spcAft>
            </a:pPr>
            <a:r>
              <a:rPr lang="es-CO" sz="3200" b="1" dirty="0">
                <a:solidFill>
                  <a:schemeClr val="tx1"/>
                </a:solidFill>
              </a:rPr>
              <a:t>2-Llenar un vector inicializando la información.</a:t>
            </a:r>
          </a:p>
          <a:p>
            <a:pPr lvl="1" algn="just" defTabSz="1422400">
              <a:lnSpc>
                <a:spcPct val="90000"/>
              </a:lnSpc>
              <a:spcBef>
                <a:spcPct val="0"/>
              </a:spcBef>
              <a:spcAft>
                <a:spcPct val="35000"/>
              </a:spcAft>
            </a:pPr>
            <a:r>
              <a:rPr lang="es-CO" sz="3200" b="1" i="1" dirty="0">
                <a:solidFill>
                  <a:schemeClr val="tx1"/>
                </a:solidFill>
                <a:effectLst>
                  <a:outerShdw blurRad="38100" dist="38100" dir="2700000" algn="tl">
                    <a:srgbClr val="000000">
                      <a:alpha val="43137"/>
                    </a:srgbClr>
                  </a:outerShdw>
                </a:effectLst>
              </a:rPr>
              <a:t>double vector[]={1.2, 1.5, 1.9, 2.0, 3.2};  </a:t>
            </a:r>
          </a:p>
          <a:p>
            <a:pPr lvl="1" algn="just" defTabSz="1422400">
              <a:lnSpc>
                <a:spcPct val="90000"/>
              </a:lnSpc>
              <a:spcBef>
                <a:spcPct val="0"/>
              </a:spcBef>
              <a:spcAft>
                <a:spcPct val="35000"/>
              </a:spcAft>
            </a:pPr>
            <a:r>
              <a:rPr lang="es-CO" sz="3200" b="1" i="1" dirty="0">
                <a:solidFill>
                  <a:schemeClr val="tx1"/>
                </a:solidFill>
                <a:effectLst>
                  <a:outerShdw blurRad="38100" dist="38100" dir="2700000" algn="tl">
                    <a:srgbClr val="000000">
                      <a:alpha val="43137"/>
                    </a:srgbClr>
                  </a:outerShdw>
                </a:effectLst>
              </a:rPr>
              <a:t>double vector[5]={1.2, 1.5, 1.9, 2.0, 3.2};</a:t>
            </a:r>
            <a:endParaRPr lang="es-CO" sz="3200" b="1" dirty="0">
              <a:solidFill>
                <a:schemeClr val="tx1"/>
              </a:solidFill>
            </a:endParaRPr>
          </a:p>
          <a:p>
            <a:pPr lvl="0" algn="just" defTabSz="1422400">
              <a:lnSpc>
                <a:spcPct val="90000"/>
              </a:lnSpc>
              <a:spcBef>
                <a:spcPct val="0"/>
              </a:spcBef>
              <a:spcAft>
                <a:spcPct val="35000"/>
              </a:spcAft>
            </a:pPr>
            <a:endParaRPr lang="es-CO" sz="3200" dirty="0">
              <a:solidFill>
                <a:schemeClr val="tx1"/>
              </a:solidFill>
            </a:endParaRPr>
          </a:p>
          <a:p>
            <a:pPr lvl="0" algn="just" defTabSz="1422400">
              <a:lnSpc>
                <a:spcPct val="90000"/>
              </a:lnSpc>
              <a:spcBef>
                <a:spcPct val="0"/>
              </a:spcBef>
              <a:spcAft>
                <a:spcPct val="35000"/>
              </a:spcAft>
            </a:pPr>
            <a:r>
              <a:rPr lang="es-CO" sz="3200" b="1" dirty="0">
                <a:solidFill>
                  <a:schemeClr val="tx1"/>
                </a:solidFill>
              </a:rPr>
              <a:t>2-Llenar un vector leyendo la información.</a:t>
            </a:r>
          </a:p>
          <a:p>
            <a:pPr lvl="1" algn="just" defTabSz="1422400">
              <a:lnSpc>
                <a:spcPct val="90000"/>
              </a:lnSpc>
              <a:spcBef>
                <a:spcPct val="0"/>
              </a:spcBef>
              <a:spcAft>
                <a:spcPct val="35000"/>
              </a:spcAft>
            </a:pPr>
            <a:r>
              <a:rPr lang="es-CO" sz="3200" i="1" dirty="0">
                <a:solidFill>
                  <a:schemeClr val="tx1"/>
                </a:solidFill>
                <a:effectLst>
                  <a:outerShdw blurRad="38100" dist="38100" dir="2700000" algn="tl">
                    <a:srgbClr val="000000">
                      <a:alpha val="43137"/>
                    </a:srgbClr>
                  </a:outerShdw>
                </a:effectLst>
              </a:rPr>
              <a:t>for (int i=0; i&lt;N; i++) {</a:t>
            </a:r>
          </a:p>
          <a:p>
            <a:pPr lvl="1" algn="just" defTabSz="1422400">
              <a:lnSpc>
                <a:spcPct val="90000"/>
              </a:lnSpc>
              <a:spcBef>
                <a:spcPct val="0"/>
              </a:spcBef>
              <a:spcAft>
                <a:spcPct val="35000"/>
              </a:spcAft>
            </a:pPr>
            <a:r>
              <a:rPr lang="es-CO" sz="3200" i="1" dirty="0">
                <a:solidFill>
                  <a:schemeClr val="tx1"/>
                </a:solidFill>
                <a:effectLst>
                  <a:outerShdw blurRad="38100" dist="38100" dir="2700000" algn="tl">
                    <a:srgbClr val="000000">
                      <a:alpha val="43137"/>
                    </a:srgbClr>
                  </a:outerShdw>
                </a:effectLst>
              </a:rPr>
              <a:t>	cout &lt;&lt; "Ingrese vector[" &lt;&lt; i &lt;&lt; "]: ";</a:t>
            </a:r>
          </a:p>
          <a:p>
            <a:pPr lvl="1" algn="just" defTabSz="1422400">
              <a:lnSpc>
                <a:spcPct val="90000"/>
              </a:lnSpc>
              <a:spcBef>
                <a:spcPct val="0"/>
              </a:spcBef>
              <a:spcAft>
                <a:spcPct val="35000"/>
              </a:spcAft>
            </a:pPr>
            <a:r>
              <a:rPr lang="es-CO" sz="3200" b="1" i="1" dirty="0">
                <a:solidFill>
                  <a:schemeClr val="tx1"/>
                </a:solidFill>
                <a:effectLst>
                  <a:outerShdw blurRad="38100" dist="38100" dir="2700000" algn="tl">
                    <a:srgbClr val="000000">
                      <a:alpha val="43137"/>
                    </a:srgbClr>
                  </a:outerShdw>
                </a:effectLst>
              </a:rPr>
              <a:t>	cin&gt;&gt;vector[i];</a:t>
            </a:r>
          </a:p>
          <a:p>
            <a:pPr lvl="1" algn="just" defTabSz="1422400">
              <a:lnSpc>
                <a:spcPct val="90000"/>
              </a:lnSpc>
              <a:spcBef>
                <a:spcPct val="0"/>
              </a:spcBef>
              <a:spcAft>
                <a:spcPct val="35000"/>
              </a:spcAft>
            </a:pPr>
            <a:r>
              <a:rPr lang="es-CO" sz="3200" i="1" dirty="0">
                <a:solidFill>
                  <a:schemeClr val="tx1"/>
                </a:solidFill>
                <a:effectLst>
                  <a:outerShdw blurRad="38100" dist="38100" dir="2700000" algn="tl">
                    <a:srgbClr val="000000">
                      <a:alpha val="43137"/>
                    </a:srgbClr>
                  </a:outerShdw>
                </a:effectLst>
              </a:rPr>
              <a:t>}</a:t>
            </a:r>
            <a:endParaRPr lang="it-IT" sz="3200" i="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146756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1"/>
            <a:ext cx="11094720" cy="873760"/>
          </a:xfrm>
        </p:spPr>
        <p:txBody>
          <a:bodyPr>
            <a:normAutofit/>
          </a:bodyPr>
          <a:lstStyle/>
          <a:p>
            <a:pPr algn="ctr"/>
            <a:r>
              <a:rPr lang="es-CO" sz="4200" b="1" dirty="0">
                <a:latin typeface="Bahnschrift Light SemiCondensed" panose="020B0502040204020203" pitchFamily="34" charset="0"/>
              </a:rPr>
              <a:t>“2-LLENAR UN VECTOR EN C++”</a:t>
            </a:r>
          </a:p>
        </p:txBody>
      </p:sp>
      <p:sp>
        <p:nvSpPr>
          <p:cNvPr id="7" name="CuadroTexto 6">
            <a:extLst>
              <a:ext uri="{FF2B5EF4-FFF2-40B4-BE49-F238E27FC236}">
                <a16:creationId xmlns:a16="http://schemas.microsoft.com/office/drawing/2014/main" id="{B3245438-2EFA-4DBF-85CF-60E0A78BBF68}"/>
              </a:ext>
            </a:extLst>
          </p:cNvPr>
          <p:cNvSpPr txBox="1"/>
          <p:nvPr/>
        </p:nvSpPr>
        <p:spPr>
          <a:xfrm>
            <a:off x="267128" y="1290435"/>
            <a:ext cx="10202238" cy="5283199"/>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pPr lvl="0" algn="just" defTabSz="1422400">
              <a:lnSpc>
                <a:spcPct val="90000"/>
              </a:lnSpc>
              <a:spcBef>
                <a:spcPct val="0"/>
              </a:spcBef>
              <a:spcAft>
                <a:spcPct val="35000"/>
              </a:spcAft>
            </a:pPr>
            <a:r>
              <a:rPr lang="es-CO" sz="3200" b="1" dirty="0">
                <a:solidFill>
                  <a:schemeClr val="tx1"/>
                </a:solidFill>
              </a:rPr>
              <a:t>2-Llenar un vector con números aleatorios.</a:t>
            </a:r>
            <a:endParaRPr lang="es-CO" sz="3200" i="1" dirty="0">
              <a:solidFill>
                <a:schemeClr val="tx1"/>
              </a:solidFill>
              <a:effectLst>
                <a:outerShdw blurRad="38100" dist="38100" dir="2700000" algn="tl">
                  <a:srgbClr val="000000">
                    <a:alpha val="43137"/>
                  </a:srgbClr>
                </a:outerShdw>
              </a:effectLst>
            </a:endParaRPr>
          </a:p>
          <a:p>
            <a:pPr lvl="1" algn="just" defTabSz="1422400">
              <a:lnSpc>
                <a:spcPct val="90000"/>
              </a:lnSpc>
              <a:spcBef>
                <a:spcPct val="0"/>
              </a:spcBef>
              <a:spcAft>
                <a:spcPct val="35000"/>
              </a:spcAft>
            </a:pPr>
            <a:r>
              <a:rPr lang="es-CO" sz="3200" i="1" dirty="0" err="1">
                <a:solidFill>
                  <a:schemeClr val="tx1"/>
                </a:solidFill>
                <a:effectLst>
                  <a:outerShdw blurRad="38100" dist="38100" dir="2700000" algn="tl">
                    <a:srgbClr val="000000">
                      <a:alpha val="43137"/>
                    </a:srgbClr>
                  </a:outerShdw>
                </a:effectLst>
              </a:rPr>
              <a:t>srand</a:t>
            </a:r>
            <a:r>
              <a:rPr lang="es-CO" sz="3200" i="1" dirty="0">
                <a:solidFill>
                  <a:schemeClr val="tx1"/>
                </a:solidFill>
                <a:effectLst>
                  <a:outerShdw blurRad="38100" dist="38100" dir="2700000" algn="tl">
                    <a:srgbClr val="000000">
                      <a:alpha val="43137"/>
                    </a:srgbClr>
                  </a:outerShdw>
                </a:effectLst>
              </a:rPr>
              <a:t>(time(NULL);</a:t>
            </a:r>
          </a:p>
          <a:p>
            <a:pPr lvl="1" algn="just" defTabSz="1422400">
              <a:lnSpc>
                <a:spcPct val="90000"/>
              </a:lnSpc>
              <a:spcBef>
                <a:spcPct val="0"/>
              </a:spcBef>
              <a:spcAft>
                <a:spcPct val="35000"/>
              </a:spcAft>
            </a:pPr>
            <a:r>
              <a:rPr lang="es-CO" sz="3200" i="1" dirty="0">
                <a:solidFill>
                  <a:schemeClr val="tx1"/>
                </a:solidFill>
                <a:effectLst>
                  <a:outerShdw blurRad="38100" dist="38100" dir="2700000" algn="tl">
                    <a:srgbClr val="000000">
                      <a:alpha val="43137"/>
                    </a:srgbClr>
                  </a:outerShdw>
                </a:effectLst>
              </a:rPr>
              <a:t>for (int i=0; i&lt;N; i++) {</a:t>
            </a:r>
          </a:p>
          <a:p>
            <a:pPr lvl="1" algn="just" defTabSz="1422400">
              <a:lnSpc>
                <a:spcPct val="90000"/>
              </a:lnSpc>
              <a:spcBef>
                <a:spcPct val="0"/>
              </a:spcBef>
              <a:spcAft>
                <a:spcPct val="35000"/>
              </a:spcAft>
            </a:pPr>
            <a:r>
              <a:rPr lang="es-CO" sz="3200" b="1" i="1" dirty="0">
                <a:solidFill>
                  <a:schemeClr val="tx1"/>
                </a:solidFill>
                <a:effectLst>
                  <a:outerShdw blurRad="38100" dist="38100" dir="2700000" algn="tl">
                    <a:srgbClr val="000000">
                      <a:alpha val="43137"/>
                    </a:srgbClr>
                  </a:outerShdw>
                </a:effectLst>
              </a:rPr>
              <a:t>	vector[i] = rand()%valor;</a:t>
            </a:r>
          </a:p>
          <a:p>
            <a:pPr lvl="1" algn="just" defTabSz="1422400">
              <a:lnSpc>
                <a:spcPct val="90000"/>
              </a:lnSpc>
              <a:spcBef>
                <a:spcPct val="0"/>
              </a:spcBef>
              <a:spcAft>
                <a:spcPct val="35000"/>
              </a:spcAft>
            </a:pPr>
            <a:r>
              <a:rPr lang="es-CO" sz="3200" i="1" dirty="0">
                <a:solidFill>
                  <a:schemeClr val="tx1"/>
                </a:solidFill>
                <a:effectLst>
                  <a:outerShdw blurRad="38100" dist="38100" dir="2700000" algn="tl">
                    <a:srgbClr val="000000">
                      <a:alpha val="43137"/>
                    </a:srgbClr>
                  </a:outerShdw>
                </a:effectLst>
              </a:rPr>
              <a:t>}</a:t>
            </a:r>
          </a:p>
          <a:p>
            <a:pPr lvl="1" algn="just" defTabSz="1422400">
              <a:lnSpc>
                <a:spcPct val="90000"/>
              </a:lnSpc>
              <a:spcBef>
                <a:spcPct val="0"/>
              </a:spcBef>
              <a:spcAft>
                <a:spcPct val="35000"/>
              </a:spcAft>
            </a:pPr>
            <a:r>
              <a:rPr lang="es-CO" sz="3200" i="1" dirty="0">
                <a:solidFill>
                  <a:schemeClr val="tx1"/>
                </a:solidFill>
                <a:effectLst>
                  <a:outerShdw blurRad="38100" dist="38100" dir="2700000" algn="tl">
                    <a:srgbClr val="000000">
                      <a:alpha val="43137"/>
                    </a:srgbClr>
                  </a:outerShdw>
                </a:effectLst>
              </a:rPr>
              <a:t>Recuerde incluir las librerías </a:t>
            </a:r>
            <a:r>
              <a:rPr lang="es-CO" sz="3200" b="1" i="1" dirty="0" err="1">
                <a:solidFill>
                  <a:schemeClr val="tx1"/>
                </a:solidFill>
                <a:effectLst>
                  <a:outerShdw blurRad="38100" dist="38100" dir="2700000" algn="tl">
                    <a:srgbClr val="000000">
                      <a:alpha val="43137"/>
                    </a:srgbClr>
                  </a:outerShdw>
                </a:effectLst>
              </a:rPr>
              <a:t>cstdlib</a:t>
            </a:r>
            <a:r>
              <a:rPr lang="es-CO" sz="3200" i="1" dirty="0">
                <a:solidFill>
                  <a:schemeClr val="tx1"/>
                </a:solidFill>
                <a:effectLst>
                  <a:outerShdw blurRad="38100" dist="38100" dir="2700000" algn="tl">
                    <a:srgbClr val="000000">
                      <a:alpha val="43137"/>
                    </a:srgbClr>
                  </a:outerShdw>
                </a:effectLst>
              </a:rPr>
              <a:t> y </a:t>
            </a:r>
            <a:r>
              <a:rPr lang="es-CO" sz="3200" b="1" i="1" dirty="0" err="1">
                <a:solidFill>
                  <a:schemeClr val="tx1"/>
                </a:solidFill>
                <a:effectLst>
                  <a:outerShdw blurRad="38100" dist="38100" dir="2700000" algn="tl">
                    <a:srgbClr val="000000">
                      <a:alpha val="43137"/>
                    </a:srgbClr>
                  </a:outerShdw>
                </a:effectLst>
              </a:rPr>
              <a:t>ctime</a:t>
            </a:r>
            <a:r>
              <a:rPr lang="es-CO" sz="3200" i="1" dirty="0">
                <a:solidFill>
                  <a:schemeClr val="tx1"/>
                </a:solidFill>
                <a:effectLst>
                  <a:outerShdw blurRad="38100" dist="38100" dir="2700000" algn="tl">
                    <a:srgbClr val="000000">
                      <a:alpha val="43137"/>
                    </a:srgbClr>
                  </a:outerShdw>
                </a:effectLst>
              </a:rPr>
              <a:t>. La fórmulas de números aleatorios:</a:t>
            </a:r>
          </a:p>
          <a:p>
            <a:pPr lvl="1" algn="just" defTabSz="1422400">
              <a:lnSpc>
                <a:spcPct val="90000"/>
              </a:lnSpc>
              <a:spcBef>
                <a:spcPct val="0"/>
              </a:spcBef>
              <a:spcAft>
                <a:spcPct val="35000"/>
              </a:spcAft>
            </a:pPr>
            <a:r>
              <a:rPr lang="it-IT" sz="3000" b="1" i="1" dirty="0">
                <a:solidFill>
                  <a:schemeClr val="tx1"/>
                </a:solidFill>
                <a:effectLst>
                  <a:outerShdw blurRad="38100" dist="38100" dir="2700000" algn="tl">
                    <a:srgbClr val="000000">
                      <a:alpha val="43137"/>
                    </a:srgbClr>
                  </a:outerShdw>
                </a:effectLst>
              </a:rPr>
              <a:t>Limite.Inferior + rand()% (Limite.Superior-Limite.Inferior+1)</a:t>
            </a:r>
          </a:p>
          <a:p>
            <a:pPr lvl="1" algn="r" defTabSz="1422400">
              <a:lnSpc>
                <a:spcPct val="90000"/>
              </a:lnSpc>
              <a:spcBef>
                <a:spcPct val="0"/>
              </a:spcBef>
              <a:spcAft>
                <a:spcPct val="35000"/>
              </a:spcAft>
            </a:pPr>
            <a:r>
              <a:rPr lang="it-IT" sz="2400" i="1" dirty="0">
                <a:solidFill>
                  <a:schemeClr val="tx1"/>
                </a:solidFill>
                <a:effectLst>
                  <a:outerShdw blurRad="38100" dist="38100" dir="2700000" algn="tl">
                    <a:srgbClr val="000000">
                      <a:alpha val="43137"/>
                    </a:srgbClr>
                  </a:outerShdw>
                </a:effectLst>
              </a:rPr>
              <a:t>*Resolver el último parentesis y dejar sólo el resultado.</a:t>
            </a:r>
          </a:p>
        </p:txBody>
      </p:sp>
    </p:spTree>
    <p:extLst>
      <p:ext uri="{BB962C8B-B14F-4D97-AF65-F5344CB8AC3E}">
        <p14:creationId xmlns:p14="http://schemas.microsoft.com/office/powerpoint/2010/main" val="3540667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1"/>
            <a:ext cx="11094720" cy="873760"/>
          </a:xfrm>
        </p:spPr>
        <p:txBody>
          <a:bodyPr>
            <a:normAutofit/>
          </a:bodyPr>
          <a:lstStyle/>
          <a:p>
            <a:pPr algn="ctr"/>
            <a:r>
              <a:rPr lang="es-CO" sz="4200" b="1" dirty="0">
                <a:latin typeface="Bahnschrift Light SemiCondensed" panose="020B0502040204020203" pitchFamily="34" charset="0"/>
              </a:rPr>
              <a:t>“2-LLENAR UN VECTOR EN C++”</a:t>
            </a:r>
          </a:p>
        </p:txBody>
      </p:sp>
      <p:sp>
        <p:nvSpPr>
          <p:cNvPr id="7" name="CuadroTexto 6">
            <a:extLst>
              <a:ext uri="{FF2B5EF4-FFF2-40B4-BE49-F238E27FC236}">
                <a16:creationId xmlns:a16="http://schemas.microsoft.com/office/drawing/2014/main" id="{B3245438-2EFA-4DBF-85CF-60E0A78BBF68}"/>
              </a:ext>
            </a:extLst>
          </p:cNvPr>
          <p:cNvSpPr txBox="1"/>
          <p:nvPr/>
        </p:nvSpPr>
        <p:spPr>
          <a:xfrm>
            <a:off x="595901" y="873761"/>
            <a:ext cx="6441897" cy="5753070"/>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pPr lvl="0" algn="just" defTabSz="1422400">
              <a:lnSpc>
                <a:spcPct val="90000"/>
              </a:lnSpc>
              <a:spcBef>
                <a:spcPct val="0"/>
              </a:spcBef>
              <a:spcAft>
                <a:spcPct val="35000"/>
              </a:spcAft>
            </a:pPr>
            <a:r>
              <a:rPr lang="es-CO" sz="3200" b="1" dirty="0">
                <a:solidFill>
                  <a:schemeClr val="tx1"/>
                </a:solidFill>
              </a:rPr>
              <a:t>2-Llenar un vector con una sucesión.</a:t>
            </a:r>
            <a:endParaRPr lang="es-CO" sz="3200" i="1" dirty="0">
              <a:solidFill>
                <a:schemeClr val="tx1"/>
              </a:solidFill>
              <a:effectLst>
                <a:outerShdw blurRad="38100" dist="38100" dir="2700000" algn="tl">
                  <a:srgbClr val="000000">
                    <a:alpha val="43137"/>
                  </a:srgbClr>
                </a:outerShdw>
              </a:effectLst>
            </a:endParaRPr>
          </a:p>
          <a:p>
            <a:pPr lvl="1" algn="just" defTabSz="1422400">
              <a:lnSpc>
                <a:spcPct val="90000"/>
              </a:lnSpc>
              <a:spcBef>
                <a:spcPct val="0"/>
              </a:spcBef>
              <a:spcAft>
                <a:spcPct val="35000"/>
              </a:spcAft>
            </a:pPr>
            <a:r>
              <a:rPr lang="es-CO" sz="3200" i="1" dirty="0">
                <a:solidFill>
                  <a:schemeClr val="tx1"/>
                </a:solidFill>
                <a:effectLst>
                  <a:outerShdw blurRad="38100" dist="38100" dir="2700000" algn="tl">
                    <a:srgbClr val="000000">
                      <a:alpha val="43137"/>
                    </a:srgbClr>
                  </a:outerShdw>
                </a:effectLst>
              </a:rPr>
              <a:t>int *</a:t>
            </a:r>
            <a:r>
              <a:rPr lang="es-CO" sz="3200" i="1" dirty="0" err="1">
                <a:solidFill>
                  <a:schemeClr val="tx1"/>
                </a:solidFill>
                <a:effectLst>
                  <a:outerShdw blurRad="38100" dist="38100" dir="2700000" algn="tl">
                    <a:srgbClr val="000000">
                      <a:alpha val="43137"/>
                    </a:srgbClr>
                  </a:outerShdw>
                </a:effectLst>
              </a:rPr>
              <a:t>vec</a:t>
            </a:r>
            <a:r>
              <a:rPr lang="es-CO" sz="3200" i="1" dirty="0">
                <a:solidFill>
                  <a:schemeClr val="tx1"/>
                </a:solidFill>
                <a:effectLst>
                  <a:outerShdw blurRad="38100" dist="38100" dir="2700000" algn="tl">
                    <a:srgbClr val="000000">
                      <a:alpha val="43137"/>
                    </a:srgbClr>
                  </a:outerShdw>
                </a:effectLst>
              </a:rPr>
              <a:t> = new int [N];</a:t>
            </a:r>
          </a:p>
          <a:p>
            <a:pPr lvl="1" algn="just" defTabSz="1422400">
              <a:lnSpc>
                <a:spcPct val="90000"/>
              </a:lnSpc>
              <a:spcBef>
                <a:spcPct val="0"/>
              </a:spcBef>
              <a:spcAft>
                <a:spcPct val="35000"/>
              </a:spcAft>
            </a:pPr>
            <a:r>
              <a:rPr lang="es-CO" sz="3200" i="1" dirty="0">
                <a:solidFill>
                  <a:schemeClr val="tx1"/>
                </a:solidFill>
                <a:effectLst>
                  <a:outerShdw blurRad="38100" dist="38100" dir="2700000" algn="tl">
                    <a:srgbClr val="000000">
                      <a:alpha val="43137"/>
                    </a:srgbClr>
                  </a:outerShdw>
                </a:effectLst>
              </a:rPr>
              <a:t>int elemento = 2;</a:t>
            </a:r>
          </a:p>
          <a:p>
            <a:pPr lvl="1" algn="just" defTabSz="1422400">
              <a:lnSpc>
                <a:spcPct val="90000"/>
              </a:lnSpc>
              <a:spcBef>
                <a:spcPct val="0"/>
              </a:spcBef>
              <a:spcAft>
                <a:spcPct val="35000"/>
              </a:spcAft>
            </a:pPr>
            <a:r>
              <a:rPr lang="es-CO" sz="3200" i="1" dirty="0">
                <a:solidFill>
                  <a:schemeClr val="tx1"/>
                </a:solidFill>
                <a:effectLst>
                  <a:outerShdw blurRad="38100" dist="38100" dir="2700000" algn="tl">
                    <a:srgbClr val="000000">
                      <a:alpha val="43137"/>
                    </a:srgbClr>
                  </a:outerShdw>
                </a:effectLst>
              </a:rPr>
              <a:t>for (int i = 0; i &lt; N; i++) {</a:t>
            </a:r>
          </a:p>
          <a:p>
            <a:pPr lvl="1" algn="just" defTabSz="1422400">
              <a:lnSpc>
                <a:spcPct val="90000"/>
              </a:lnSpc>
              <a:spcBef>
                <a:spcPct val="0"/>
              </a:spcBef>
              <a:spcAft>
                <a:spcPct val="35000"/>
              </a:spcAft>
            </a:pPr>
            <a:r>
              <a:rPr lang="es-CO" sz="3200" i="1" dirty="0">
                <a:solidFill>
                  <a:schemeClr val="tx1"/>
                </a:solidFill>
                <a:effectLst>
                  <a:outerShdw blurRad="38100" dist="38100" dir="2700000" algn="tl">
                    <a:srgbClr val="000000">
                      <a:alpha val="43137"/>
                    </a:srgbClr>
                  </a:outerShdw>
                </a:effectLst>
              </a:rPr>
              <a:t>	</a:t>
            </a:r>
            <a:r>
              <a:rPr lang="es-CO" sz="3200" i="1" dirty="0" err="1">
                <a:solidFill>
                  <a:schemeClr val="tx1"/>
                </a:solidFill>
                <a:effectLst>
                  <a:outerShdw blurRad="38100" dist="38100" dir="2700000" algn="tl">
                    <a:srgbClr val="000000">
                      <a:alpha val="43137"/>
                    </a:srgbClr>
                  </a:outerShdw>
                </a:effectLst>
              </a:rPr>
              <a:t>vec</a:t>
            </a:r>
            <a:r>
              <a:rPr lang="es-CO" sz="3200" i="1" dirty="0">
                <a:solidFill>
                  <a:schemeClr val="tx1"/>
                </a:solidFill>
                <a:effectLst>
                  <a:outerShdw blurRad="38100" dist="38100" dir="2700000" algn="tl">
                    <a:srgbClr val="000000">
                      <a:alpha val="43137"/>
                    </a:srgbClr>
                  </a:outerShdw>
                </a:effectLst>
              </a:rPr>
              <a:t>[i] = elemento;</a:t>
            </a:r>
          </a:p>
          <a:p>
            <a:pPr lvl="1" algn="just" defTabSz="1422400">
              <a:lnSpc>
                <a:spcPct val="90000"/>
              </a:lnSpc>
              <a:spcBef>
                <a:spcPct val="0"/>
              </a:spcBef>
              <a:spcAft>
                <a:spcPct val="35000"/>
              </a:spcAft>
            </a:pPr>
            <a:r>
              <a:rPr lang="es-CO" sz="3200" i="1" dirty="0">
                <a:solidFill>
                  <a:schemeClr val="tx1"/>
                </a:solidFill>
                <a:effectLst>
                  <a:outerShdw blurRad="38100" dist="38100" dir="2700000" algn="tl">
                    <a:srgbClr val="000000">
                      <a:alpha val="43137"/>
                    </a:srgbClr>
                  </a:outerShdw>
                </a:effectLst>
              </a:rPr>
              <a:t>	cout &lt;&lt; </a:t>
            </a:r>
            <a:r>
              <a:rPr lang="es-CO" sz="3200" i="1" dirty="0" err="1">
                <a:solidFill>
                  <a:schemeClr val="tx1"/>
                </a:solidFill>
                <a:effectLst>
                  <a:outerShdw blurRad="38100" dist="38100" dir="2700000" algn="tl">
                    <a:srgbClr val="000000">
                      <a:alpha val="43137"/>
                    </a:srgbClr>
                  </a:outerShdw>
                </a:effectLst>
              </a:rPr>
              <a:t>vec</a:t>
            </a:r>
            <a:r>
              <a:rPr lang="es-CO" sz="3200" i="1" dirty="0">
                <a:solidFill>
                  <a:schemeClr val="tx1"/>
                </a:solidFill>
                <a:effectLst>
                  <a:outerShdw blurRad="38100" dist="38100" dir="2700000" algn="tl">
                    <a:srgbClr val="000000">
                      <a:alpha val="43137"/>
                    </a:srgbClr>
                  </a:outerShdw>
                </a:effectLst>
              </a:rPr>
              <a:t>[i] &lt;&lt; " ";</a:t>
            </a:r>
          </a:p>
          <a:p>
            <a:pPr lvl="1" algn="just" defTabSz="1422400">
              <a:lnSpc>
                <a:spcPct val="90000"/>
              </a:lnSpc>
              <a:spcBef>
                <a:spcPct val="0"/>
              </a:spcBef>
              <a:spcAft>
                <a:spcPct val="35000"/>
              </a:spcAft>
            </a:pPr>
            <a:r>
              <a:rPr lang="es-CO" sz="3200" i="1" dirty="0">
                <a:solidFill>
                  <a:schemeClr val="tx1"/>
                </a:solidFill>
                <a:effectLst>
                  <a:outerShdw blurRad="38100" dist="38100" dir="2700000" algn="tl">
                    <a:srgbClr val="000000">
                      <a:alpha val="43137"/>
                    </a:srgbClr>
                  </a:outerShdw>
                </a:effectLst>
              </a:rPr>
              <a:t>	elemento +=  2;</a:t>
            </a:r>
          </a:p>
          <a:p>
            <a:pPr lvl="1" algn="just" defTabSz="1422400">
              <a:lnSpc>
                <a:spcPct val="90000"/>
              </a:lnSpc>
              <a:spcBef>
                <a:spcPct val="0"/>
              </a:spcBef>
              <a:spcAft>
                <a:spcPct val="35000"/>
              </a:spcAft>
            </a:pPr>
            <a:r>
              <a:rPr lang="es-CO" sz="3200" i="1" dirty="0">
                <a:solidFill>
                  <a:schemeClr val="tx1"/>
                </a:solidFill>
                <a:effectLst>
                  <a:outerShdw blurRad="38100" dist="38100" dir="2700000" algn="tl">
                    <a:srgbClr val="000000">
                      <a:alpha val="43137"/>
                    </a:srgbClr>
                  </a:outerShdw>
                </a:effectLst>
              </a:rPr>
              <a:t>}</a:t>
            </a:r>
          </a:p>
          <a:p>
            <a:pPr lvl="1" algn="just" defTabSz="1422400">
              <a:lnSpc>
                <a:spcPct val="90000"/>
              </a:lnSpc>
              <a:spcBef>
                <a:spcPct val="0"/>
              </a:spcBef>
              <a:spcAft>
                <a:spcPct val="35000"/>
              </a:spcAft>
            </a:pPr>
            <a:r>
              <a:rPr lang="es-CO" sz="2400" i="1" dirty="0">
                <a:solidFill>
                  <a:schemeClr val="tx1"/>
                </a:solidFill>
                <a:effectLst>
                  <a:outerShdw blurRad="38100" dist="38100" dir="2700000" algn="tl">
                    <a:srgbClr val="000000">
                      <a:alpha val="43137"/>
                    </a:srgbClr>
                  </a:outerShdw>
                </a:effectLst>
              </a:rPr>
              <a:t>Este ejemplo llena un vector con números pares que empiezan en 2</a:t>
            </a:r>
          </a:p>
        </p:txBody>
      </p:sp>
      <p:sp>
        <p:nvSpPr>
          <p:cNvPr id="4" name="CuadroTexto 3">
            <a:extLst>
              <a:ext uri="{FF2B5EF4-FFF2-40B4-BE49-F238E27FC236}">
                <a16:creationId xmlns:a16="http://schemas.microsoft.com/office/drawing/2014/main" id="{3627953B-9392-411D-8C74-6AB8107939CB}"/>
              </a:ext>
            </a:extLst>
          </p:cNvPr>
          <p:cNvSpPr txBox="1"/>
          <p:nvPr/>
        </p:nvSpPr>
        <p:spPr>
          <a:xfrm>
            <a:off x="6096000" y="1510302"/>
            <a:ext cx="5887092" cy="4130212"/>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pPr lvl="0" algn="just" defTabSz="1422400">
              <a:lnSpc>
                <a:spcPct val="90000"/>
              </a:lnSpc>
              <a:spcBef>
                <a:spcPct val="0"/>
              </a:spcBef>
              <a:spcAft>
                <a:spcPct val="35000"/>
              </a:spcAft>
            </a:pPr>
            <a:r>
              <a:rPr lang="es-CO" sz="3200" b="1" dirty="0">
                <a:solidFill>
                  <a:schemeClr val="tx1"/>
                </a:solidFill>
              </a:rPr>
              <a:t>2-Solución Optimizada.</a:t>
            </a:r>
            <a:endParaRPr lang="es-CO" sz="3200" i="1" dirty="0">
              <a:solidFill>
                <a:schemeClr val="tx1"/>
              </a:solidFill>
              <a:effectLst>
                <a:outerShdw blurRad="38100" dist="38100" dir="2700000" algn="tl">
                  <a:srgbClr val="000000">
                    <a:alpha val="43137"/>
                  </a:srgbClr>
                </a:outerShdw>
              </a:effectLst>
            </a:endParaRPr>
          </a:p>
          <a:p>
            <a:pPr lvl="1" algn="just" defTabSz="1422400">
              <a:lnSpc>
                <a:spcPct val="90000"/>
              </a:lnSpc>
              <a:spcBef>
                <a:spcPct val="0"/>
              </a:spcBef>
              <a:spcAft>
                <a:spcPct val="35000"/>
              </a:spcAft>
            </a:pPr>
            <a:r>
              <a:rPr lang="es-CO" sz="3000" i="1" dirty="0">
                <a:solidFill>
                  <a:schemeClr val="tx1"/>
                </a:solidFill>
                <a:effectLst>
                  <a:outerShdw blurRad="38100" dist="38100" dir="2700000" algn="tl">
                    <a:srgbClr val="000000">
                      <a:alpha val="43137"/>
                    </a:srgbClr>
                  </a:outerShdw>
                </a:effectLst>
              </a:rPr>
              <a:t>int *</a:t>
            </a:r>
            <a:r>
              <a:rPr lang="es-CO" sz="3000" i="1" dirty="0" err="1">
                <a:solidFill>
                  <a:schemeClr val="tx1"/>
                </a:solidFill>
                <a:effectLst>
                  <a:outerShdw blurRad="38100" dist="38100" dir="2700000" algn="tl">
                    <a:srgbClr val="000000">
                      <a:alpha val="43137"/>
                    </a:srgbClr>
                  </a:outerShdw>
                </a:effectLst>
              </a:rPr>
              <a:t>vec</a:t>
            </a:r>
            <a:r>
              <a:rPr lang="es-CO" sz="3000" i="1" dirty="0">
                <a:solidFill>
                  <a:schemeClr val="tx1"/>
                </a:solidFill>
                <a:effectLst>
                  <a:outerShdw blurRad="38100" dist="38100" dir="2700000" algn="tl">
                    <a:srgbClr val="000000">
                      <a:alpha val="43137"/>
                    </a:srgbClr>
                  </a:outerShdw>
                </a:effectLst>
              </a:rPr>
              <a:t> = new int [N];</a:t>
            </a:r>
          </a:p>
          <a:p>
            <a:pPr lvl="1" algn="just" defTabSz="1422400">
              <a:lnSpc>
                <a:spcPct val="90000"/>
              </a:lnSpc>
              <a:spcBef>
                <a:spcPct val="0"/>
              </a:spcBef>
              <a:spcAft>
                <a:spcPct val="35000"/>
              </a:spcAft>
            </a:pPr>
            <a:r>
              <a:rPr lang="es-CO" sz="3000" i="1" dirty="0">
                <a:solidFill>
                  <a:schemeClr val="tx1"/>
                </a:solidFill>
                <a:effectLst>
                  <a:outerShdw blurRad="38100" dist="38100" dir="2700000" algn="tl">
                    <a:srgbClr val="000000">
                      <a:alpha val="43137"/>
                    </a:srgbClr>
                  </a:outerShdw>
                </a:effectLst>
              </a:rPr>
              <a:t>for (int i = 0; i &lt; N; i++) {</a:t>
            </a:r>
          </a:p>
          <a:p>
            <a:pPr lvl="1" algn="just" defTabSz="1422400">
              <a:lnSpc>
                <a:spcPct val="90000"/>
              </a:lnSpc>
              <a:spcBef>
                <a:spcPct val="0"/>
              </a:spcBef>
              <a:spcAft>
                <a:spcPct val="35000"/>
              </a:spcAft>
            </a:pPr>
            <a:r>
              <a:rPr lang="es-CO" sz="3000" i="1" dirty="0">
                <a:solidFill>
                  <a:schemeClr val="tx1"/>
                </a:solidFill>
                <a:effectLst>
                  <a:outerShdw blurRad="38100" dist="38100" dir="2700000" algn="tl">
                    <a:srgbClr val="000000">
                      <a:alpha val="43137"/>
                    </a:srgbClr>
                  </a:outerShdw>
                </a:effectLst>
              </a:rPr>
              <a:t>	</a:t>
            </a:r>
            <a:r>
              <a:rPr lang="es-CO" sz="3000" i="1" dirty="0" err="1">
                <a:solidFill>
                  <a:schemeClr val="tx1"/>
                </a:solidFill>
                <a:effectLst>
                  <a:outerShdw blurRad="38100" dist="38100" dir="2700000" algn="tl">
                    <a:srgbClr val="000000">
                      <a:alpha val="43137"/>
                    </a:srgbClr>
                  </a:outerShdw>
                </a:effectLst>
              </a:rPr>
              <a:t>vec</a:t>
            </a:r>
            <a:r>
              <a:rPr lang="es-CO" sz="3000" i="1" dirty="0">
                <a:solidFill>
                  <a:schemeClr val="tx1"/>
                </a:solidFill>
                <a:effectLst>
                  <a:outerShdw blurRad="38100" dist="38100" dir="2700000" algn="tl">
                    <a:srgbClr val="000000">
                      <a:alpha val="43137"/>
                    </a:srgbClr>
                  </a:outerShdw>
                </a:effectLst>
              </a:rPr>
              <a:t>[i] = (i+1)*2;</a:t>
            </a:r>
          </a:p>
          <a:p>
            <a:pPr lvl="1" algn="just" defTabSz="1422400">
              <a:lnSpc>
                <a:spcPct val="90000"/>
              </a:lnSpc>
              <a:spcBef>
                <a:spcPct val="0"/>
              </a:spcBef>
              <a:spcAft>
                <a:spcPct val="35000"/>
              </a:spcAft>
            </a:pPr>
            <a:r>
              <a:rPr lang="es-CO" sz="3000" i="1" dirty="0">
                <a:solidFill>
                  <a:schemeClr val="tx1"/>
                </a:solidFill>
                <a:effectLst>
                  <a:outerShdw blurRad="38100" dist="38100" dir="2700000" algn="tl">
                    <a:srgbClr val="000000">
                      <a:alpha val="43137"/>
                    </a:srgbClr>
                  </a:outerShdw>
                </a:effectLst>
              </a:rPr>
              <a:t>	cout &lt;&lt; </a:t>
            </a:r>
            <a:r>
              <a:rPr lang="es-CO" sz="3000" i="1" dirty="0" err="1">
                <a:solidFill>
                  <a:schemeClr val="tx1"/>
                </a:solidFill>
                <a:effectLst>
                  <a:outerShdw blurRad="38100" dist="38100" dir="2700000" algn="tl">
                    <a:srgbClr val="000000">
                      <a:alpha val="43137"/>
                    </a:srgbClr>
                  </a:outerShdw>
                </a:effectLst>
              </a:rPr>
              <a:t>vec</a:t>
            </a:r>
            <a:r>
              <a:rPr lang="es-CO" sz="3000" i="1" dirty="0">
                <a:solidFill>
                  <a:schemeClr val="tx1"/>
                </a:solidFill>
                <a:effectLst>
                  <a:outerShdw blurRad="38100" dist="38100" dir="2700000" algn="tl">
                    <a:srgbClr val="000000">
                      <a:alpha val="43137"/>
                    </a:srgbClr>
                  </a:outerShdw>
                </a:effectLst>
              </a:rPr>
              <a:t>[i] &lt;&lt; " ";</a:t>
            </a:r>
          </a:p>
          <a:p>
            <a:pPr lvl="1" algn="just" defTabSz="1422400">
              <a:lnSpc>
                <a:spcPct val="90000"/>
              </a:lnSpc>
              <a:spcBef>
                <a:spcPct val="0"/>
              </a:spcBef>
              <a:spcAft>
                <a:spcPct val="35000"/>
              </a:spcAft>
            </a:pPr>
            <a:r>
              <a:rPr lang="es-CO" sz="3000" i="1" dirty="0">
                <a:solidFill>
                  <a:schemeClr val="tx1"/>
                </a:solidFill>
                <a:effectLst>
                  <a:outerShdw blurRad="38100" dist="38100" dir="2700000" algn="tl">
                    <a:srgbClr val="000000">
                      <a:alpha val="43137"/>
                    </a:srgbClr>
                  </a:outerShdw>
                </a:effectLst>
              </a:rPr>
              <a:t>}</a:t>
            </a:r>
          </a:p>
          <a:p>
            <a:pPr lvl="1" algn="just" defTabSz="1422400">
              <a:lnSpc>
                <a:spcPct val="90000"/>
              </a:lnSpc>
              <a:spcBef>
                <a:spcPct val="0"/>
              </a:spcBef>
              <a:spcAft>
                <a:spcPct val="35000"/>
              </a:spcAft>
            </a:pPr>
            <a:r>
              <a:rPr lang="es-MX" sz="1600" i="1" dirty="0">
                <a:solidFill>
                  <a:schemeClr val="tx1"/>
                </a:solidFill>
                <a:effectLst>
                  <a:outerShdw blurRad="38100" dist="38100" dir="2700000" algn="tl">
                    <a:srgbClr val="000000">
                      <a:alpha val="43137"/>
                    </a:srgbClr>
                  </a:outerShdw>
                </a:effectLst>
              </a:rPr>
              <a:t>En la SOLUCIÓN 1 la variable ELEMENTO empieza en 2 antes del ciclo y se incrementa en 2 antes del final del ciclo.</a:t>
            </a:r>
            <a:endParaRPr lang="es-CO" sz="3200" i="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388668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up)">
                                      <p:cBhvr>
                                        <p:cTn id="11"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1"/>
            <a:ext cx="11094720" cy="873760"/>
          </a:xfrm>
        </p:spPr>
        <p:txBody>
          <a:bodyPr>
            <a:normAutofit/>
          </a:bodyPr>
          <a:lstStyle/>
          <a:p>
            <a:pPr algn="ctr"/>
            <a:r>
              <a:rPr lang="es-CO" sz="4200" b="1" dirty="0">
                <a:latin typeface="Bahnschrift Light SemiCondensed" panose="020B0502040204020203" pitchFamily="34" charset="0"/>
              </a:rPr>
              <a:t>“3-IMPRIMIR UN VECTOR EN C++”</a:t>
            </a:r>
          </a:p>
        </p:txBody>
      </p:sp>
      <p:sp>
        <p:nvSpPr>
          <p:cNvPr id="7" name="CuadroTexto 6">
            <a:extLst>
              <a:ext uri="{FF2B5EF4-FFF2-40B4-BE49-F238E27FC236}">
                <a16:creationId xmlns:a16="http://schemas.microsoft.com/office/drawing/2014/main" id="{B3245438-2EFA-4DBF-85CF-60E0A78BBF68}"/>
              </a:ext>
            </a:extLst>
          </p:cNvPr>
          <p:cNvSpPr txBox="1"/>
          <p:nvPr/>
        </p:nvSpPr>
        <p:spPr>
          <a:xfrm>
            <a:off x="267128" y="1290435"/>
            <a:ext cx="10202238" cy="5283199"/>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pPr lvl="0" algn="just" defTabSz="1422400">
              <a:lnSpc>
                <a:spcPct val="90000"/>
              </a:lnSpc>
              <a:spcBef>
                <a:spcPct val="0"/>
              </a:spcBef>
              <a:spcAft>
                <a:spcPct val="35000"/>
              </a:spcAft>
            </a:pPr>
            <a:r>
              <a:rPr lang="es-CO" sz="3200" b="1" dirty="0">
                <a:solidFill>
                  <a:schemeClr val="tx1"/>
                </a:solidFill>
              </a:rPr>
              <a:t>3-Imprimir elementos de forma horizontal.</a:t>
            </a:r>
            <a:endParaRPr lang="es-CO" sz="3200" i="1" dirty="0">
              <a:solidFill>
                <a:schemeClr val="tx1"/>
              </a:solidFill>
              <a:effectLst>
                <a:outerShdw blurRad="38100" dist="38100" dir="2700000" algn="tl">
                  <a:srgbClr val="000000">
                    <a:alpha val="43137"/>
                  </a:srgbClr>
                </a:outerShdw>
              </a:effectLst>
            </a:endParaRPr>
          </a:p>
          <a:p>
            <a:pPr lvl="1" algn="just" defTabSz="1422400">
              <a:lnSpc>
                <a:spcPct val="90000"/>
              </a:lnSpc>
              <a:spcBef>
                <a:spcPct val="0"/>
              </a:spcBef>
              <a:spcAft>
                <a:spcPct val="35000"/>
              </a:spcAft>
            </a:pPr>
            <a:r>
              <a:rPr lang="es-CO" sz="3200" i="1" dirty="0">
                <a:solidFill>
                  <a:schemeClr val="tx1"/>
                </a:solidFill>
                <a:effectLst>
                  <a:outerShdw blurRad="38100" dist="38100" dir="2700000" algn="tl">
                    <a:srgbClr val="000000">
                      <a:alpha val="43137"/>
                    </a:srgbClr>
                  </a:outerShdw>
                </a:effectLst>
              </a:rPr>
              <a:t>for (int i=0; i&lt;N; i++) {</a:t>
            </a:r>
          </a:p>
          <a:p>
            <a:pPr lvl="1" algn="just" defTabSz="1422400">
              <a:lnSpc>
                <a:spcPct val="90000"/>
              </a:lnSpc>
              <a:spcBef>
                <a:spcPct val="0"/>
              </a:spcBef>
              <a:spcAft>
                <a:spcPct val="35000"/>
              </a:spcAft>
            </a:pPr>
            <a:r>
              <a:rPr lang="es-CO" sz="3200" b="1" i="1" dirty="0">
                <a:solidFill>
                  <a:schemeClr val="tx1"/>
                </a:solidFill>
                <a:effectLst>
                  <a:outerShdw blurRad="38100" dist="38100" dir="2700000" algn="tl">
                    <a:srgbClr val="000000">
                      <a:alpha val="43137"/>
                    </a:srgbClr>
                  </a:outerShdw>
                </a:effectLst>
              </a:rPr>
              <a:t>	cout &lt;&lt; vector[i] &lt;&lt; "  ";</a:t>
            </a:r>
          </a:p>
          <a:p>
            <a:pPr lvl="1" algn="just" defTabSz="1422400">
              <a:lnSpc>
                <a:spcPct val="90000"/>
              </a:lnSpc>
              <a:spcBef>
                <a:spcPct val="0"/>
              </a:spcBef>
              <a:spcAft>
                <a:spcPct val="35000"/>
              </a:spcAft>
            </a:pPr>
            <a:r>
              <a:rPr lang="es-CO" sz="3200" i="1" dirty="0">
                <a:solidFill>
                  <a:schemeClr val="tx1"/>
                </a:solidFill>
                <a:effectLst>
                  <a:outerShdw blurRad="38100" dist="38100" dir="2700000" algn="tl">
                    <a:srgbClr val="000000">
                      <a:alpha val="43137"/>
                    </a:srgbClr>
                  </a:outerShdw>
                </a:effectLst>
              </a:rPr>
              <a:t>}</a:t>
            </a:r>
          </a:p>
          <a:p>
            <a:pPr lvl="0" algn="just" defTabSz="1422400">
              <a:lnSpc>
                <a:spcPct val="90000"/>
              </a:lnSpc>
              <a:spcBef>
                <a:spcPct val="0"/>
              </a:spcBef>
              <a:spcAft>
                <a:spcPct val="35000"/>
              </a:spcAft>
            </a:pPr>
            <a:endParaRPr lang="es-CO" sz="3200" b="1" dirty="0">
              <a:solidFill>
                <a:schemeClr val="tx1"/>
              </a:solidFill>
            </a:endParaRPr>
          </a:p>
          <a:p>
            <a:pPr lvl="0" algn="just" defTabSz="1422400">
              <a:lnSpc>
                <a:spcPct val="90000"/>
              </a:lnSpc>
              <a:spcBef>
                <a:spcPct val="0"/>
              </a:spcBef>
              <a:spcAft>
                <a:spcPct val="35000"/>
              </a:spcAft>
            </a:pPr>
            <a:r>
              <a:rPr lang="es-CO" sz="3200" b="1" dirty="0">
                <a:solidFill>
                  <a:schemeClr val="tx1"/>
                </a:solidFill>
              </a:rPr>
              <a:t>3-Imprimir posición y elementos de forma vertical.</a:t>
            </a:r>
            <a:endParaRPr lang="es-CO" sz="3200" i="1" dirty="0">
              <a:solidFill>
                <a:schemeClr val="tx1"/>
              </a:solidFill>
              <a:effectLst>
                <a:outerShdw blurRad="38100" dist="38100" dir="2700000" algn="tl">
                  <a:srgbClr val="000000">
                    <a:alpha val="43137"/>
                  </a:srgbClr>
                </a:outerShdw>
              </a:effectLst>
            </a:endParaRPr>
          </a:p>
          <a:p>
            <a:pPr lvl="1" algn="just" defTabSz="1422400">
              <a:lnSpc>
                <a:spcPct val="90000"/>
              </a:lnSpc>
              <a:spcBef>
                <a:spcPct val="0"/>
              </a:spcBef>
              <a:spcAft>
                <a:spcPct val="35000"/>
              </a:spcAft>
            </a:pPr>
            <a:r>
              <a:rPr lang="es-CO" sz="3200" i="1" dirty="0">
                <a:solidFill>
                  <a:schemeClr val="tx1"/>
                </a:solidFill>
                <a:effectLst>
                  <a:outerShdw blurRad="38100" dist="38100" dir="2700000" algn="tl">
                    <a:srgbClr val="000000">
                      <a:alpha val="43137"/>
                    </a:srgbClr>
                  </a:outerShdw>
                </a:effectLst>
              </a:rPr>
              <a:t>for (int i=0; i&lt;N; i++) {</a:t>
            </a:r>
          </a:p>
          <a:p>
            <a:pPr lvl="1" algn="just" defTabSz="1422400">
              <a:lnSpc>
                <a:spcPct val="90000"/>
              </a:lnSpc>
              <a:spcBef>
                <a:spcPct val="0"/>
              </a:spcBef>
              <a:spcAft>
                <a:spcPct val="35000"/>
              </a:spcAft>
            </a:pPr>
            <a:r>
              <a:rPr lang="es-CO" sz="3200" b="1" i="1" dirty="0">
                <a:solidFill>
                  <a:schemeClr val="tx1"/>
                </a:solidFill>
                <a:effectLst>
                  <a:outerShdw blurRad="38100" dist="38100" dir="2700000" algn="tl">
                    <a:srgbClr val="000000">
                      <a:alpha val="43137"/>
                    </a:srgbClr>
                  </a:outerShdw>
                </a:effectLst>
              </a:rPr>
              <a:t>	cout &lt;&lt; "vector[" &lt;&lt; i &lt;&lt; "]: " &lt;&lt; vector[i] &lt;&lt; </a:t>
            </a:r>
            <a:r>
              <a:rPr lang="es-CO" sz="3200" b="1" i="1" dirty="0" err="1">
                <a:solidFill>
                  <a:schemeClr val="tx1"/>
                </a:solidFill>
                <a:effectLst>
                  <a:outerShdw blurRad="38100" dist="38100" dir="2700000" algn="tl">
                    <a:srgbClr val="000000">
                      <a:alpha val="43137"/>
                    </a:srgbClr>
                  </a:outerShdw>
                </a:effectLst>
              </a:rPr>
              <a:t>endl</a:t>
            </a:r>
            <a:r>
              <a:rPr lang="es-CO" sz="3200" b="1" i="1" dirty="0">
                <a:solidFill>
                  <a:schemeClr val="tx1"/>
                </a:solidFill>
                <a:effectLst>
                  <a:outerShdw blurRad="38100" dist="38100" dir="2700000" algn="tl">
                    <a:srgbClr val="000000">
                      <a:alpha val="43137"/>
                    </a:srgbClr>
                  </a:outerShdw>
                </a:effectLst>
              </a:rPr>
              <a:t>;</a:t>
            </a:r>
          </a:p>
          <a:p>
            <a:pPr lvl="1" algn="just" defTabSz="1422400">
              <a:lnSpc>
                <a:spcPct val="90000"/>
              </a:lnSpc>
              <a:spcBef>
                <a:spcPct val="0"/>
              </a:spcBef>
              <a:spcAft>
                <a:spcPct val="35000"/>
              </a:spcAft>
            </a:pPr>
            <a:r>
              <a:rPr lang="es-CO" sz="3200" i="1" dirty="0">
                <a:solidFill>
                  <a:schemeClr val="tx1"/>
                </a:solidFill>
                <a:effectLst>
                  <a:outerShdw blurRad="38100" dist="38100" dir="2700000" algn="tl">
                    <a:srgbClr val="000000">
                      <a:alpha val="43137"/>
                    </a:srgbClr>
                  </a:outerShdw>
                </a:effectLst>
              </a:rPr>
              <a:t>}</a:t>
            </a:r>
          </a:p>
        </p:txBody>
      </p:sp>
    </p:spTree>
    <p:extLst>
      <p:ext uri="{BB962C8B-B14F-4D97-AF65-F5344CB8AC3E}">
        <p14:creationId xmlns:p14="http://schemas.microsoft.com/office/powerpoint/2010/main" val="1517377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1"/>
            <a:ext cx="11094720" cy="873760"/>
          </a:xfrm>
        </p:spPr>
        <p:txBody>
          <a:bodyPr>
            <a:normAutofit/>
          </a:bodyPr>
          <a:lstStyle/>
          <a:p>
            <a:pPr algn="ctr"/>
            <a:r>
              <a:rPr lang="es-CO" sz="4200" b="1" dirty="0">
                <a:latin typeface="Bahnschrift Light SemiCondensed" panose="020B0502040204020203" pitchFamily="34" charset="0"/>
              </a:rPr>
              <a:t>“3-IMPRIMIR UN VECTOR EN C++”</a:t>
            </a:r>
          </a:p>
        </p:txBody>
      </p:sp>
      <p:sp>
        <p:nvSpPr>
          <p:cNvPr id="7" name="CuadroTexto 6">
            <a:extLst>
              <a:ext uri="{FF2B5EF4-FFF2-40B4-BE49-F238E27FC236}">
                <a16:creationId xmlns:a16="http://schemas.microsoft.com/office/drawing/2014/main" id="{B3245438-2EFA-4DBF-85CF-60E0A78BBF68}"/>
              </a:ext>
            </a:extLst>
          </p:cNvPr>
          <p:cNvSpPr txBox="1"/>
          <p:nvPr/>
        </p:nvSpPr>
        <p:spPr>
          <a:xfrm>
            <a:off x="267128" y="1290435"/>
            <a:ext cx="10202238" cy="5283199"/>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pPr lvl="0" algn="just" defTabSz="1422400">
              <a:lnSpc>
                <a:spcPct val="90000"/>
              </a:lnSpc>
              <a:spcBef>
                <a:spcPct val="0"/>
              </a:spcBef>
              <a:spcAft>
                <a:spcPct val="35000"/>
              </a:spcAft>
            </a:pPr>
            <a:r>
              <a:rPr lang="es-CO" sz="3200" b="1" dirty="0">
                <a:solidFill>
                  <a:schemeClr val="tx1"/>
                </a:solidFill>
              </a:rPr>
              <a:t>3-Imprimir elementos en posiciones pares.</a:t>
            </a:r>
            <a:endParaRPr lang="es-CO" sz="3200" i="1" dirty="0">
              <a:solidFill>
                <a:schemeClr val="tx1"/>
              </a:solidFill>
              <a:effectLst>
                <a:outerShdw blurRad="38100" dist="38100" dir="2700000" algn="tl">
                  <a:srgbClr val="000000">
                    <a:alpha val="43137"/>
                  </a:srgbClr>
                </a:outerShdw>
              </a:effectLst>
            </a:endParaRPr>
          </a:p>
          <a:p>
            <a:pPr lvl="1" algn="just" defTabSz="1422400">
              <a:lnSpc>
                <a:spcPct val="90000"/>
              </a:lnSpc>
              <a:spcBef>
                <a:spcPct val="0"/>
              </a:spcBef>
              <a:spcAft>
                <a:spcPct val="35000"/>
              </a:spcAft>
            </a:pPr>
            <a:r>
              <a:rPr lang="es-CO" sz="3200" i="1" dirty="0">
                <a:solidFill>
                  <a:schemeClr val="tx1"/>
                </a:solidFill>
                <a:effectLst>
                  <a:outerShdw blurRad="38100" dist="38100" dir="2700000" algn="tl">
                    <a:srgbClr val="000000">
                      <a:alpha val="43137"/>
                    </a:srgbClr>
                  </a:outerShdw>
                </a:effectLst>
              </a:rPr>
              <a:t>for (int i=0; i&lt;N; i+=2) {</a:t>
            </a:r>
          </a:p>
          <a:p>
            <a:pPr lvl="1" algn="just" defTabSz="1422400">
              <a:lnSpc>
                <a:spcPct val="90000"/>
              </a:lnSpc>
              <a:spcBef>
                <a:spcPct val="0"/>
              </a:spcBef>
              <a:spcAft>
                <a:spcPct val="35000"/>
              </a:spcAft>
            </a:pPr>
            <a:r>
              <a:rPr lang="es-CO" sz="3200" b="1" i="1" dirty="0">
                <a:solidFill>
                  <a:schemeClr val="tx1"/>
                </a:solidFill>
                <a:effectLst>
                  <a:outerShdw blurRad="38100" dist="38100" dir="2700000" algn="tl">
                    <a:srgbClr val="000000">
                      <a:alpha val="43137"/>
                    </a:srgbClr>
                  </a:outerShdw>
                </a:effectLst>
              </a:rPr>
              <a:t>	cout &lt;&lt; vector[i] &lt;&lt; "  ";</a:t>
            </a:r>
          </a:p>
          <a:p>
            <a:pPr lvl="1" algn="just" defTabSz="1422400">
              <a:lnSpc>
                <a:spcPct val="90000"/>
              </a:lnSpc>
              <a:spcBef>
                <a:spcPct val="0"/>
              </a:spcBef>
              <a:spcAft>
                <a:spcPct val="35000"/>
              </a:spcAft>
            </a:pPr>
            <a:r>
              <a:rPr lang="es-CO" sz="3200" i="1" dirty="0">
                <a:solidFill>
                  <a:schemeClr val="tx1"/>
                </a:solidFill>
                <a:effectLst>
                  <a:outerShdw blurRad="38100" dist="38100" dir="2700000" algn="tl">
                    <a:srgbClr val="000000">
                      <a:alpha val="43137"/>
                    </a:srgbClr>
                  </a:outerShdw>
                </a:effectLst>
              </a:rPr>
              <a:t>}</a:t>
            </a:r>
          </a:p>
          <a:p>
            <a:pPr lvl="0" algn="just" defTabSz="1422400">
              <a:lnSpc>
                <a:spcPct val="90000"/>
              </a:lnSpc>
              <a:spcBef>
                <a:spcPct val="0"/>
              </a:spcBef>
              <a:spcAft>
                <a:spcPct val="35000"/>
              </a:spcAft>
            </a:pPr>
            <a:endParaRPr lang="es-CO" sz="3200" b="1" dirty="0">
              <a:solidFill>
                <a:schemeClr val="tx1"/>
              </a:solidFill>
            </a:endParaRPr>
          </a:p>
          <a:p>
            <a:pPr lvl="0" algn="just" defTabSz="1422400">
              <a:lnSpc>
                <a:spcPct val="90000"/>
              </a:lnSpc>
              <a:spcBef>
                <a:spcPct val="0"/>
              </a:spcBef>
              <a:spcAft>
                <a:spcPct val="35000"/>
              </a:spcAft>
            </a:pPr>
            <a:r>
              <a:rPr lang="es-CO" sz="3200" b="1" dirty="0">
                <a:solidFill>
                  <a:schemeClr val="tx1"/>
                </a:solidFill>
              </a:rPr>
              <a:t>3-Imprimir elementos en posiciones impares.</a:t>
            </a:r>
            <a:endParaRPr lang="es-CO" sz="3200" i="1" dirty="0">
              <a:solidFill>
                <a:schemeClr val="tx1"/>
              </a:solidFill>
              <a:effectLst>
                <a:outerShdw blurRad="38100" dist="38100" dir="2700000" algn="tl">
                  <a:srgbClr val="000000">
                    <a:alpha val="43137"/>
                  </a:srgbClr>
                </a:outerShdw>
              </a:effectLst>
            </a:endParaRPr>
          </a:p>
          <a:p>
            <a:pPr lvl="1" algn="just" defTabSz="1422400">
              <a:lnSpc>
                <a:spcPct val="90000"/>
              </a:lnSpc>
              <a:spcBef>
                <a:spcPct val="0"/>
              </a:spcBef>
              <a:spcAft>
                <a:spcPct val="35000"/>
              </a:spcAft>
            </a:pPr>
            <a:r>
              <a:rPr lang="es-CO" sz="3200" i="1" dirty="0">
                <a:solidFill>
                  <a:schemeClr val="tx1"/>
                </a:solidFill>
                <a:effectLst>
                  <a:outerShdw blurRad="38100" dist="38100" dir="2700000" algn="tl">
                    <a:srgbClr val="000000">
                      <a:alpha val="43137"/>
                    </a:srgbClr>
                  </a:outerShdw>
                </a:effectLst>
              </a:rPr>
              <a:t>for (int i=1; i&lt;N; i+=2) {</a:t>
            </a:r>
          </a:p>
          <a:p>
            <a:pPr lvl="1" algn="just" defTabSz="1422400">
              <a:lnSpc>
                <a:spcPct val="90000"/>
              </a:lnSpc>
              <a:spcBef>
                <a:spcPct val="0"/>
              </a:spcBef>
              <a:spcAft>
                <a:spcPct val="35000"/>
              </a:spcAft>
            </a:pPr>
            <a:r>
              <a:rPr lang="es-CO" sz="3200" b="1" i="1" dirty="0">
                <a:solidFill>
                  <a:schemeClr val="tx1"/>
                </a:solidFill>
                <a:effectLst>
                  <a:outerShdw blurRad="38100" dist="38100" dir="2700000" algn="tl">
                    <a:srgbClr val="000000">
                      <a:alpha val="43137"/>
                    </a:srgbClr>
                  </a:outerShdw>
                </a:effectLst>
              </a:rPr>
              <a:t>	cout &lt;&lt; vector[i] &lt;&lt; "  ";</a:t>
            </a:r>
          </a:p>
          <a:p>
            <a:pPr lvl="1" algn="just" defTabSz="1422400">
              <a:lnSpc>
                <a:spcPct val="90000"/>
              </a:lnSpc>
              <a:spcBef>
                <a:spcPct val="0"/>
              </a:spcBef>
              <a:spcAft>
                <a:spcPct val="35000"/>
              </a:spcAft>
            </a:pPr>
            <a:r>
              <a:rPr lang="es-CO" sz="3200" i="1" dirty="0">
                <a:solidFill>
                  <a:schemeClr val="tx1"/>
                </a:solidFill>
                <a:effectLst>
                  <a:outerShdw blurRad="38100" dist="38100" dir="2700000" algn="tl">
                    <a:srgbClr val="000000">
                      <a:alpha val="43137"/>
                    </a:srgbClr>
                  </a:outerShdw>
                </a:effectLst>
              </a:rPr>
              <a:t>}</a:t>
            </a:r>
          </a:p>
        </p:txBody>
      </p:sp>
    </p:spTree>
    <p:extLst>
      <p:ext uri="{BB962C8B-B14F-4D97-AF65-F5344CB8AC3E}">
        <p14:creationId xmlns:p14="http://schemas.microsoft.com/office/powerpoint/2010/main" val="3927925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1"/>
            <a:ext cx="11094720" cy="873760"/>
          </a:xfrm>
        </p:spPr>
        <p:txBody>
          <a:bodyPr>
            <a:normAutofit/>
          </a:bodyPr>
          <a:lstStyle/>
          <a:p>
            <a:pPr algn="ctr"/>
            <a:r>
              <a:rPr lang="es-CO" sz="4200" b="1" dirty="0">
                <a:latin typeface="Bahnschrift Light SemiCondensed" panose="020B0502040204020203" pitchFamily="34" charset="0"/>
              </a:rPr>
              <a:t>“3-IMPRIMIR UN VECTOR EN C++”</a:t>
            </a:r>
          </a:p>
        </p:txBody>
      </p:sp>
      <p:sp>
        <p:nvSpPr>
          <p:cNvPr id="7" name="CuadroTexto 6">
            <a:extLst>
              <a:ext uri="{FF2B5EF4-FFF2-40B4-BE49-F238E27FC236}">
                <a16:creationId xmlns:a16="http://schemas.microsoft.com/office/drawing/2014/main" id="{B3245438-2EFA-4DBF-85CF-60E0A78BBF68}"/>
              </a:ext>
            </a:extLst>
          </p:cNvPr>
          <p:cNvSpPr txBox="1"/>
          <p:nvPr/>
        </p:nvSpPr>
        <p:spPr>
          <a:xfrm>
            <a:off x="267128" y="1300709"/>
            <a:ext cx="10202238" cy="5283199"/>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pPr lvl="0" algn="just" defTabSz="1422400">
              <a:lnSpc>
                <a:spcPct val="90000"/>
              </a:lnSpc>
              <a:spcBef>
                <a:spcPct val="0"/>
              </a:spcBef>
              <a:spcAft>
                <a:spcPct val="35000"/>
              </a:spcAft>
            </a:pPr>
            <a:r>
              <a:rPr lang="es-CO" sz="3200" b="1" dirty="0">
                <a:solidFill>
                  <a:schemeClr val="tx1"/>
                </a:solidFill>
              </a:rPr>
              <a:t>3-Imprimir elementos en sentido inverso.</a:t>
            </a:r>
            <a:endParaRPr lang="es-CO" sz="3200" i="1" dirty="0">
              <a:solidFill>
                <a:schemeClr val="tx1"/>
              </a:solidFill>
              <a:effectLst>
                <a:outerShdw blurRad="38100" dist="38100" dir="2700000" algn="tl">
                  <a:srgbClr val="000000">
                    <a:alpha val="43137"/>
                  </a:srgbClr>
                </a:outerShdw>
              </a:effectLst>
            </a:endParaRPr>
          </a:p>
          <a:p>
            <a:pPr lvl="1" algn="just" defTabSz="1422400">
              <a:lnSpc>
                <a:spcPct val="90000"/>
              </a:lnSpc>
              <a:spcBef>
                <a:spcPct val="0"/>
              </a:spcBef>
              <a:spcAft>
                <a:spcPct val="35000"/>
              </a:spcAft>
            </a:pPr>
            <a:r>
              <a:rPr lang="es-CO" sz="3200" i="1" dirty="0">
                <a:solidFill>
                  <a:schemeClr val="tx1"/>
                </a:solidFill>
                <a:effectLst>
                  <a:outerShdw blurRad="38100" dist="38100" dir="2700000" algn="tl">
                    <a:srgbClr val="000000">
                      <a:alpha val="43137"/>
                    </a:srgbClr>
                  </a:outerShdw>
                </a:effectLst>
              </a:rPr>
              <a:t>for (int i=N-1; i&gt;=0; i--) {</a:t>
            </a:r>
          </a:p>
          <a:p>
            <a:pPr lvl="1" algn="just" defTabSz="1422400">
              <a:lnSpc>
                <a:spcPct val="90000"/>
              </a:lnSpc>
              <a:spcBef>
                <a:spcPct val="0"/>
              </a:spcBef>
              <a:spcAft>
                <a:spcPct val="35000"/>
              </a:spcAft>
            </a:pPr>
            <a:r>
              <a:rPr lang="es-CO" sz="3200" b="1" i="1" dirty="0">
                <a:solidFill>
                  <a:schemeClr val="tx1"/>
                </a:solidFill>
                <a:effectLst>
                  <a:outerShdw blurRad="38100" dist="38100" dir="2700000" algn="tl">
                    <a:srgbClr val="000000">
                      <a:alpha val="43137"/>
                    </a:srgbClr>
                  </a:outerShdw>
                </a:effectLst>
              </a:rPr>
              <a:t>	cout &lt;&lt; vector[i] &lt;&lt; "  ";</a:t>
            </a:r>
          </a:p>
          <a:p>
            <a:pPr lvl="1" algn="just" defTabSz="1422400">
              <a:lnSpc>
                <a:spcPct val="90000"/>
              </a:lnSpc>
              <a:spcBef>
                <a:spcPct val="0"/>
              </a:spcBef>
              <a:spcAft>
                <a:spcPct val="35000"/>
              </a:spcAft>
            </a:pPr>
            <a:r>
              <a:rPr lang="es-CO" sz="3200" i="1" dirty="0">
                <a:solidFill>
                  <a:schemeClr val="tx1"/>
                </a:solidFill>
                <a:effectLst>
                  <a:outerShdw blurRad="38100" dist="38100" dir="2700000" algn="tl">
                    <a:srgbClr val="000000">
                      <a:alpha val="43137"/>
                    </a:srgbClr>
                  </a:outerShdw>
                </a:effectLst>
              </a:rPr>
              <a:t>}</a:t>
            </a:r>
          </a:p>
          <a:p>
            <a:pPr lvl="1" algn="just" defTabSz="1422400">
              <a:lnSpc>
                <a:spcPct val="90000"/>
              </a:lnSpc>
              <a:spcBef>
                <a:spcPct val="0"/>
              </a:spcBef>
              <a:spcAft>
                <a:spcPct val="35000"/>
              </a:spcAft>
            </a:pPr>
            <a:endParaRPr lang="es-CO" sz="3200" i="1" dirty="0">
              <a:solidFill>
                <a:schemeClr val="tx1"/>
              </a:solidFill>
              <a:effectLst>
                <a:outerShdw blurRad="38100" dist="38100" dir="2700000" algn="tl">
                  <a:srgbClr val="000000">
                    <a:alpha val="43137"/>
                  </a:srgbClr>
                </a:outerShdw>
              </a:effectLst>
            </a:endParaRPr>
          </a:p>
          <a:p>
            <a:pPr lvl="0" algn="just" defTabSz="1422400">
              <a:lnSpc>
                <a:spcPct val="90000"/>
              </a:lnSpc>
              <a:spcBef>
                <a:spcPct val="0"/>
              </a:spcBef>
              <a:spcAft>
                <a:spcPct val="35000"/>
              </a:spcAft>
            </a:pPr>
            <a:r>
              <a:rPr lang="es-CO" sz="3200" b="1" dirty="0">
                <a:solidFill>
                  <a:schemeClr val="tx1"/>
                </a:solidFill>
              </a:rPr>
              <a:t>3-Imprimir posición y elementos en sentido inverso.</a:t>
            </a:r>
            <a:endParaRPr lang="es-CO" sz="3200" i="1" dirty="0">
              <a:solidFill>
                <a:schemeClr val="tx1"/>
              </a:solidFill>
              <a:effectLst>
                <a:outerShdw blurRad="38100" dist="38100" dir="2700000" algn="tl">
                  <a:srgbClr val="000000">
                    <a:alpha val="43137"/>
                  </a:srgbClr>
                </a:outerShdw>
              </a:effectLst>
            </a:endParaRPr>
          </a:p>
          <a:p>
            <a:pPr lvl="1" algn="just" defTabSz="1422400">
              <a:lnSpc>
                <a:spcPct val="90000"/>
              </a:lnSpc>
              <a:spcBef>
                <a:spcPct val="0"/>
              </a:spcBef>
              <a:spcAft>
                <a:spcPct val="35000"/>
              </a:spcAft>
            </a:pPr>
            <a:r>
              <a:rPr lang="es-CO" sz="3200" i="1" dirty="0">
                <a:solidFill>
                  <a:schemeClr val="tx1"/>
                </a:solidFill>
                <a:effectLst>
                  <a:outerShdw blurRad="38100" dist="38100" dir="2700000" algn="tl">
                    <a:srgbClr val="000000">
                      <a:alpha val="43137"/>
                    </a:srgbClr>
                  </a:outerShdw>
                </a:effectLst>
              </a:rPr>
              <a:t>for (int i=N-1; i&gt;=0; i--) {</a:t>
            </a:r>
          </a:p>
          <a:p>
            <a:pPr lvl="1" algn="just" defTabSz="1422400">
              <a:lnSpc>
                <a:spcPct val="90000"/>
              </a:lnSpc>
              <a:spcBef>
                <a:spcPct val="0"/>
              </a:spcBef>
              <a:spcAft>
                <a:spcPct val="35000"/>
              </a:spcAft>
            </a:pPr>
            <a:r>
              <a:rPr lang="es-CO" sz="3200" b="1" i="1" dirty="0">
                <a:solidFill>
                  <a:schemeClr val="tx1"/>
                </a:solidFill>
                <a:effectLst>
                  <a:outerShdw blurRad="38100" dist="38100" dir="2700000" algn="tl">
                    <a:srgbClr val="000000">
                      <a:alpha val="43137"/>
                    </a:srgbClr>
                  </a:outerShdw>
                </a:effectLst>
              </a:rPr>
              <a:t>	cout &lt;&lt; "vector[" &lt;&lt; i &lt;&lt; "]: " &lt;&lt; vector[i] &lt;&lt; </a:t>
            </a:r>
            <a:r>
              <a:rPr lang="es-CO" sz="3200" b="1" i="1" dirty="0" err="1">
                <a:solidFill>
                  <a:schemeClr val="tx1"/>
                </a:solidFill>
                <a:effectLst>
                  <a:outerShdw blurRad="38100" dist="38100" dir="2700000" algn="tl">
                    <a:srgbClr val="000000">
                      <a:alpha val="43137"/>
                    </a:srgbClr>
                  </a:outerShdw>
                </a:effectLst>
              </a:rPr>
              <a:t>endl</a:t>
            </a:r>
            <a:r>
              <a:rPr lang="es-CO" sz="3200" b="1" i="1" dirty="0">
                <a:solidFill>
                  <a:schemeClr val="tx1"/>
                </a:solidFill>
                <a:effectLst>
                  <a:outerShdw blurRad="38100" dist="38100" dir="2700000" algn="tl">
                    <a:srgbClr val="000000">
                      <a:alpha val="43137"/>
                    </a:srgbClr>
                  </a:outerShdw>
                </a:effectLst>
              </a:rPr>
              <a:t>;</a:t>
            </a:r>
          </a:p>
          <a:p>
            <a:pPr lvl="1" algn="just" defTabSz="1422400">
              <a:lnSpc>
                <a:spcPct val="90000"/>
              </a:lnSpc>
              <a:spcBef>
                <a:spcPct val="0"/>
              </a:spcBef>
              <a:spcAft>
                <a:spcPct val="35000"/>
              </a:spcAft>
            </a:pPr>
            <a:r>
              <a:rPr lang="es-CO" sz="3200" i="1" dirty="0">
                <a:solidFill>
                  <a:schemeClr val="tx1"/>
                </a:solidFill>
                <a:effectLst>
                  <a:outerShdw blurRad="38100" dist="38100" dir="2700000" algn="tl">
                    <a:srgbClr val="000000">
                      <a:alpha val="43137"/>
                    </a:srgbClr>
                  </a:outerShdw>
                </a:effectLst>
              </a:rPr>
              <a:t>}</a:t>
            </a:r>
            <a:endParaRPr lang="es-CO" sz="3200" b="1" dirty="0">
              <a:solidFill>
                <a:schemeClr val="tx1"/>
              </a:solidFill>
            </a:endParaRPr>
          </a:p>
        </p:txBody>
      </p:sp>
    </p:spTree>
    <p:extLst>
      <p:ext uri="{BB962C8B-B14F-4D97-AF65-F5344CB8AC3E}">
        <p14:creationId xmlns:p14="http://schemas.microsoft.com/office/powerpoint/2010/main" val="1787739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1"/>
            <a:ext cx="11353800" cy="637562"/>
          </a:xfrm>
        </p:spPr>
        <p:txBody>
          <a:bodyPr>
            <a:noAutofit/>
          </a:bodyPr>
          <a:lstStyle/>
          <a:p>
            <a:pPr algn="ctr"/>
            <a:r>
              <a:rPr lang="es-CO" sz="4800" b="1" dirty="0">
                <a:latin typeface="Bahnschrift Light SemiCondensed" panose="020B0502040204020203" pitchFamily="34" charset="0"/>
              </a:rPr>
              <a:t>“EJEMPLO #1 - VECTORES EN C++”</a:t>
            </a:r>
          </a:p>
        </p:txBody>
      </p:sp>
      <p:sp>
        <p:nvSpPr>
          <p:cNvPr id="5" name="Text Box 16">
            <a:extLst>
              <a:ext uri="{FF2B5EF4-FFF2-40B4-BE49-F238E27FC236}">
                <a16:creationId xmlns:a16="http://schemas.microsoft.com/office/drawing/2014/main" id="{690FC2C2-CE78-4317-BCEA-BD8868619D4C}"/>
              </a:ext>
            </a:extLst>
          </p:cNvPr>
          <p:cNvSpPr txBox="1">
            <a:spLocks noChangeArrowheads="1"/>
          </p:cNvSpPr>
          <p:nvPr/>
        </p:nvSpPr>
        <p:spPr bwMode="auto">
          <a:xfrm>
            <a:off x="8014498" y="637563"/>
            <a:ext cx="4129957" cy="2034517"/>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defPPr>
              <a:defRPr lang="es-CO"/>
            </a:defPPr>
            <a:lvl1pPr lvl="0" algn="just" defTabSz="1422400">
              <a:lnSpc>
                <a:spcPct val="90000"/>
              </a:lnSpc>
              <a:spcBef>
                <a:spcPct val="0"/>
              </a:spcBef>
              <a:spcAft>
                <a:spcPct val="35000"/>
              </a:spcAft>
              <a:defRPr sz="2800">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s-MX" sz="2400" dirty="0"/>
              <a:t>Crear e imprimir 3 arreglos enteros de dimensión 6. Dimensionar el vector A, llenar el vector B con números aleatorios entre 1 y 50 y leer la información del vector C. </a:t>
            </a:r>
            <a:endParaRPr lang="es-ES" sz="2400" dirty="0"/>
          </a:p>
        </p:txBody>
      </p:sp>
      <p:pic>
        <p:nvPicPr>
          <p:cNvPr id="6" name="Imagen 5">
            <a:extLst>
              <a:ext uri="{FF2B5EF4-FFF2-40B4-BE49-F238E27FC236}">
                <a16:creationId xmlns:a16="http://schemas.microsoft.com/office/drawing/2014/main" id="{9DE9483F-7890-45B2-B419-7B1AE3F6A89A}"/>
              </a:ext>
            </a:extLst>
          </p:cNvPr>
          <p:cNvPicPr>
            <a:picLocks noChangeAspect="1"/>
          </p:cNvPicPr>
          <p:nvPr/>
        </p:nvPicPr>
        <p:blipFill rotWithShape="1">
          <a:blip r:embed="rId3"/>
          <a:srcRect l="-937" t="-1560" r="-937" b="-1560"/>
          <a:stretch/>
        </p:blipFill>
        <p:spPr>
          <a:xfrm>
            <a:off x="303936" y="-651753"/>
            <a:ext cx="7490297" cy="8326876"/>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fov="600000">
              <a:rot lat="18960000" lon="0" rev="0"/>
            </a:camera>
            <a:lightRig rig="twoPt" dir="t">
              <a:rot lat="0" lon="0" rev="7200000"/>
            </a:lightRig>
          </a:scene3d>
          <a:sp3d prstMaterial="matte">
            <a:bevelT w="22860" h="12700"/>
            <a:contourClr>
              <a:srgbClr val="FFFFFF"/>
            </a:contourClr>
          </a:sp3d>
        </p:spPr>
      </p:pic>
      <p:pic>
        <p:nvPicPr>
          <p:cNvPr id="7" name="Imagen 6">
            <a:extLst>
              <a:ext uri="{FF2B5EF4-FFF2-40B4-BE49-F238E27FC236}">
                <a16:creationId xmlns:a16="http://schemas.microsoft.com/office/drawing/2014/main" id="{AC95F06E-EA05-46EB-BDD6-FB054D6E2B0E}"/>
              </a:ext>
            </a:extLst>
          </p:cNvPr>
          <p:cNvPicPr>
            <a:picLocks noChangeAspect="1"/>
          </p:cNvPicPr>
          <p:nvPr/>
        </p:nvPicPr>
        <p:blipFill>
          <a:blip r:embed="rId4"/>
          <a:stretch>
            <a:fillRect/>
          </a:stretch>
        </p:blipFill>
        <p:spPr>
          <a:xfrm>
            <a:off x="6515100" y="2785851"/>
            <a:ext cx="3888740" cy="4046306"/>
          </a:xfrm>
          <a:prstGeom prst="rect">
            <a:avLst/>
          </a:prstGeom>
        </p:spPr>
      </p:pic>
    </p:spTree>
    <p:extLst>
      <p:ext uri="{BB962C8B-B14F-4D97-AF65-F5344CB8AC3E}">
        <p14:creationId xmlns:p14="http://schemas.microsoft.com/office/powerpoint/2010/main" val="2991121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50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1"/>
            <a:ext cx="11353800" cy="637562"/>
          </a:xfrm>
        </p:spPr>
        <p:txBody>
          <a:bodyPr>
            <a:noAutofit/>
          </a:bodyPr>
          <a:lstStyle/>
          <a:p>
            <a:pPr algn="ctr"/>
            <a:r>
              <a:rPr lang="es-CO" sz="4800" b="1" dirty="0">
                <a:latin typeface="Bahnschrift Light SemiCondensed" panose="020B0502040204020203" pitchFamily="34" charset="0"/>
              </a:rPr>
              <a:t>“EJEMPLO #2 - VECTORES EN C++”</a:t>
            </a:r>
          </a:p>
        </p:txBody>
      </p:sp>
      <p:sp>
        <p:nvSpPr>
          <p:cNvPr id="5" name="Text Box 16">
            <a:extLst>
              <a:ext uri="{FF2B5EF4-FFF2-40B4-BE49-F238E27FC236}">
                <a16:creationId xmlns:a16="http://schemas.microsoft.com/office/drawing/2014/main" id="{690FC2C2-CE78-4317-BCEA-BD8868619D4C}"/>
              </a:ext>
            </a:extLst>
          </p:cNvPr>
          <p:cNvSpPr txBox="1">
            <a:spLocks noChangeArrowheads="1"/>
          </p:cNvSpPr>
          <p:nvPr/>
        </p:nvSpPr>
        <p:spPr bwMode="auto">
          <a:xfrm>
            <a:off x="8014498" y="637563"/>
            <a:ext cx="4129957" cy="2372337"/>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defPPr>
              <a:defRPr lang="es-CO"/>
            </a:defPPr>
            <a:lvl1pPr lvl="0" algn="just" defTabSz="1422400">
              <a:lnSpc>
                <a:spcPct val="90000"/>
              </a:lnSpc>
              <a:spcBef>
                <a:spcPct val="0"/>
              </a:spcBef>
              <a:spcAft>
                <a:spcPct val="35000"/>
              </a:spcAft>
              <a:defRPr sz="2800">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s-MX" sz="2400" dirty="0"/>
              <a:t>Crear e imprimir 4 arreglos de dimensión 6. Definir el vector A de tipo bool, inicializar el vector B con 0, inicializar el vector C con </a:t>
            </a:r>
            <a:r>
              <a:rPr lang="it-IT" sz="2400" dirty="0"/>
              <a:t>{8,20,5} e inicializar el vector D con notas.</a:t>
            </a:r>
            <a:endParaRPr lang="es-ES" sz="2400" dirty="0"/>
          </a:p>
        </p:txBody>
      </p:sp>
      <p:pic>
        <p:nvPicPr>
          <p:cNvPr id="3" name="Imagen 2">
            <a:extLst>
              <a:ext uri="{FF2B5EF4-FFF2-40B4-BE49-F238E27FC236}">
                <a16:creationId xmlns:a16="http://schemas.microsoft.com/office/drawing/2014/main" id="{C4C30CC1-73E8-4FB2-88C8-7EBDCEB94EF6}"/>
              </a:ext>
            </a:extLst>
          </p:cNvPr>
          <p:cNvPicPr>
            <a:picLocks noChangeAspect="1"/>
          </p:cNvPicPr>
          <p:nvPr/>
        </p:nvPicPr>
        <p:blipFill>
          <a:blip r:embed="rId3"/>
          <a:stretch>
            <a:fillRect/>
          </a:stretch>
        </p:blipFill>
        <p:spPr>
          <a:xfrm>
            <a:off x="344576" y="-714875"/>
            <a:ext cx="7035236" cy="8493760"/>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fov="600000">
              <a:rot lat="18960000" lon="0" rev="0"/>
            </a:camera>
            <a:lightRig rig="twoPt" dir="t">
              <a:rot lat="0" lon="0" rev="7200000"/>
            </a:lightRig>
          </a:scene3d>
          <a:sp3d prstMaterial="matte">
            <a:bevelT w="22860" h="12700"/>
            <a:contourClr>
              <a:srgbClr val="FFFFFF"/>
            </a:contourClr>
          </a:sp3d>
        </p:spPr>
      </p:pic>
      <p:pic>
        <p:nvPicPr>
          <p:cNvPr id="4" name="Imagen 3">
            <a:extLst>
              <a:ext uri="{FF2B5EF4-FFF2-40B4-BE49-F238E27FC236}">
                <a16:creationId xmlns:a16="http://schemas.microsoft.com/office/drawing/2014/main" id="{41AAAC3A-A282-4F4F-AB7C-CBDC1D2B2869}"/>
              </a:ext>
            </a:extLst>
          </p:cNvPr>
          <p:cNvPicPr>
            <a:picLocks noChangeAspect="1"/>
          </p:cNvPicPr>
          <p:nvPr/>
        </p:nvPicPr>
        <p:blipFill>
          <a:blip r:embed="rId4"/>
          <a:stretch>
            <a:fillRect/>
          </a:stretch>
        </p:blipFill>
        <p:spPr>
          <a:xfrm>
            <a:off x="7829392" y="3271520"/>
            <a:ext cx="2655728" cy="3352799"/>
          </a:xfrm>
          <a:prstGeom prst="rect">
            <a:avLst/>
          </a:prstGeom>
        </p:spPr>
      </p:pic>
    </p:spTree>
    <p:extLst>
      <p:ext uri="{BB962C8B-B14F-4D97-AF65-F5344CB8AC3E}">
        <p14:creationId xmlns:p14="http://schemas.microsoft.com/office/powerpoint/2010/main" val="1143311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50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1"/>
            <a:ext cx="11353800" cy="637562"/>
          </a:xfrm>
        </p:spPr>
        <p:txBody>
          <a:bodyPr>
            <a:noAutofit/>
          </a:bodyPr>
          <a:lstStyle/>
          <a:p>
            <a:pPr algn="ctr"/>
            <a:r>
              <a:rPr lang="es-CO" sz="4800" b="1" dirty="0">
                <a:latin typeface="Bahnschrift Light SemiCondensed" panose="020B0502040204020203" pitchFamily="34" charset="0"/>
              </a:rPr>
              <a:t>“EJEMPLO #3 - VECTORES EN C++”</a:t>
            </a:r>
          </a:p>
        </p:txBody>
      </p:sp>
      <p:sp>
        <p:nvSpPr>
          <p:cNvPr id="5" name="Text Box 16">
            <a:extLst>
              <a:ext uri="{FF2B5EF4-FFF2-40B4-BE49-F238E27FC236}">
                <a16:creationId xmlns:a16="http://schemas.microsoft.com/office/drawing/2014/main" id="{690FC2C2-CE78-4317-BCEA-BD8868619D4C}"/>
              </a:ext>
            </a:extLst>
          </p:cNvPr>
          <p:cNvSpPr txBox="1">
            <a:spLocks noChangeArrowheads="1"/>
          </p:cNvSpPr>
          <p:nvPr/>
        </p:nvSpPr>
        <p:spPr bwMode="auto">
          <a:xfrm>
            <a:off x="8014498" y="637563"/>
            <a:ext cx="4129957" cy="2791437"/>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defPPr>
              <a:defRPr lang="es-CO"/>
            </a:defPPr>
            <a:lvl1pPr lvl="0" algn="just" defTabSz="1422400">
              <a:lnSpc>
                <a:spcPct val="90000"/>
              </a:lnSpc>
              <a:spcBef>
                <a:spcPct val="0"/>
              </a:spcBef>
              <a:spcAft>
                <a:spcPct val="35000"/>
              </a:spcAft>
              <a:defRPr sz="2800">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s-MX" sz="2400" dirty="0"/>
              <a:t>Crear e imprimir 4 arreglos de dimensión 6. Definir el vector A de tipo string, inicializar el vector B con nombres de ciudades, inicializar el vector C con "Error" e inicializar el vector D con {'E', 'r', 'r', 'o', 'r',0}</a:t>
            </a:r>
            <a:r>
              <a:rPr lang="it-IT" sz="2400" dirty="0"/>
              <a:t>.</a:t>
            </a:r>
            <a:endParaRPr lang="es-ES" sz="2400" dirty="0"/>
          </a:p>
        </p:txBody>
      </p:sp>
      <p:pic>
        <p:nvPicPr>
          <p:cNvPr id="9" name="Imagen 8">
            <a:extLst>
              <a:ext uri="{FF2B5EF4-FFF2-40B4-BE49-F238E27FC236}">
                <a16:creationId xmlns:a16="http://schemas.microsoft.com/office/drawing/2014/main" id="{6E3B543D-47DC-44C2-BC4D-63CD588F68BE}"/>
              </a:ext>
            </a:extLst>
          </p:cNvPr>
          <p:cNvPicPr>
            <a:picLocks noChangeAspect="1"/>
          </p:cNvPicPr>
          <p:nvPr/>
        </p:nvPicPr>
        <p:blipFill>
          <a:blip r:embed="rId3"/>
          <a:stretch>
            <a:fillRect/>
          </a:stretch>
        </p:blipFill>
        <p:spPr>
          <a:xfrm>
            <a:off x="358140" y="-453050"/>
            <a:ext cx="7423707" cy="8102600"/>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fov="600000">
              <a:rot lat="18960000" lon="0" rev="0"/>
            </a:camera>
            <a:lightRig rig="twoPt" dir="t">
              <a:rot lat="0" lon="0" rev="7200000"/>
            </a:lightRig>
          </a:scene3d>
          <a:sp3d prstMaterial="matte">
            <a:bevelT w="22860" h="12700"/>
            <a:contourClr>
              <a:srgbClr val="FFFFFF"/>
            </a:contourClr>
          </a:sp3d>
        </p:spPr>
      </p:pic>
      <p:pic>
        <p:nvPicPr>
          <p:cNvPr id="7" name="Imagen 6">
            <a:extLst>
              <a:ext uri="{FF2B5EF4-FFF2-40B4-BE49-F238E27FC236}">
                <a16:creationId xmlns:a16="http://schemas.microsoft.com/office/drawing/2014/main" id="{0564A9E0-89C9-4CB5-B5E8-B6C5888867A1}"/>
              </a:ext>
            </a:extLst>
          </p:cNvPr>
          <p:cNvPicPr>
            <a:picLocks noChangeAspect="1"/>
          </p:cNvPicPr>
          <p:nvPr/>
        </p:nvPicPr>
        <p:blipFill>
          <a:blip r:embed="rId4"/>
          <a:stretch>
            <a:fillRect/>
          </a:stretch>
        </p:blipFill>
        <p:spPr>
          <a:xfrm>
            <a:off x="5615705" y="3598250"/>
            <a:ext cx="4605995" cy="2980350"/>
          </a:xfrm>
          <a:prstGeom prst="rect">
            <a:avLst/>
          </a:prstGeom>
        </p:spPr>
      </p:pic>
      <p:sp>
        <p:nvSpPr>
          <p:cNvPr id="10" name="Flecha: hacia abajo 9">
            <a:extLst>
              <a:ext uri="{FF2B5EF4-FFF2-40B4-BE49-F238E27FC236}">
                <a16:creationId xmlns:a16="http://schemas.microsoft.com/office/drawing/2014/main" id="{DC3EE04E-9D6C-4E31-9231-2B9779FF6EF2}"/>
              </a:ext>
            </a:extLst>
          </p:cNvPr>
          <p:cNvSpPr/>
          <p:nvPr/>
        </p:nvSpPr>
        <p:spPr>
          <a:xfrm>
            <a:off x="1676400" y="5054600"/>
            <a:ext cx="469900" cy="6375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388395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50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par>
                          <p:cTn id="10" fill="hold">
                            <p:stCondLst>
                              <p:cond delay="6000"/>
                            </p:stCondLst>
                            <p:childTnLst>
                              <p:par>
                                <p:cTn id="11" presetID="26" presetClass="entr" presetSubtype="0"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down)">
                                      <p:cBhvr>
                                        <p:cTn id="13" dur="580">
                                          <p:stCondLst>
                                            <p:cond delay="0"/>
                                          </p:stCondLst>
                                        </p:cTn>
                                        <p:tgtEl>
                                          <p:spTgt spid="10"/>
                                        </p:tgtEl>
                                      </p:cBhvr>
                                    </p:animEffect>
                                    <p:anim calcmode="lin" valueType="num">
                                      <p:cBhvr>
                                        <p:cTn id="14"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9" dur="26">
                                          <p:stCondLst>
                                            <p:cond delay="650"/>
                                          </p:stCondLst>
                                        </p:cTn>
                                        <p:tgtEl>
                                          <p:spTgt spid="10"/>
                                        </p:tgtEl>
                                      </p:cBhvr>
                                      <p:to x="100000" y="60000"/>
                                    </p:animScale>
                                    <p:animScale>
                                      <p:cBhvr>
                                        <p:cTn id="20" dur="166" decel="50000">
                                          <p:stCondLst>
                                            <p:cond delay="676"/>
                                          </p:stCondLst>
                                        </p:cTn>
                                        <p:tgtEl>
                                          <p:spTgt spid="10"/>
                                        </p:tgtEl>
                                      </p:cBhvr>
                                      <p:to x="100000" y="100000"/>
                                    </p:animScale>
                                    <p:animScale>
                                      <p:cBhvr>
                                        <p:cTn id="21" dur="26">
                                          <p:stCondLst>
                                            <p:cond delay="1312"/>
                                          </p:stCondLst>
                                        </p:cTn>
                                        <p:tgtEl>
                                          <p:spTgt spid="10"/>
                                        </p:tgtEl>
                                      </p:cBhvr>
                                      <p:to x="100000" y="80000"/>
                                    </p:animScale>
                                    <p:animScale>
                                      <p:cBhvr>
                                        <p:cTn id="22" dur="166" decel="50000">
                                          <p:stCondLst>
                                            <p:cond delay="1338"/>
                                          </p:stCondLst>
                                        </p:cTn>
                                        <p:tgtEl>
                                          <p:spTgt spid="10"/>
                                        </p:tgtEl>
                                      </p:cBhvr>
                                      <p:to x="100000" y="100000"/>
                                    </p:animScale>
                                    <p:animScale>
                                      <p:cBhvr>
                                        <p:cTn id="23" dur="26">
                                          <p:stCondLst>
                                            <p:cond delay="1642"/>
                                          </p:stCondLst>
                                        </p:cTn>
                                        <p:tgtEl>
                                          <p:spTgt spid="10"/>
                                        </p:tgtEl>
                                      </p:cBhvr>
                                      <p:to x="100000" y="90000"/>
                                    </p:animScale>
                                    <p:animScale>
                                      <p:cBhvr>
                                        <p:cTn id="24" dur="166" decel="50000">
                                          <p:stCondLst>
                                            <p:cond delay="1668"/>
                                          </p:stCondLst>
                                        </p:cTn>
                                        <p:tgtEl>
                                          <p:spTgt spid="10"/>
                                        </p:tgtEl>
                                      </p:cBhvr>
                                      <p:to x="100000" y="100000"/>
                                    </p:animScale>
                                    <p:animScale>
                                      <p:cBhvr>
                                        <p:cTn id="25" dur="26">
                                          <p:stCondLst>
                                            <p:cond delay="1808"/>
                                          </p:stCondLst>
                                        </p:cTn>
                                        <p:tgtEl>
                                          <p:spTgt spid="10"/>
                                        </p:tgtEl>
                                      </p:cBhvr>
                                      <p:to x="100000" y="95000"/>
                                    </p:animScale>
                                    <p:animScale>
                                      <p:cBhvr>
                                        <p:cTn id="26" dur="166" decel="50000">
                                          <p:stCondLst>
                                            <p:cond delay="1834"/>
                                          </p:stCondLst>
                                        </p:cTn>
                                        <p:tgtEl>
                                          <p:spTgt spid="1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1"/>
            <a:ext cx="11353800" cy="637562"/>
          </a:xfrm>
        </p:spPr>
        <p:txBody>
          <a:bodyPr>
            <a:noAutofit/>
          </a:bodyPr>
          <a:lstStyle/>
          <a:p>
            <a:pPr algn="ctr"/>
            <a:r>
              <a:rPr lang="es-CO" sz="4800" b="1" dirty="0">
                <a:latin typeface="Bahnschrift Light SemiCondensed" panose="020B0502040204020203" pitchFamily="34" charset="0"/>
              </a:rPr>
              <a:t>“EJEMPLO #4 - VECTORES EN C++”</a:t>
            </a:r>
          </a:p>
        </p:txBody>
      </p:sp>
      <p:pic>
        <p:nvPicPr>
          <p:cNvPr id="4" name="Imagen 3">
            <a:extLst>
              <a:ext uri="{FF2B5EF4-FFF2-40B4-BE49-F238E27FC236}">
                <a16:creationId xmlns:a16="http://schemas.microsoft.com/office/drawing/2014/main" id="{E3DC9161-DA66-46E1-82E2-98DDE144C8C4}"/>
              </a:ext>
            </a:extLst>
          </p:cNvPr>
          <p:cNvPicPr>
            <a:picLocks noChangeAspect="1"/>
          </p:cNvPicPr>
          <p:nvPr/>
        </p:nvPicPr>
        <p:blipFill rotWithShape="1">
          <a:blip r:embed="rId3"/>
          <a:srcRect l="-1539" t="-1186" r="-1539" b="-1186"/>
          <a:stretch/>
        </p:blipFill>
        <p:spPr>
          <a:xfrm>
            <a:off x="330200" y="-673100"/>
            <a:ext cx="7454900" cy="8375113"/>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fov="600000">
              <a:rot lat="18960000" lon="0" rev="0"/>
            </a:camera>
            <a:lightRig rig="twoPt" dir="t">
              <a:rot lat="0" lon="0" rev="7200000"/>
            </a:lightRig>
          </a:scene3d>
          <a:sp3d prstMaterial="matte">
            <a:bevelT w="22860" h="12700"/>
            <a:contourClr>
              <a:srgbClr val="FFFFFF"/>
            </a:contourClr>
          </a:sp3d>
        </p:spPr>
      </p:pic>
      <p:sp>
        <p:nvSpPr>
          <p:cNvPr id="5" name="Text Box 16">
            <a:extLst>
              <a:ext uri="{FF2B5EF4-FFF2-40B4-BE49-F238E27FC236}">
                <a16:creationId xmlns:a16="http://schemas.microsoft.com/office/drawing/2014/main" id="{690FC2C2-CE78-4317-BCEA-BD8868619D4C}"/>
              </a:ext>
            </a:extLst>
          </p:cNvPr>
          <p:cNvSpPr txBox="1">
            <a:spLocks noChangeArrowheads="1"/>
          </p:cNvSpPr>
          <p:nvPr/>
        </p:nvSpPr>
        <p:spPr bwMode="auto">
          <a:xfrm>
            <a:off x="4546600" y="637563"/>
            <a:ext cx="7576569" cy="988037"/>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defPPr>
              <a:defRPr lang="es-CO"/>
            </a:defPPr>
            <a:lvl1pPr lvl="0" algn="just" defTabSz="1422400">
              <a:lnSpc>
                <a:spcPct val="90000"/>
              </a:lnSpc>
              <a:spcBef>
                <a:spcPct val="0"/>
              </a:spcBef>
              <a:spcAft>
                <a:spcPct val="35000"/>
              </a:spcAft>
              <a:defRPr sz="2800">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s-MX" dirty="0"/>
              <a:t>Llenar un vector de N posiciones con números aleatorios e imprimirlos en sentido inverso.</a:t>
            </a:r>
          </a:p>
        </p:txBody>
      </p:sp>
      <p:pic>
        <p:nvPicPr>
          <p:cNvPr id="8" name="Imagen 7">
            <a:extLst>
              <a:ext uri="{FF2B5EF4-FFF2-40B4-BE49-F238E27FC236}">
                <a16:creationId xmlns:a16="http://schemas.microsoft.com/office/drawing/2014/main" id="{E329D05C-8E3F-498A-88F6-032FF821DDC9}"/>
              </a:ext>
            </a:extLst>
          </p:cNvPr>
          <p:cNvPicPr>
            <a:picLocks noChangeAspect="1"/>
          </p:cNvPicPr>
          <p:nvPr/>
        </p:nvPicPr>
        <p:blipFill>
          <a:blip r:embed="rId4"/>
          <a:stretch>
            <a:fillRect/>
          </a:stretch>
        </p:blipFill>
        <p:spPr>
          <a:xfrm>
            <a:off x="7806385" y="1625600"/>
            <a:ext cx="4316784" cy="3926436"/>
          </a:xfrm>
          <a:prstGeom prst="rect">
            <a:avLst/>
          </a:prstGeom>
        </p:spPr>
      </p:pic>
    </p:spTree>
    <p:extLst>
      <p:ext uri="{BB962C8B-B14F-4D97-AF65-F5344CB8AC3E}">
        <p14:creationId xmlns:p14="http://schemas.microsoft.com/office/powerpoint/2010/main" val="4394237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1"/>
            <a:ext cx="11094720" cy="873760"/>
          </a:xfrm>
        </p:spPr>
        <p:txBody>
          <a:bodyPr>
            <a:normAutofit/>
          </a:bodyPr>
          <a:lstStyle/>
          <a:p>
            <a:pPr algn="ctr"/>
            <a:r>
              <a:rPr lang="es-CO" sz="4200" b="1" dirty="0">
                <a:latin typeface="Bahnschrift Light SemiCondensed" panose="020B0502040204020203" pitchFamily="34" charset="0"/>
              </a:rPr>
              <a:t>“4-HALLAR EL MAYOR/MENOR EN VECTOR C++”</a:t>
            </a:r>
          </a:p>
        </p:txBody>
      </p:sp>
      <p:sp>
        <p:nvSpPr>
          <p:cNvPr id="4" name="Text Box 38">
            <a:extLst>
              <a:ext uri="{FF2B5EF4-FFF2-40B4-BE49-F238E27FC236}">
                <a16:creationId xmlns:a16="http://schemas.microsoft.com/office/drawing/2014/main" id="{7E993387-2725-483B-85FF-B9BDC1E515E0}"/>
              </a:ext>
            </a:extLst>
          </p:cNvPr>
          <p:cNvSpPr txBox="1">
            <a:spLocks noChangeArrowheads="1"/>
          </p:cNvSpPr>
          <p:nvPr/>
        </p:nvSpPr>
        <p:spPr bwMode="auto">
          <a:xfrm>
            <a:off x="6552544" y="1602636"/>
            <a:ext cx="2971800" cy="461665"/>
          </a:xfrm>
          <a:prstGeom prst="rect">
            <a:avLst/>
          </a:prstGeom>
          <a:noFill/>
          <a:ln>
            <a:noFill/>
            <a:headEnd/>
            <a:tailEnd/>
          </a:ln>
        </p:spPr>
        <p:style>
          <a:lnRef idx="1">
            <a:schemeClr val="accent3"/>
          </a:lnRef>
          <a:fillRef idx="2">
            <a:schemeClr val="accent3"/>
          </a:fillRef>
          <a:effectRef idx="1">
            <a:schemeClr val="accent3"/>
          </a:effectRef>
          <a:fontRef idx="minor">
            <a:schemeClr val="dk1"/>
          </a:fontRef>
        </p:style>
        <p:txBody>
          <a:bodyPr>
            <a:spAutoFit/>
          </a:bodyPr>
          <a:lstStyle/>
          <a:p>
            <a:pPr fontAlgn="base">
              <a:spcBef>
                <a:spcPct val="50000"/>
              </a:spcBef>
              <a:spcAft>
                <a:spcPct val="0"/>
              </a:spcAft>
            </a:pPr>
            <a:r>
              <a:rPr lang="es-MX" sz="2400" b="1" dirty="0">
                <a:solidFill>
                  <a:prstClr val="black"/>
                </a:solidFill>
                <a:latin typeface="Arial Narrow" pitchFamily="34" charset="0"/>
              </a:rPr>
              <a:t>int </a:t>
            </a:r>
            <a:r>
              <a:rPr lang="es-MX" sz="2400" b="1" dirty="0" err="1">
                <a:solidFill>
                  <a:prstClr val="black"/>
                </a:solidFill>
                <a:latin typeface="Arial Narrow" pitchFamily="34" charset="0"/>
              </a:rPr>
              <a:t>may</a:t>
            </a:r>
            <a:r>
              <a:rPr lang="es-MX" sz="2400" b="1" dirty="0">
                <a:solidFill>
                  <a:prstClr val="black"/>
                </a:solidFill>
                <a:latin typeface="Arial Narrow" pitchFamily="34" charset="0"/>
              </a:rPr>
              <a:t> = </a:t>
            </a:r>
            <a:r>
              <a:rPr lang="es-MX" sz="2400" b="1" dirty="0" err="1">
                <a:solidFill>
                  <a:prstClr val="black"/>
                </a:solidFill>
                <a:latin typeface="Arial Narrow" pitchFamily="34" charset="0"/>
              </a:rPr>
              <a:t>vec</a:t>
            </a:r>
            <a:r>
              <a:rPr lang="es-MX" sz="2400" b="1" dirty="0">
                <a:solidFill>
                  <a:prstClr val="black"/>
                </a:solidFill>
                <a:latin typeface="Arial Narrow" pitchFamily="34" charset="0"/>
              </a:rPr>
              <a:t>[0];</a:t>
            </a:r>
          </a:p>
        </p:txBody>
      </p:sp>
      <p:sp>
        <p:nvSpPr>
          <p:cNvPr id="5" name="Text Box 40">
            <a:extLst>
              <a:ext uri="{FF2B5EF4-FFF2-40B4-BE49-F238E27FC236}">
                <a16:creationId xmlns:a16="http://schemas.microsoft.com/office/drawing/2014/main" id="{4B047651-9C23-404B-9A26-448F93ED9AF2}"/>
              </a:ext>
            </a:extLst>
          </p:cNvPr>
          <p:cNvSpPr txBox="1">
            <a:spLocks noChangeArrowheads="1"/>
          </p:cNvSpPr>
          <p:nvPr/>
        </p:nvSpPr>
        <p:spPr bwMode="auto">
          <a:xfrm>
            <a:off x="2094472" y="1395774"/>
            <a:ext cx="3810000" cy="1048865"/>
          </a:xfrm>
          <a:prstGeom prst="rect">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defPPr>
              <a:defRPr lang="es-CO"/>
            </a:defPPr>
            <a:lvl1pPr algn="ctr">
              <a:defRPr sz="2800">
                <a:solidFill>
                  <a:schemeClr val="tx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s-MX" sz="2000" dirty="0"/>
              <a:t>1-Se lleva a una variable auxiliar el primer elemento del vector.  Y a otra variable se lleva la posición 0.</a:t>
            </a:r>
            <a:endParaRPr lang="es-ES" sz="2000" dirty="0"/>
          </a:p>
        </p:txBody>
      </p:sp>
      <p:sp>
        <p:nvSpPr>
          <p:cNvPr id="6" name="Text Box 42">
            <a:extLst>
              <a:ext uri="{FF2B5EF4-FFF2-40B4-BE49-F238E27FC236}">
                <a16:creationId xmlns:a16="http://schemas.microsoft.com/office/drawing/2014/main" id="{349E1557-5A6D-47DE-9ED2-9680113C7902}"/>
              </a:ext>
            </a:extLst>
          </p:cNvPr>
          <p:cNvSpPr txBox="1">
            <a:spLocks noChangeArrowheads="1"/>
          </p:cNvSpPr>
          <p:nvPr/>
        </p:nvSpPr>
        <p:spPr bwMode="auto">
          <a:xfrm>
            <a:off x="6552544" y="2683723"/>
            <a:ext cx="3694922" cy="461665"/>
          </a:xfrm>
          <a:prstGeom prst="rect">
            <a:avLst/>
          </a:prstGeom>
          <a:noFill/>
          <a:ln>
            <a:noFill/>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fontAlgn="base">
              <a:spcBef>
                <a:spcPct val="50000"/>
              </a:spcBef>
              <a:spcAft>
                <a:spcPct val="0"/>
              </a:spcAft>
            </a:pPr>
            <a:r>
              <a:rPr lang="es-MX" sz="2400" b="1" dirty="0">
                <a:solidFill>
                  <a:prstClr val="black"/>
                </a:solidFill>
                <a:latin typeface="Arial Narrow" pitchFamily="34" charset="0"/>
              </a:rPr>
              <a:t>for (int i = 1; p&lt;n; p++) {</a:t>
            </a:r>
          </a:p>
        </p:txBody>
      </p:sp>
      <p:sp>
        <p:nvSpPr>
          <p:cNvPr id="8" name="Text Box 43">
            <a:extLst>
              <a:ext uri="{FF2B5EF4-FFF2-40B4-BE49-F238E27FC236}">
                <a16:creationId xmlns:a16="http://schemas.microsoft.com/office/drawing/2014/main" id="{85BAA232-1383-4A87-ADBC-488443750FA3}"/>
              </a:ext>
            </a:extLst>
          </p:cNvPr>
          <p:cNvSpPr txBox="1">
            <a:spLocks noChangeArrowheads="1"/>
          </p:cNvSpPr>
          <p:nvPr/>
        </p:nvSpPr>
        <p:spPr bwMode="auto">
          <a:xfrm>
            <a:off x="2094472" y="2462574"/>
            <a:ext cx="3810000" cy="701675"/>
          </a:xfrm>
          <a:prstGeom prst="rect">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defPPr>
              <a:defRPr lang="es-CO"/>
            </a:defPPr>
            <a:lvl1pPr algn="ctr">
              <a:defRPr sz="2000">
                <a:solidFill>
                  <a:schemeClr val="tx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s-MX" dirty="0"/>
              <a:t>2-Se hace un ciclo desde la posición 1 hasta posición N-1.</a:t>
            </a:r>
            <a:endParaRPr lang="es-ES" dirty="0"/>
          </a:p>
        </p:txBody>
      </p:sp>
      <p:sp>
        <p:nvSpPr>
          <p:cNvPr id="9" name="Text Box 45">
            <a:extLst>
              <a:ext uri="{FF2B5EF4-FFF2-40B4-BE49-F238E27FC236}">
                <a16:creationId xmlns:a16="http://schemas.microsoft.com/office/drawing/2014/main" id="{B620E60F-F635-4F6B-8EBE-0C6088BE73ED}"/>
              </a:ext>
            </a:extLst>
          </p:cNvPr>
          <p:cNvSpPr txBox="1">
            <a:spLocks noChangeArrowheads="1"/>
          </p:cNvSpPr>
          <p:nvPr/>
        </p:nvSpPr>
        <p:spPr bwMode="auto">
          <a:xfrm>
            <a:off x="2094472" y="3184818"/>
            <a:ext cx="3810000" cy="2020956"/>
          </a:xfrm>
          <a:prstGeom prst="rect">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defPPr>
              <a:defRPr lang="es-CO"/>
            </a:defPPr>
            <a:lvl1pPr algn="ctr">
              <a:defRPr sz="2000">
                <a:solidFill>
                  <a:schemeClr val="tx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s-MX" dirty="0"/>
              <a:t>3-Se compara el vector con la variable auxiliar (si cumple la condición de mayor o menor), se lleva a esa variable el vector y se guarda la posición (P) en la otra variable auxiliar (POS).</a:t>
            </a:r>
            <a:endParaRPr lang="es-ES" dirty="0"/>
          </a:p>
        </p:txBody>
      </p:sp>
      <p:sp>
        <p:nvSpPr>
          <p:cNvPr id="10" name="Text Box 47">
            <a:extLst>
              <a:ext uri="{FF2B5EF4-FFF2-40B4-BE49-F238E27FC236}">
                <a16:creationId xmlns:a16="http://schemas.microsoft.com/office/drawing/2014/main" id="{007B3CD7-49A8-4DEF-81C2-A92FFD3D51E6}"/>
              </a:ext>
            </a:extLst>
          </p:cNvPr>
          <p:cNvSpPr txBox="1">
            <a:spLocks noChangeArrowheads="1"/>
          </p:cNvSpPr>
          <p:nvPr/>
        </p:nvSpPr>
        <p:spPr bwMode="auto">
          <a:xfrm>
            <a:off x="6552544" y="3140923"/>
            <a:ext cx="3276600" cy="2123658"/>
          </a:xfrm>
          <a:prstGeom prst="rect">
            <a:avLst/>
          </a:prstGeom>
          <a:noFill/>
          <a:ln w="9525">
            <a:noFill/>
            <a:miter lim="800000"/>
            <a:headEnd/>
            <a:tailEnd/>
          </a:ln>
        </p:spPr>
        <p:txBody>
          <a:bodyPr>
            <a:spAutoFit/>
          </a:bodyPr>
          <a:lstStyle/>
          <a:p>
            <a:pPr fontAlgn="base">
              <a:spcBef>
                <a:spcPct val="0"/>
              </a:spcBef>
              <a:spcAft>
                <a:spcPct val="0"/>
              </a:spcAft>
            </a:pPr>
            <a:r>
              <a:rPr lang="es-MX" sz="2400" b="1" dirty="0">
                <a:solidFill>
                  <a:prstClr val="black"/>
                </a:solidFill>
                <a:latin typeface="Arial Narrow" pitchFamily="34" charset="0"/>
              </a:rPr>
              <a:t>   if (</a:t>
            </a:r>
            <a:r>
              <a:rPr lang="es-MX" sz="2400" b="1" dirty="0" err="1">
                <a:solidFill>
                  <a:prstClr val="black"/>
                </a:solidFill>
                <a:latin typeface="Arial Narrow" pitchFamily="34" charset="0"/>
              </a:rPr>
              <a:t>vec</a:t>
            </a:r>
            <a:r>
              <a:rPr lang="es-MX" sz="2400" b="1" dirty="0">
                <a:solidFill>
                  <a:prstClr val="black"/>
                </a:solidFill>
                <a:latin typeface="Arial Narrow" pitchFamily="34" charset="0"/>
              </a:rPr>
              <a:t> [i] &gt; </a:t>
            </a:r>
            <a:r>
              <a:rPr lang="es-MX" sz="2400" b="1" dirty="0" err="1">
                <a:solidFill>
                  <a:prstClr val="black"/>
                </a:solidFill>
                <a:latin typeface="Arial Narrow" pitchFamily="34" charset="0"/>
              </a:rPr>
              <a:t>may</a:t>
            </a:r>
            <a:r>
              <a:rPr lang="es-MX" sz="2400" b="1" dirty="0">
                <a:solidFill>
                  <a:prstClr val="black"/>
                </a:solidFill>
                <a:latin typeface="Arial Narrow" pitchFamily="34" charset="0"/>
              </a:rPr>
              <a:t>) {</a:t>
            </a:r>
          </a:p>
          <a:p>
            <a:pPr fontAlgn="base">
              <a:spcBef>
                <a:spcPct val="0"/>
              </a:spcBef>
              <a:spcAft>
                <a:spcPct val="0"/>
              </a:spcAft>
            </a:pPr>
            <a:r>
              <a:rPr lang="es-MX" sz="2400" b="1" dirty="0">
                <a:solidFill>
                  <a:prstClr val="black"/>
                </a:solidFill>
                <a:latin typeface="Arial Narrow" pitchFamily="34" charset="0"/>
              </a:rPr>
              <a:t>	</a:t>
            </a:r>
            <a:r>
              <a:rPr lang="es-MX" sz="2400" b="1" dirty="0" err="1">
                <a:solidFill>
                  <a:prstClr val="black"/>
                </a:solidFill>
                <a:latin typeface="Arial Narrow" pitchFamily="34" charset="0"/>
              </a:rPr>
              <a:t>may</a:t>
            </a:r>
            <a:r>
              <a:rPr lang="es-MX" sz="2400" b="1" dirty="0">
                <a:solidFill>
                  <a:prstClr val="black"/>
                </a:solidFill>
                <a:latin typeface="Arial Narrow" pitchFamily="34" charset="0"/>
              </a:rPr>
              <a:t> = </a:t>
            </a:r>
            <a:r>
              <a:rPr lang="es-MX" sz="2400" b="1" dirty="0" err="1">
                <a:solidFill>
                  <a:prstClr val="black"/>
                </a:solidFill>
                <a:latin typeface="Arial Narrow" pitchFamily="34" charset="0"/>
              </a:rPr>
              <a:t>vec</a:t>
            </a:r>
            <a:r>
              <a:rPr lang="es-MX" sz="2400" b="1" dirty="0">
                <a:solidFill>
                  <a:prstClr val="black"/>
                </a:solidFill>
                <a:latin typeface="Arial Narrow" pitchFamily="34" charset="0"/>
              </a:rPr>
              <a:t>[i];</a:t>
            </a:r>
          </a:p>
          <a:p>
            <a:pPr fontAlgn="base">
              <a:spcBef>
                <a:spcPct val="0"/>
              </a:spcBef>
              <a:spcAft>
                <a:spcPct val="0"/>
              </a:spcAft>
            </a:pPr>
            <a:endParaRPr lang="es-MX" sz="2400" b="1" dirty="0">
              <a:solidFill>
                <a:prstClr val="black"/>
              </a:solidFill>
              <a:latin typeface="Arial Narrow" pitchFamily="34" charset="0"/>
            </a:endParaRPr>
          </a:p>
          <a:p>
            <a:pPr fontAlgn="base">
              <a:spcBef>
                <a:spcPct val="0"/>
              </a:spcBef>
              <a:spcAft>
                <a:spcPct val="0"/>
              </a:spcAft>
            </a:pPr>
            <a:r>
              <a:rPr lang="es-MX" sz="2400" b="1" dirty="0">
                <a:solidFill>
                  <a:prstClr val="black"/>
                </a:solidFill>
                <a:latin typeface="Arial Narrow" pitchFamily="34" charset="0"/>
              </a:rPr>
              <a:t>   }</a:t>
            </a:r>
          </a:p>
          <a:p>
            <a:pPr fontAlgn="base">
              <a:spcBef>
                <a:spcPct val="50000"/>
              </a:spcBef>
              <a:spcAft>
                <a:spcPct val="0"/>
              </a:spcAft>
            </a:pPr>
            <a:r>
              <a:rPr lang="es-MX" sz="2400" b="1" dirty="0">
                <a:solidFill>
                  <a:prstClr val="black"/>
                </a:solidFill>
                <a:latin typeface="Arial Narrow" pitchFamily="34" charset="0"/>
              </a:rPr>
              <a:t>}</a:t>
            </a:r>
          </a:p>
        </p:txBody>
      </p:sp>
      <p:sp>
        <p:nvSpPr>
          <p:cNvPr id="11" name="Text Box 48">
            <a:extLst>
              <a:ext uri="{FF2B5EF4-FFF2-40B4-BE49-F238E27FC236}">
                <a16:creationId xmlns:a16="http://schemas.microsoft.com/office/drawing/2014/main" id="{93060279-D94A-4852-99AE-A729D95DE337}"/>
              </a:ext>
            </a:extLst>
          </p:cNvPr>
          <p:cNvSpPr txBox="1">
            <a:spLocks noChangeArrowheads="1"/>
          </p:cNvSpPr>
          <p:nvPr/>
        </p:nvSpPr>
        <p:spPr bwMode="auto">
          <a:xfrm>
            <a:off x="2094472" y="5205774"/>
            <a:ext cx="3810000" cy="701675"/>
          </a:xfrm>
          <a:prstGeom prst="rect">
            <a:avLst/>
          </a:prstGeom>
          <a:solidFill>
            <a:schemeClr val="bg1">
              <a:lumMod val="85000"/>
            </a:schemeClr>
          </a:solidFill>
          <a:scene3d>
            <a:camera prst="orthographicFront"/>
            <a:lightRig rig="threePt" dir="t"/>
          </a:scene3d>
          <a:sp3d>
            <a:bevelT w="165100" prst="coolSlant"/>
          </a:sp3d>
        </p:spPr>
        <p:style>
          <a:lnRef idx="1">
            <a:schemeClr val="dk1"/>
          </a:lnRef>
          <a:fillRef idx="1003">
            <a:schemeClr val="dk1"/>
          </a:fillRef>
          <a:effectRef idx="1">
            <a:schemeClr val="dk1"/>
          </a:effectRef>
          <a:fontRef idx="minor">
            <a:schemeClr val="dk1"/>
          </a:fontRef>
        </p:style>
        <p:txBody>
          <a:bodyPr rtlCol="0" anchor="ctr"/>
          <a:lstStyle>
            <a:defPPr>
              <a:defRPr lang="es-CO"/>
            </a:defPPr>
            <a:lvl1pPr algn="ctr">
              <a:defRPr sz="2000">
                <a:solidFill>
                  <a:schemeClr val="tx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s-MX" dirty="0"/>
              <a:t>4-Se imprima la variable auxiliar y la posición después del ciclo.</a:t>
            </a:r>
            <a:endParaRPr lang="es-ES" dirty="0"/>
          </a:p>
        </p:txBody>
      </p:sp>
      <p:sp>
        <p:nvSpPr>
          <p:cNvPr id="12" name="Text Box 50">
            <a:extLst>
              <a:ext uri="{FF2B5EF4-FFF2-40B4-BE49-F238E27FC236}">
                <a16:creationId xmlns:a16="http://schemas.microsoft.com/office/drawing/2014/main" id="{AF81D6E5-2B92-4CBA-BBE5-46894990A428}"/>
              </a:ext>
            </a:extLst>
          </p:cNvPr>
          <p:cNvSpPr txBox="1">
            <a:spLocks noChangeArrowheads="1"/>
          </p:cNvSpPr>
          <p:nvPr/>
        </p:nvSpPr>
        <p:spPr bwMode="auto">
          <a:xfrm>
            <a:off x="6569754" y="5249290"/>
            <a:ext cx="2142988" cy="461665"/>
          </a:xfrm>
          <a:prstGeom prst="rect">
            <a:avLst/>
          </a:prstGeom>
          <a:noFill/>
          <a:ln>
            <a:noFill/>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fontAlgn="base">
              <a:spcBef>
                <a:spcPct val="50000"/>
              </a:spcBef>
              <a:spcAft>
                <a:spcPct val="0"/>
              </a:spcAft>
            </a:pPr>
            <a:r>
              <a:rPr lang="es-MX" sz="2400" b="1" dirty="0">
                <a:solidFill>
                  <a:prstClr val="black"/>
                </a:solidFill>
                <a:latin typeface="Arial Narrow" pitchFamily="34" charset="0"/>
              </a:rPr>
              <a:t>cout &lt;&lt; </a:t>
            </a:r>
            <a:r>
              <a:rPr lang="es-MX" sz="2400" b="1" dirty="0" err="1">
                <a:solidFill>
                  <a:prstClr val="black"/>
                </a:solidFill>
                <a:latin typeface="Arial Narrow" pitchFamily="34" charset="0"/>
              </a:rPr>
              <a:t>may</a:t>
            </a:r>
            <a:r>
              <a:rPr lang="es-MX" sz="2400" b="1" dirty="0">
                <a:solidFill>
                  <a:prstClr val="black"/>
                </a:solidFill>
                <a:latin typeface="Arial Narrow" pitchFamily="34" charset="0"/>
              </a:rPr>
              <a:t>;</a:t>
            </a:r>
          </a:p>
        </p:txBody>
      </p:sp>
      <p:sp>
        <p:nvSpPr>
          <p:cNvPr id="13" name="Text Box 51">
            <a:extLst>
              <a:ext uri="{FF2B5EF4-FFF2-40B4-BE49-F238E27FC236}">
                <a16:creationId xmlns:a16="http://schemas.microsoft.com/office/drawing/2014/main" id="{8D8FBE72-79C8-4EED-B4C8-7E72F50B72F9}"/>
              </a:ext>
            </a:extLst>
          </p:cNvPr>
          <p:cNvSpPr txBox="1">
            <a:spLocks noChangeArrowheads="1"/>
          </p:cNvSpPr>
          <p:nvPr/>
        </p:nvSpPr>
        <p:spPr bwMode="auto">
          <a:xfrm>
            <a:off x="2083863" y="1405378"/>
            <a:ext cx="3824221" cy="4484473"/>
          </a:xfrm>
          <a:prstGeom prst="rect">
            <a:avLst/>
          </a:prstGeom>
          <a:solidFill>
            <a:schemeClr val="accent5">
              <a:lumMod val="20000"/>
              <a:lumOff val="80000"/>
            </a:schemeClr>
          </a:solidFill>
          <a:ln>
            <a:solidFill>
              <a:schemeClr val="tx1"/>
            </a:solidFill>
          </a:ln>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defPPr>
              <a:defRPr lang="es-CO"/>
            </a:defPPr>
            <a:lvl1pPr lvl="0" algn="just" defTabSz="1422400">
              <a:lnSpc>
                <a:spcPct val="90000"/>
              </a:lnSpc>
              <a:spcBef>
                <a:spcPct val="0"/>
              </a:spcBef>
              <a:spcAft>
                <a:spcPct val="35000"/>
              </a:spcAft>
              <a:defRPr sz="3200" b="1">
                <a:solidFill>
                  <a:schemeClr val="tx1"/>
                </a:solidFill>
              </a:defRPr>
            </a:lvl1pPr>
            <a:lvl2pPr lvl="1" algn="just" defTabSz="1422400">
              <a:lnSpc>
                <a:spcPct val="90000"/>
              </a:lnSpc>
              <a:spcBef>
                <a:spcPct val="0"/>
              </a:spcBef>
              <a:spcAft>
                <a:spcPct val="35000"/>
              </a:spcAft>
              <a:defRPr sz="3200" i="1">
                <a:solidFill>
                  <a:schemeClr val="tx1"/>
                </a:solidFill>
                <a:effectLst>
                  <a:outerShdw blurRad="38100" dist="38100" dir="2700000" algn="tl">
                    <a:srgbClr val="000000">
                      <a:alpha val="43137"/>
                    </a:srgbClr>
                  </a:outerShdw>
                </a:effectLst>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s-MX" sz="3000" dirty="0">
                <a:latin typeface="Bodoni MT" panose="02070603080606020203" pitchFamily="18" charset="0"/>
              </a:rPr>
              <a:t>NOTA</a:t>
            </a:r>
            <a:r>
              <a:rPr lang="es-MX" sz="3000" b="0" dirty="0">
                <a:latin typeface="Bodoni MT" panose="02070603080606020203" pitchFamily="18" charset="0"/>
              </a:rPr>
              <a:t>: Si el enunciado del ejercicio no pide imprimir la posición donde encuentra el elemento mayor o menor, omita las instrucciones o renglones  que tengan la variable </a:t>
            </a:r>
            <a:r>
              <a:rPr lang="es-MX" sz="3000" b="0" dirty="0" err="1">
                <a:latin typeface="Bodoni MT" panose="02070603080606020203" pitchFamily="18" charset="0"/>
              </a:rPr>
              <a:t>pos</a:t>
            </a:r>
            <a:r>
              <a:rPr lang="es-MX" sz="3000" b="0" dirty="0">
                <a:latin typeface="Bodoni MT" panose="02070603080606020203" pitchFamily="18" charset="0"/>
              </a:rPr>
              <a:t>.</a:t>
            </a:r>
            <a:endParaRPr lang="es-ES" sz="3000" b="0" dirty="0">
              <a:latin typeface="Bodoni MT" panose="02070603080606020203" pitchFamily="18" charset="0"/>
            </a:endParaRPr>
          </a:p>
        </p:txBody>
      </p:sp>
      <p:sp>
        <p:nvSpPr>
          <p:cNvPr id="14" name="Flecha a la derecha con bandas 97">
            <a:extLst>
              <a:ext uri="{FF2B5EF4-FFF2-40B4-BE49-F238E27FC236}">
                <a16:creationId xmlns:a16="http://schemas.microsoft.com/office/drawing/2014/main" id="{3E6F1B30-D340-43B1-AF16-E614013C00EB}"/>
              </a:ext>
            </a:extLst>
          </p:cNvPr>
          <p:cNvSpPr/>
          <p:nvPr/>
        </p:nvSpPr>
        <p:spPr>
          <a:xfrm>
            <a:off x="5918693" y="1787968"/>
            <a:ext cx="588368" cy="412400"/>
          </a:xfrm>
          <a:prstGeom prst="striped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s-CO"/>
          </a:p>
        </p:txBody>
      </p:sp>
      <p:sp>
        <p:nvSpPr>
          <p:cNvPr id="15" name="Flecha a la derecha con bandas 98">
            <a:extLst>
              <a:ext uri="{FF2B5EF4-FFF2-40B4-BE49-F238E27FC236}">
                <a16:creationId xmlns:a16="http://schemas.microsoft.com/office/drawing/2014/main" id="{BD8654AD-1221-4640-99BA-80014F685CD5}"/>
              </a:ext>
            </a:extLst>
          </p:cNvPr>
          <p:cNvSpPr/>
          <p:nvPr/>
        </p:nvSpPr>
        <p:spPr>
          <a:xfrm>
            <a:off x="5914629" y="2641693"/>
            <a:ext cx="588368" cy="412400"/>
          </a:xfrm>
          <a:prstGeom prst="striped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s-CO"/>
          </a:p>
        </p:txBody>
      </p:sp>
      <p:sp>
        <p:nvSpPr>
          <p:cNvPr id="16" name="Flecha a la derecha con bandas 99">
            <a:extLst>
              <a:ext uri="{FF2B5EF4-FFF2-40B4-BE49-F238E27FC236}">
                <a16:creationId xmlns:a16="http://schemas.microsoft.com/office/drawing/2014/main" id="{B20DA0EF-6355-47FD-B739-A08873224F3D}"/>
              </a:ext>
            </a:extLst>
          </p:cNvPr>
          <p:cNvSpPr/>
          <p:nvPr/>
        </p:nvSpPr>
        <p:spPr>
          <a:xfrm>
            <a:off x="5914629" y="3856574"/>
            <a:ext cx="988016" cy="412400"/>
          </a:xfrm>
          <a:prstGeom prst="striped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s-CO"/>
          </a:p>
        </p:txBody>
      </p:sp>
      <p:sp>
        <p:nvSpPr>
          <p:cNvPr id="17" name="Flecha a la derecha con bandas 100">
            <a:extLst>
              <a:ext uri="{FF2B5EF4-FFF2-40B4-BE49-F238E27FC236}">
                <a16:creationId xmlns:a16="http://schemas.microsoft.com/office/drawing/2014/main" id="{FBD9B890-2C8C-4D42-B14A-AD43488F58AC}"/>
              </a:ext>
            </a:extLst>
          </p:cNvPr>
          <p:cNvSpPr/>
          <p:nvPr/>
        </p:nvSpPr>
        <p:spPr>
          <a:xfrm>
            <a:off x="5914629" y="5350411"/>
            <a:ext cx="588368" cy="412400"/>
          </a:xfrm>
          <a:prstGeom prst="striped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s-CO"/>
          </a:p>
        </p:txBody>
      </p:sp>
      <p:sp>
        <p:nvSpPr>
          <p:cNvPr id="18" name="Text Box 38">
            <a:extLst>
              <a:ext uri="{FF2B5EF4-FFF2-40B4-BE49-F238E27FC236}">
                <a16:creationId xmlns:a16="http://schemas.microsoft.com/office/drawing/2014/main" id="{B817858D-FCC9-4191-9978-B3FB3414132F}"/>
              </a:ext>
            </a:extLst>
          </p:cNvPr>
          <p:cNvSpPr txBox="1">
            <a:spLocks noChangeArrowheads="1"/>
          </p:cNvSpPr>
          <p:nvPr/>
        </p:nvSpPr>
        <p:spPr bwMode="auto">
          <a:xfrm>
            <a:off x="6559815" y="1982974"/>
            <a:ext cx="1898608" cy="461665"/>
          </a:xfrm>
          <a:prstGeom prst="rect">
            <a:avLst/>
          </a:prstGeom>
          <a:noFill/>
          <a:ln>
            <a:noFill/>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fontAlgn="base">
              <a:spcBef>
                <a:spcPct val="50000"/>
              </a:spcBef>
              <a:spcAft>
                <a:spcPct val="0"/>
              </a:spcAft>
            </a:pPr>
            <a:r>
              <a:rPr lang="es-MX" sz="2400" b="1" dirty="0">
                <a:solidFill>
                  <a:prstClr val="black"/>
                </a:solidFill>
                <a:latin typeface="Arial Narrow" pitchFamily="34" charset="0"/>
              </a:rPr>
              <a:t>int </a:t>
            </a:r>
            <a:r>
              <a:rPr lang="es-MX" sz="2400" b="1" dirty="0" err="1">
                <a:solidFill>
                  <a:prstClr val="black"/>
                </a:solidFill>
                <a:latin typeface="Arial Narrow" pitchFamily="34" charset="0"/>
              </a:rPr>
              <a:t>pos</a:t>
            </a:r>
            <a:r>
              <a:rPr lang="es-MX" sz="2400" b="1" dirty="0">
                <a:solidFill>
                  <a:prstClr val="black"/>
                </a:solidFill>
                <a:latin typeface="Arial Narrow" pitchFamily="34" charset="0"/>
              </a:rPr>
              <a:t> = 0;</a:t>
            </a:r>
          </a:p>
        </p:txBody>
      </p:sp>
      <p:sp>
        <p:nvSpPr>
          <p:cNvPr id="19" name="Text Box 38">
            <a:extLst>
              <a:ext uri="{FF2B5EF4-FFF2-40B4-BE49-F238E27FC236}">
                <a16:creationId xmlns:a16="http://schemas.microsoft.com/office/drawing/2014/main" id="{02FE2006-17C4-451A-AEFB-87644F4CED96}"/>
              </a:ext>
            </a:extLst>
          </p:cNvPr>
          <p:cNvSpPr txBox="1">
            <a:spLocks noChangeArrowheads="1"/>
          </p:cNvSpPr>
          <p:nvPr/>
        </p:nvSpPr>
        <p:spPr bwMode="auto">
          <a:xfrm>
            <a:off x="7464255" y="3870692"/>
            <a:ext cx="1679967" cy="461665"/>
          </a:xfrm>
          <a:prstGeom prst="rect">
            <a:avLst/>
          </a:prstGeom>
          <a:noFill/>
          <a:ln>
            <a:noFill/>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fontAlgn="base">
              <a:spcBef>
                <a:spcPct val="50000"/>
              </a:spcBef>
              <a:spcAft>
                <a:spcPct val="0"/>
              </a:spcAft>
            </a:pPr>
            <a:r>
              <a:rPr lang="es-MX" sz="2400" b="1" dirty="0" err="1">
                <a:solidFill>
                  <a:prstClr val="black"/>
                </a:solidFill>
                <a:latin typeface="Arial Narrow" pitchFamily="34" charset="0"/>
              </a:rPr>
              <a:t>pos</a:t>
            </a:r>
            <a:r>
              <a:rPr lang="es-MX" sz="2400" b="1" dirty="0">
                <a:solidFill>
                  <a:prstClr val="black"/>
                </a:solidFill>
                <a:latin typeface="Arial Narrow" pitchFamily="34" charset="0"/>
              </a:rPr>
              <a:t> = i;</a:t>
            </a:r>
          </a:p>
        </p:txBody>
      </p:sp>
      <p:sp>
        <p:nvSpPr>
          <p:cNvPr id="20" name="Text Box 38">
            <a:extLst>
              <a:ext uri="{FF2B5EF4-FFF2-40B4-BE49-F238E27FC236}">
                <a16:creationId xmlns:a16="http://schemas.microsoft.com/office/drawing/2014/main" id="{5243FFC9-9528-4A8C-85A1-2A1588CF090D}"/>
              </a:ext>
            </a:extLst>
          </p:cNvPr>
          <p:cNvSpPr txBox="1">
            <a:spLocks noChangeArrowheads="1"/>
          </p:cNvSpPr>
          <p:nvPr/>
        </p:nvSpPr>
        <p:spPr bwMode="auto">
          <a:xfrm>
            <a:off x="8149748" y="5249289"/>
            <a:ext cx="1333500" cy="461665"/>
          </a:xfrm>
          <a:prstGeom prst="rect">
            <a:avLst/>
          </a:prstGeom>
          <a:solidFill>
            <a:schemeClr val="bg1"/>
          </a:solidFill>
          <a:ln>
            <a:noFill/>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fontAlgn="base">
              <a:spcBef>
                <a:spcPct val="50000"/>
              </a:spcBef>
              <a:spcAft>
                <a:spcPct val="0"/>
              </a:spcAft>
            </a:pPr>
            <a:r>
              <a:rPr lang="es-MX" sz="2400" b="1" dirty="0">
                <a:solidFill>
                  <a:prstClr val="black"/>
                </a:solidFill>
                <a:latin typeface="Arial Narrow" pitchFamily="34" charset="0"/>
              </a:rPr>
              <a:t>&lt;&lt; </a:t>
            </a:r>
            <a:r>
              <a:rPr lang="es-MX" sz="2400" b="1" dirty="0" err="1">
                <a:solidFill>
                  <a:prstClr val="black"/>
                </a:solidFill>
                <a:latin typeface="Arial Narrow" pitchFamily="34" charset="0"/>
              </a:rPr>
              <a:t>pos</a:t>
            </a:r>
            <a:r>
              <a:rPr lang="es-MX" sz="2400" b="1" dirty="0">
                <a:solidFill>
                  <a:prstClr val="black"/>
                </a:solidFill>
                <a:latin typeface="Arial Narrow" pitchFamily="34" charset="0"/>
              </a:rPr>
              <a:t>;</a:t>
            </a:r>
          </a:p>
        </p:txBody>
      </p:sp>
    </p:spTree>
    <p:extLst>
      <p:ext uri="{BB962C8B-B14F-4D97-AF65-F5344CB8AC3E}">
        <p14:creationId xmlns:p14="http://schemas.microsoft.com/office/powerpoint/2010/main" val="2187591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outHorizontal)">
                                      <p:cBhvr>
                                        <p:cTn id="7" dur="500"/>
                                        <p:tgtEl>
                                          <p:spTgt spid="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left)">
                                      <p:cBhvr>
                                        <p:cTn id="11" dur="500"/>
                                        <p:tgtEl>
                                          <p:spTgt spid="14"/>
                                        </p:tgtEl>
                                      </p:cBhvr>
                                    </p:animEffect>
                                  </p:childTnLst>
                                </p:cTn>
                              </p:par>
                            </p:childTnLst>
                          </p:cTn>
                        </p:par>
                        <p:par>
                          <p:cTn id="12" fill="hold">
                            <p:stCondLst>
                              <p:cond delay="1000"/>
                            </p:stCondLst>
                            <p:childTnLst>
                              <p:par>
                                <p:cTn id="13" presetID="1" presetClass="entr" presetSubtype="0" fill="hold" grpId="0" nodeType="afterEffect">
                                  <p:stCondLst>
                                    <p:cond delay="0"/>
                                  </p:stCondLst>
                                  <p:childTnLst>
                                    <p:set>
                                      <p:cBhvr>
                                        <p:cTn id="14" dur="1" fill="hold">
                                          <p:stCondLst>
                                            <p:cond delay="499"/>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1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6" presetClass="entr" presetSubtype="42"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barn(outHorizontal)">
                                      <p:cBhvr>
                                        <p:cTn id="21" dur="500"/>
                                        <p:tgtEl>
                                          <p:spTgt spid="8"/>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wipe(left)">
                                      <p:cBhvr>
                                        <p:cTn id="25" dur="500"/>
                                        <p:tgtEl>
                                          <p:spTgt spid="15"/>
                                        </p:tgtEl>
                                      </p:cBhvr>
                                    </p:animEffect>
                                  </p:childTnLst>
                                </p:cTn>
                              </p:par>
                            </p:childTnLst>
                          </p:cTn>
                        </p:par>
                        <p:par>
                          <p:cTn id="26" fill="hold">
                            <p:stCondLst>
                              <p:cond delay="1000"/>
                            </p:stCondLst>
                            <p:childTnLst>
                              <p:par>
                                <p:cTn id="27" presetID="1" presetClass="entr" presetSubtype="0" fill="hold" grpId="0" nodeType="afterEffect">
                                  <p:stCondLst>
                                    <p:cond delay="0"/>
                                  </p:stCondLst>
                                  <p:childTnLst>
                                    <p:set>
                                      <p:cBhvr>
                                        <p:cTn id="28" dur="1" fill="hold">
                                          <p:stCondLst>
                                            <p:cond delay="499"/>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6" presetClass="entr" presetSubtype="42"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barn(outHorizontal)">
                                      <p:cBhvr>
                                        <p:cTn id="33" dur="500"/>
                                        <p:tgtEl>
                                          <p:spTgt spid="9"/>
                                        </p:tgtEl>
                                      </p:cBhvr>
                                    </p:animEffect>
                                  </p:childTnLst>
                                </p:cTn>
                              </p:par>
                            </p:childTnLst>
                          </p:cTn>
                        </p:par>
                        <p:par>
                          <p:cTn id="34" fill="hold">
                            <p:stCondLst>
                              <p:cond delay="500"/>
                            </p:stCondLst>
                            <p:childTnLst>
                              <p:par>
                                <p:cTn id="35" presetID="22" presetClass="entr" presetSubtype="8" fill="hold" grpId="0" nodeType="after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wipe(left)">
                                      <p:cBhvr>
                                        <p:cTn id="37" dur="500"/>
                                        <p:tgtEl>
                                          <p:spTgt spid="16"/>
                                        </p:tgtEl>
                                      </p:cBhvr>
                                    </p:animEffect>
                                  </p:childTnLst>
                                </p:cTn>
                              </p:par>
                            </p:childTnLst>
                          </p:cTn>
                        </p:par>
                        <p:par>
                          <p:cTn id="38" fill="hold">
                            <p:stCondLst>
                              <p:cond delay="1000"/>
                            </p:stCondLst>
                            <p:childTnLst>
                              <p:par>
                                <p:cTn id="39" presetID="1" presetClass="entr" presetSubtype="0" fill="hold" grpId="0" nodeType="afterEffect">
                                  <p:stCondLst>
                                    <p:cond delay="0"/>
                                  </p:stCondLst>
                                  <p:childTnLst>
                                    <p:set>
                                      <p:cBhvr>
                                        <p:cTn id="40" dur="1" fill="hold">
                                          <p:stCondLst>
                                            <p:cond delay="499"/>
                                          </p:stCondLst>
                                        </p:cTn>
                                        <p:tgtEl>
                                          <p:spTgt spid="1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499"/>
                                          </p:stCondLst>
                                        </p:cTn>
                                        <p:tgtEl>
                                          <p:spTgt spid="1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6" presetClass="entr" presetSubtype="42"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barn(outHorizontal)">
                                      <p:cBhvr>
                                        <p:cTn id="47" dur="500"/>
                                        <p:tgtEl>
                                          <p:spTgt spid="11"/>
                                        </p:tgtEl>
                                      </p:cBhvr>
                                    </p:animEffect>
                                  </p:childTnLst>
                                </p:cTn>
                              </p:par>
                            </p:childTnLst>
                          </p:cTn>
                        </p:par>
                        <p:par>
                          <p:cTn id="48" fill="hold">
                            <p:stCondLst>
                              <p:cond delay="500"/>
                            </p:stCondLst>
                            <p:childTnLst>
                              <p:par>
                                <p:cTn id="49" presetID="22" presetClass="entr" presetSubtype="8" fill="hold" grpId="0" nodeType="after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wipe(left)">
                                      <p:cBhvr>
                                        <p:cTn id="51" dur="500"/>
                                        <p:tgtEl>
                                          <p:spTgt spid="17"/>
                                        </p:tgtEl>
                                      </p:cBhvr>
                                    </p:animEffect>
                                  </p:childTnLst>
                                </p:cTn>
                              </p:par>
                            </p:childTnLst>
                          </p:cTn>
                        </p:par>
                        <p:par>
                          <p:cTn id="52" fill="hold">
                            <p:stCondLst>
                              <p:cond delay="1000"/>
                            </p:stCondLst>
                            <p:childTnLst>
                              <p:par>
                                <p:cTn id="53" presetID="1" presetClass="entr" presetSubtype="0" fill="hold" grpId="0" nodeType="afterEffect">
                                  <p:stCondLst>
                                    <p:cond delay="0"/>
                                  </p:stCondLst>
                                  <p:childTnLst>
                                    <p:set>
                                      <p:cBhvr>
                                        <p:cTn id="54" dur="1" fill="hold">
                                          <p:stCondLst>
                                            <p:cond delay="499"/>
                                          </p:stCondLst>
                                        </p:cTn>
                                        <p:tgtEl>
                                          <p:spTgt spid="1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499"/>
                                          </p:stCondLst>
                                        </p:cTn>
                                        <p:tgtEl>
                                          <p:spTgt spid="2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6" presetClass="entr" presetSubtype="42" fill="hold" grpId="0" nodeType="click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barn(outHorizontal)">
                                      <p:cBhvr>
                                        <p:cTn id="61" dur="500"/>
                                        <p:tgtEl>
                                          <p:spTgt spid="13"/>
                                        </p:tgtEl>
                                      </p:cBhvr>
                                    </p:animEffect>
                                  </p:childTnLst>
                                </p:cTn>
                              </p:par>
                            </p:childTnLst>
                          </p:cTn>
                        </p:par>
                      </p:childTnLst>
                    </p:cTn>
                  </p:par>
                  <p:par>
                    <p:cTn id="62" fill="hold">
                      <p:stCondLst>
                        <p:cond delay="indefinite"/>
                      </p:stCondLst>
                      <p:childTnLst>
                        <p:par>
                          <p:cTn id="63" fill="hold">
                            <p:stCondLst>
                              <p:cond delay="0"/>
                            </p:stCondLst>
                            <p:childTnLst>
                              <p:par>
                                <p:cTn id="64" presetID="31" presetClass="exit" presetSubtype="0" fill="hold" grpId="1" nodeType="clickEffect">
                                  <p:stCondLst>
                                    <p:cond delay="0"/>
                                  </p:stCondLst>
                                  <p:childTnLst>
                                    <p:anim calcmode="lin" valueType="num">
                                      <p:cBhvr>
                                        <p:cTn id="65" dur="1000"/>
                                        <p:tgtEl>
                                          <p:spTgt spid="18"/>
                                        </p:tgtEl>
                                        <p:attrNameLst>
                                          <p:attrName>ppt_w</p:attrName>
                                        </p:attrNameLst>
                                      </p:cBhvr>
                                      <p:tavLst>
                                        <p:tav tm="0">
                                          <p:val>
                                            <p:strVal val="ppt_w"/>
                                          </p:val>
                                        </p:tav>
                                        <p:tav tm="100000">
                                          <p:val>
                                            <p:fltVal val="0"/>
                                          </p:val>
                                        </p:tav>
                                      </p:tavLst>
                                    </p:anim>
                                    <p:anim calcmode="lin" valueType="num">
                                      <p:cBhvr>
                                        <p:cTn id="66" dur="1000"/>
                                        <p:tgtEl>
                                          <p:spTgt spid="18"/>
                                        </p:tgtEl>
                                        <p:attrNameLst>
                                          <p:attrName>ppt_h</p:attrName>
                                        </p:attrNameLst>
                                      </p:cBhvr>
                                      <p:tavLst>
                                        <p:tav tm="0">
                                          <p:val>
                                            <p:strVal val="ppt_h"/>
                                          </p:val>
                                        </p:tav>
                                        <p:tav tm="100000">
                                          <p:val>
                                            <p:fltVal val="0"/>
                                          </p:val>
                                        </p:tav>
                                      </p:tavLst>
                                    </p:anim>
                                    <p:anim calcmode="lin" valueType="num">
                                      <p:cBhvr>
                                        <p:cTn id="67" dur="1000"/>
                                        <p:tgtEl>
                                          <p:spTgt spid="18"/>
                                        </p:tgtEl>
                                        <p:attrNameLst>
                                          <p:attrName>style.rotation</p:attrName>
                                        </p:attrNameLst>
                                      </p:cBhvr>
                                      <p:tavLst>
                                        <p:tav tm="0">
                                          <p:val>
                                            <p:fltVal val="0"/>
                                          </p:val>
                                        </p:tav>
                                        <p:tav tm="100000">
                                          <p:val>
                                            <p:fltVal val="90"/>
                                          </p:val>
                                        </p:tav>
                                      </p:tavLst>
                                    </p:anim>
                                    <p:animEffect transition="out" filter="fade">
                                      <p:cBhvr>
                                        <p:cTn id="68" dur="1000"/>
                                        <p:tgtEl>
                                          <p:spTgt spid="18"/>
                                        </p:tgtEl>
                                      </p:cBhvr>
                                    </p:animEffect>
                                    <p:set>
                                      <p:cBhvr>
                                        <p:cTn id="69" dur="1" fill="hold">
                                          <p:stCondLst>
                                            <p:cond delay="999"/>
                                          </p:stCondLst>
                                        </p:cTn>
                                        <p:tgtEl>
                                          <p:spTgt spid="18"/>
                                        </p:tgtEl>
                                        <p:attrNameLst>
                                          <p:attrName>style.visibility</p:attrName>
                                        </p:attrNameLst>
                                      </p:cBhvr>
                                      <p:to>
                                        <p:strVal val="hidden"/>
                                      </p:to>
                                    </p:set>
                                  </p:childTnLst>
                                </p:cTn>
                              </p:par>
                            </p:childTnLst>
                          </p:cTn>
                        </p:par>
                        <p:par>
                          <p:cTn id="70" fill="hold">
                            <p:stCondLst>
                              <p:cond delay="1000"/>
                            </p:stCondLst>
                            <p:childTnLst>
                              <p:par>
                                <p:cTn id="71" presetID="53" presetClass="exit" presetSubtype="32" fill="hold" grpId="1" nodeType="afterEffect">
                                  <p:stCondLst>
                                    <p:cond delay="0"/>
                                  </p:stCondLst>
                                  <p:childTnLst>
                                    <p:anim calcmode="lin" valueType="num">
                                      <p:cBhvr>
                                        <p:cTn id="72" dur="500"/>
                                        <p:tgtEl>
                                          <p:spTgt spid="19"/>
                                        </p:tgtEl>
                                        <p:attrNameLst>
                                          <p:attrName>ppt_w</p:attrName>
                                        </p:attrNameLst>
                                      </p:cBhvr>
                                      <p:tavLst>
                                        <p:tav tm="0">
                                          <p:val>
                                            <p:strVal val="ppt_w"/>
                                          </p:val>
                                        </p:tav>
                                        <p:tav tm="100000">
                                          <p:val>
                                            <p:fltVal val="0"/>
                                          </p:val>
                                        </p:tav>
                                      </p:tavLst>
                                    </p:anim>
                                    <p:anim calcmode="lin" valueType="num">
                                      <p:cBhvr>
                                        <p:cTn id="73" dur="500"/>
                                        <p:tgtEl>
                                          <p:spTgt spid="19"/>
                                        </p:tgtEl>
                                        <p:attrNameLst>
                                          <p:attrName>ppt_h</p:attrName>
                                        </p:attrNameLst>
                                      </p:cBhvr>
                                      <p:tavLst>
                                        <p:tav tm="0">
                                          <p:val>
                                            <p:strVal val="ppt_h"/>
                                          </p:val>
                                        </p:tav>
                                        <p:tav tm="100000">
                                          <p:val>
                                            <p:fltVal val="0"/>
                                          </p:val>
                                        </p:tav>
                                      </p:tavLst>
                                    </p:anim>
                                    <p:animEffect transition="out" filter="fade">
                                      <p:cBhvr>
                                        <p:cTn id="74" dur="500"/>
                                        <p:tgtEl>
                                          <p:spTgt spid="19"/>
                                        </p:tgtEl>
                                      </p:cBhvr>
                                    </p:animEffect>
                                    <p:set>
                                      <p:cBhvr>
                                        <p:cTn id="75" dur="1" fill="hold">
                                          <p:stCondLst>
                                            <p:cond delay="499"/>
                                          </p:stCondLst>
                                        </p:cTn>
                                        <p:tgtEl>
                                          <p:spTgt spid="19"/>
                                        </p:tgtEl>
                                        <p:attrNameLst>
                                          <p:attrName>style.visibility</p:attrName>
                                        </p:attrNameLst>
                                      </p:cBhvr>
                                      <p:to>
                                        <p:strVal val="hidden"/>
                                      </p:to>
                                    </p:set>
                                  </p:childTnLst>
                                </p:cTn>
                              </p:par>
                            </p:childTnLst>
                          </p:cTn>
                        </p:par>
                        <p:par>
                          <p:cTn id="76" fill="hold">
                            <p:stCondLst>
                              <p:cond delay="1500"/>
                            </p:stCondLst>
                            <p:childTnLst>
                              <p:par>
                                <p:cTn id="77" presetID="53" presetClass="exit" presetSubtype="32" fill="hold" grpId="1" nodeType="afterEffect">
                                  <p:stCondLst>
                                    <p:cond delay="0"/>
                                  </p:stCondLst>
                                  <p:childTnLst>
                                    <p:anim calcmode="lin" valueType="num">
                                      <p:cBhvr>
                                        <p:cTn id="78" dur="500"/>
                                        <p:tgtEl>
                                          <p:spTgt spid="20"/>
                                        </p:tgtEl>
                                        <p:attrNameLst>
                                          <p:attrName>ppt_w</p:attrName>
                                        </p:attrNameLst>
                                      </p:cBhvr>
                                      <p:tavLst>
                                        <p:tav tm="0">
                                          <p:val>
                                            <p:strVal val="ppt_w"/>
                                          </p:val>
                                        </p:tav>
                                        <p:tav tm="100000">
                                          <p:val>
                                            <p:fltVal val="0"/>
                                          </p:val>
                                        </p:tav>
                                      </p:tavLst>
                                    </p:anim>
                                    <p:anim calcmode="lin" valueType="num">
                                      <p:cBhvr>
                                        <p:cTn id="79" dur="500"/>
                                        <p:tgtEl>
                                          <p:spTgt spid="20"/>
                                        </p:tgtEl>
                                        <p:attrNameLst>
                                          <p:attrName>ppt_h</p:attrName>
                                        </p:attrNameLst>
                                      </p:cBhvr>
                                      <p:tavLst>
                                        <p:tav tm="0">
                                          <p:val>
                                            <p:strVal val="ppt_h"/>
                                          </p:val>
                                        </p:tav>
                                        <p:tav tm="100000">
                                          <p:val>
                                            <p:fltVal val="0"/>
                                          </p:val>
                                        </p:tav>
                                      </p:tavLst>
                                    </p:anim>
                                    <p:animEffect transition="out" filter="fade">
                                      <p:cBhvr>
                                        <p:cTn id="80" dur="500"/>
                                        <p:tgtEl>
                                          <p:spTgt spid="20"/>
                                        </p:tgtEl>
                                      </p:cBhvr>
                                    </p:animEffect>
                                    <p:set>
                                      <p:cBhvr>
                                        <p:cTn id="81" dur="1" fill="hold">
                                          <p:stCondLst>
                                            <p:cond delay="499"/>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5" grpId="0" animBg="1" autoUpdateAnimBg="0"/>
      <p:bldP spid="6" grpId="0" autoUpdateAnimBg="0"/>
      <p:bldP spid="8" grpId="0" animBg="1" autoUpdateAnimBg="0"/>
      <p:bldP spid="9" grpId="0" animBg="1" autoUpdateAnimBg="0"/>
      <p:bldP spid="10" grpId="0" autoUpdateAnimBg="0"/>
      <p:bldP spid="11" grpId="0" animBg="1" autoUpdateAnimBg="0"/>
      <p:bldP spid="12" grpId="0" autoUpdateAnimBg="0"/>
      <p:bldP spid="13" grpId="0" animBg="1" autoUpdateAnimBg="0"/>
      <p:bldP spid="14" grpId="0" animBg="1"/>
      <p:bldP spid="15" grpId="0" animBg="1"/>
      <p:bldP spid="16" grpId="0" animBg="1"/>
      <p:bldP spid="17" grpId="0" animBg="1"/>
      <p:bldP spid="18" grpId="0" autoUpdateAnimBg="0"/>
      <p:bldP spid="18" grpId="1" animBg="1"/>
      <p:bldP spid="19" grpId="0" autoUpdateAnimBg="0"/>
      <p:bldP spid="19" grpId="1" animBg="1"/>
      <p:bldP spid="20" grpId="0" autoUpdateAnimBg="0"/>
      <p:bldP spid="20"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ítulo 1">
            <a:extLst>
              <a:ext uri="{FF2B5EF4-FFF2-40B4-BE49-F238E27FC236}">
                <a16:creationId xmlns:a16="http://schemas.microsoft.com/office/drawing/2014/main" id="{6BDCEBCC-3CFD-46A1-8ADF-03600C59B519}"/>
              </a:ext>
            </a:extLst>
          </p:cNvPr>
          <p:cNvSpPr>
            <a:spLocks noGrp="1"/>
          </p:cNvSpPr>
          <p:nvPr>
            <p:ph type="title"/>
          </p:nvPr>
        </p:nvSpPr>
        <p:spPr>
          <a:xfrm>
            <a:off x="1127760" y="1"/>
            <a:ext cx="11064240" cy="873760"/>
          </a:xfrm>
        </p:spPr>
        <p:txBody>
          <a:bodyPr>
            <a:normAutofit/>
          </a:bodyPr>
          <a:lstStyle/>
          <a:p>
            <a:pPr algn="ctr"/>
            <a:r>
              <a:rPr lang="es-CO" sz="4200" b="1" dirty="0">
                <a:latin typeface="Bahnschrift Light SemiCondensed" panose="020B0502040204020203" pitchFamily="34" charset="0"/>
              </a:rPr>
              <a:t>“4-HALLAR EL MAYOR/MENOR ELEMENTO”</a:t>
            </a:r>
          </a:p>
        </p:txBody>
      </p:sp>
      <p:sp>
        <p:nvSpPr>
          <p:cNvPr id="29" name="Text Box 17">
            <a:extLst>
              <a:ext uri="{FF2B5EF4-FFF2-40B4-BE49-F238E27FC236}">
                <a16:creationId xmlns:a16="http://schemas.microsoft.com/office/drawing/2014/main" id="{79D662C1-801F-4D87-BFE5-439794EE587F}"/>
              </a:ext>
            </a:extLst>
          </p:cNvPr>
          <p:cNvSpPr txBox="1">
            <a:spLocks noChangeArrowheads="1"/>
          </p:cNvSpPr>
          <p:nvPr/>
        </p:nvSpPr>
        <p:spPr bwMode="auto">
          <a:xfrm>
            <a:off x="1431235" y="873761"/>
            <a:ext cx="5427428" cy="5693866"/>
          </a:xfrm>
          <a:prstGeom prst="rect">
            <a:avLst/>
          </a:prstGeom>
          <a:solidFill>
            <a:schemeClr val="bg1">
              <a:lumMod val="85000"/>
            </a:schemeClr>
          </a:solidFill>
          <a:ln>
            <a:noFill/>
          </a:ln>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wrap="square" rtlCol="0">
            <a:spAutoFit/>
          </a:bodyPr>
          <a:lstStyle>
            <a:defPPr>
              <a:defRPr lang="es-CO"/>
            </a:defPPr>
            <a:lvl1pPr>
              <a:defRPr b="1">
                <a:solidFill>
                  <a:sysClr val="windowText" lastClr="000000"/>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fontAlgn="base">
              <a:spcAft>
                <a:spcPct val="0"/>
              </a:spcAft>
            </a:pPr>
            <a:r>
              <a:rPr lang="es-MX" sz="2600" b="0" dirty="0">
                <a:solidFill>
                  <a:prstClr val="black"/>
                </a:solidFill>
                <a:latin typeface="Arial Narrow" pitchFamily="34" charset="0"/>
              </a:rPr>
              <a:t>int </a:t>
            </a:r>
            <a:r>
              <a:rPr lang="es-MX" sz="2600" b="0" dirty="0" err="1">
                <a:solidFill>
                  <a:prstClr val="black"/>
                </a:solidFill>
                <a:latin typeface="Arial Narrow" pitchFamily="34" charset="0"/>
              </a:rPr>
              <a:t>punt</a:t>
            </a:r>
            <a:r>
              <a:rPr lang="es-MX" sz="2600" b="0" dirty="0">
                <a:solidFill>
                  <a:prstClr val="black"/>
                </a:solidFill>
                <a:latin typeface="Arial Narrow" pitchFamily="34" charset="0"/>
              </a:rPr>
              <a:t>[5];</a:t>
            </a:r>
          </a:p>
          <a:p>
            <a:pPr lvl="0" fontAlgn="base">
              <a:spcAft>
                <a:spcPct val="0"/>
              </a:spcAft>
            </a:pPr>
            <a:r>
              <a:rPr lang="es-MX" sz="2600" b="0" dirty="0">
                <a:solidFill>
                  <a:prstClr val="black"/>
                </a:solidFill>
                <a:latin typeface="Arial Narrow" pitchFamily="34" charset="0"/>
              </a:rPr>
              <a:t>int </a:t>
            </a:r>
            <a:r>
              <a:rPr lang="es-MX" sz="2600" kern="0" spc="50" dirty="0" err="1">
                <a:ln w="11430">
                  <a:solidFill>
                    <a:schemeClr val="bg1"/>
                  </a:solidFill>
                </a:ln>
                <a:solidFill>
                  <a:schemeClr val="tx1"/>
                </a:solidFill>
                <a:effectLst>
                  <a:outerShdw blurRad="76200" dist="50800" dir="5400000" algn="tl" rotWithShape="0">
                    <a:srgbClr val="000000">
                      <a:alpha val="65000"/>
                    </a:srgbClr>
                  </a:outerShdw>
                </a:effectLst>
                <a:latin typeface="Arial Narrow" pitchFamily="34" charset="0"/>
              </a:rPr>
              <a:t>men</a:t>
            </a:r>
            <a:r>
              <a:rPr lang="es-MX" sz="2600" dirty="0">
                <a:solidFill>
                  <a:prstClr val="black"/>
                </a:solidFill>
                <a:latin typeface="Arial Narrow" pitchFamily="34" charset="0"/>
              </a:rPr>
              <a:t> </a:t>
            </a:r>
            <a:r>
              <a:rPr lang="es-MX" sz="2600" kern="0"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itchFamily="34" charset="0"/>
              </a:rPr>
              <a:t>= </a:t>
            </a:r>
            <a:r>
              <a:rPr lang="es-MX" sz="2600" kern="0" spc="50" dirty="0" err="1">
                <a:ln w="11430">
                  <a:solidFill>
                    <a:schemeClr val="bg1"/>
                  </a:solidFill>
                </a:ln>
                <a:solidFill>
                  <a:schemeClr val="tx1"/>
                </a:solidFill>
                <a:effectLst>
                  <a:outerShdw blurRad="76200" dist="50800" dir="5400000" algn="tl" rotWithShape="0">
                    <a:srgbClr val="000000">
                      <a:alpha val="65000"/>
                    </a:srgbClr>
                  </a:outerShdw>
                </a:effectLst>
                <a:latin typeface="Arial Narrow" pitchFamily="34" charset="0"/>
              </a:rPr>
              <a:t>punt</a:t>
            </a:r>
            <a:r>
              <a:rPr lang="es-MX" sz="2600" kern="0"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itchFamily="34" charset="0"/>
              </a:rPr>
              <a:t>[0], </a:t>
            </a:r>
            <a:r>
              <a:rPr lang="es-MX" sz="2600" kern="0" spc="50" dirty="0" err="1">
                <a:ln w="11430">
                  <a:solidFill>
                    <a:schemeClr val="bg1"/>
                  </a:solidFill>
                </a:ln>
                <a:solidFill>
                  <a:schemeClr val="tx1"/>
                </a:solidFill>
                <a:effectLst>
                  <a:outerShdw blurRad="76200" dist="50800" dir="5400000" algn="tl" rotWithShape="0">
                    <a:srgbClr val="000000">
                      <a:alpha val="65000"/>
                    </a:srgbClr>
                  </a:outerShdw>
                </a:effectLst>
                <a:latin typeface="Arial Narrow" pitchFamily="34" charset="0"/>
              </a:rPr>
              <a:t>may</a:t>
            </a:r>
            <a:r>
              <a:rPr lang="es-MX" sz="2600" kern="0"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itchFamily="34" charset="0"/>
              </a:rPr>
              <a:t>=</a:t>
            </a:r>
            <a:r>
              <a:rPr lang="es-MX" sz="2600" kern="0" spc="50" dirty="0" err="1">
                <a:ln w="11430">
                  <a:solidFill>
                    <a:schemeClr val="bg1"/>
                  </a:solidFill>
                </a:ln>
                <a:solidFill>
                  <a:schemeClr val="tx1"/>
                </a:solidFill>
                <a:effectLst>
                  <a:outerShdw blurRad="76200" dist="50800" dir="5400000" algn="tl" rotWithShape="0">
                    <a:srgbClr val="000000">
                      <a:alpha val="65000"/>
                    </a:srgbClr>
                  </a:outerShdw>
                </a:effectLst>
                <a:latin typeface="Arial Narrow" pitchFamily="34" charset="0"/>
              </a:rPr>
              <a:t>punt</a:t>
            </a:r>
            <a:r>
              <a:rPr lang="es-MX" sz="2600" kern="0"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itchFamily="34" charset="0"/>
              </a:rPr>
              <a:t>[0];</a:t>
            </a:r>
          </a:p>
          <a:p>
            <a:pPr lvl="0" fontAlgn="base">
              <a:spcAft>
                <a:spcPct val="0"/>
              </a:spcAft>
            </a:pPr>
            <a:r>
              <a:rPr lang="es-MX" sz="2600" b="0" dirty="0">
                <a:solidFill>
                  <a:prstClr val="black"/>
                </a:solidFill>
                <a:latin typeface="Arial Narrow" pitchFamily="34" charset="0"/>
              </a:rPr>
              <a:t>int </a:t>
            </a:r>
            <a:r>
              <a:rPr lang="es-MX" sz="2600" kern="0"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itchFamily="34" charset="0"/>
              </a:rPr>
              <a:t>pos1 = 0, pos2 = 0;</a:t>
            </a:r>
          </a:p>
          <a:p>
            <a:pPr lvl="0" fontAlgn="base">
              <a:spcAft>
                <a:spcPct val="0"/>
              </a:spcAft>
            </a:pPr>
            <a:r>
              <a:rPr lang="es-MX" sz="2600" b="0" dirty="0">
                <a:solidFill>
                  <a:prstClr val="black"/>
                </a:solidFill>
                <a:latin typeface="Arial Narrow" pitchFamily="34" charset="0"/>
              </a:rPr>
              <a:t>for (int i=0; i&lt;5; i++) {</a:t>
            </a:r>
          </a:p>
          <a:p>
            <a:pPr lvl="0" fontAlgn="base">
              <a:spcAft>
                <a:spcPct val="0"/>
              </a:spcAft>
            </a:pPr>
            <a:r>
              <a:rPr lang="es-MX" sz="2600" b="0" dirty="0">
                <a:solidFill>
                  <a:prstClr val="black"/>
                </a:solidFill>
                <a:latin typeface="Arial Narrow" pitchFamily="34" charset="0"/>
              </a:rPr>
              <a:t>   if (</a:t>
            </a:r>
            <a:r>
              <a:rPr lang="es-MX" sz="2600" b="0" dirty="0" err="1">
                <a:solidFill>
                  <a:prstClr val="black"/>
                </a:solidFill>
                <a:latin typeface="Arial Narrow" pitchFamily="34" charset="0"/>
              </a:rPr>
              <a:t>punt</a:t>
            </a:r>
            <a:r>
              <a:rPr lang="es-MX" sz="2600" b="0" dirty="0">
                <a:solidFill>
                  <a:prstClr val="black"/>
                </a:solidFill>
                <a:latin typeface="Arial Narrow" pitchFamily="34" charset="0"/>
              </a:rPr>
              <a:t>[i] </a:t>
            </a:r>
            <a:r>
              <a:rPr lang="es-MX" sz="2600" kern="0"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itchFamily="34" charset="0"/>
              </a:rPr>
              <a:t>&lt;</a:t>
            </a:r>
            <a:r>
              <a:rPr lang="es-MX" sz="2600" b="0" dirty="0">
                <a:solidFill>
                  <a:srgbClr val="0070C0"/>
                </a:solidFill>
                <a:latin typeface="Arial Narrow" pitchFamily="34" charset="0"/>
              </a:rPr>
              <a:t> </a:t>
            </a:r>
            <a:r>
              <a:rPr lang="es-MX" sz="2600" kern="0" spc="50" dirty="0" err="1">
                <a:ln w="11430">
                  <a:solidFill>
                    <a:schemeClr val="bg1"/>
                  </a:solidFill>
                </a:ln>
                <a:solidFill>
                  <a:schemeClr val="tx1"/>
                </a:solidFill>
                <a:effectLst>
                  <a:outerShdw blurRad="76200" dist="50800" dir="5400000" algn="tl" rotWithShape="0">
                    <a:srgbClr val="000000">
                      <a:alpha val="65000"/>
                    </a:srgbClr>
                  </a:outerShdw>
                </a:effectLst>
                <a:latin typeface="Arial Narrow" pitchFamily="34" charset="0"/>
              </a:rPr>
              <a:t>men</a:t>
            </a:r>
            <a:r>
              <a:rPr lang="es-MX" sz="2600" b="0" dirty="0">
                <a:solidFill>
                  <a:prstClr val="black"/>
                </a:solidFill>
                <a:latin typeface="Arial Narrow" pitchFamily="34" charset="0"/>
              </a:rPr>
              <a:t>) {</a:t>
            </a:r>
          </a:p>
          <a:p>
            <a:pPr lvl="0" fontAlgn="base">
              <a:spcAft>
                <a:spcPct val="0"/>
              </a:spcAft>
            </a:pPr>
            <a:r>
              <a:rPr lang="es-MX" sz="2600" b="0" dirty="0">
                <a:solidFill>
                  <a:prstClr val="black"/>
                </a:solidFill>
                <a:latin typeface="Arial Narrow" pitchFamily="34" charset="0"/>
              </a:rPr>
              <a:t>	</a:t>
            </a:r>
            <a:r>
              <a:rPr lang="es-MX" sz="2600" kern="0" spc="50" dirty="0" err="1">
                <a:ln w="11430">
                  <a:solidFill>
                    <a:schemeClr val="bg1"/>
                  </a:solidFill>
                </a:ln>
                <a:solidFill>
                  <a:schemeClr val="tx1"/>
                </a:solidFill>
                <a:effectLst>
                  <a:outerShdw blurRad="76200" dist="50800" dir="5400000" algn="tl" rotWithShape="0">
                    <a:srgbClr val="000000">
                      <a:alpha val="65000"/>
                    </a:srgbClr>
                  </a:outerShdw>
                </a:effectLst>
                <a:latin typeface="Arial Narrow" pitchFamily="34" charset="0"/>
              </a:rPr>
              <a:t>men</a:t>
            </a:r>
            <a:r>
              <a:rPr lang="es-MX" sz="2600" b="0" dirty="0">
                <a:solidFill>
                  <a:prstClr val="black"/>
                </a:solidFill>
                <a:latin typeface="Arial Narrow" pitchFamily="34" charset="0"/>
              </a:rPr>
              <a:t> = </a:t>
            </a:r>
            <a:r>
              <a:rPr lang="es-MX" sz="2600" b="0" dirty="0" err="1">
                <a:solidFill>
                  <a:prstClr val="black"/>
                </a:solidFill>
                <a:latin typeface="Arial Narrow" pitchFamily="34" charset="0"/>
              </a:rPr>
              <a:t>punt</a:t>
            </a:r>
            <a:r>
              <a:rPr lang="es-MX" sz="2600" b="0" dirty="0">
                <a:solidFill>
                  <a:prstClr val="black"/>
                </a:solidFill>
                <a:latin typeface="Arial Narrow" pitchFamily="34" charset="0"/>
              </a:rPr>
              <a:t>[i];</a:t>
            </a:r>
          </a:p>
          <a:p>
            <a:pPr lvl="0" fontAlgn="base">
              <a:spcAft>
                <a:spcPct val="0"/>
              </a:spcAft>
            </a:pPr>
            <a:r>
              <a:rPr lang="es-MX" sz="2600" b="0" dirty="0">
                <a:solidFill>
                  <a:prstClr val="black"/>
                </a:solidFill>
                <a:latin typeface="Arial Narrow" pitchFamily="34" charset="0"/>
              </a:rPr>
              <a:t>	</a:t>
            </a:r>
            <a:r>
              <a:rPr lang="es-MX" sz="2600" kern="0"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itchFamily="34" charset="0"/>
              </a:rPr>
              <a:t>pos1</a:t>
            </a:r>
            <a:r>
              <a:rPr lang="es-MX" sz="2600" b="0" dirty="0">
                <a:solidFill>
                  <a:prstClr val="black"/>
                </a:solidFill>
                <a:latin typeface="Arial Narrow" pitchFamily="34" charset="0"/>
              </a:rPr>
              <a:t> = i;</a:t>
            </a:r>
          </a:p>
          <a:p>
            <a:pPr lvl="0" fontAlgn="base">
              <a:spcAft>
                <a:spcPct val="0"/>
              </a:spcAft>
            </a:pPr>
            <a:r>
              <a:rPr lang="es-MX" sz="2600" b="0" dirty="0">
                <a:solidFill>
                  <a:prstClr val="black"/>
                </a:solidFill>
                <a:latin typeface="Arial Narrow" pitchFamily="34" charset="0"/>
              </a:rPr>
              <a:t>   }</a:t>
            </a:r>
          </a:p>
          <a:p>
            <a:pPr lvl="0" fontAlgn="base">
              <a:spcAft>
                <a:spcPct val="0"/>
              </a:spcAft>
            </a:pPr>
            <a:r>
              <a:rPr lang="es-MX" sz="2600" b="0" dirty="0">
                <a:solidFill>
                  <a:prstClr val="black"/>
                </a:solidFill>
                <a:latin typeface="Arial Narrow" pitchFamily="34" charset="0"/>
              </a:rPr>
              <a:t>   if (</a:t>
            </a:r>
            <a:r>
              <a:rPr lang="es-MX" sz="2600" b="0" dirty="0" err="1">
                <a:solidFill>
                  <a:prstClr val="black"/>
                </a:solidFill>
                <a:latin typeface="Arial Narrow" pitchFamily="34" charset="0"/>
              </a:rPr>
              <a:t>punt</a:t>
            </a:r>
            <a:r>
              <a:rPr lang="es-MX" sz="2600" b="0" dirty="0">
                <a:solidFill>
                  <a:prstClr val="black"/>
                </a:solidFill>
                <a:latin typeface="Arial Narrow" pitchFamily="34" charset="0"/>
              </a:rPr>
              <a:t>[i] &gt; </a:t>
            </a:r>
            <a:r>
              <a:rPr lang="es-MX" sz="2600" kern="0" spc="50" dirty="0" err="1">
                <a:ln w="11430">
                  <a:solidFill>
                    <a:schemeClr val="bg1"/>
                  </a:solidFill>
                </a:ln>
                <a:solidFill>
                  <a:schemeClr val="tx1"/>
                </a:solidFill>
                <a:effectLst>
                  <a:outerShdw blurRad="76200" dist="50800" dir="5400000" algn="tl" rotWithShape="0">
                    <a:srgbClr val="000000">
                      <a:alpha val="65000"/>
                    </a:srgbClr>
                  </a:outerShdw>
                </a:effectLst>
                <a:latin typeface="Arial Narrow" pitchFamily="34" charset="0"/>
              </a:rPr>
              <a:t>may</a:t>
            </a:r>
            <a:r>
              <a:rPr lang="es-MX" sz="2600" b="0" dirty="0">
                <a:solidFill>
                  <a:prstClr val="black"/>
                </a:solidFill>
                <a:latin typeface="Arial Narrow" pitchFamily="34" charset="0"/>
              </a:rPr>
              <a:t>) {</a:t>
            </a:r>
          </a:p>
          <a:p>
            <a:pPr lvl="0" fontAlgn="base">
              <a:spcAft>
                <a:spcPct val="0"/>
              </a:spcAft>
            </a:pPr>
            <a:r>
              <a:rPr lang="es-MX" sz="2600" b="0" dirty="0">
                <a:solidFill>
                  <a:prstClr val="black"/>
                </a:solidFill>
                <a:latin typeface="Arial Narrow" pitchFamily="34" charset="0"/>
              </a:rPr>
              <a:t>	</a:t>
            </a:r>
            <a:r>
              <a:rPr lang="es-MX" sz="2600" kern="0" spc="50" dirty="0" err="1">
                <a:ln w="11430">
                  <a:solidFill>
                    <a:schemeClr val="bg1"/>
                  </a:solidFill>
                </a:ln>
                <a:solidFill>
                  <a:schemeClr val="tx1"/>
                </a:solidFill>
                <a:effectLst>
                  <a:outerShdw blurRad="76200" dist="50800" dir="5400000" algn="tl" rotWithShape="0">
                    <a:srgbClr val="000000">
                      <a:alpha val="65000"/>
                    </a:srgbClr>
                  </a:outerShdw>
                </a:effectLst>
                <a:latin typeface="Arial Narrow" pitchFamily="34" charset="0"/>
              </a:rPr>
              <a:t>may</a:t>
            </a:r>
            <a:r>
              <a:rPr lang="es-MX" sz="2600" b="0" dirty="0">
                <a:solidFill>
                  <a:prstClr val="black"/>
                </a:solidFill>
                <a:latin typeface="Arial Narrow" pitchFamily="34" charset="0"/>
              </a:rPr>
              <a:t> = </a:t>
            </a:r>
            <a:r>
              <a:rPr lang="es-MX" sz="2600" b="0" dirty="0" err="1">
                <a:solidFill>
                  <a:prstClr val="black"/>
                </a:solidFill>
                <a:latin typeface="Arial Narrow" pitchFamily="34" charset="0"/>
              </a:rPr>
              <a:t>punt</a:t>
            </a:r>
            <a:r>
              <a:rPr lang="es-MX" sz="2600" b="0" dirty="0">
                <a:solidFill>
                  <a:prstClr val="black"/>
                </a:solidFill>
                <a:latin typeface="Arial Narrow" pitchFamily="34" charset="0"/>
              </a:rPr>
              <a:t>[i];</a:t>
            </a:r>
          </a:p>
          <a:p>
            <a:pPr lvl="0" fontAlgn="base">
              <a:spcAft>
                <a:spcPct val="0"/>
              </a:spcAft>
            </a:pPr>
            <a:r>
              <a:rPr lang="es-MX" sz="2600" b="0" dirty="0">
                <a:solidFill>
                  <a:prstClr val="black"/>
                </a:solidFill>
                <a:latin typeface="Arial Narrow" pitchFamily="34" charset="0"/>
              </a:rPr>
              <a:t>	</a:t>
            </a:r>
            <a:r>
              <a:rPr lang="es-MX" sz="2600" kern="0"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itchFamily="34" charset="0"/>
              </a:rPr>
              <a:t>pos2</a:t>
            </a:r>
            <a:r>
              <a:rPr lang="es-MX" sz="2600" b="0" dirty="0">
                <a:solidFill>
                  <a:prstClr val="black"/>
                </a:solidFill>
                <a:latin typeface="Arial Narrow" pitchFamily="34" charset="0"/>
              </a:rPr>
              <a:t> = i;</a:t>
            </a:r>
          </a:p>
          <a:p>
            <a:pPr lvl="0" fontAlgn="base">
              <a:spcAft>
                <a:spcPct val="0"/>
              </a:spcAft>
            </a:pPr>
            <a:r>
              <a:rPr lang="es-MX" sz="2600" b="0" dirty="0">
                <a:solidFill>
                  <a:prstClr val="black"/>
                </a:solidFill>
                <a:latin typeface="Arial Narrow" pitchFamily="34" charset="0"/>
              </a:rPr>
              <a:t>   }</a:t>
            </a:r>
          </a:p>
          <a:p>
            <a:pPr lvl="0" fontAlgn="base">
              <a:spcAft>
                <a:spcPct val="0"/>
              </a:spcAft>
            </a:pPr>
            <a:r>
              <a:rPr lang="es-MX" sz="2600" b="0" dirty="0">
                <a:solidFill>
                  <a:prstClr val="black"/>
                </a:solidFill>
                <a:latin typeface="Arial Narrow" pitchFamily="34" charset="0"/>
              </a:rPr>
              <a:t>}</a:t>
            </a:r>
          </a:p>
          <a:p>
            <a:pPr lvl="0" fontAlgn="base">
              <a:spcAft>
                <a:spcPct val="0"/>
              </a:spcAft>
            </a:pPr>
            <a:r>
              <a:rPr lang="es-MX" sz="2600" b="0" dirty="0">
                <a:solidFill>
                  <a:prstClr val="black"/>
                </a:solidFill>
                <a:latin typeface="Arial Narrow" pitchFamily="34" charset="0"/>
              </a:rPr>
              <a:t>cout &lt;&lt; </a:t>
            </a:r>
            <a:r>
              <a:rPr lang="es-MX" sz="2600" kern="0" spc="50" dirty="0" err="1">
                <a:ln w="11430">
                  <a:solidFill>
                    <a:schemeClr val="bg1"/>
                  </a:solidFill>
                </a:ln>
                <a:solidFill>
                  <a:schemeClr val="tx1"/>
                </a:solidFill>
                <a:effectLst>
                  <a:outerShdw blurRad="76200" dist="50800" dir="5400000" algn="tl" rotWithShape="0">
                    <a:srgbClr val="000000">
                      <a:alpha val="65000"/>
                    </a:srgbClr>
                  </a:outerShdw>
                </a:effectLst>
                <a:latin typeface="Arial Narrow" pitchFamily="34" charset="0"/>
              </a:rPr>
              <a:t>men</a:t>
            </a:r>
            <a:r>
              <a:rPr lang="es-MX" sz="2600" kern="0"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itchFamily="34" charset="0"/>
              </a:rPr>
              <a:t>&lt;&lt;</a:t>
            </a:r>
            <a:r>
              <a:rPr lang="es-MX" sz="2600" dirty="0">
                <a:solidFill>
                  <a:prstClr val="black"/>
                </a:solidFill>
                <a:latin typeface="Arial Narrow" pitchFamily="34" charset="0"/>
              </a:rPr>
              <a:t> </a:t>
            </a:r>
            <a:r>
              <a:rPr lang="es-MX" sz="2600" kern="0"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itchFamily="34" charset="0"/>
              </a:rPr>
              <a:t>pos1&lt;&lt;</a:t>
            </a:r>
            <a:r>
              <a:rPr lang="es-MX" sz="2600" dirty="0">
                <a:solidFill>
                  <a:prstClr val="black"/>
                </a:solidFill>
                <a:latin typeface="Arial Narrow" pitchFamily="34" charset="0"/>
              </a:rPr>
              <a:t> </a:t>
            </a:r>
            <a:r>
              <a:rPr lang="es-MX" sz="2600" kern="0" spc="50" dirty="0" err="1">
                <a:ln w="11430">
                  <a:solidFill>
                    <a:schemeClr val="bg1"/>
                  </a:solidFill>
                </a:ln>
                <a:solidFill>
                  <a:schemeClr val="tx1"/>
                </a:solidFill>
                <a:effectLst>
                  <a:outerShdw blurRad="76200" dist="50800" dir="5400000" algn="tl" rotWithShape="0">
                    <a:srgbClr val="000000">
                      <a:alpha val="65000"/>
                    </a:srgbClr>
                  </a:outerShdw>
                </a:effectLst>
                <a:latin typeface="Arial Narrow" pitchFamily="34" charset="0"/>
              </a:rPr>
              <a:t>may</a:t>
            </a:r>
            <a:r>
              <a:rPr lang="es-MX" sz="2600" kern="0" spc="50" dirty="0">
                <a:ln w="11430">
                  <a:solidFill>
                    <a:schemeClr val="bg1"/>
                  </a:solidFill>
                </a:ln>
                <a:solidFill>
                  <a:schemeClr val="tx1"/>
                </a:solidFill>
                <a:effectLst>
                  <a:outerShdw blurRad="76200" dist="50800" dir="5400000" algn="tl" rotWithShape="0">
                    <a:srgbClr val="000000">
                      <a:alpha val="65000"/>
                    </a:srgbClr>
                  </a:outerShdw>
                </a:effectLst>
                <a:latin typeface="Arial Narrow" pitchFamily="34" charset="0"/>
              </a:rPr>
              <a:t>&lt;&lt;pos2;</a:t>
            </a:r>
          </a:p>
        </p:txBody>
      </p:sp>
      <p:sp>
        <p:nvSpPr>
          <p:cNvPr id="30" name="Text Box 43">
            <a:extLst>
              <a:ext uri="{FF2B5EF4-FFF2-40B4-BE49-F238E27FC236}">
                <a16:creationId xmlns:a16="http://schemas.microsoft.com/office/drawing/2014/main" id="{6F7F3BEE-7068-4E65-A5E5-39DE392A9D7C}"/>
              </a:ext>
            </a:extLst>
          </p:cNvPr>
          <p:cNvSpPr txBox="1">
            <a:spLocks noChangeArrowheads="1"/>
          </p:cNvSpPr>
          <p:nvPr/>
        </p:nvSpPr>
        <p:spPr bwMode="auto">
          <a:xfrm>
            <a:off x="7175131" y="1232898"/>
            <a:ext cx="4099790" cy="4320752"/>
          </a:xfrm>
          <a:prstGeom prst="rect">
            <a:avLst/>
          </a:prstGeom>
          <a:solidFill>
            <a:schemeClr val="accent5">
              <a:lumMod val="20000"/>
              <a:lumOff val="80000"/>
            </a:schemeClr>
          </a:solidFill>
          <a:ln>
            <a:solidFill>
              <a:schemeClr val="tx1"/>
            </a:solidFill>
          </a:ln>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defPPr>
              <a:defRPr lang="es-CO"/>
            </a:defPPr>
            <a:lvl1pPr lvl="0" algn="just" defTabSz="1422400">
              <a:lnSpc>
                <a:spcPct val="90000"/>
              </a:lnSpc>
              <a:spcBef>
                <a:spcPct val="0"/>
              </a:spcBef>
              <a:spcAft>
                <a:spcPct val="35000"/>
              </a:spcAft>
              <a:defRPr sz="3000" b="1">
                <a:solidFill>
                  <a:schemeClr val="tx1"/>
                </a:solidFill>
                <a:latin typeface="Bodoni MT" panose="02070603080606020203" pitchFamily="18" charset="0"/>
              </a:defRPr>
            </a:lvl1pPr>
            <a:lvl2pPr lvl="1" algn="just" defTabSz="1422400">
              <a:lnSpc>
                <a:spcPct val="90000"/>
              </a:lnSpc>
              <a:spcBef>
                <a:spcPct val="0"/>
              </a:spcBef>
              <a:spcAft>
                <a:spcPct val="35000"/>
              </a:spcAft>
              <a:defRPr sz="3200" i="1">
                <a:solidFill>
                  <a:schemeClr val="tx1"/>
                </a:solidFill>
                <a:effectLst>
                  <a:outerShdw blurRad="38100" dist="38100" dir="2700000" algn="tl">
                    <a:srgbClr val="000000">
                      <a:alpha val="43137"/>
                    </a:srgbClr>
                  </a:outerShdw>
                </a:effectLst>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s-MX" b="0" dirty="0"/>
              <a:t>Si se pidieran varios mayores o menores, se repite el proceso cambiando de variables, de acuerdo  lo pedido por el enunciado del problema. Para un mejor entendimiento ver la prueba de escritorio.</a:t>
            </a:r>
          </a:p>
        </p:txBody>
      </p:sp>
    </p:spTree>
    <p:extLst>
      <p:ext uri="{BB962C8B-B14F-4D97-AF65-F5344CB8AC3E}">
        <p14:creationId xmlns:p14="http://schemas.microsoft.com/office/powerpoint/2010/main" val="3769001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up)">
                                      <p:cBhvr>
                                        <p:cTn id="1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1"/>
            <a:ext cx="11353800" cy="637562"/>
          </a:xfrm>
        </p:spPr>
        <p:txBody>
          <a:bodyPr>
            <a:noAutofit/>
          </a:bodyPr>
          <a:lstStyle/>
          <a:p>
            <a:pPr algn="ctr"/>
            <a:r>
              <a:rPr lang="es-CO" sz="4800" b="1" dirty="0">
                <a:latin typeface="Bahnschrift Light SemiCondensed" panose="020B0502040204020203" pitchFamily="34" charset="0"/>
              </a:rPr>
              <a:t>“EJEMPLO #5 - VECTORES EN C++”</a:t>
            </a:r>
          </a:p>
        </p:txBody>
      </p:sp>
      <p:pic>
        <p:nvPicPr>
          <p:cNvPr id="4" name="Imagen 3">
            <a:extLst>
              <a:ext uri="{FF2B5EF4-FFF2-40B4-BE49-F238E27FC236}">
                <a16:creationId xmlns:a16="http://schemas.microsoft.com/office/drawing/2014/main" id="{F32F35F6-1BDB-49EF-90A3-0341A75D07D0}"/>
              </a:ext>
            </a:extLst>
          </p:cNvPr>
          <p:cNvPicPr>
            <a:picLocks noChangeAspect="1"/>
          </p:cNvPicPr>
          <p:nvPr/>
        </p:nvPicPr>
        <p:blipFill>
          <a:blip r:embed="rId3"/>
          <a:stretch>
            <a:fillRect/>
          </a:stretch>
        </p:blipFill>
        <p:spPr>
          <a:xfrm>
            <a:off x="8189173" y="2971800"/>
            <a:ext cx="3850427" cy="3781119"/>
          </a:xfrm>
          <a:prstGeom prst="rect">
            <a:avLst/>
          </a:prstGeom>
        </p:spPr>
      </p:pic>
      <p:pic>
        <p:nvPicPr>
          <p:cNvPr id="8" name="Imagen 7">
            <a:extLst>
              <a:ext uri="{FF2B5EF4-FFF2-40B4-BE49-F238E27FC236}">
                <a16:creationId xmlns:a16="http://schemas.microsoft.com/office/drawing/2014/main" id="{BFB7A12E-4AE3-461A-A6D0-A750CB1A4EAF}"/>
              </a:ext>
            </a:extLst>
          </p:cNvPr>
          <p:cNvPicPr>
            <a:picLocks noChangeAspect="1"/>
          </p:cNvPicPr>
          <p:nvPr/>
        </p:nvPicPr>
        <p:blipFill>
          <a:blip r:embed="rId4"/>
          <a:stretch>
            <a:fillRect/>
          </a:stretch>
        </p:blipFill>
        <p:spPr>
          <a:xfrm>
            <a:off x="444781" y="-673100"/>
            <a:ext cx="6760493" cy="8407400"/>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fov="600000">
              <a:rot lat="18960000" lon="0" rev="0"/>
            </a:camera>
            <a:lightRig rig="twoPt" dir="t">
              <a:rot lat="0" lon="0" rev="7200000"/>
            </a:lightRig>
          </a:scene3d>
          <a:sp3d prstMaterial="matte">
            <a:bevelT w="22860" h="12700"/>
            <a:contourClr>
              <a:srgbClr val="FFFFFF"/>
            </a:contourClr>
          </a:sp3d>
        </p:spPr>
      </p:pic>
      <p:sp>
        <p:nvSpPr>
          <p:cNvPr id="5" name="Text Box 16">
            <a:extLst>
              <a:ext uri="{FF2B5EF4-FFF2-40B4-BE49-F238E27FC236}">
                <a16:creationId xmlns:a16="http://schemas.microsoft.com/office/drawing/2014/main" id="{690FC2C2-CE78-4317-BCEA-BD8868619D4C}"/>
              </a:ext>
            </a:extLst>
          </p:cNvPr>
          <p:cNvSpPr txBox="1">
            <a:spLocks noChangeArrowheads="1"/>
          </p:cNvSpPr>
          <p:nvPr/>
        </p:nvSpPr>
        <p:spPr bwMode="auto">
          <a:xfrm>
            <a:off x="5749845" y="840763"/>
            <a:ext cx="6289755" cy="2034517"/>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defPPr>
              <a:defRPr lang="es-CO"/>
            </a:defPPr>
            <a:lvl1pPr lvl="0" algn="just" defTabSz="1422400">
              <a:lnSpc>
                <a:spcPct val="90000"/>
              </a:lnSpc>
              <a:spcBef>
                <a:spcPct val="0"/>
              </a:spcBef>
              <a:spcAft>
                <a:spcPct val="35000"/>
              </a:spcAft>
              <a:defRPr sz="2800">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s-MX" sz="2400" dirty="0"/>
              <a:t>Crear un vector de 8 posiciones. Imprimir el vector en sentido normal, luego en sentido inverso y terminando los elementos en posiciones pares. Además, la cantidad de elementos pares, la cantidad de elementos impares y el promedio de todo el vector.</a:t>
            </a:r>
            <a:endParaRPr lang="es-ES" sz="2400" dirty="0"/>
          </a:p>
        </p:txBody>
      </p:sp>
    </p:spTree>
    <p:extLst>
      <p:ext uri="{BB962C8B-B14F-4D97-AF65-F5344CB8AC3E}">
        <p14:creationId xmlns:p14="http://schemas.microsoft.com/office/powerpoint/2010/main" val="32476430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1"/>
            <a:ext cx="11353800" cy="637562"/>
          </a:xfrm>
        </p:spPr>
        <p:txBody>
          <a:bodyPr>
            <a:noAutofit/>
          </a:bodyPr>
          <a:lstStyle/>
          <a:p>
            <a:pPr algn="ctr"/>
            <a:r>
              <a:rPr lang="es-CO" sz="4800" b="1" dirty="0">
                <a:latin typeface="Bahnschrift Light SemiCondensed" panose="020B0502040204020203" pitchFamily="34" charset="0"/>
              </a:rPr>
              <a:t>“EJEMPLO #6 - VECTORES EN C++”</a:t>
            </a:r>
          </a:p>
        </p:txBody>
      </p:sp>
      <p:sp>
        <p:nvSpPr>
          <p:cNvPr id="5" name="Text Box 16">
            <a:extLst>
              <a:ext uri="{FF2B5EF4-FFF2-40B4-BE49-F238E27FC236}">
                <a16:creationId xmlns:a16="http://schemas.microsoft.com/office/drawing/2014/main" id="{690FC2C2-CE78-4317-BCEA-BD8868619D4C}"/>
              </a:ext>
            </a:extLst>
          </p:cNvPr>
          <p:cNvSpPr txBox="1">
            <a:spLocks noChangeArrowheads="1"/>
          </p:cNvSpPr>
          <p:nvPr/>
        </p:nvSpPr>
        <p:spPr bwMode="auto">
          <a:xfrm>
            <a:off x="7632700" y="637563"/>
            <a:ext cx="4511755" cy="2423137"/>
          </a:xfrm>
          <a:prstGeom prst="rect">
            <a:avLst/>
          </a:prstGeom>
          <a:solidFill>
            <a:schemeClr val="accent5">
              <a:lumMod val="20000"/>
              <a:lumOff val="80000"/>
            </a:schemeClr>
          </a:solidFill>
          <a:scene3d>
            <a:camera prst="orthographicFront"/>
            <a:lightRig rig="flat" dir="t"/>
          </a:scene3d>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defPPr>
              <a:defRPr lang="es-CO"/>
            </a:defPPr>
            <a:lvl1pPr lvl="0" algn="just" defTabSz="1422400">
              <a:lnSpc>
                <a:spcPct val="90000"/>
              </a:lnSpc>
              <a:spcBef>
                <a:spcPct val="0"/>
              </a:spcBef>
              <a:spcAft>
                <a:spcPct val="35000"/>
              </a:spcAft>
              <a:defRPr sz="2800">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s-MX" sz="2400" dirty="0"/>
              <a:t>Leer la información de un vector llamado EDAD de dimensión 10. Determinar la suma de edades, el promedio de edad, la edad mayor, la edad menor, la cantidad de mayores de edad y la cantidad de los menores de edad.</a:t>
            </a:r>
            <a:endParaRPr lang="es-ES" sz="2400" dirty="0"/>
          </a:p>
        </p:txBody>
      </p:sp>
      <p:pic>
        <p:nvPicPr>
          <p:cNvPr id="3" name="Imagen 2">
            <a:extLst>
              <a:ext uri="{FF2B5EF4-FFF2-40B4-BE49-F238E27FC236}">
                <a16:creationId xmlns:a16="http://schemas.microsoft.com/office/drawing/2014/main" id="{CA888A2C-8ED5-4298-994D-7FD92B77A5A5}"/>
              </a:ext>
            </a:extLst>
          </p:cNvPr>
          <p:cNvPicPr>
            <a:picLocks noChangeAspect="1"/>
          </p:cNvPicPr>
          <p:nvPr/>
        </p:nvPicPr>
        <p:blipFill rotWithShape="1">
          <a:blip r:embed="rId3"/>
          <a:srcRect l="-1653" t="-1347" r="-1653" b="-1347"/>
          <a:stretch/>
        </p:blipFill>
        <p:spPr>
          <a:xfrm>
            <a:off x="351108" y="-647700"/>
            <a:ext cx="7129192" cy="8483600"/>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fov="600000">
              <a:rot lat="18960000" lon="0" rev="0"/>
            </a:camera>
            <a:lightRig rig="twoPt" dir="t">
              <a:rot lat="0" lon="0" rev="7200000"/>
            </a:lightRig>
          </a:scene3d>
          <a:sp3d prstMaterial="matte">
            <a:bevelT w="22860" h="12700"/>
            <a:contourClr>
              <a:srgbClr val="FFFFFF"/>
            </a:contourClr>
          </a:sp3d>
        </p:spPr>
      </p:pic>
      <p:pic>
        <p:nvPicPr>
          <p:cNvPr id="4" name="Imagen 3">
            <a:extLst>
              <a:ext uri="{FF2B5EF4-FFF2-40B4-BE49-F238E27FC236}">
                <a16:creationId xmlns:a16="http://schemas.microsoft.com/office/drawing/2014/main" id="{554D9E60-12FF-4B0F-ACE4-A79B60255ADE}"/>
              </a:ext>
            </a:extLst>
          </p:cNvPr>
          <p:cNvPicPr>
            <a:picLocks noChangeAspect="1"/>
          </p:cNvPicPr>
          <p:nvPr/>
        </p:nvPicPr>
        <p:blipFill>
          <a:blip r:embed="rId4"/>
          <a:stretch>
            <a:fillRect/>
          </a:stretch>
        </p:blipFill>
        <p:spPr>
          <a:xfrm>
            <a:off x="8115406" y="3124200"/>
            <a:ext cx="3816294" cy="3682999"/>
          </a:xfrm>
          <a:prstGeom prst="rect">
            <a:avLst/>
          </a:prstGeom>
        </p:spPr>
      </p:pic>
    </p:spTree>
    <p:extLst>
      <p:ext uri="{BB962C8B-B14F-4D97-AF65-F5344CB8AC3E}">
        <p14:creationId xmlns:p14="http://schemas.microsoft.com/office/powerpoint/2010/main" val="38012333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99B393-37E8-4E11-8EB2-C863ACB85223}"/>
              </a:ext>
            </a:extLst>
          </p:cNvPr>
          <p:cNvSpPr txBox="1">
            <a:spLocks/>
          </p:cNvSpPr>
          <p:nvPr/>
        </p:nvSpPr>
        <p:spPr>
          <a:xfrm>
            <a:off x="884689" y="1308683"/>
            <a:ext cx="10943788" cy="1197553"/>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s-CO" sz="4400" b="1" i="0" u="none" strike="noStrike" kern="1200" cap="none" spc="0" normalizeH="0" baseline="0" noProof="0" dirty="0">
                <a:ln>
                  <a:noFill/>
                </a:ln>
                <a:solidFill>
                  <a:prstClr val="black"/>
                </a:solidFill>
                <a:effectLst/>
                <a:uLnTx/>
                <a:uFillTx/>
                <a:latin typeface="Bahnschrift Light SemiCondensed" panose="020B0502040204020203" pitchFamily="34" charset="0"/>
                <a:ea typeface="+mj-ea"/>
                <a:cs typeface="+mj-cs"/>
              </a:rPr>
              <a:t>“MANEJO DE ARREGLOS </a:t>
            </a:r>
          </a:p>
          <a:p>
            <a:pPr marL="0" marR="0" lvl="0" indent="0" algn="ctr" defTabSz="914400" rtl="0" eaLnBrk="1" fontAlgn="auto" latinLnBrk="0" hangingPunct="1">
              <a:lnSpc>
                <a:spcPct val="90000"/>
              </a:lnSpc>
              <a:spcBef>
                <a:spcPct val="0"/>
              </a:spcBef>
              <a:spcAft>
                <a:spcPts val="0"/>
              </a:spcAft>
              <a:buClrTx/>
              <a:buSzTx/>
              <a:buFontTx/>
              <a:buNone/>
              <a:tabLst/>
              <a:defRPr/>
            </a:pPr>
            <a:r>
              <a:rPr kumimoji="0" lang="es-CO" sz="4400" b="1" i="0" u="none" strike="noStrike" kern="1200" cap="none" spc="0" normalizeH="0" baseline="0" noProof="0" dirty="0">
                <a:ln>
                  <a:noFill/>
                </a:ln>
                <a:solidFill>
                  <a:prstClr val="black"/>
                </a:solidFill>
                <a:effectLst/>
                <a:uLnTx/>
                <a:uFillTx/>
                <a:latin typeface="Bahnschrift Light SemiCondensed" panose="020B0502040204020203" pitchFamily="34" charset="0"/>
                <a:ea typeface="+mj-ea"/>
                <a:cs typeface="+mj-cs"/>
              </a:rPr>
              <a:t>UNIDIMENSIONALES [VECTORES] EN C++”</a:t>
            </a:r>
          </a:p>
        </p:txBody>
      </p:sp>
      <p:sp>
        <p:nvSpPr>
          <p:cNvPr id="5" name="Rectángulo 4">
            <a:extLst>
              <a:ext uri="{FF2B5EF4-FFF2-40B4-BE49-F238E27FC236}">
                <a16:creationId xmlns:a16="http://schemas.microsoft.com/office/drawing/2014/main" id="{161F265C-6D74-4338-8944-0FD73F7598E6}"/>
              </a:ext>
            </a:extLst>
          </p:cNvPr>
          <p:cNvSpPr/>
          <p:nvPr/>
        </p:nvSpPr>
        <p:spPr>
          <a:xfrm>
            <a:off x="1798040" y="5362689"/>
            <a:ext cx="8595920" cy="684772"/>
          </a:xfrm>
          <a:prstGeom prst="rect">
            <a:avLst/>
          </a:prstGeom>
          <a:solidFill>
            <a:srgbClr val="0070C0"/>
          </a:solidFill>
          <a:ln>
            <a:noFill/>
          </a:ln>
          <a:effectLst>
            <a:outerShdw blurRad="107950" dist="12700" dir="5400000" algn="ctr">
              <a:srgbClr val="000000"/>
            </a:outerShdw>
          </a:effectLst>
          <a:scene3d>
            <a:camera prst="isometricTopUp">
              <a:rot lat="21594000" lon="2159400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harsh" dir="t"/>
            </a:scene3d>
            <a:sp3d extrusionH="57150" prstMaterial="matte">
              <a:bevelT w="63500" h="12700" prst="angle"/>
              <a:contourClr>
                <a:schemeClr val="bg1">
                  <a:lumMod val="65000"/>
                </a:schemeClr>
              </a:contourClr>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2000" b="1" i="0" u="none" strike="noStrike" kern="1200" cap="none" spc="0" normalizeH="0" baseline="0" noProof="0" dirty="0">
                <a:ln/>
                <a:solidFill>
                  <a:prstClr val="white"/>
                </a:solidFill>
                <a:effectLst>
                  <a:outerShdw blurRad="38100" dist="38100" dir="2700000" algn="tl">
                    <a:srgbClr val="000000">
                      <a:alpha val="43137"/>
                    </a:srgbClr>
                  </a:outerShdw>
                </a:effectLst>
                <a:uLnTx/>
                <a:uFillTx/>
                <a:latin typeface="Calibri" panose="020F0502020204030204"/>
                <a:ea typeface="+mn-ea"/>
                <a:cs typeface="+mn-cs"/>
              </a:rPr>
              <a:t>CURSO: </a:t>
            </a:r>
            <a:r>
              <a:rPr kumimoji="0" lang="es-CO" sz="2000" b="0" i="0" u="none" strike="noStrike" kern="1200" cap="none" spc="0" normalizeH="0" baseline="0" noProof="0" dirty="0">
                <a:ln>
                  <a:noFill/>
                </a:ln>
                <a:solidFill>
                  <a:prstClr val="white"/>
                </a:solidFill>
                <a:effectLst/>
                <a:uLnTx/>
                <a:uFillTx/>
                <a:latin typeface="Bahnschrift Light SemiCondensed" panose="020B0502040204020203" pitchFamily="34" charset="0"/>
                <a:ea typeface="+mn-ea"/>
                <a:cs typeface="+mn-cs"/>
              </a:rPr>
              <a:t>“ALGORITMOS Y PROGRAMACIÓN </a:t>
            </a:r>
            <a:r>
              <a:rPr kumimoji="0" lang="es-CO" sz="2000" b="1" i="0" u="none" strike="noStrike" kern="1200" cap="none" spc="0" normalizeH="0" baseline="0" noProof="0" dirty="0">
                <a:ln>
                  <a:noFill/>
                </a:ln>
                <a:solidFill>
                  <a:prstClr val="white"/>
                </a:solidFill>
                <a:effectLst/>
                <a:uLnTx/>
                <a:uFillTx/>
                <a:latin typeface="Bahnschrift Light SemiCondensed" panose="020B0502040204020203" pitchFamily="34" charset="0"/>
                <a:ea typeface="+mn-ea"/>
                <a:cs typeface="+mn-cs"/>
              </a:rPr>
              <a:t>PROGRAMACIÓN </a:t>
            </a:r>
            <a:r>
              <a:rPr kumimoji="0" lang="es-CO" sz="2000" b="0" i="0" u="none" strike="noStrike" kern="1200" cap="none" spc="0" normalizeH="0" baseline="0" noProof="0" dirty="0">
                <a:ln>
                  <a:noFill/>
                </a:ln>
                <a:solidFill>
                  <a:prstClr val="white"/>
                </a:solidFill>
                <a:effectLst/>
                <a:uLnTx/>
                <a:uFillTx/>
                <a:latin typeface="Bahnschrift Light SemiCondensed" panose="020B0502040204020203" pitchFamily="34" charset="0"/>
                <a:ea typeface="+mn-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2000" b="1" i="0" u="none" strike="noStrike" kern="1200" cap="none" spc="0" normalizeH="0" baseline="0" noProof="0" dirty="0">
                <a:ln/>
                <a:solidFill>
                  <a:prstClr val="white"/>
                </a:solidFill>
                <a:effectLst>
                  <a:outerShdw blurRad="38100" dist="38100" dir="2700000" algn="tl">
                    <a:srgbClr val="000000">
                      <a:alpha val="43137"/>
                    </a:srgbClr>
                  </a:outerShdw>
                </a:effectLst>
                <a:uLnTx/>
                <a:uFillTx/>
                <a:latin typeface="Calibri" panose="020F0502020204030204"/>
                <a:ea typeface="+mn-ea"/>
                <a:cs typeface="+mn-cs"/>
              </a:rPr>
              <a:t>DOCENTE: </a:t>
            </a:r>
            <a:r>
              <a:rPr kumimoji="0" lang="es-CO" sz="2000" b="1" i="0" u="none" strike="noStrike" kern="1200" cap="none" spc="0" normalizeH="0" baseline="0" noProof="0" dirty="0">
                <a:ln>
                  <a:noFill/>
                </a:ln>
                <a:solidFill>
                  <a:prstClr val="white"/>
                </a:solidFill>
                <a:effectLst/>
                <a:uLnTx/>
                <a:uFillTx/>
                <a:latin typeface="Bahnschrift Light SemiCondensed" panose="020B0502040204020203" pitchFamily="34" charset="0"/>
                <a:ea typeface="+mn-ea"/>
                <a:cs typeface="+mn-cs"/>
              </a:rPr>
              <a:t>JAIRO HERNANDO RAMÍREZ MARÍN</a:t>
            </a:r>
          </a:p>
        </p:txBody>
      </p:sp>
    </p:spTree>
    <p:extLst>
      <p:ext uri="{BB962C8B-B14F-4D97-AF65-F5344CB8AC3E}">
        <p14:creationId xmlns:p14="http://schemas.microsoft.com/office/powerpoint/2010/main" val="1790587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800" decel="100000"/>
                                        <p:tgtEl>
                                          <p:spTgt spid="5"/>
                                        </p:tgtEl>
                                      </p:cBhvr>
                                    </p:animEffect>
                                    <p:anim calcmode="lin" valueType="num">
                                      <p:cBhvr>
                                        <p:cTn id="8" dur="800" decel="100000" fill="hold"/>
                                        <p:tgtEl>
                                          <p:spTgt spid="5"/>
                                        </p:tgtEl>
                                        <p:attrNameLst>
                                          <p:attrName>style.rotation</p:attrName>
                                        </p:attrNameLst>
                                      </p:cBhvr>
                                      <p:tavLst>
                                        <p:tav tm="0">
                                          <p:val>
                                            <p:fltVal val="-90"/>
                                          </p:val>
                                        </p:tav>
                                        <p:tav tm="100000">
                                          <p:val>
                                            <p:fltVal val="0"/>
                                          </p:val>
                                        </p:tav>
                                      </p:tavLst>
                                    </p:anim>
                                    <p:anim calcmode="lin" valueType="num">
                                      <p:cBhvr>
                                        <p:cTn id="9" dur="800" decel="100000" fill="hold"/>
                                        <p:tgtEl>
                                          <p:spTgt spid="5"/>
                                        </p:tgtEl>
                                        <p:attrNameLst>
                                          <p:attrName>ppt_x</p:attrName>
                                        </p:attrNameLst>
                                      </p:cBhvr>
                                      <p:tavLst>
                                        <p:tav tm="0">
                                          <p:val>
                                            <p:strVal val="#ppt_x+0.4"/>
                                          </p:val>
                                        </p:tav>
                                        <p:tav tm="100000">
                                          <p:val>
                                            <p:strVal val="#ppt_x-0.05"/>
                                          </p:val>
                                        </p:tav>
                                      </p:tavLst>
                                    </p:anim>
                                    <p:anim calcmode="lin" valueType="num">
                                      <p:cBhvr>
                                        <p:cTn id="10" dur="800" decel="100000" fill="hold"/>
                                        <p:tgtEl>
                                          <p:spTgt spid="5"/>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5"/>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5"/>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1655</TotalTime>
  <Words>3907</Words>
  <Application>Microsoft Office PowerPoint</Application>
  <PresentationFormat>Panorámica</PresentationFormat>
  <Paragraphs>424</Paragraphs>
  <Slides>25</Slides>
  <Notes>8</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25</vt:i4>
      </vt:variant>
    </vt:vector>
  </HeadingPairs>
  <TitlesOfParts>
    <vt:vector size="32" baseType="lpstr">
      <vt:lpstr>Arial</vt:lpstr>
      <vt:lpstr>Arial Narrow</vt:lpstr>
      <vt:lpstr>Bahnschrift Light SemiCondensed</vt:lpstr>
      <vt:lpstr>Bodoni MT</vt:lpstr>
      <vt:lpstr>Calibri</vt:lpstr>
      <vt:lpstr>Calibri Light</vt:lpstr>
      <vt:lpstr>Tema de Office</vt:lpstr>
      <vt:lpstr>Presentación de PowerPoint</vt:lpstr>
      <vt:lpstr>“MANEJO DE ARREGLOS EN C++”</vt:lpstr>
      <vt:lpstr>Presentación de PowerPoint</vt:lpstr>
      <vt:lpstr>“MANEJO DE VECTORES EN C++”</vt:lpstr>
      <vt:lpstr>“CARACTERÍSTICAS DE UN VECTOR EN C++”</vt:lpstr>
      <vt:lpstr>“MANEJO DE VECTORES EN C++”</vt:lpstr>
      <vt:lpstr>“DECLARAR/INICIALIZAR VECTORES EN C++”</vt:lpstr>
      <vt:lpstr>“DECLARAR/INICIALIZAR VECTORES EN C++”</vt:lpstr>
      <vt:lpstr>“DECLARAR/INICIALIZAR VECTORES EN C++”</vt:lpstr>
      <vt:lpstr>“DEFINIR UN VECTOR USANDO POO EN C++”</vt:lpstr>
      <vt:lpstr>“2-LLENAR UN VECTOR EN C++”</vt:lpstr>
      <vt:lpstr>“2-LLENAR UN VECTOR EN C++”</vt:lpstr>
      <vt:lpstr>“2-LLENAR UN VECTOR EN C++”</vt:lpstr>
      <vt:lpstr>“3-IMPRIMIR UN VECTOR EN C++”</vt:lpstr>
      <vt:lpstr>“3-IMPRIMIR UN VECTOR EN C++”</vt:lpstr>
      <vt:lpstr>“3-IMPRIMIR UN VECTOR EN C++”</vt:lpstr>
      <vt:lpstr>“EJEMPLO #1 - VECTORES EN C++”</vt:lpstr>
      <vt:lpstr>“EJEMPLO #2 - VECTORES EN C++”</vt:lpstr>
      <vt:lpstr>“EJEMPLO #3 - VECTORES EN C++”</vt:lpstr>
      <vt:lpstr>“EJEMPLO #4 - VECTORES EN C++”</vt:lpstr>
      <vt:lpstr>“4-HALLAR EL MAYOR/MENOR EN VECTOR C++”</vt:lpstr>
      <vt:lpstr>“4-HALLAR EL MAYOR/MENOR ELEMENTO”</vt:lpstr>
      <vt:lpstr>“EJEMPLO #5 - VECTORES EN C++”</vt:lpstr>
      <vt:lpstr>“EJEMPLO #6 - VECTORES EN C++”</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JAIRO HERNANDO RAMIREZ MARIN</dc:creator>
  <cp:lastModifiedBy>Jairo Ramirez (Docente de Tiempo Completo)</cp:lastModifiedBy>
  <cp:revision>175</cp:revision>
  <dcterms:created xsi:type="dcterms:W3CDTF">2020-08-20T10:34:44Z</dcterms:created>
  <dcterms:modified xsi:type="dcterms:W3CDTF">2022-08-18T21:17:03Z</dcterms:modified>
</cp:coreProperties>
</file>